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jp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jp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jp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jp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jp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jp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jp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jp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jp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jp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jp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jp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jp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jp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jp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4754880" cy="5143500"/>
          </a:xfrm>
          <a:prstGeom prst="rect">
            <a:avLst/>
          </a:prstGeom>
          <a:solidFill>
            <a:srgbClr val="004444"/>
          </a:solidFill>
          <a:ln w="12700">
            <a:solidFill>
              <a:srgbClr val="004444"/>
            </a:solidFill>
            <a:prstDash val="solid"/>
          </a:ln>
        </p:spPr>
      </p:sp>
      <p:sp>
        <p:nvSpPr>
          <p:cNvPr id="3" name="Shape 1"/>
          <p:cNvSpPr/>
          <p:nvPr/>
        </p:nvSpPr>
        <p:spPr>
          <a:xfrm>
            <a:off x="4754880" y="0"/>
            <a:ext cx="4389120" cy="5143500"/>
          </a:xfrm>
          <a:prstGeom prst="rect">
            <a:avLst/>
          </a:prstGeom>
          <a:solidFill>
            <a:srgbClr val="F4FAFA"/>
          </a:solidFill>
          <a:ln w="12700">
            <a:solidFill>
              <a:srgbClr val="F4FAFA"/>
            </a:solidFill>
            <a:prstDash val="solid"/>
          </a:ln>
        </p:spPr>
      </p:sp>
      <p:sp>
        <p:nvSpPr>
          <p:cNvPr id="4" name="Shape 2"/>
          <p:cNvSpPr/>
          <p:nvPr/>
        </p:nvSpPr>
        <p:spPr>
          <a:xfrm>
            <a:off x="4709160" y="0"/>
            <a:ext cx="91440" cy="5143500"/>
          </a:xfrm>
          <a:prstGeom prst="rect">
            <a:avLst/>
          </a:prstGeom>
          <a:solidFill>
            <a:srgbClr val="007474"/>
          </a:solidFill>
          <a:ln w="12700">
            <a:solidFill>
              <a:srgbClr val="007474"/>
            </a:solidFill>
            <a:prstDash val="solid"/>
          </a:ln>
        </p:spPr>
      </p:sp>
      <p:pic>
        <p:nvPicPr>
          <p:cNvPr id="5" name="Image 0" descr="/home/claude/PV_LOGO_NEW.png">    </p:cNvPr>
          <p:cNvPicPr>
            <a:picLocks noChangeAspect="1"/>
          </p:cNvPicPr>
          <p:nvPr/>
        </p:nvPicPr>
        <p:blipFill>
          <a:blip r:embed="rId1"/>
          <a:stretch>
            <a:fillRect/>
          </a:stretch>
        </p:blipFill>
        <p:spPr>
          <a:xfrm>
            <a:off x="5760720" y="685800"/>
            <a:ext cx="2194560" cy="2194560"/>
          </a:xfrm>
          <a:prstGeom prst="rect">
            <a:avLst/>
          </a:prstGeom>
        </p:spPr>
      </p:pic>
      <p:sp>
        <p:nvSpPr>
          <p:cNvPr id="6" name="Text 3"/>
          <p:cNvSpPr/>
          <p:nvPr/>
        </p:nvSpPr>
        <p:spPr>
          <a:xfrm>
            <a:off x="320040" y="685800"/>
            <a:ext cx="4114800" cy="347472"/>
          </a:xfrm>
          <a:prstGeom prst="rect">
            <a:avLst/>
          </a:prstGeom>
          <a:noFill/>
          <a:ln/>
        </p:spPr>
        <p:txBody>
          <a:bodyPr wrap="square" lIns="0" tIns="0" rIns="0" bIns="0" rtlCol="0" anchor="ctr"/>
          <a:lstStyle/>
          <a:p>
            <a:pPr indent="0" marL="0">
              <a:buNone/>
            </a:pPr>
            <a:r>
              <a:rPr lang="en-US" sz="1000" b="1" spc="300" kern="0" dirty="0">
                <a:solidFill>
                  <a:srgbClr val="009999"/>
                </a:solidFill>
                <a:latin typeface="Arial" pitchFamily="34" charset="0"/>
                <a:ea typeface="Arial" pitchFamily="34" charset="-122"/>
                <a:cs typeface="Arial" pitchFamily="34" charset="-120"/>
              </a:rPr>
              <a:t>CTE PHOTOGRAPHY 2A</a:t>
            </a:r>
            <a:endParaRPr lang="en-US" sz="1000" dirty="0"/>
          </a:p>
        </p:txBody>
      </p:sp>
      <p:sp>
        <p:nvSpPr>
          <p:cNvPr id="7" name="Text 4"/>
          <p:cNvSpPr/>
          <p:nvPr/>
        </p:nvSpPr>
        <p:spPr>
          <a:xfrm>
            <a:off x="320040" y="1097280"/>
            <a:ext cx="4114800" cy="1737360"/>
          </a:xfrm>
          <a:prstGeom prst="rect">
            <a:avLst/>
          </a:prstGeom>
          <a:noFill/>
          <a:ln/>
        </p:spPr>
        <p:txBody>
          <a:bodyPr wrap="square" lIns="0" tIns="0" rIns="0" bIns="0" rtlCol="0" anchor="t"/>
          <a:lstStyle/>
          <a:p>
            <a:pPr indent="0" marL="0">
              <a:buNone/>
            </a:pPr>
            <a:r>
              <a:rPr lang="en-US" sz="4400" b="1" dirty="0">
                <a:solidFill>
                  <a:srgbClr val="FFFFFF"/>
                </a:solidFill>
                <a:latin typeface="Arial" pitchFamily="34" charset="0"/>
                <a:ea typeface="Arial" pitchFamily="34" charset="-122"/>
                <a:cs typeface="Arial" pitchFamily="34" charset="-120"/>
              </a:rPr>
              <a:t>Composition</a:t>
            </a:r>
            <a:endParaRPr lang="en-US" sz="4400" dirty="0"/>
          </a:p>
          <a:p>
            <a:pPr indent="0" marL="0">
              <a:buNone/>
            </a:pPr>
            <a:r>
              <a:rPr lang="en-US" sz="4400" b="1" dirty="0">
                <a:solidFill>
                  <a:srgbClr val="FFFFFF"/>
                </a:solidFill>
                <a:latin typeface="Arial" pitchFamily="34" charset="0"/>
                <a:ea typeface="Arial" pitchFamily="34" charset="-122"/>
                <a:cs typeface="Arial" pitchFamily="34" charset="-120"/>
              </a:rPr>
              <a:t>Review</a:t>
            </a:r>
            <a:endParaRPr lang="en-US" sz="4400" dirty="0"/>
          </a:p>
        </p:txBody>
      </p:sp>
      <p:sp>
        <p:nvSpPr>
          <p:cNvPr id="8" name="Text 5"/>
          <p:cNvSpPr/>
          <p:nvPr/>
        </p:nvSpPr>
        <p:spPr>
          <a:xfrm>
            <a:off x="320040" y="2907792"/>
            <a:ext cx="4114800" cy="411480"/>
          </a:xfrm>
          <a:prstGeom prst="rect">
            <a:avLst/>
          </a:prstGeom>
          <a:noFill/>
          <a:ln/>
        </p:spPr>
        <p:txBody>
          <a:bodyPr wrap="square" lIns="0" tIns="0" rIns="0" bIns="0" rtlCol="0" anchor="ctr"/>
          <a:lstStyle/>
          <a:p>
            <a:pPr indent="0" marL="0">
              <a:buNone/>
            </a:pPr>
            <a:r>
              <a:rPr lang="en-US" sz="1300" dirty="0">
                <a:solidFill>
                  <a:srgbClr val="009999"/>
                </a:solidFill>
                <a:latin typeface="Arial" pitchFamily="34" charset="0"/>
                <a:ea typeface="Arial" pitchFamily="34" charset="-122"/>
                <a:cs typeface="Arial" pitchFamily="34" charset="-120"/>
              </a:rPr>
              <a:t>15 Rules Every Photographer Must Know</a:t>
            </a:r>
            <a:endParaRPr lang="en-US" sz="1300" dirty="0"/>
          </a:p>
        </p:txBody>
      </p:sp>
      <p:sp>
        <p:nvSpPr>
          <p:cNvPr id="9" name="Shape 6"/>
          <p:cNvSpPr/>
          <p:nvPr/>
        </p:nvSpPr>
        <p:spPr>
          <a:xfrm>
            <a:off x="320040" y="3401568"/>
            <a:ext cx="3200400" cy="36576"/>
          </a:xfrm>
          <a:prstGeom prst="rect">
            <a:avLst/>
          </a:prstGeom>
          <a:solidFill>
            <a:srgbClr val="009999"/>
          </a:solidFill>
          <a:ln w="12700">
            <a:solidFill>
              <a:srgbClr val="009999"/>
            </a:solidFill>
            <a:prstDash val="solid"/>
          </a:ln>
        </p:spPr>
      </p:sp>
      <p:sp>
        <p:nvSpPr>
          <p:cNvPr id="10" name="Text 7"/>
          <p:cNvSpPr/>
          <p:nvPr/>
        </p:nvSpPr>
        <p:spPr>
          <a:xfrm>
            <a:off x="320040" y="3547872"/>
            <a:ext cx="4114800" cy="548640"/>
          </a:xfrm>
          <a:prstGeom prst="rect">
            <a:avLst/>
          </a:prstGeom>
          <a:noFill/>
          <a:ln/>
        </p:spPr>
        <p:txBody>
          <a:bodyPr wrap="square" lIns="0" tIns="0" rIns="0" bIns="0" rtlCol="0" anchor="t"/>
          <a:lstStyle/>
          <a:p>
            <a:pPr indent="0" marL="0">
              <a:buNone/>
            </a:pPr>
            <a:r>
              <a:rPr lang="en-US" sz="1000" dirty="0">
                <a:solidFill>
                  <a:srgbClr val="CCCCCC"/>
                </a:solidFill>
                <a:latin typeface="Arial" pitchFamily="34" charset="0"/>
                <a:ea typeface="Arial" pitchFamily="34" charset="-122"/>
                <a:cs typeface="Arial" pitchFamily="34" charset="-120"/>
              </a:rPr>
              <a:t>Welcome back! Let's sharpen your eye before we start capturing images.</a:t>
            </a:r>
            <a:endParaRPr lang="en-US" sz="1000" dirty="0"/>
          </a:p>
        </p:txBody>
      </p:sp>
      <p:sp>
        <p:nvSpPr>
          <p:cNvPr id="11" name="Text 8"/>
          <p:cNvSpPr/>
          <p:nvPr/>
        </p:nvSpPr>
        <p:spPr>
          <a:xfrm>
            <a:off x="4892040" y="4800600"/>
            <a:ext cx="3931920" cy="256032"/>
          </a:xfrm>
          <a:prstGeom prst="rect">
            <a:avLst/>
          </a:prstGeom>
          <a:noFill/>
          <a:ln/>
        </p:spPr>
        <p:txBody>
          <a:bodyPr wrap="square" lIns="0" tIns="0" rIns="0" bIns="0" rtlCol="0" anchor="ctr"/>
          <a:lstStyle/>
          <a:p>
            <a:pPr algn="ctr" indent="0" marL="0">
              <a:buNone/>
            </a:pPr>
            <a:r>
              <a:rPr lang="en-US" sz="800" dirty="0">
                <a:solidFill>
                  <a:srgbClr val="888888"/>
                </a:solidFill>
                <a:latin typeface="Arial" pitchFamily="34" charset="0"/>
                <a:ea typeface="Arial" pitchFamily="34" charset="-122"/>
                <a:cs typeface="Arial" pitchFamily="34" charset="-120"/>
              </a:rPr>
              <a:t>Pioneer Valley High School</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4FAFA"/>
          </a:solidFill>
          <a:ln w="12700">
            <a:solidFill>
              <a:srgbClr val="F4FAFA"/>
            </a:solidFill>
            <a:prstDash val="solid"/>
          </a:ln>
        </p:spPr>
      </p:sp>
      <p:sp>
        <p:nvSpPr>
          <p:cNvPr id="3" name="Shape 1"/>
          <p:cNvSpPr/>
          <p:nvPr/>
        </p:nvSpPr>
        <p:spPr>
          <a:xfrm>
            <a:off x="0" y="0"/>
            <a:ext cx="109728" cy="5143500"/>
          </a:xfrm>
          <a:prstGeom prst="rect">
            <a:avLst/>
          </a:prstGeom>
          <a:solidFill>
            <a:srgbClr val="007474"/>
          </a:solidFill>
          <a:ln w="12700">
            <a:solidFill>
              <a:srgbClr val="007474"/>
            </a:solidFill>
            <a:prstDash val="solid"/>
          </a:ln>
        </p:spPr>
      </p:sp>
      <p:sp>
        <p:nvSpPr>
          <p:cNvPr id="4" name="Shape 2"/>
          <p:cNvSpPr/>
          <p:nvPr/>
        </p:nvSpPr>
        <p:spPr>
          <a:xfrm>
            <a:off x="0" y="0"/>
            <a:ext cx="9144000" cy="640080"/>
          </a:xfrm>
          <a:prstGeom prst="rect">
            <a:avLst/>
          </a:prstGeom>
          <a:solidFill>
            <a:srgbClr val="004444"/>
          </a:solidFill>
          <a:ln w="12700">
            <a:solidFill>
              <a:srgbClr val="004444"/>
            </a:solidFill>
            <a:prstDash val="solid"/>
          </a:ln>
        </p:spPr>
      </p:sp>
      <p:sp>
        <p:nvSpPr>
          <p:cNvPr id="5" name="Text 3"/>
          <p:cNvSpPr/>
          <p:nvPr/>
        </p:nvSpPr>
        <p:spPr>
          <a:xfrm>
            <a:off x="182880" y="0"/>
            <a:ext cx="7772400" cy="64008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CTE Photography 2A  -  Composition Review</a:t>
            </a:r>
            <a:endParaRPr lang="en-US" sz="1100" dirty="0"/>
          </a:p>
        </p:txBody>
      </p:sp>
      <p:pic>
        <p:nvPicPr>
          <p:cNvPr id="6" name="Image 0" descr="/home/claude/PV_LOGO_NEW.png">    </p:cNvPr>
          <p:cNvPicPr>
            <a:picLocks noChangeAspect="1"/>
          </p:cNvPicPr>
          <p:nvPr/>
        </p:nvPicPr>
        <p:blipFill>
          <a:blip r:embed="rId1"/>
          <a:stretch>
            <a:fillRect/>
          </a:stretch>
        </p:blipFill>
        <p:spPr>
          <a:xfrm>
            <a:off x="8138160" y="109728"/>
            <a:ext cx="777240" cy="777240"/>
          </a:xfrm>
          <a:prstGeom prst="rect">
            <a:avLst/>
          </a:prstGeom>
        </p:spPr>
      </p:pic>
      <p:sp>
        <p:nvSpPr>
          <p:cNvPr id="7" name="Shape 4"/>
          <p:cNvSpPr/>
          <p:nvPr/>
        </p:nvSpPr>
        <p:spPr>
          <a:xfrm>
            <a:off x="201168" y="777240"/>
            <a:ext cx="502920" cy="502920"/>
          </a:xfrm>
          <a:prstGeom prst="ellipse">
            <a:avLst/>
          </a:prstGeom>
          <a:solidFill>
            <a:srgbClr val="007474"/>
          </a:solidFill>
          <a:ln w="12700">
            <a:solidFill>
              <a:srgbClr val="007474"/>
            </a:solidFill>
            <a:prstDash val="solid"/>
          </a:ln>
        </p:spPr>
      </p:sp>
      <p:sp>
        <p:nvSpPr>
          <p:cNvPr id="8" name="Text 5"/>
          <p:cNvSpPr/>
          <p:nvPr/>
        </p:nvSpPr>
        <p:spPr>
          <a:xfrm>
            <a:off x="201168" y="7772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9" name="Text 6"/>
          <p:cNvSpPr/>
          <p:nvPr/>
        </p:nvSpPr>
        <p:spPr>
          <a:xfrm>
            <a:off x="804672" y="713232"/>
            <a:ext cx="3749040" cy="594360"/>
          </a:xfrm>
          <a:prstGeom prst="rect">
            <a:avLst/>
          </a:prstGeom>
          <a:noFill/>
          <a:ln/>
        </p:spPr>
        <p:txBody>
          <a:bodyPr wrap="square" lIns="0" tIns="0" rIns="0" bIns="0" rtlCol="0" anchor="ctr"/>
          <a:lstStyle/>
          <a:p>
            <a:pPr indent="0" marL="0">
              <a:buNone/>
            </a:pPr>
            <a:r>
              <a:rPr lang="en-US" sz="2400" b="1" dirty="0">
                <a:solidFill>
                  <a:srgbClr val="004444"/>
                </a:solidFill>
                <a:latin typeface="Arial" pitchFamily="34" charset="0"/>
                <a:ea typeface="Arial" pitchFamily="34" charset="-122"/>
                <a:cs typeface="Arial" pitchFamily="34" charset="-120"/>
              </a:rPr>
              <a:t>Rule of Thirds</a:t>
            </a:r>
            <a:endParaRPr lang="en-US" sz="2400" dirty="0"/>
          </a:p>
        </p:txBody>
      </p:sp>
      <p:sp>
        <p:nvSpPr>
          <p:cNvPr id="10" name="Shape 7"/>
          <p:cNvSpPr/>
          <p:nvPr/>
        </p:nvSpPr>
        <p:spPr>
          <a:xfrm>
            <a:off x="201168" y="1371600"/>
            <a:ext cx="4343400" cy="27432"/>
          </a:xfrm>
          <a:prstGeom prst="rect">
            <a:avLst/>
          </a:prstGeom>
          <a:solidFill>
            <a:srgbClr val="009999"/>
          </a:solidFill>
          <a:ln w="12700">
            <a:solidFill>
              <a:srgbClr val="009999"/>
            </a:solidFill>
            <a:prstDash val="solid"/>
          </a:ln>
        </p:spPr>
      </p:sp>
      <p:sp>
        <p:nvSpPr>
          <p:cNvPr id="11" name="Text 8"/>
          <p:cNvSpPr/>
          <p:nvPr/>
        </p:nvSpPr>
        <p:spPr>
          <a:xfrm>
            <a:off x="201168" y="1463040"/>
            <a:ext cx="4343400" cy="1234440"/>
          </a:xfrm>
          <a:prstGeom prst="rect">
            <a:avLst/>
          </a:prstGeom>
          <a:noFill/>
          <a:ln/>
        </p:spPr>
        <p:txBody>
          <a:bodyPr wrap="square" lIns="0" tIns="0" rIns="0" bIns="0" rtlCol="0" anchor="t"/>
          <a:lstStyle/>
          <a:p>
            <a:pPr indent="0" marL="0">
              <a:buNone/>
            </a:pPr>
            <a:r>
              <a:rPr lang="en-US" sz="1200" dirty="0">
                <a:solidFill>
                  <a:srgbClr val="333333"/>
                </a:solidFill>
                <a:latin typeface="Arial" pitchFamily="34" charset="0"/>
                <a:ea typeface="Arial" pitchFamily="34" charset="-122"/>
                <a:cs typeface="Arial" pitchFamily="34" charset="-120"/>
              </a:rPr>
              <a:t>Split your frame into a 3x3 grid using two horizontal and two vertical lines. Place your subject, horizon, or key detail along one of those lines or at a corner where they cross. This gives your photo a natural sense of balance that feels more interesting than placing things in the center.</a:t>
            </a:r>
            <a:endParaRPr lang="en-US" sz="1200" dirty="0"/>
          </a:p>
        </p:txBody>
      </p:sp>
      <p:sp>
        <p:nvSpPr>
          <p:cNvPr id="12" name="Text 9"/>
          <p:cNvSpPr/>
          <p:nvPr/>
        </p:nvSpPr>
        <p:spPr>
          <a:xfrm>
            <a:off x="201168" y="2788920"/>
            <a:ext cx="1097280" cy="256032"/>
          </a:xfrm>
          <a:prstGeom prst="rect">
            <a:avLst/>
          </a:prstGeom>
          <a:noFill/>
          <a:ln/>
        </p:spPr>
        <p:txBody>
          <a:bodyPr wrap="square" lIns="0" tIns="0" rIns="0" bIns="0" rtlCol="0" anchor="ctr"/>
          <a:lstStyle/>
          <a:p>
            <a:pPr indent="0" marL="0">
              <a:buNone/>
            </a:pPr>
            <a:r>
              <a:rPr lang="en-US" sz="800" b="1" dirty="0">
                <a:solidFill>
                  <a:srgbClr val="007474"/>
                </a:solidFill>
                <a:latin typeface="Arial" pitchFamily="34" charset="0"/>
                <a:ea typeface="Arial" pitchFamily="34" charset="-122"/>
                <a:cs typeface="Arial" pitchFamily="34" charset="-120"/>
              </a:rPr>
              <a:t>KEY TIPS</a:t>
            </a:r>
            <a:endParaRPr lang="en-US" sz="800" dirty="0"/>
          </a:p>
        </p:txBody>
      </p:sp>
      <p:sp>
        <p:nvSpPr>
          <p:cNvPr id="13" name="Text 10"/>
          <p:cNvSpPr/>
          <p:nvPr/>
        </p:nvSpPr>
        <p:spPr>
          <a:xfrm>
            <a:off x="201168" y="3063240"/>
            <a:ext cx="4343400" cy="1691640"/>
          </a:xfrm>
          <a:prstGeom prst="rect">
            <a:avLst/>
          </a:prstGeom>
          <a:noFill/>
          <a:ln/>
        </p:spPr>
        <p:txBody>
          <a:bodyPr wrap="square" lIns="0" tIns="0" rIns="0" bIns="0" rtlCol="0" anchor="t"/>
          <a:lstStyle/>
          <a:p>
            <a:pPr>
              <a:spcAft>
                <a:spcPts val="400"/>
              </a:spcAft>
            </a:pPr>
            <a:r>
              <a:rPr lang="en-US" sz="1100" dirty="0">
                <a:solidFill>
                  <a:srgbClr val="333333"/>
                </a:solidFill>
                <a:latin typeface="Arial" pitchFamily="34" charset="0"/>
                <a:ea typeface="Arial" pitchFamily="34" charset="-122"/>
                <a:cs typeface="Arial" pitchFamily="34" charset="-120"/>
              </a:rPr>
              <a:t>Turn on your camera's grid overlay in the settings menu</a:t>
            </a:r>
            <a:endParaRPr lang="en-US" sz="1100" dirty="0"/>
          </a:p>
          <a:p>
            <a:pPr>
              <a:spcAft>
                <a:spcPts val="400"/>
              </a:spcAft>
            </a:pPr>
            <a:r>
              <a:rPr lang="en-US" sz="1100" dirty="0">
                <a:solidFill>
                  <a:srgbClr val="333333"/>
                </a:solidFill>
                <a:latin typeface="Arial" pitchFamily="34" charset="0"/>
                <a:ea typeface="Arial" pitchFamily="34" charset="-122"/>
                <a:cs typeface="Arial" pitchFamily="34" charset="-120"/>
              </a:rPr>
              <a:t>Place a portrait subject's eyes on the top horizontal line</a:t>
            </a:r>
            <a:endParaRPr lang="en-US" sz="1100" dirty="0"/>
          </a:p>
          <a:p>
            <a:pPr>
              <a:spcAft>
                <a:spcPts val="400"/>
              </a:spcAft>
            </a:pPr>
            <a:r>
              <a:rPr lang="en-US" sz="1100" dirty="0">
                <a:solidFill>
                  <a:srgbClr val="333333"/>
                </a:solidFill>
                <a:latin typeface="Arial" pitchFamily="34" charset="0"/>
                <a:ea typeface="Arial" pitchFamily="34" charset="-122"/>
                <a:cs typeface="Arial" pitchFamily="34" charset="-120"/>
              </a:rPr>
              <a:t>Put the horizon on the top or bottom third line, not the middle</a:t>
            </a:r>
            <a:endParaRPr lang="en-US" sz="1100" dirty="0"/>
          </a:p>
          <a:p>
            <a:pPr>
              <a:spcAft>
                <a:spcPts val="400"/>
              </a:spcAft>
            </a:pPr>
            <a:r>
              <a:rPr lang="en-US" sz="1100" dirty="0">
                <a:solidFill>
                  <a:srgbClr val="333333"/>
                </a:solidFill>
                <a:latin typeface="Arial" pitchFamily="34" charset="0"/>
                <a:ea typeface="Arial" pitchFamily="34" charset="-122"/>
                <a:cs typeface="Arial" pitchFamily="34" charset="-120"/>
              </a:rPr>
              <a:t>The four intersection points are called power points. Use them.</a:t>
            </a:r>
            <a:endParaRPr lang="en-US" sz="1100" dirty="0"/>
          </a:p>
        </p:txBody>
      </p:sp>
      <p:pic>
        <p:nvPicPr>
          <p:cNvPr id="14" name="Image 1" descr="/home/claude/img_01_rule_of_thirds_cropped.jpg">    </p:cNvPr>
          <p:cNvPicPr>
            <a:picLocks noChangeAspect="1"/>
          </p:cNvPicPr>
          <p:nvPr/>
        </p:nvPicPr>
        <p:blipFill>
          <a:blip r:embed="rId2"/>
          <a:stretch>
            <a:fillRect/>
          </a:stretch>
        </p:blipFill>
        <p:spPr>
          <a:xfrm>
            <a:off x="4800600" y="960120"/>
            <a:ext cx="4114800" cy="3086100"/>
          </a:xfrm>
          <a:prstGeom prst="rect">
            <a:avLst/>
          </a:prstGeom>
        </p:spPr>
      </p:pic>
      <p:sp>
        <p:nvSpPr>
          <p:cNvPr id="15" name="Shape 11"/>
          <p:cNvSpPr/>
          <p:nvPr/>
        </p:nvSpPr>
        <p:spPr>
          <a:xfrm>
            <a:off x="4800600" y="960120"/>
            <a:ext cx="4114800" cy="3086100"/>
          </a:xfrm>
          <a:prstGeom prst="rect">
            <a:avLst/>
          </a:prstGeom>
          <a:ln w="12700">
            <a:solidFill>
              <a:srgbClr val="009999"/>
            </a:solidFill>
            <a:prstDash val="solid"/>
          </a:ln>
        </p:spPr>
      </p:sp>
      <p:sp>
        <p:nvSpPr>
          <p:cNvPr id="16" name="Text 12"/>
          <p:cNvSpPr/>
          <p:nvPr/>
        </p:nvSpPr>
        <p:spPr>
          <a:xfrm>
            <a:off x="201168" y="4919472"/>
            <a:ext cx="5486400" cy="201168"/>
          </a:xfrm>
          <a:prstGeom prst="rect">
            <a:avLst/>
          </a:prstGeom>
          <a:noFill/>
          <a:ln/>
        </p:spPr>
        <p:txBody>
          <a:bodyPr wrap="square" lIns="0" tIns="0" rIns="0" bIns="0" rtlCol="0" anchor="ctr"/>
          <a:lstStyle/>
          <a:p>
            <a:pPr indent="0" marL="0">
              <a:buNone/>
            </a:pPr>
            <a:r>
              <a:rPr lang="en-US" sz="700" dirty="0">
                <a:solidFill>
                  <a:srgbClr val="888888"/>
                </a:solidFill>
                <a:latin typeface="Arial" pitchFamily="34" charset="0"/>
                <a:ea typeface="Arial" pitchFamily="34" charset="-122"/>
                <a:cs typeface="Arial" pitchFamily="34" charset="-120"/>
              </a:rPr>
              <a:t>Pioneer Valley High School  -  Photography 2A</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4FAFA"/>
          </a:solidFill>
          <a:ln w="12700">
            <a:solidFill>
              <a:srgbClr val="F4FAFA"/>
            </a:solidFill>
            <a:prstDash val="solid"/>
          </a:ln>
        </p:spPr>
      </p:sp>
      <p:sp>
        <p:nvSpPr>
          <p:cNvPr id="3" name="Shape 1"/>
          <p:cNvSpPr/>
          <p:nvPr/>
        </p:nvSpPr>
        <p:spPr>
          <a:xfrm>
            <a:off x="0" y="0"/>
            <a:ext cx="109728" cy="5143500"/>
          </a:xfrm>
          <a:prstGeom prst="rect">
            <a:avLst/>
          </a:prstGeom>
          <a:solidFill>
            <a:srgbClr val="007474"/>
          </a:solidFill>
          <a:ln w="12700">
            <a:solidFill>
              <a:srgbClr val="007474"/>
            </a:solidFill>
            <a:prstDash val="solid"/>
          </a:ln>
        </p:spPr>
      </p:sp>
      <p:sp>
        <p:nvSpPr>
          <p:cNvPr id="4" name="Shape 2"/>
          <p:cNvSpPr/>
          <p:nvPr/>
        </p:nvSpPr>
        <p:spPr>
          <a:xfrm>
            <a:off x="0" y="0"/>
            <a:ext cx="9144000" cy="640080"/>
          </a:xfrm>
          <a:prstGeom prst="rect">
            <a:avLst/>
          </a:prstGeom>
          <a:solidFill>
            <a:srgbClr val="004444"/>
          </a:solidFill>
          <a:ln w="12700">
            <a:solidFill>
              <a:srgbClr val="004444"/>
            </a:solidFill>
            <a:prstDash val="solid"/>
          </a:ln>
        </p:spPr>
      </p:sp>
      <p:sp>
        <p:nvSpPr>
          <p:cNvPr id="5" name="Text 3"/>
          <p:cNvSpPr/>
          <p:nvPr/>
        </p:nvSpPr>
        <p:spPr>
          <a:xfrm>
            <a:off x="182880" y="0"/>
            <a:ext cx="7772400" cy="64008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CTE Photography 2A  -  Composition Review</a:t>
            </a:r>
            <a:endParaRPr lang="en-US" sz="1100" dirty="0"/>
          </a:p>
        </p:txBody>
      </p:sp>
      <p:pic>
        <p:nvPicPr>
          <p:cNvPr id="6" name="Image 0" descr="/home/claude/PV_LOGO_NEW.png">    </p:cNvPr>
          <p:cNvPicPr>
            <a:picLocks noChangeAspect="1"/>
          </p:cNvPicPr>
          <p:nvPr/>
        </p:nvPicPr>
        <p:blipFill>
          <a:blip r:embed="rId1"/>
          <a:stretch>
            <a:fillRect/>
          </a:stretch>
        </p:blipFill>
        <p:spPr>
          <a:xfrm>
            <a:off x="8138160" y="109728"/>
            <a:ext cx="777240" cy="777240"/>
          </a:xfrm>
          <a:prstGeom prst="rect">
            <a:avLst/>
          </a:prstGeom>
        </p:spPr>
      </p:pic>
      <p:sp>
        <p:nvSpPr>
          <p:cNvPr id="7" name="Shape 4"/>
          <p:cNvSpPr/>
          <p:nvPr/>
        </p:nvSpPr>
        <p:spPr>
          <a:xfrm>
            <a:off x="201168" y="777240"/>
            <a:ext cx="502920" cy="502920"/>
          </a:xfrm>
          <a:prstGeom prst="ellipse">
            <a:avLst/>
          </a:prstGeom>
          <a:solidFill>
            <a:srgbClr val="007474"/>
          </a:solidFill>
          <a:ln w="12700">
            <a:solidFill>
              <a:srgbClr val="007474"/>
            </a:solidFill>
            <a:prstDash val="solid"/>
          </a:ln>
        </p:spPr>
      </p:sp>
      <p:sp>
        <p:nvSpPr>
          <p:cNvPr id="8" name="Text 5"/>
          <p:cNvSpPr/>
          <p:nvPr/>
        </p:nvSpPr>
        <p:spPr>
          <a:xfrm>
            <a:off x="201168" y="7772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9" name="Text 6"/>
          <p:cNvSpPr/>
          <p:nvPr/>
        </p:nvSpPr>
        <p:spPr>
          <a:xfrm>
            <a:off x="804672" y="713232"/>
            <a:ext cx="3749040" cy="594360"/>
          </a:xfrm>
          <a:prstGeom prst="rect">
            <a:avLst/>
          </a:prstGeom>
          <a:noFill/>
          <a:ln/>
        </p:spPr>
        <p:txBody>
          <a:bodyPr wrap="square" lIns="0" tIns="0" rIns="0" bIns="0" rtlCol="0" anchor="ctr"/>
          <a:lstStyle/>
          <a:p>
            <a:pPr indent="0" marL="0">
              <a:buNone/>
            </a:pPr>
            <a:r>
              <a:rPr lang="en-US" sz="2400" b="1" dirty="0">
                <a:solidFill>
                  <a:srgbClr val="004444"/>
                </a:solidFill>
                <a:latin typeface="Arial" pitchFamily="34" charset="0"/>
                <a:ea typeface="Arial" pitchFamily="34" charset="-122"/>
                <a:cs typeface="Arial" pitchFamily="34" charset="-120"/>
              </a:rPr>
              <a:t>Leading Lines</a:t>
            </a:r>
            <a:endParaRPr lang="en-US" sz="2400" dirty="0"/>
          </a:p>
        </p:txBody>
      </p:sp>
      <p:sp>
        <p:nvSpPr>
          <p:cNvPr id="10" name="Shape 7"/>
          <p:cNvSpPr/>
          <p:nvPr/>
        </p:nvSpPr>
        <p:spPr>
          <a:xfrm>
            <a:off x="201168" y="1371600"/>
            <a:ext cx="4343400" cy="27432"/>
          </a:xfrm>
          <a:prstGeom prst="rect">
            <a:avLst/>
          </a:prstGeom>
          <a:solidFill>
            <a:srgbClr val="009999"/>
          </a:solidFill>
          <a:ln w="12700">
            <a:solidFill>
              <a:srgbClr val="009999"/>
            </a:solidFill>
            <a:prstDash val="solid"/>
          </a:ln>
        </p:spPr>
      </p:sp>
      <p:sp>
        <p:nvSpPr>
          <p:cNvPr id="11" name="Text 8"/>
          <p:cNvSpPr/>
          <p:nvPr/>
        </p:nvSpPr>
        <p:spPr>
          <a:xfrm>
            <a:off x="201168" y="1463040"/>
            <a:ext cx="4343400" cy="1234440"/>
          </a:xfrm>
          <a:prstGeom prst="rect">
            <a:avLst/>
          </a:prstGeom>
          <a:noFill/>
          <a:ln/>
        </p:spPr>
        <p:txBody>
          <a:bodyPr wrap="square" lIns="0" tIns="0" rIns="0" bIns="0" rtlCol="0" anchor="t"/>
          <a:lstStyle/>
          <a:p>
            <a:pPr indent="0" marL="0">
              <a:buNone/>
            </a:pPr>
            <a:r>
              <a:rPr lang="en-US" sz="1200" dirty="0">
                <a:solidFill>
                  <a:srgbClr val="333333"/>
                </a:solidFill>
                <a:latin typeface="Arial" pitchFamily="34" charset="0"/>
                <a:ea typeface="Arial" pitchFamily="34" charset="-122"/>
                <a:cs typeface="Arial" pitchFamily="34" charset="-120"/>
              </a:rPr>
              <a:t>Leading lines are lines in your scene that pull the viewer's eye toward your subject. Roads, fences, rivers, hallways, and shadows all work as leading lines. They add depth and give your image a clear path for the eye to follow.</a:t>
            </a:r>
            <a:endParaRPr lang="en-US" sz="1200" dirty="0"/>
          </a:p>
        </p:txBody>
      </p:sp>
      <p:sp>
        <p:nvSpPr>
          <p:cNvPr id="12" name="Text 9"/>
          <p:cNvSpPr/>
          <p:nvPr/>
        </p:nvSpPr>
        <p:spPr>
          <a:xfrm>
            <a:off x="201168" y="2788920"/>
            <a:ext cx="1097280" cy="256032"/>
          </a:xfrm>
          <a:prstGeom prst="rect">
            <a:avLst/>
          </a:prstGeom>
          <a:noFill/>
          <a:ln/>
        </p:spPr>
        <p:txBody>
          <a:bodyPr wrap="square" lIns="0" tIns="0" rIns="0" bIns="0" rtlCol="0" anchor="ctr"/>
          <a:lstStyle/>
          <a:p>
            <a:pPr indent="0" marL="0">
              <a:buNone/>
            </a:pPr>
            <a:r>
              <a:rPr lang="en-US" sz="800" b="1" dirty="0">
                <a:solidFill>
                  <a:srgbClr val="007474"/>
                </a:solidFill>
                <a:latin typeface="Arial" pitchFamily="34" charset="0"/>
                <a:ea typeface="Arial" pitchFamily="34" charset="-122"/>
                <a:cs typeface="Arial" pitchFamily="34" charset="-120"/>
              </a:rPr>
              <a:t>KEY TIPS</a:t>
            </a:r>
            <a:endParaRPr lang="en-US" sz="800" dirty="0"/>
          </a:p>
        </p:txBody>
      </p:sp>
      <p:sp>
        <p:nvSpPr>
          <p:cNvPr id="13" name="Text 10"/>
          <p:cNvSpPr/>
          <p:nvPr/>
        </p:nvSpPr>
        <p:spPr>
          <a:xfrm>
            <a:off x="201168" y="3063240"/>
            <a:ext cx="4343400" cy="1691640"/>
          </a:xfrm>
          <a:prstGeom prst="rect">
            <a:avLst/>
          </a:prstGeom>
          <a:noFill/>
          <a:ln/>
        </p:spPr>
        <p:txBody>
          <a:bodyPr wrap="square" lIns="0" tIns="0" rIns="0" bIns="0" rtlCol="0" anchor="t"/>
          <a:lstStyle/>
          <a:p>
            <a:pPr>
              <a:spcAft>
                <a:spcPts val="400"/>
              </a:spcAft>
            </a:pPr>
            <a:r>
              <a:rPr lang="en-US" sz="1100" dirty="0">
                <a:solidFill>
                  <a:srgbClr val="333333"/>
                </a:solidFill>
                <a:latin typeface="Arial" pitchFamily="34" charset="0"/>
                <a:ea typeface="Arial" pitchFamily="34" charset="-122"/>
                <a:cs typeface="Arial" pitchFamily="34" charset="-120"/>
              </a:rPr>
              <a:t>Find lines that point toward your subject, not away from it</a:t>
            </a:r>
            <a:endParaRPr lang="en-US" sz="1100" dirty="0"/>
          </a:p>
          <a:p>
            <a:pPr>
              <a:spcAft>
                <a:spcPts val="400"/>
              </a:spcAft>
            </a:pPr>
            <a:r>
              <a:rPr lang="en-US" sz="1100" dirty="0">
                <a:solidFill>
                  <a:srgbClr val="333333"/>
                </a:solidFill>
                <a:latin typeface="Arial" pitchFamily="34" charset="0"/>
                <a:ea typeface="Arial" pitchFamily="34" charset="-122"/>
                <a:cs typeface="Arial" pitchFamily="34" charset="-120"/>
              </a:rPr>
              <a:t>Diagonal leading lines feel more energetic than straight ones</a:t>
            </a:r>
            <a:endParaRPr lang="en-US" sz="1100" dirty="0"/>
          </a:p>
          <a:p>
            <a:pPr>
              <a:spcAft>
                <a:spcPts val="400"/>
              </a:spcAft>
            </a:pPr>
            <a:r>
              <a:rPr lang="en-US" sz="1100" dirty="0">
                <a:solidFill>
                  <a:srgbClr val="333333"/>
                </a:solidFill>
                <a:latin typeface="Arial" pitchFamily="34" charset="0"/>
                <a:ea typeface="Arial" pitchFamily="34" charset="-122"/>
                <a:cs typeface="Arial" pitchFamily="34" charset="-120"/>
              </a:rPr>
              <a:t>Converging lines create a strong sense of depth and perspective</a:t>
            </a:r>
            <a:endParaRPr lang="en-US" sz="1100" dirty="0"/>
          </a:p>
          <a:p>
            <a:pPr>
              <a:spcAft>
                <a:spcPts val="400"/>
              </a:spcAft>
            </a:pPr>
            <a:r>
              <a:rPr lang="en-US" sz="1100" dirty="0">
                <a:solidFill>
                  <a:srgbClr val="333333"/>
                </a:solidFill>
                <a:latin typeface="Arial" pitchFamily="34" charset="0"/>
                <a:ea typeface="Arial" pitchFamily="34" charset="-122"/>
                <a:cs typeface="Arial" pitchFamily="34" charset="-120"/>
              </a:rPr>
              <a:t>You can layer two or more leading lines for a stronger effect</a:t>
            </a:r>
            <a:endParaRPr lang="en-US" sz="1100" dirty="0"/>
          </a:p>
        </p:txBody>
      </p:sp>
      <p:pic>
        <p:nvPicPr>
          <p:cNvPr id="14" name="Image 1" descr="/home/claude/img_02_leading_lines_cropped.jpg">    </p:cNvPr>
          <p:cNvPicPr>
            <a:picLocks noChangeAspect="1"/>
          </p:cNvPicPr>
          <p:nvPr/>
        </p:nvPicPr>
        <p:blipFill>
          <a:blip r:embed="rId2"/>
          <a:stretch>
            <a:fillRect/>
          </a:stretch>
        </p:blipFill>
        <p:spPr>
          <a:xfrm>
            <a:off x="4800600" y="960120"/>
            <a:ext cx="4114800" cy="3086100"/>
          </a:xfrm>
          <a:prstGeom prst="rect">
            <a:avLst/>
          </a:prstGeom>
        </p:spPr>
      </p:pic>
      <p:sp>
        <p:nvSpPr>
          <p:cNvPr id="15" name="Shape 11"/>
          <p:cNvSpPr/>
          <p:nvPr/>
        </p:nvSpPr>
        <p:spPr>
          <a:xfrm>
            <a:off x="4800600" y="960120"/>
            <a:ext cx="4114800" cy="3086100"/>
          </a:xfrm>
          <a:prstGeom prst="rect">
            <a:avLst/>
          </a:prstGeom>
          <a:ln w="12700">
            <a:solidFill>
              <a:srgbClr val="009999"/>
            </a:solidFill>
            <a:prstDash val="solid"/>
          </a:ln>
        </p:spPr>
      </p:sp>
      <p:sp>
        <p:nvSpPr>
          <p:cNvPr id="16" name="Text 12"/>
          <p:cNvSpPr/>
          <p:nvPr/>
        </p:nvSpPr>
        <p:spPr>
          <a:xfrm>
            <a:off x="201168" y="4919472"/>
            <a:ext cx="5486400" cy="201168"/>
          </a:xfrm>
          <a:prstGeom prst="rect">
            <a:avLst/>
          </a:prstGeom>
          <a:noFill/>
          <a:ln/>
        </p:spPr>
        <p:txBody>
          <a:bodyPr wrap="square" lIns="0" tIns="0" rIns="0" bIns="0" rtlCol="0" anchor="ctr"/>
          <a:lstStyle/>
          <a:p>
            <a:pPr indent="0" marL="0">
              <a:buNone/>
            </a:pPr>
            <a:r>
              <a:rPr lang="en-US" sz="700" dirty="0">
                <a:solidFill>
                  <a:srgbClr val="888888"/>
                </a:solidFill>
                <a:latin typeface="Arial" pitchFamily="34" charset="0"/>
                <a:ea typeface="Arial" pitchFamily="34" charset="-122"/>
                <a:cs typeface="Arial" pitchFamily="34" charset="-120"/>
              </a:rPr>
              <a:t>Pioneer Valley High School  -  Photography 2A</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4FAFA"/>
          </a:solidFill>
          <a:ln w="12700">
            <a:solidFill>
              <a:srgbClr val="F4FAFA"/>
            </a:solidFill>
            <a:prstDash val="solid"/>
          </a:ln>
        </p:spPr>
      </p:sp>
      <p:sp>
        <p:nvSpPr>
          <p:cNvPr id="3" name="Shape 1"/>
          <p:cNvSpPr/>
          <p:nvPr/>
        </p:nvSpPr>
        <p:spPr>
          <a:xfrm>
            <a:off x="0" y="0"/>
            <a:ext cx="109728" cy="5143500"/>
          </a:xfrm>
          <a:prstGeom prst="rect">
            <a:avLst/>
          </a:prstGeom>
          <a:solidFill>
            <a:srgbClr val="007474"/>
          </a:solidFill>
          <a:ln w="12700">
            <a:solidFill>
              <a:srgbClr val="007474"/>
            </a:solidFill>
            <a:prstDash val="solid"/>
          </a:ln>
        </p:spPr>
      </p:sp>
      <p:sp>
        <p:nvSpPr>
          <p:cNvPr id="4" name="Shape 2"/>
          <p:cNvSpPr/>
          <p:nvPr/>
        </p:nvSpPr>
        <p:spPr>
          <a:xfrm>
            <a:off x="0" y="0"/>
            <a:ext cx="9144000" cy="640080"/>
          </a:xfrm>
          <a:prstGeom prst="rect">
            <a:avLst/>
          </a:prstGeom>
          <a:solidFill>
            <a:srgbClr val="004444"/>
          </a:solidFill>
          <a:ln w="12700">
            <a:solidFill>
              <a:srgbClr val="004444"/>
            </a:solidFill>
            <a:prstDash val="solid"/>
          </a:ln>
        </p:spPr>
      </p:sp>
      <p:sp>
        <p:nvSpPr>
          <p:cNvPr id="5" name="Text 3"/>
          <p:cNvSpPr/>
          <p:nvPr/>
        </p:nvSpPr>
        <p:spPr>
          <a:xfrm>
            <a:off x="182880" y="0"/>
            <a:ext cx="7772400" cy="64008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CTE Photography 2A  -  Composition Review</a:t>
            </a:r>
            <a:endParaRPr lang="en-US" sz="1100" dirty="0"/>
          </a:p>
        </p:txBody>
      </p:sp>
      <p:pic>
        <p:nvPicPr>
          <p:cNvPr id="6" name="Image 0" descr="/home/claude/PV_LOGO_NEW.png">    </p:cNvPr>
          <p:cNvPicPr>
            <a:picLocks noChangeAspect="1"/>
          </p:cNvPicPr>
          <p:nvPr/>
        </p:nvPicPr>
        <p:blipFill>
          <a:blip r:embed="rId1"/>
          <a:stretch>
            <a:fillRect/>
          </a:stretch>
        </p:blipFill>
        <p:spPr>
          <a:xfrm>
            <a:off x="8138160" y="109728"/>
            <a:ext cx="777240" cy="777240"/>
          </a:xfrm>
          <a:prstGeom prst="rect">
            <a:avLst/>
          </a:prstGeom>
        </p:spPr>
      </p:pic>
      <p:sp>
        <p:nvSpPr>
          <p:cNvPr id="7" name="Shape 4"/>
          <p:cNvSpPr/>
          <p:nvPr/>
        </p:nvSpPr>
        <p:spPr>
          <a:xfrm>
            <a:off x="201168" y="777240"/>
            <a:ext cx="502920" cy="502920"/>
          </a:xfrm>
          <a:prstGeom prst="ellipse">
            <a:avLst/>
          </a:prstGeom>
          <a:solidFill>
            <a:srgbClr val="007474"/>
          </a:solidFill>
          <a:ln w="12700">
            <a:solidFill>
              <a:srgbClr val="007474"/>
            </a:solidFill>
            <a:prstDash val="solid"/>
          </a:ln>
        </p:spPr>
      </p:sp>
      <p:sp>
        <p:nvSpPr>
          <p:cNvPr id="8" name="Text 5"/>
          <p:cNvSpPr/>
          <p:nvPr/>
        </p:nvSpPr>
        <p:spPr>
          <a:xfrm>
            <a:off x="201168" y="7772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9" name="Text 6"/>
          <p:cNvSpPr/>
          <p:nvPr/>
        </p:nvSpPr>
        <p:spPr>
          <a:xfrm>
            <a:off x="804672" y="713232"/>
            <a:ext cx="3749040" cy="594360"/>
          </a:xfrm>
          <a:prstGeom prst="rect">
            <a:avLst/>
          </a:prstGeom>
          <a:noFill/>
          <a:ln/>
        </p:spPr>
        <p:txBody>
          <a:bodyPr wrap="square" lIns="0" tIns="0" rIns="0" bIns="0" rtlCol="0" anchor="ctr"/>
          <a:lstStyle/>
          <a:p>
            <a:pPr indent="0" marL="0">
              <a:buNone/>
            </a:pPr>
            <a:r>
              <a:rPr lang="en-US" sz="2400" b="1" dirty="0">
                <a:solidFill>
                  <a:srgbClr val="004444"/>
                </a:solidFill>
                <a:latin typeface="Arial" pitchFamily="34" charset="0"/>
                <a:ea typeface="Arial" pitchFamily="34" charset="-122"/>
                <a:cs typeface="Arial" pitchFamily="34" charset="-120"/>
              </a:rPr>
              <a:t>Framing</a:t>
            </a:r>
            <a:endParaRPr lang="en-US" sz="2400" dirty="0"/>
          </a:p>
        </p:txBody>
      </p:sp>
      <p:sp>
        <p:nvSpPr>
          <p:cNvPr id="10" name="Shape 7"/>
          <p:cNvSpPr/>
          <p:nvPr/>
        </p:nvSpPr>
        <p:spPr>
          <a:xfrm>
            <a:off x="201168" y="1371600"/>
            <a:ext cx="4343400" cy="27432"/>
          </a:xfrm>
          <a:prstGeom prst="rect">
            <a:avLst/>
          </a:prstGeom>
          <a:solidFill>
            <a:srgbClr val="009999"/>
          </a:solidFill>
          <a:ln w="12700">
            <a:solidFill>
              <a:srgbClr val="009999"/>
            </a:solidFill>
            <a:prstDash val="solid"/>
          </a:ln>
        </p:spPr>
      </p:sp>
      <p:sp>
        <p:nvSpPr>
          <p:cNvPr id="11" name="Text 8"/>
          <p:cNvSpPr/>
          <p:nvPr/>
        </p:nvSpPr>
        <p:spPr>
          <a:xfrm>
            <a:off x="201168" y="1463040"/>
            <a:ext cx="4343400" cy="1234440"/>
          </a:xfrm>
          <a:prstGeom prst="rect">
            <a:avLst/>
          </a:prstGeom>
          <a:noFill/>
          <a:ln/>
        </p:spPr>
        <p:txBody>
          <a:bodyPr wrap="square" lIns="0" tIns="0" rIns="0" bIns="0" rtlCol="0" anchor="t"/>
          <a:lstStyle/>
          <a:p>
            <a:pPr indent="0" marL="0">
              <a:buNone/>
            </a:pPr>
            <a:r>
              <a:rPr lang="en-US" sz="1200" dirty="0">
                <a:solidFill>
                  <a:srgbClr val="333333"/>
                </a:solidFill>
                <a:latin typeface="Arial" pitchFamily="34" charset="0"/>
                <a:ea typeface="Arial" pitchFamily="34" charset="-122"/>
                <a:cs typeface="Arial" pitchFamily="34" charset="-120"/>
              </a:rPr>
              <a:t>Use objects in your scene to build a natural frame around your subject. Doorways, arches, windows, and tree branches all create a frame within the frame. This technique pulls the viewer's attention to your subject and adds a sense of depth and place.</a:t>
            </a:r>
            <a:endParaRPr lang="en-US" sz="1200" dirty="0"/>
          </a:p>
        </p:txBody>
      </p:sp>
      <p:sp>
        <p:nvSpPr>
          <p:cNvPr id="12" name="Text 9"/>
          <p:cNvSpPr/>
          <p:nvPr/>
        </p:nvSpPr>
        <p:spPr>
          <a:xfrm>
            <a:off x="201168" y="2788920"/>
            <a:ext cx="1097280" cy="256032"/>
          </a:xfrm>
          <a:prstGeom prst="rect">
            <a:avLst/>
          </a:prstGeom>
          <a:noFill/>
          <a:ln/>
        </p:spPr>
        <p:txBody>
          <a:bodyPr wrap="square" lIns="0" tIns="0" rIns="0" bIns="0" rtlCol="0" anchor="ctr"/>
          <a:lstStyle/>
          <a:p>
            <a:pPr indent="0" marL="0">
              <a:buNone/>
            </a:pPr>
            <a:r>
              <a:rPr lang="en-US" sz="800" b="1" dirty="0">
                <a:solidFill>
                  <a:srgbClr val="007474"/>
                </a:solidFill>
                <a:latin typeface="Arial" pitchFamily="34" charset="0"/>
                <a:ea typeface="Arial" pitchFamily="34" charset="-122"/>
                <a:cs typeface="Arial" pitchFamily="34" charset="-120"/>
              </a:rPr>
              <a:t>KEY TIPS</a:t>
            </a:r>
            <a:endParaRPr lang="en-US" sz="800" dirty="0"/>
          </a:p>
        </p:txBody>
      </p:sp>
      <p:sp>
        <p:nvSpPr>
          <p:cNvPr id="13" name="Text 10"/>
          <p:cNvSpPr/>
          <p:nvPr/>
        </p:nvSpPr>
        <p:spPr>
          <a:xfrm>
            <a:off x="201168" y="3063240"/>
            <a:ext cx="4343400" cy="1691640"/>
          </a:xfrm>
          <a:prstGeom prst="rect">
            <a:avLst/>
          </a:prstGeom>
          <a:noFill/>
          <a:ln/>
        </p:spPr>
        <p:txBody>
          <a:bodyPr wrap="square" lIns="0" tIns="0" rIns="0" bIns="0" rtlCol="0" anchor="t"/>
          <a:lstStyle/>
          <a:p>
            <a:pPr>
              <a:spcAft>
                <a:spcPts val="400"/>
              </a:spcAft>
            </a:pPr>
            <a:r>
              <a:rPr lang="en-US" sz="1100" dirty="0">
                <a:solidFill>
                  <a:srgbClr val="333333"/>
                </a:solidFill>
                <a:latin typeface="Arial" pitchFamily="34" charset="0"/>
                <a:ea typeface="Arial" pitchFamily="34" charset="-122"/>
                <a:cs typeface="Arial" pitchFamily="34" charset="-120"/>
              </a:rPr>
              <a:t>Your foreground frame does not need to be in sharp focus</a:t>
            </a:r>
            <a:endParaRPr lang="en-US" sz="1100" dirty="0"/>
          </a:p>
          <a:p>
            <a:pPr>
              <a:spcAft>
                <a:spcPts val="400"/>
              </a:spcAft>
            </a:pPr>
            <a:r>
              <a:rPr lang="en-US" sz="1100" dirty="0">
                <a:solidFill>
                  <a:srgbClr val="333333"/>
                </a:solidFill>
                <a:latin typeface="Arial" pitchFamily="34" charset="0"/>
                <a:ea typeface="Arial" pitchFamily="34" charset="-122"/>
                <a:cs typeface="Arial" pitchFamily="34" charset="-120"/>
              </a:rPr>
              <a:t>Dark frames around a bright subject create strong contrast</a:t>
            </a:r>
            <a:endParaRPr lang="en-US" sz="1100" dirty="0"/>
          </a:p>
          <a:p>
            <a:pPr>
              <a:spcAft>
                <a:spcPts val="400"/>
              </a:spcAft>
            </a:pPr>
            <a:r>
              <a:rPr lang="en-US" sz="1100" dirty="0">
                <a:solidFill>
                  <a:srgbClr val="333333"/>
                </a:solidFill>
                <a:latin typeface="Arial" pitchFamily="34" charset="0"/>
                <a:ea typeface="Arial" pitchFamily="34" charset="-122"/>
                <a:cs typeface="Arial" pitchFamily="34" charset="-120"/>
              </a:rPr>
              <a:t>Look up, down, and around you. Frames are everywhere.</a:t>
            </a:r>
            <a:endParaRPr lang="en-US" sz="1100" dirty="0"/>
          </a:p>
          <a:p>
            <a:pPr>
              <a:spcAft>
                <a:spcPts val="400"/>
              </a:spcAft>
            </a:pPr>
            <a:r>
              <a:rPr lang="en-US" sz="1100" dirty="0">
                <a:solidFill>
                  <a:srgbClr val="333333"/>
                </a:solidFill>
                <a:latin typeface="Arial" pitchFamily="34" charset="0"/>
                <a:ea typeface="Arial" pitchFamily="34" charset="-122"/>
                <a:cs typeface="Arial" pitchFamily="34" charset="-120"/>
              </a:rPr>
              <a:t>Tunnel shots are a classic and powerful example of framing</a:t>
            </a:r>
            <a:endParaRPr lang="en-US" sz="1100" dirty="0"/>
          </a:p>
        </p:txBody>
      </p:sp>
      <p:pic>
        <p:nvPicPr>
          <p:cNvPr id="14" name="Image 1" descr="/home/claude/img_03_framing_cropped.jpg">    </p:cNvPr>
          <p:cNvPicPr>
            <a:picLocks noChangeAspect="1"/>
          </p:cNvPicPr>
          <p:nvPr/>
        </p:nvPicPr>
        <p:blipFill>
          <a:blip r:embed="rId2"/>
          <a:stretch>
            <a:fillRect/>
          </a:stretch>
        </p:blipFill>
        <p:spPr>
          <a:xfrm>
            <a:off x="4800600" y="960120"/>
            <a:ext cx="4114800" cy="3086100"/>
          </a:xfrm>
          <a:prstGeom prst="rect">
            <a:avLst/>
          </a:prstGeom>
        </p:spPr>
      </p:pic>
      <p:sp>
        <p:nvSpPr>
          <p:cNvPr id="15" name="Shape 11"/>
          <p:cNvSpPr/>
          <p:nvPr/>
        </p:nvSpPr>
        <p:spPr>
          <a:xfrm>
            <a:off x="4800600" y="960120"/>
            <a:ext cx="4114800" cy="3086100"/>
          </a:xfrm>
          <a:prstGeom prst="rect">
            <a:avLst/>
          </a:prstGeom>
          <a:ln w="12700">
            <a:solidFill>
              <a:srgbClr val="009999"/>
            </a:solidFill>
            <a:prstDash val="solid"/>
          </a:ln>
        </p:spPr>
      </p:sp>
      <p:sp>
        <p:nvSpPr>
          <p:cNvPr id="16" name="Text 12"/>
          <p:cNvSpPr/>
          <p:nvPr/>
        </p:nvSpPr>
        <p:spPr>
          <a:xfrm>
            <a:off x="201168" y="4919472"/>
            <a:ext cx="5486400" cy="201168"/>
          </a:xfrm>
          <a:prstGeom prst="rect">
            <a:avLst/>
          </a:prstGeom>
          <a:noFill/>
          <a:ln/>
        </p:spPr>
        <p:txBody>
          <a:bodyPr wrap="square" lIns="0" tIns="0" rIns="0" bIns="0" rtlCol="0" anchor="ctr"/>
          <a:lstStyle/>
          <a:p>
            <a:pPr indent="0" marL="0">
              <a:buNone/>
            </a:pPr>
            <a:r>
              <a:rPr lang="en-US" sz="700" dirty="0">
                <a:solidFill>
                  <a:srgbClr val="888888"/>
                </a:solidFill>
                <a:latin typeface="Arial" pitchFamily="34" charset="0"/>
                <a:ea typeface="Arial" pitchFamily="34" charset="-122"/>
                <a:cs typeface="Arial" pitchFamily="34" charset="-120"/>
              </a:rPr>
              <a:t>Pioneer Valley High School  -  Photography 2A</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4FAFA"/>
          </a:solidFill>
          <a:ln w="12700">
            <a:solidFill>
              <a:srgbClr val="F4FAFA"/>
            </a:solidFill>
            <a:prstDash val="solid"/>
          </a:ln>
        </p:spPr>
      </p:sp>
      <p:sp>
        <p:nvSpPr>
          <p:cNvPr id="3" name="Shape 1"/>
          <p:cNvSpPr/>
          <p:nvPr/>
        </p:nvSpPr>
        <p:spPr>
          <a:xfrm>
            <a:off x="0" y="0"/>
            <a:ext cx="109728" cy="5143500"/>
          </a:xfrm>
          <a:prstGeom prst="rect">
            <a:avLst/>
          </a:prstGeom>
          <a:solidFill>
            <a:srgbClr val="007474"/>
          </a:solidFill>
          <a:ln w="12700">
            <a:solidFill>
              <a:srgbClr val="007474"/>
            </a:solidFill>
            <a:prstDash val="solid"/>
          </a:ln>
        </p:spPr>
      </p:sp>
      <p:sp>
        <p:nvSpPr>
          <p:cNvPr id="4" name="Shape 2"/>
          <p:cNvSpPr/>
          <p:nvPr/>
        </p:nvSpPr>
        <p:spPr>
          <a:xfrm>
            <a:off x="0" y="0"/>
            <a:ext cx="9144000" cy="640080"/>
          </a:xfrm>
          <a:prstGeom prst="rect">
            <a:avLst/>
          </a:prstGeom>
          <a:solidFill>
            <a:srgbClr val="004444"/>
          </a:solidFill>
          <a:ln w="12700">
            <a:solidFill>
              <a:srgbClr val="004444"/>
            </a:solidFill>
            <a:prstDash val="solid"/>
          </a:ln>
        </p:spPr>
      </p:sp>
      <p:sp>
        <p:nvSpPr>
          <p:cNvPr id="5" name="Text 3"/>
          <p:cNvSpPr/>
          <p:nvPr/>
        </p:nvSpPr>
        <p:spPr>
          <a:xfrm>
            <a:off x="182880" y="0"/>
            <a:ext cx="7772400" cy="64008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CTE Photography 2A  -  Composition Review</a:t>
            </a:r>
            <a:endParaRPr lang="en-US" sz="1100" dirty="0"/>
          </a:p>
        </p:txBody>
      </p:sp>
      <p:pic>
        <p:nvPicPr>
          <p:cNvPr id="6" name="Image 0" descr="/home/claude/PV_LOGO_NEW.png">    </p:cNvPr>
          <p:cNvPicPr>
            <a:picLocks noChangeAspect="1"/>
          </p:cNvPicPr>
          <p:nvPr/>
        </p:nvPicPr>
        <p:blipFill>
          <a:blip r:embed="rId1"/>
          <a:stretch>
            <a:fillRect/>
          </a:stretch>
        </p:blipFill>
        <p:spPr>
          <a:xfrm>
            <a:off x="8138160" y="109728"/>
            <a:ext cx="777240" cy="777240"/>
          </a:xfrm>
          <a:prstGeom prst="rect">
            <a:avLst/>
          </a:prstGeom>
        </p:spPr>
      </p:pic>
      <p:sp>
        <p:nvSpPr>
          <p:cNvPr id="7" name="Shape 4"/>
          <p:cNvSpPr/>
          <p:nvPr/>
        </p:nvSpPr>
        <p:spPr>
          <a:xfrm>
            <a:off x="201168" y="777240"/>
            <a:ext cx="502920" cy="502920"/>
          </a:xfrm>
          <a:prstGeom prst="ellipse">
            <a:avLst/>
          </a:prstGeom>
          <a:solidFill>
            <a:srgbClr val="007474"/>
          </a:solidFill>
          <a:ln w="12700">
            <a:solidFill>
              <a:srgbClr val="007474"/>
            </a:solidFill>
            <a:prstDash val="solid"/>
          </a:ln>
        </p:spPr>
      </p:sp>
      <p:sp>
        <p:nvSpPr>
          <p:cNvPr id="8" name="Text 5"/>
          <p:cNvSpPr/>
          <p:nvPr/>
        </p:nvSpPr>
        <p:spPr>
          <a:xfrm>
            <a:off x="201168" y="7772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9" name="Text 6"/>
          <p:cNvSpPr/>
          <p:nvPr/>
        </p:nvSpPr>
        <p:spPr>
          <a:xfrm>
            <a:off x="804672" y="713232"/>
            <a:ext cx="3749040" cy="594360"/>
          </a:xfrm>
          <a:prstGeom prst="rect">
            <a:avLst/>
          </a:prstGeom>
          <a:noFill/>
          <a:ln/>
        </p:spPr>
        <p:txBody>
          <a:bodyPr wrap="square" lIns="0" tIns="0" rIns="0" bIns="0" rtlCol="0" anchor="ctr"/>
          <a:lstStyle/>
          <a:p>
            <a:pPr indent="0" marL="0">
              <a:buNone/>
            </a:pPr>
            <a:r>
              <a:rPr lang="en-US" sz="2400" b="1" dirty="0">
                <a:solidFill>
                  <a:srgbClr val="004444"/>
                </a:solidFill>
                <a:latin typeface="Arial" pitchFamily="34" charset="0"/>
                <a:ea typeface="Arial" pitchFamily="34" charset="-122"/>
                <a:cs typeface="Arial" pitchFamily="34" charset="-120"/>
              </a:rPr>
              <a:t>Negative Space</a:t>
            </a:r>
            <a:endParaRPr lang="en-US" sz="2400" dirty="0"/>
          </a:p>
        </p:txBody>
      </p:sp>
      <p:sp>
        <p:nvSpPr>
          <p:cNvPr id="10" name="Shape 7"/>
          <p:cNvSpPr/>
          <p:nvPr/>
        </p:nvSpPr>
        <p:spPr>
          <a:xfrm>
            <a:off x="201168" y="1371600"/>
            <a:ext cx="4343400" cy="27432"/>
          </a:xfrm>
          <a:prstGeom prst="rect">
            <a:avLst/>
          </a:prstGeom>
          <a:solidFill>
            <a:srgbClr val="009999"/>
          </a:solidFill>
          <a:ln w="12700">
            <a:solidFill>
              <a:srgbClr val="009999"/>
            </a:solidFill>
            <a:prstDash val="solid"/>
          </a:ln>
        </p:spPr>
      </p:sp>
      <p:sp>
        <p:nvSpPr>
          <p:cNvPr id="11" name="Text 8"/>
          <p:cNvSpPr/>
          <p:nvPr/>
        </p:nvSpPr>
        <p:spPr>
          <a:xfrm>
            <a:off x="201168" y="1463040"/>
            <a:ext cx="4343400" cy="1234440"/>
          </a:xfrm>
          <a:prstGeom prst="rect">
            <a:avLst/>
          </a:prstGeom>
          <a:noFill/>
          <a:ln/>
        </p:spPr>
        <p:txBody>
          <a:bodyPr wrap="square" lIns="0" tIns="0" rIns="0" bIns="0" rtlCol="0" anchor="t"/>
          <a:lstStyle/>
          <a:p>
            <a:pPr indent="0" marL="0">
              <a:buNone/>
            </a:pPr>
            <a:r>
              <a:rPr lang="en-US" sz="1200" dirty="0">
                <a:solidFill>
                  <a:srgbClr val="333333"/>
                </a:solidFill>
                <a:latin typeface="Arial" pitchFamily="34" charset="0"/>
                <a:ea typeface="Arial" pitchFamily="34" charset="-122"/>
                <a:cs typeface="Arial" pitchFamily="34" charset="-120"/>
              </a:rPr>
              <a:t>Negative space is the empty area around your subject. Leaving open space in your frame gives your subject room to breathe. It also creates a feeling of calm, loneliness, or scale. The subject becomes more powerful, not less, when it has space around it.</a:t>
            </a:r>
            <a:endParaRPr lang="en-US" sz="1200" dirty="0"/>
          </a:p>
        </p:txBody>
      </p:sp>
      <p:sp>
        <p:nvSpPr>
          <p:cNvPr id="12" name="Text 9"/>
          <p:cNvSpPr/>
          <p:nvPr/>
        </p:nvSpPr>
        <p:spPr>
          <a:xfrm>
            <a:off x="201168" y="2788920"/>
            <a:ext cx="1097280" cy="256032"/>
          </a:xfrm>
          <a:prstGeom prst="rect">
            <a:avLst/>
          </a:prstGeom>
          <a:noFill/>
          <a:ln/>
        </p:spPr>
        <p:txBody>
          <a:bodyPr wrap="square" lIns="0" tIns="0" rIns="0" bIns="0" rtlCol="0" anchor="ctr"/>
          <a:lstStyle/>
          <a:p>
            <a:pPr indent="0" marL="0">
              <a:buNone/>
            </a:pPr>
            <a:r>
              <a:rPr lang="en-US" sz="800" b="1" dirty="0">
                <a:solidFill>
                  <a:srgbClr val="007474"/>
                </a:solidFill>
                <a:latin typeface="Arial" pitchFamily="34" charset="0"/>
                <a:ea typeface="Arial" pitchFamily="34" charset="-122"/>
                <a:cs typeface="Arial" pitchFamily="34" charset="-120"/>
              </a:rPr>
              <a:t>KEY TIPS</a:t>
            </a:r>
            <a:endParaRPr lang="en-US" sz="800" dirty="0"/>
          </a:p>
        </p:txBody>
      </p:sp>
      <p:sp>
        <p:nvSpPr>
          <p:cNvPr id="13" name="Text 10"/>
          <p:cNvSpPr/>
          <p:nvPr/>
        </p:nvSpPr>
        <p:spPr>
          <a:xfrm>
            <a:off x="201168" y="3063240"/>
            <a:ext cx="4343400" cy="1691640"/>
          </a:xfrm>
          <a:prstGeom prst="rect">
            <a:avLst/>
          </a:prstGeom>
          <a:noFill/>
          <a:ln/>
        </p:spPr>
        <p:txBody>
          <a:bodyPr wrap="square" lIns="0" tIns="0" rIns="0" bIns="0" rtlCol="0" anchor="t"/>
          <a:lstStyle/>
          <a:p>
            <a:pPr>
              <a:spcAft>
                <a:spcPts val="400"/>
              </a:spcAft>
            </a:pPr>
            <a:r>
              <a:rPr lang="en-US" sz="1100" dirty="0">
                <a:solidFill>
                  <a:srgbClr val="333333"/>
                </a:solidFill>
                <a:latin typeface="Arial" pitchFamily="34" charset="0"/>
                <a:ea typeface="Arial" pitchFamily="34" charset="-122"/>
                <a:cs typeface="Arial" pitchFamily="34" charset="-120"/>
              </a:rPr>
              <a:t>Sky, open water, and blank walls make great negative space</a:t>
            </a:r>
            <a:endParaRPr lang="en-US" sz="1100" dirty="0"/>
          </a:p>
          <a:p>
            <a:pPr>
              <a:spcAft>
                <a:spcPts val="400"/>
              </a:spcAft>
            </a:pPr>
            <a:r>
              <a:rPr lang="en-US" sz="1100" dirty="0">
                <a:solidFill>
                  <a:srgbClr val="333333"/>
                </a:solidFill>
                <a:latin typeface="Arial" pitchFamily="34" charset="0"/>
                <a:ea typeface="Arial" pitchFamily="34" charset="-122"/>
                <a:cs typeface="Arial" pitchFamily="34" charset="-120"/>
              </a:rPr>
              <a:t>Leave space in the direction your subject faces or moves</a:t>
            </a:r>
            <a:endParaRPr lang="en-US" sz="1100" dirty="0"/>
          </a:p>
          <a:p>
            <a:pPr>
              <a:spcAft>
                <a:spcPts val="400"/>
              </a:spcAft>
            </a:pPr>
            <a:r>
              <a:rPr lang="en-US" sz="1100" dirty="0">
                <a:solidFill>
                  <a:srgbClr val="333333"/>
                </a:solidFill>
                <a:latin typeface="Arial" pitchFamily="34" charset="0"/>
                <a:ea typeface="Arial" pitchFamily="34" charset="-122"/>
                <a:cs typeface="Arial" pitchFamily="34" charset="-120"/>
              </a:rPr>
              <a:t>High-contrast negative space works best (dark subject, light sky)</a:t>
            </a:r>
            <a:endParaRPr lang="en-US" sz="1100" dirty="0"/>
          </a:p>
          <a:p>
            <a:pPr>
              <a:spcAft>
                <a:spcPts val="400"/>
              </a:spcAft>
            </a:pPr>
            <a:r>
              <a:rPr lang="en-US" sz="1100" dirty="0">
                <a:solidFill>
                  <a:srgbClr val="333333"/>
                </a:solidFill>
                <a:latin typeface="Arial" pitchFamily="34" charset="0"/>
                <a:ea typeface="Arial" pitchFamily="34" charset="-122"/>
                <a:cs typeface="Arial" pitchFamily="34" charset="-120"/>
              </a:rPr>
              <a:t>Fight the urge to fill every corner of your frame</a:t>
            </a:r>
            <a:endParaRPr lang="en-US" sz="1100" dirty="0"/>
          </a:p>
        </p:txBody>
      </p:sp>
      <p:pic>
        <p:nvPicPr>
          <p:cNvPr id="14" name="Image 1" descr="/home/claude/img_04_negative_space_cropped.jpg">    </p:cNvPr>
          <p:cNvPicPr>
            <a:picLocks noChangeAspect="1"/>
          </p:cNvPicPr>
          <p:nvPr/>
        </p:nvPicPr>
        <p:blipFill>
          <a:blip r:embed="rId2"/>
          <a:stretch>
            <a:fillRect/>
          </a:stretch>
        </p:blipFill>
        <p:spPr>
          <a:xfrm>
            <a:off x="4800600" y="960120"/>
            <a:ext cx="4114800" cy="3086100"/>
          </a:xfrm>
          <a:prstGeom prst="rect">
            <a:avLst/>
          </a:prstGeom>
        </p:spPr>
      </p:pic>
      <p:sp>
        <p:nvSpPr>
          <p:cNvPr id="15" name="Shape 11"/>
          <p:cNvSpPr/>
          <p:nvPr/>
        </p:nvSpPr>
        <p:spPr>
          <a:xfrm>
            <a:off x="4800600" y="960120"/>
            <a:ext cx="4114800" cy="3086100"/>
          </a:xfrm>
          <a:prstGeom prst="rect">
            <a:avLst/>
          </a:prstGeom>
          <a:ln w="12700">
            <a:solidFill>
              <a:srgbClr val="009999"/>
            </a:solidFill>
            <a:prstDash val="solid"/>
          </a:ln>
        </p:spPr>
      </p:sp>
      <p:sp>
        <p:nvSpPr>
          <p:cNvPr id="16" name="Text 12"/>
          <p:cNvSpPr/>
          <p:nvPr/>
        </p:nvSpPr>
        <p:spPr>
          <a:xfrm>
            <a:off x="201168" y="4919472"/>
            <a:ext cx="5486400" cy="201168"/>
          </a:xfrm>
          <a:prstGeom prst="rect">
            <a:avLst/>
          </a:prstGeom>
          <a:noFill/>
          <a:ln/>
        </p:spPr>
        <p:txBody>
          <a:bodyPr wrap="square" lIns="0" tIns="0" rIns="0" bIns="0" rtlCol="0" anchor="ctr"/>
          <a:lstStyle/>
          <a:p>
            <a:pPr indent="0" marL="0">
              <a:buNone/>
            </a:pPr>
            <a:r>
              <a:rPr lang="en-US" sz="700" dirty="0">
                <a:solidFill>
                  <a:srgbClr val="888888"/>
                </a:solidFill>
                <a:latin typeface="Arial" pitchFamily="34" charset="0"/>
                <a:ea typeface="Arial" pitchFamily="34" charset="-122"/>
                <a:cs typeface="Arial" pitchFamily="34" charset="-120"/>
              </a:rPr>
              <a:t>Pioneer Valley High School  -  Photography 2A</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4FAFA"/>
          </a:solidFill>
          <a:ln w="12700">
            <a:solidFill>
              <a:srgbClr val="F4FAFA"/>
            </a:solidFill>
            <a:prstDash val="solid"/>
          </a:ln>
        </p:spPr>
      </p:sp>
      <p:sp>
        <p:nvSpPr>
          <p:cNvPr id="3" name="Shape 1"/>
          <p:cNvSpPr/>
          <p:nvPr/>
        </p:nvSpPr>
        <p:spPr>
          <a:xfrm>
            <a:off x="0" y="0"/>
            <a:ext cx="109728" cy="5143500"/>
          </a:xfrm>
          <a:prstGeom prst="rect">
            <a:avLst/>
          </a:prstGeom>
          <a:solidFill>
            <a:srgbClr val="007474"/>
          </a:solidFill>
          <a:ln w="12700">
            <a:solidFill>
              <a:srgbClr val="007474"/>
            </a:solidFill>
            <a:prstDash val="solid"/>
          </a:ln>
        </p:spPr>
      </p:sp>
      <p:sp>
        <p:nvSpPr>
          <p:cNvPr id="4" name="Shape 2"/>
          <p:cNvSpPr/>
          <p:nvPr/>
        </p:nvSpPr>
        <p:spPr>
          <a:xfrm>
            <a:off x="0" y="0"/>
            <a:ext cx="9144000" cy="640080"/>
          </a:xfrm>
          <a:prstGeom prst="rect">
            <a:avLst/>
          </a:prstGeom>
          <a:solidFill>
            <a:srgbClr val="004444"/>
          </a:solidFill>
          <a:ln w="12700">
            <a:solidFill>
              <a:srgbClr val="004444"/>
            </a:solidFill>
            <a:prstDash val="solid"/>
          </a:ln>
        </p:spPr>
      </p:sp>
      <p:sp>
        <p:nvSpPr>
          <p:cNvPr id="5" name="Text 3"/>
          <p:cNvSpPr/>
          <p:nvPr/>
        </p:nvSpPr>
        <p:spPr>
          <a:xfrm>
            <a:off x="182880" y="0"/>
            <a:ext cx="7772400" cy="64008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CTE Photography 2A  -  Composition Review</a:t>
            </a:r>
            <a:endParaRPr lang="en-US" sz="1100" dirty="0"/>
          </a:p>
        </p:txBody>
      </p:sp>
      <p:pic>
        <p:nvPicPr>
          <p:cNvPr id="6" name="Image 0" descr="/home/claude/PV_LOGO_NEW.png">    </p:cNvPr>
          <p:cNvPicPr>
            <a:picLocks noChangeAspect="1"/>
          </p:cNvPicPr>
          <p:nvPr/>
        </p:nvPicPr>
        <p:blipFill>
          <a:blip r:embed="rId1"/>
          <a:stretch>
            <a:fillRect/>
          </a:stretch>
        </p:blipFill>
        <p:spPr>
          <a:xfrm>
            <a:off x="8138160" y="109728"/>
            <a:ext cx="777240" cy="777240"/>
          </a:xfrm>
          <a:prstGeom prst="rect">
            <a:avLst/>
          </a:prstGeom>
        </p:spPr>
      </p:pic>
      <p:sp>
        <p:nvSpPr>
          <p:cNvPr id="7" name="Shape 4"/>
          <p:cNvSpPr/>
          <p:nvPr/>
        </p:nvSpPr>
        <p:spPr>
          <a:xfrm>
            <a:off x="201168" y="777240"/>
            <a:ext cx="502920" cy="502920"/>
          </a:xfrm>
          <a:prstGeom prst="ellipse">
            <a:avLst/>
          </a:prstGeom>
          <a:solidFill>
            <a:srgbClr val="007474"/>
          </a:solidFill>
          <a:ln w="12700">
            <a:solidFill>
              <a:srgbClr val="007474"/>
            </a:solidFill>
            <a:prstDash val="solid"/>
          </a:ln>
        </p:spPr>
      </p:sp>
      <p:sp>
        <p:nvSpPr>
          <p:cNvPr id="8" name="Text 5"/>
          <p:cNvSpPr/>
          <p:nvPr/>
        </p:nvSpPr>
        <p:spPr>
          <a:xfrm>
            <a:off x="201168" y="7772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5</a:t>
            </a:r>
            <a:endParaRPr lang="en-US" sz="1600" dirty="0"/>
          </a:p>
        </p:txBody>
      </p:sp>
      <p:sp>
        <p:nvSpPr>
          <p:cNvPr id="9" name="Text 6"/>
          <p:cNvSpPr/>
          <p:nvPr/>
        </p:nvSpPr>
        <p:spPr>
          <a:xfrm>
            <a:off x="804672" y="713232"/>
            <a:ext cx="3749040" cy="594360"/>
          </a:xfrm>
          <a:prstGeom prst="rect">
            <a:avLst/>
          </a:prstGeom>
          <a:noFill/>
          <a:ln/>
        </p:spPr>
        <p:txBody>
          <a:bodyPr wrap="square" lIns="0" tIns="0" rIns="0" bIns="0" rtlCol="0" anchor="ctr"/>
          <a:lstStyle/>
          <a:p>
            <a:pPr indent="0" marL="0">
              <a:buNone/>
            </a:pPr>
            <a:r>
              <a:rPr lang="en-US" sz="2400" b="1" dirty="0">
                <a:solidFill>
                  <a:srgbClr val="004444"/>
                </a:solidFill>
                <a:latin typeface="Arial" pitchFamily="34" charset="0"/>
                <a:ea typeface="Arial" pitchFamily="34" charset="-122"/>
                <a:cs typeface="Arial" pitchFamily="34" charset="-120"/>
              </a:rPr>
              <a:t>Symmetry</a:t>
            </a:r>
            <a:endParaRPr lang="en-US" sz="2400" dirty="0"/>
          </a:p>
        </p:txBody>
      </p:sp>
      <p:sp>
        <p:nvSpPr>
          <p:cNvPr id="10" name="Shape 7"/>
          <p:cNvSpPr/>
          <p:nvPr/>
        </p:nvSpPr>
        <p:spPr>
          <a:xfrm>
            <a:off x="201168" y="1371600"/>
            <a:ext cx="4343400" cy="27432"/>
          </a:xfrm>
          <a:prstGeom prst="rect">
            <a:avLst/>
          </a:prstGeom>
          <a:solidFill>
            <a:srgbClr val="009999"/>
          </a:solidFill>
          <a:ln w="12700">
            <a:solidFill>
              <a:srgbClr val="009999"/>
            </a:solidFill>
            <a:prstDash val="solid"/>
          </a:ln>
        </p:spPr>
      </p:sp>
      <p:sp>
        <p:nvSpPr>
          <p:cNvPr id="11" name="Text 8"/>
          <p:cNvSpPr/>
          <p:nvPr/>
        </p:nvSpPr>
        <p:spPr>
          <a:xfrm>
            <a:off x="201168" y="1463040"/>
            <a:ext cx="4343400" cy="1234440"/>
          </a:xfrm>
          <a:prstGeom prst="rect">
            <a:avLst/>
          </a:prstGeom>
          <a:noFill/>
          <a:ln/>
        </p:spPr>
        <p:txBody>
          <a:bodyPr wrap="square" lIns="0" tIns="0" rIns="0" bIns="0" rtlCol="0" anchor="t"/>
          <a:lstStyle/>
          <a:p>
            <a:pPr indent="0" marL="0">
              <a:buNone/>
            </a:pPr>
            <a:r>
              <a:rPr lang="en-US" sz="1200" dirty="0">
                <a:solidFill>
                  <a:srgbClr val="333333"/>
                </a:solidFill>
                <a:latin typeface="Arial" pitchFamily="34" charset="0"/>
                <a:ea typeface="Arial" pitchFamily="34" charset="-122"/>
                <a:cs typeface="Arial" pitchFamily="34" charset="-120"/>
              </a:rPr>
              <a:t>Symmetry happens when both sides of a frame mirror each other. It creates a feeling of order and calm. Perfect symmetry is very bold. You can also break symmetry on purpose by adding one small element that disrupts the pattern. That one break becomes the focal point.</a:t>
            </a:r>
            <a:endParaRPr lang="en-US" sz="1200" dirty="0"/>
          </a:p>
        </p:txBody>
      </p:sp>
      <p:sp>
        <p:nvSpPr>
          <p:cNvPr id="12" name="Text 9"/>
          <p:cNvSpPr/>
          <p:nvPr/>
        </p:nvSpPr>
        <p:spPr>
          <a:xfrm>
            <a:off x="201168" y="2788920"/>
            <a:ext cx="1097280" cy="256032"/>
          </a:xfrm>
          <a:prstGeom prst="rect">
            <a:avLst/>
          </a:prstGeom>
          <a:noFill/>
          <a:ln/>
        </p:spPr>
        <p:txBody>
          <a:bodyPr wrap="square" lIns="0" tIns="0" rIns="0" bIns="0" rtlCol="0" anchor="ctr"/>
          <a:lstStyle/>
          <a:p>
            <a:pPr indent="0" marL="0">
              <a:buNone/>
            </a:pPr>
            <a:r>
              <a:rPr lang="en-US" sz="800" b="1" dirty="0">
                <a:solidFill>
                  <a:srgbClr val="007474"/>
                </a:solidFill>
                <a:latin typeface="Arial" pitchFamily="34" charset="0"/>
                <a:ea typeface="Arial" pitchFamily="34" charset="-122"/>
                <a:cs typeface="Arial" pitchFamily="34" charset="-120"/>
              </a:rPr>
              <a:t>KEY TIPS</a:t>
            </a:r>
            <a:endParaRPr lang="en-US" sz="800" dirty="0"/>
          </a:p>
        </p:txBody>
      </p:sp>
      <p:sp>
        <p:nvSpPr>
          <p:cNvPr id="13" name="Text 10"/>
          <p:cNvSpPr/>
          <p:nvPr/>
        </p:nvSpPr>
        <p:spPr>
          <a:xfrm>
            <a:off x="201168" y="3063240"/>
            <a:ext cx="4343400" cy="1691640"/>
          </a:xfrm>
          <a:prstGeom prst="rect">
            <a:avLst/>
          </a:prstGeom>
          <a:noFill/>
          <a:ln/>
        </p:spPr>
        <p:txBody>
          <a:bodyPr wrap="square" lIns="0" tIns="0" rIns="0" bIns="0" rtlCol="0" anchor="t"/>
          <a:lstStyle/>
          <a:p>
            <a:pPr>
              <a:spcAft>
                <a:spcPts val="400"/>
              </a:spcAft>
            </a:pPr>
            <a:r>
              <a:rPr lang="en-US" sz="1100" dirty="0">
                <a:solidFill>
                  <a:srgbClr val="333333"/>
                </a:solidFill>
                <a:latin typeface="Arial" pitchFamily="34" charset="0"/>
                <a:ea typeface="Arial" pitchFamily="34" charset="-122"/>
                <a:cs typeface="Arial" pitchFamily="34" charset="-120"/>
              </a:rPr>
              <a:t>Photograph straight on for true symmetry, not at an angle</a:t>
            </a:r>
            <a:endParaRPr lang="en-US" sz="1100" dirty="0"/>
          </a:p>
          <a:p>
            <a:pPr>
              <a:spcAft>
                <a:spcPts val="400"/>
              </a:spcAft>
            </a:pPr>
            <a:r>
              <a:rPr lang="en-US" sz="1100" dirty="0">
                <a:solidFill>
                  <a:srgbClr val="333333"/>
                </a:solidFill>
                <a:latin typeface="Arial" pitchFamily="34" charset="0"/>
                <a:ea typeface="Arial" pitchFamily="34" charset="-122"/>
                <a:cs typeface="Arial" pitchFamily="34" charset="-120"/>
              </a:rPr>
              <a:t>Reflections in water, glass, and mirrors are natural symmetry</a:t>
            </a:r>
            <a:endParaRPr lang="en-US" sz="1100" dirty="0"/>
          </a:p>
          <a:p>
            <a:pPr>
              <a:spcAft>
                <a:spcPts val="400"/>
              </a:spcAft>
            </a:pPr>
            <a:r>
              <a:rPr lang="en-US" sz="1100" dirty="0">
                <a:solidFill>
                  <a:srgbClr val="333333"/>
                </a:solidFill>
                <a:latin typeface="Arial" pitchFamily="34" charset="0"/>
                <a:ea typeface="Arial" pitchFamily="34" charset="-122"/>
                <a:cs typeface="Arial" pitchFamily="34" charset="-120"/>
              </a:rPr>
              <a:t>Breaking symmetry with one odd element creates a strong focal point</a:t>
            </a:r>
            <a:endParaRPr lang="en-US" sz="1100" dirty="0"/>
          </a:p>
          <a:p>
            <a:pPr>
              <a:spcAft>
                <a:spcPts val="400"/>
              </a:spcAft>
            </a:pPr>
            <a:r>
              <a:rPr lang="en-US" sz="1100" dirty="0">
                <a:solidFill>
                  <a:srgbClr val="333333"/>
                </a:solidFill>
                <a:latin typeface="Arial" pitchFamily="34" charset="0"/>
                <a:ea typeface="Arial" pitchFamily="34" charset="-122"/>
                <a:cs typeface="Arial" pitchFamily="34" charset="-120"/>
              </a:rPr>
              <a:t>Architecture is one of the best places to find symmetry</a:t>
            </a:r>
            <a:endParaRPr lang="en-US" sz="1100" dirty="0"/>
          </a:p>
        </p:txBody>
      </p:sp>
      <p:pic>
        <p:nvPicPr>
          <p:cNvPr id="14" name="Image 1" descr="/home/claude/img_05_symmetry_cropped.jpg">    </p:cNvPr>
          <p:cNvPicPr>
            <a:picLocks noChangeAspect="1"/>
          </p:cNvPicPr>
          <p:nvPr/>
        </p:nvPicPr>
        <p:blipFill>
          <a:blip r:embed="rId2"/>
          <a:stretch>
            <a:fillRect/>
          </a:stretch>
        </p:blipFill>
        <p:spPr>
          <a:xfrm>
            <a:off x="4800600" y="960120"/>
            <a:ext cx="4114800" cy="3086100"/>
          </a:xfrm>
          <a:prstGeom prst="rect">
            <a:avLst/>
          </a:prstGeom>
        </p:spPr>
      </p:pic>
      <p:sp>
        <p:nvSpPr>
          <p:cNvPr id="15" name="Shape 11"/>
          <p:cNvSpPr/>
          <p:nvPr/>
        </p:nvSpPr>
        <p:spPr>
          <a:xfrm>
            <a:off x="4800600" y="960120"/>
            <a:ext cx="4114800" cy="3086100"/>
          </a:xfrm>
          <a:prstGeom prst="rect">
            <a:avLst/>
          </a:prstGeom>
          <a:ln w="12700">
            <a:solidFill>
              <a:srgbClr val="009999"/>
            </a:solidFill>
            <a:prstDash val="solid"/>
          </a:ln>
        </p:spPr>
      </p:sp>
      <p:sp>
        <p:nvSpPr>
          <p:cNvPr id="16" name="Text 12"/>
          <p:cNvSpPr/>
          <p:nvPr/>
        </p:nvSpPr>
        <p:spPr>
          <a:xfrm>
            <a:off x="201168" y="4919472"/>
            <a:ext cx="5486400" cy="201168"/>
          </a:xfrm>
          <a:prstGeom prst="rect">
            <a:avLst/>
          </a:prstGeom>
          <a:noFill/>
          <a:ln/>
        </p:spPr>
        <p:txBody>
          <a:bodyPr wrap="square" lIns="0" tIns="0" rIns="0" bIns="0" rtlCol="0" anchor="ctr"/>
          <a:lstStyle/>
          <a:p>
            <a:pPr indent="0" marL="0">
              <a:buNone/>
            </a:pPr>
            <a:r>
              <a:rPr lang="en-US" sz="700" dirty="0">
                <a:solidFill>
                  <a:srgbClr val="888888"/>
                </a:solidFill>
                <a:latin typeface="Arial" pitchFamily="34" charset="0"/>
                <a:ea typeface="Arial" pitchFamily="34" charset="-122"/>
                <a:cs typeface="Arial" pitchFamily="34" charset="-120"/>
              </a:rPr>
              <a:t>Pioneer Valley High School  -  Photography 2A</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4FAFA"/>
          </a:solidFill>
          <a:ln w="12700">
            <a:solidFill>
              <a:srgbClr val="F4FAFA"/>
            </a:solidFill>
            <a:prstDash val="solid"/>
          </a:ln>
        </p:spPr>
      </p:sp>
      <p:sp>
        <p:nvSpPr>
          <p:cNvPr id="3" name="Shape 1"/>
          <p:cNvSpPr/>
          <p:nvPr/>
        </p:nvSpPr>
        <p:spPr>
          <a:xfrm>
            <a:off x="0" y="0"/>
            <a:ext cx="109728" cy="5143500"/>
          </a:xfrm>
          <a:prstGeom prst="rect">
            <a:avLst/>
          </a:prstGeom>
          <a:solidFill>
            <a:srgbClr val="007474"/>
          </a:solidFill>
          <a:ln w="12700">
            <a:solidFill>
              <a:srgbClr val="007474"/>
            </a:solidFill>
            <a:prstDash val="solid"/>
          </a:ln>
        </p:spPr>
      </p:sp>
      <p:sp>
        <p:nvSpPr>
          <p:cNvPr id="4" name="Shape 2"/>
          <p:cNvSpPr/>
          <p:nvPr/>
        </p:nvSpPr>
        <p:spPr>
          <a:xfrm>
            <a:off x="0" y="0"/>
            <a:ext cx="9144000" cy="640080"/>
          </a:xfrm>
          <a:prstGeom prst="rect">
            <a:avLst/>
          </a:prstGeom>
          <a:solidFill>
            <a:srgbClr val="004444"/>
          </a:solidFill>
          <a:ln w="12700">
            <a:solidFill>
              <a:srgbClr val="004444"/>
            </a:solidFill>
            <a:prstDash val="solid"/>
          </a:ln>
        </p:spPr>
      </p:sp>
      <p:sp>
        <p:nvSpPr>
          <p:cNvPr id="5" name="Text 3"/>
          <p:cNvSpPr/>
          <p:nvPr/>
        </p:nvSpPr>
        <p:spPr>
          <a:xfrm>
            <a:off x="182880" y="0"/>
            <a:ext cx="7772400" cy="64008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CTE Photography 2A  -  Composition Review</a:t>
            </a:r>
            <a:endParaRPr lang="en-US" sz="1100" dirty="0"/>
          </a:p>
        </p:txBody>
      </p:sp>
      <p:pic>
        <p:nvPicPr>
          <p:cNvPr id="6" name="Image 0" descr="/home/claude/PV_LOGO_NEW.png">    </p:cNvPr>
          <p:cNvPicPr>
            <a:picLocks noChangeAspect="1"/>
          </p:cNvPicPr>
          <p:nvPr/>
        </p:nvPicPr>
        <p:blipFill>
          <a:blip r:embed="rId1"/>
          <a:stretch>
            <a:fillRect/>
          </a:stretch>
        </p:blipFill>
        <p:spPr>
          <a:xfrm>
            <a:off x="8138160" y="109728"/>
            <a:ext cx="777240" cy="777240"/>
          </a:xfrm>
          <a:prstGeom prst="rect">
            <a:avLst/>
          </a:prstGeom>
        </p:spPr>
      </p:pic>
      <p:sp>
        <p:nvSpPr>
          <p:cNvPr id="7" name="Shape 4"/>
          <p:cNvSpPr/>
          <p:nvPr/>
        </p:nvSpPr>
        <p:spPr>
          <a:xfrm>
            <a:off x="201168" y="777240"/>
            <a:ext cx="502920" cy="502920"/>
          </a:xfrm>
          <a:prstGeom prst="ellipse">
            <a:avLst/>
          </a:prstGeom>
          <a:solidFill>
            <a:srgbClr val="007474"/>
          </a:solidFill>
          <a:ln w="12700">
            <a:solidFill>
              <a:srgbClr val="007474"/>
            </a:solidFill>
            <a:prstDash val="solid"/>
          </a:ln>
        </p:spPr>
      </p:sp>
      <p:sp>
        <p:nvSpPr>
          <p:cNvPr id="8" name="Text 5"/>
          <p:cNvSpPr/>
          <p:nvPr/>
        </p:nvSpPr>
        <p:spPr>
          <a:xfrm>
            <a:off x="201168" y="7772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6</a:t>
            </a:r>
            <a:endParaRPr lang="en-US" sz="1600" dirty="0"/>
          </a:p>
        </p:txBody>
      </p:sp>
      <p:sp>
        <p:nvSpPr>
          <p:cNvPr id="9" name="Text 6"/>
          <p:cNvSpPr/>
          <p:nvPr/>
        </p:nvSpPr>
        <p:spPr>
          <a:xfrm>
            <a:off x="804672" y="713232"/>
            <a:ext cx="3749040" cy="594360"/>
          </a:xfrm>
          <a:prstGeom prst="rect">
            <a:avLst/>
          </a:prstGeom>
          <a:noFill/>
          <a:ln/>
        </p:spPr>
        <p:txBody>
          <a:bodyPr wrap="square" lIns="0" tIns="0" rIns="0" bIns="0" rtlCol="0" anchor="ctr"/>
          <a:lstStyle/>
          <a:p>
            <a:pPr indent="0" marL="0">
              <a:buNone/>
            </a:pPr>
            <a:r>
              <a:rPr lang="en-US" sz="2400" b="1" dirty="0">
                <a:solidFill>
                  <a:srgbClr val="004444"/>
                </a:solidFill>
                <a:latin typeface="Arial" pitchFamily="34" charset="0"/>
                <a:ea typeface="Arial" pitchFamily="34" charset="-122"/>
                <a:cs typeface="Arial" pitchFamily="34" charset="-120"/>
              </a:rPr>
              <a:t>Patterns and Repetition</a:t>
            </a:r>
            <a:endParaRPr lang="en-US" sz="2400" dirty="0"/>
          </a:p>
        </p:txBody>
      </p:sp>
      <p:sp>
        <p:nvSpPr>
          <p:cNvPr id="10" name="Shape 7"/>
          <p:cNvSpPr/>
          <p:nvPr/>
        </p:nvSpPr>
        <p:spPr>
          <a:xfrm>
            <a:off x="201168" y="1371600"/>
            <a:ext cx="4343400" cy="27432"/>
          </a:xfrm>
          <a:prstGeom prst="rect">
            <a:avLst/>
          </a:prstGeom>
          <a:solidFill>
            <a:srgbClr val="009999"/>
          </a:solidFill>
          <a:ln w="12700">
            <a:solidFill>
              <a:srgbClr val="009999"/>
            </a:solidFill>
            <a:prstDash val="solid"/>
          </a:ln>
        </p:spPr>
      </p:sp>
      <p:sp>
        <p:nvSpPr>
          <p:cNvPr id="11" name="Text 8"/>
          <p:cNvSpPr/>
          <p:nvPr/>
        </p:nvSpPr>
        <p:spPr>
          <a:xfrm>
            <a:off x="201168" y="1463040"/>
            <a:ext cx="4343400" cy="1234440"/>
          </a:xfrm>
          <a:prstGeom prst="rect">
            <a:avLst/>
          </a:prstGeom>
          <a:noFill/>
          <a:ln/>
        </p:spPr>
        <p:txBody>
          <a:bodyPr wrap="square" lIns="0" tIns="0" rIns="0" bIns="0" rtlCol="0" anchor="t"/>
          <a:lstStyle/>
          <a:p>
            <a:pPr indent="0" marL="0">
              <a:buNone/>
            </a:pPr>
            <a:r>
              <a:rPr lang="en-US" sz="1200" dirty="0">
                <a:solidFill>
                  <a:srgbClr val="333333"/>
                </a:solidFill>
                <a:latin typeface="Arial" pitchFamily="34" charset="0"/>
                <a:ea typeface="Arial" pitchFamily="34" charset="-122"/>
                <a:cs typeface="Arial" pitchFamily="34" charset="-120"/>
              </a:rPr>
              <a:t>Patterns are any repeated shapes, colors, lines, or textures in a scene. Our eyes love repetition because it feels satisfying and organized. A strong pattern image fills the frame with the repeating element. Breaking the pattern with one different object instantly grabs attention.</a:t>
            </a:r>
            <a:endParaRPr lang="en-US" sz="1200" dirty="0"/>
          </a:p>
        </p:txBody>
      </p:sp>
      <p:sp>
        <p:nvSpPr>
          <p:cNvPr id="12" name="Text 9"/>
          <p:cNvSpPr/>
          <p:nvPr/>
        </p:nvSpPr>
        <p:spPr>
          <a:xfrm>
            <a:off x="201168" y="2788920"/>
            <a:ext cx="1097280" cy="256032"/>
          </a:xfrm>
          <a:prstGeom prst="rect">
            <a:avLst/>
          </a:prstGeom>
          <a:noFill/>
          <a:ln/>
        </p:spPr>
        <p:txBody>
          <a:bodyPr wrap="square" lIns="0" tIns="0" rIns="0" bIns="0" rtlCol="0" anchor="ctr"/>
          <a:lstStyle/>
          <a:p>
            <a:pPr indent="0" marL="0">
              <a:buNone/>
            </a:pPr>
            <a:r>
              <a:rPr lang="en-US" sz="800" b="1" dirty="0">
                <a:solidFill>
                  <a:srgbClr val="007474"/>
                </a:solidFill>
                <a:latin typeface="Arial" pitchFamily="34" charset="0"/>
                <a:ea typeface="Arial" pitchFamily="34" charset="-122"/>
                <a:cs typeface="Arial" pitchFamily="34" charset="-120"/>
              </a:rPr>
              <a:t>KEY TIPS</a:t>
            </a:r>
            <a:endParaRPr lang="en-US" sz="800" dirty="0"/>
          </a:p>
        </p:txBody>
      </p:sp>
      <p:sp>
        <p:nvSpPr>
          <p:cNvPr id="13" name="Text 10"/>
          <p:cNvSpPr/>
          <p:nvPr/>
        </p:nvSpPr>
        <p:spPr>
          <a:xfrm>
            <a:off x="201168" y="3063240"/>
            <a:ext cx="4343400" cy="1691640"/>
          </a:xfrm>
          <a:prstGeom prst="rect">
            <a:avLst/>
          </a:prstGeom>
          <a:noFill/>
          <a:ln/>
        </p:spPr>
        <p:txBody>
          <a:bodyPr wrap="square" lIns="0" tIns="0" rIns="0" bIns="0" rtlCol="0" anchor="t"/>
          <a:lstStyle/>
          <a:p>
            <a:pPr>
              <a:spcAft>
                <a:spcPts val="400"/>
              </a:spcAft>
            </a:pPr>
            <a:r>
              <a:rPr lang="en-US" sz="1100" dirty="0">
                <a:solidFill>
                  <a:srgbClr val="333333"/>
                </a:solidFill>
                <a:latin typeface="Arial" pitchFamily="34" charset="0"/>
                <a:ea typeface="Arial" pitchFamily="34" charset="-122"/>
                <a:cs typeface="Arial" pitchFamily="34" charset="-120"/>
              </a:rPr>
              <a:t>Fill the entire frame with the pattern for maximum impact</a:t>
            </a:r>
            <a:endParaRPr lang="en-US" sz="1100" dirty="0"/>
          </a:p>
          <a:p>
            <a:pPr>
              <a:spcAft>
                <a:spcPts val="400"/>
              </a:spcAft>
            </a:pPr>
            <a:r>
              <a:rPr lang="en-US" sz="1100" dirty="0">
                <a:solidFill>
                  <a:srgbClr val="333333"/>
                </a:solidFill>
                <a:latin typeface="Arial" pitchFamily="34" charset="0"/>
                <a:ea typeface="Arial" pitchFamily="34" charset="-122"/>
                <a:cs typeface="Arial" pitchFamily="34" charset="-120"/>
              </a:rPr>
              <a:t>Look for patterns in everyday objects: bricks, tiles, windows</a:t>
            </a:r>
            <a:endParaRPr lang="en-US" sz="1100" dirty="0"/>
          </a:p>
          <a:p>
            <a:pPr>
              <a:spcAft>
                <a:spcPts val="400"/>
              </a:spcAft>
            </a:pPr>
            <a:r>
              <a:rPr lang="en-US" sz="1100" dirty="0">
                <a:solidFill>
                  <a:srgbClr val="333333"/>
                </a:solidFill>
                <a:latin typeface="Arial" pitchFamily="34" charset="0"/>
                <a:ea typeface="Arial" pitchFamily="34" charset="-122"/>
                <a:cs typeface="Arial" pitchFamily="34" charset="-120"/>
              </a:rPr>
              <a:t>One element that breaks the pattern becomes the focal point</a:t>
            </a:r>
            <a:endParaRPr lang="en-US" sz="1100" dirty="0"/>
          </a:p>
          <a:p>
            <a:pPr>
              <a:spcAft>
                <a:spcPts val="400"/>
              </a:spcAft>
            </a:pPr>
            <a:r>
              <a:rPr lang="en-US" sz="1100" dirty="0">
                <a:solidFill>
                  <a:srgbClr val="333333"/>
                </a:solidFill>
                <a:latin typeface="Arial" pitchFamily="34" charset="0"/>
                <a:ea typeface="Arial" pitchFamily="34" charset="-122"/>
                <a:cs typeface="Arial" pitchFamily="34" charset="-120"/>
              </a:rPr>
              <a:t>Photograph from directly above to flatten and strengthen patterns</a:t>
            </a:r>
            <a:endParaRPr lang="en-US" sz="1100" dirty="0"/>
          </a:p>
        </p:txBody>
      </p:sp>
      <p:pic>
        <p:nvPicPr>
          <p:cNvPr id="14" name="Image 1" descr="/home/claude/img_06_patterns_cropped.jpg">    </p:cNvPr>
          <p:cNvPicPr>
            <a:picLocks noChangeAspect="1"/>
          </p:cNvPicPr>
          <p:nvPr/>
        </p:nvPicPr>
        <p:blipFill>
          <a:blip r:embed="rId2"/>
          <a:stretch>
            <a:fillRect/>
          </a:stretch>
        </p:blipFill>
        <p:spPr>
          <a:xfrm>
            <a:off x="4800600" y="960120"/>
            <a:ext cx="4114800" cy="3086100"/>
          </a:xfrm>
          <a:prstGeom prst="rect">
            <a:avLst/>
          </a:prstGeom>
        </p:spPr>
      </p:pic>
      <p:sp>
        <p:nvSpPr>
          <p:cNvPr id="15" name="Shape 11"/>
          <p:cNvSpPr/>
          <p:nvPr/>
        </p:nvSpPr>
        <p:spPr>
          <a:xfrm>
            <a:off x="4800600" y="960120"/>
            <a:ext cx="4114800" cy="3086100"/>
          </a:xfrm>
          <a:prstGeom prst="rect">
            <a:avLst/>
          </a:prstGeom>
          <a:ln w="12700">
            <a:solidFill>
              <a:srgbClr val="009999"/>
            </a:solidFill>
            <a:prstDash val="solid"/>
          </a:ln>
        </p:spPr>
      </p:sp>
      <p:sp>
        <p:nvSpPr>
          <p:cNvPr id="16" name="Text 12"/>
          <p:cNvSpPr/>
          <p:nvPr/>
        </p:nvSpPr>
        <p:spPr>
          <a:xfrm>
            <a:off x="201168" y="4919472"/>
            <a:ext cx="5486400" cy="201168"/>
          </a:xfrm>
          <a:prstGeom prst="rect">
            <a:avLst/>
          </a:prstGeom>
          <a:noFill/>
          <a:ln/>
        </p:spPr>
        <p:txBody>
          <a:bodyPr wrap="square" lIns="0" tIns="0" rIns="0" bIns="0" rtlCol="0" anchor="ctr"/>
          <a:lstStyle/>
          <a:p>
            <a:pPr indent="0" marL="0">
              <a:buNone/>
            </a:pPr>
            <a:r>
              <a:rPr lang="en-US" sz="700" dirty="0">
                <a:solidFill>
                  <a:srgbClr val="888888"/>
                </a:solidFill>
                <a:latin typeface="Arial" pitchFamily="34" charset="0"/>
                <a:ea typeface="Arial" pitchFamily="34" charset="-122"/>
                <a:cs typeface="Arial" pitchFamily="34" charset="-120"/>
              </a:rPr>
              <a:t>Pioneer Valley High School  -  Photography 2A</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4FAFA"/>
          </a:solidFill>
          <a:ln w="12700">
            <a:solidFill>
              <a:srgbClr val="F4FAFA"/>
            </a:solidFill>
            <a:prstDash val="solid"/>
          </a:ln>
        </p:spPr>
      </p:sp>
      <p:sp>
        <p:nvSpPr>
          <p:cNvPr id="3" name="Shape 1"/>
          <p:cNvSpPr/>
          <p:nvPr/>
        </p:nvSpPr>
        <p:spPr>
          <a:xfrm>
            <a:off x="0" y="0"/>
            <a:ext cx="109728" cy="5143500"/>
          </a:xfrm>
          <a:prstGeom prst="rect">
            <a:avLst/>
          </a:prstGeom>
          <a:solidFill>
            <a:srgbClr val="007474"/>
          </a:solidFill>
          <a:ln w="12700">
            <a:solidFill>
              <a:srgbClr val="007474"/>
            </a:solidFill>
            <a:prstDash val="solid"/>
          </a:ln>
        </p:spPr>
      </p:sp>
      <p:sp>
        <p:nvSpPr>
          <p:cNvPr id="4" name="Shape 2"/>
          <p:cNvSpPr/>
          <p:nvPr/>
        </p:nvSpPr>
        <p:spPr>
          <a:xfrm>
            <a:off x="0" y="0"/>
            <a:ext cx="9144000" cy="640080"/>
          </a:xfrm>
          <a:prstGeom prst="rect">
            <a:avLst/>
          </a:prstGeom>
          <a:solidFill>
            <a:srgbClr val="004444"/>
          </a:solidFill>
          <a:ln w="12700">
            <a:solidFill>
              <a:srgbClr val="004444"/>
            </a:solidFill>
            <a:prstDash val="solid"/>
          </a:ln>
        </p:spPr>
      </p:sp>
      <p:sp>
        <p:nvSpPr>
          <p:cNvPr id="5" name="Text 3"/>
          <p:cNvSpPr/>
          <p:nvPr/>
        </p:nvSpPr>
        <p:spPr>
          <a:xfrm>
            <a:off x="182880" y="0"/>
            <a:ext cx="7772400" cy="64008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CTE Photography 2A  -  Composition Review</a:t>
            </a:r>
            <a:endParaRPr lang="en-US" sz="1100" dirty="0"/>
          </a:p>
        </p:txBody>
      </p:sp>
      <p:pic>
        <p:nvPicPr>
          <p:cNvPr id="6" name="Image 0" descr="/home/claude/PV_LOGO_NEW.png">    </p:cNvPr>
          <p:cNvPicPr>
            <a:picLocks noChangeAspect="1"/>
          </p:cNvPicPr>
          <p:nvPr/>
        </p:nvPicPr>
        <p:blipFill>
          <a:blip r:embed="rId1"/>
          <a:stretch>
            <a:fillRect/>
          </a:stretch>
        </p:blipFill>
        <p:spPr>
          <a:xfrm>
            <a:off x="8138160" y="109728"/>
            <a:ext cx="777240" cy="777240"/>
          </a:xfrm>
          <a:prstGeom prst="rect">
            <a:avLst/>
          </a:prstGeom>
        </p:spPr>
      </p:pic>
      <p:sp>
        <p:nvSpPr>
          <p:cNvPr id="7" name="Shape 4"/>
          <p:cNvSpPr/>
          <p:nvPr/>
        </p:nvSpPr>
        <p:spPr>
          <a:xfrm>
            <a:off x="201168" y="777240"/>
            <a:ext cx="502920" cy="502920"/>
          </a:xfrm>
          <a:prstGeom prst="ellipse">
            <a:avLst/>
          </a:prstGeom>
          <a:solidFill>
            <a:srgbClr val="007474"/>
          </a:solidFill>
          <a:ln w="12700">
            <a:solidFill>
              <a:srgbClr val="007474"/>
            </a:solidFill>
            <a:prstDash val="solid"/>
          </a:ln>
        </p:spPr>
      </p:sp>
      <p:sp>
        <p:nvSpPr>
          <p:cNvPr id="8" name="Text 5"/>
          <p:cNvSpPr/>
          <p:nvPr/>
        </p:nvSpPr>
        <p:spPr>
          <a:xfrm>
            <a:off x="201168" y="7772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7</a:t>
            </a:r>
            <a:endParaRPr lang="en-US" sz="1600" dirty="0"/>
          </a:p>
        </p:txBody>
      </p:sp>
      <p:sp>
        <p:nvSpPr>
          <p:cNvPr id="9" name="Text 6"/>
          <p:cNvSpPr/>
          <p:nvPr/>
        </p:nvSpPr>
        <p:spPr>
          <a:xfrm>
            <a:off x="804672" y="713232"/>
            <a:ext cx="3749040" cy="594360"/>
          </a:xfrm>
          <a:prstGeom prst="rect">
            <a:avLst/>
          </a:prstGeom>
          <a:noFill/>
          <a:ln/>
        </p:spPr>
        <p:txBody>
          <a:bodyPr wrap="square" lIns="0" tIns="0" rIns="0" bIns="0" rtlCol="0" anchor="ctr"/>
          <a:lstStyle/>
          <a:p>
            <a:pPr indent="0" marL="0">
              <a:buNone/>
            </a:pPr>
            <a:r>
              <a:rPr lang="en-US" sz="2400" b="1" dirty="0">
                <a:solidFill>
                  <a:srgbClr val="004444"/>
                </a:solidFill>
                <a:latin typeface="Arial" pitchFamily="34" charset="0"/>
                <a:ea typeface="Arial" pitchFamily="34" charset="-122"/>
                <a:cs typeface="Arial" pitchFamily="34" charset="-120"/>
              </a:rPr>
              <a:t>Depth and Layers</a:t>
            </a:r>
            <a:endParaRPr lang="en-US" sz="2400" dirty="0"/>
          </a:p>
        </p:txBody>
      </p:sp>
      <p:sp>
        <p:nvSpPr>
          <p:cNvPr id="10" name="Shape 7"/>
          <p:cNvSpPr/>
          <p:nvPr/>
        </p:nvSpPr>
        <p:spPr>
          <a:xfrm>
            <a:off x="201168" y="1371600"/>
            <a:ext cx="4343400" cy="27432"/>
          </a:xfrm>
          <a:prstGeom prst="rect">
            <a:avLst/>
          </a:prstGeom>
          <a:solidFill>
            <a:srgbClr val="009999"/>
          </a:solidFill>
          <a:ln w="12700">
            <a:solidFill>
              <a:srgbClr val="009999"/>
            </a:solidFill>
            <a:prstDash val="solid"/>
          </a:ln>
        </p:spPr>
      </p:sp>
      <p:sp>
        <p:nvSpPr>
          <p:cNvPr id="11" name="Text 8"/>
          <p:cNvSpPr/>
          <p:nvPr/>
        </p:nvSpPr>
        <p:spPr>
          <a:xfrm>
            <a:off x="201168" y="1463040"/>
            <a:ext cx="4343400" cy="1234440"/>
          </a:xfrm>
          <a:prstGeom prst="rect">
            <a:avLst/>
          </a:prstGeom>
          <a:noFill/>
          <a:ln/>
        </p:spPr>
        <p:txBody>
          <a:bodyPr wrap="square" lIns="0" tIns="0" rIns="0" bIns="0" rtlCol="0" anchor="t"/>
          <a:lstStyle/>
          <a:p>
            <a:pPr indent="0" marL="0">
              <a:buNone/>
            </a:pPr>
            <a:r>
              <a:rPr lang="en-US" sz="1200" dirty="0">
                <a:solidFill>
                  <a:srgbClr val="333333"/>
                </a:solidFill>
                <a:latin typeface="Arial" pitchFamily="34" charset="0"/>
                <a:ea typeface="Arial" pitchFamily="34" charset="-122"/>
                <a:cs typeface="Arial" pitchFamily="34" charset="-120"/>
              </a:rPr>
              <a:t>A great photo feels three-dimensional. You can create depth by including a foreground, a midground, and a background. Each layer gives the viewer's eye a new place to look. This makes a flat image feel like you can step right into it.</a:t>
            </a:r>
            <a:endParaRPr lang="en-US" sz="1200" dirty="0"/>
          </a:p>
        </p:txBody>
      </p:sp>
      <p:sp>
        <p:nvSpPr>
          <p:cNvPr id="12" name="Text 9"/>
          <p:cNvSpPr/>
          <p:nvPr/>
        </p:nvSpPr>
        <p:spPr>
          <a:xfrm>
            <a:off x="201168" y="2788920"/>
            <a:ext cx="1097280" cy="256032"/>
          </a:xfrm>
          <a:prstGeom prst="rect">
            <a:avLst/>
          </a:prstGeom>
          <a:noFill/>
          <a:ln/>
        </p:spPr>
        <p:txBody>
          <a:bodyPr wrap="square" lIns="0" tIns="0" rIns="0" bIns="0" rtlCol="0" anchor="ctr"/>
          <a:lstStyle/>
          <a:p>
            <a:pPr indent="0" marL="0">
              <a:buNone/>
            </a:pPr>
            <a:r>
              <a:rPr lang="en-US" sz="800" b="1" dirty="0">
                <a:solidFill>
                  <a:srgbClr val="007474"/>
                </a:solidFill>
                <a:latin typeface="Arial" pitchFamily="34" charset="0"/>
                <a:ea typeface="Arial" pitchFamily="34" charset="-122"/>
                <a:cs typeface="Arial" pitchFamily="34" charset="-120"/>
              </a:rPr>
              <a:t>KEY TIPS</a:t>
            </a:r>
            <a:endParaRPr lang="en-US" sz="800" dirty="0"/>
          </a:p>
        </p:txBody>
      </p:sp>
      <p:sp>
        <p:nvSpPr>
          <p:cNvPr id="13" name="Text 10"/>
          <p:cNvSpPr/>
          <p:nvPr/>
        </p:nvSpPr>
        <p:spPr>
          <a:xfrm>
            <a:off x="201168" y="3063240"/>
            <a:ext cx="4343400" cy="1691640"/>
          </a:xfrm>
          <a:prstGeom prst="rect">
            <a:avLst/>
          </a:prstGeom>
          <a:noFill/>
          <a:ln/>
        </p:spPr>
        <p:txBody>
          <a:bodyPr wrap="square" lIns="0" tIns="0" rIns="0" bIns="0" rtlCol="0" anchor="t"/>
          <a:lstStyle/>
          <a:p>
            <a:pPr>
              <a:spcAft>
                <a:spcPts val="400"/>
              </a:spcAft>
            </a:pPr>
            <a:r>
              <a:rPr lang="en-US" sz="1100" dirty="0">
                <a:solidFill>
                  <a:srgbClr val="333333"/>
                </a:solidFill>
                <a:latin typeface="Arial" pitchFamily="34" charset="0"/>
                <a:ea typeface="Arial" pitchFamily="34" charset="-122"/>
                <a:cs typeface="Arial" pitchFamily="34" charset="-120"/>
              </a:rPr>
              <a:t>Get low or move close to add a strong foreground element</a:t>
            </a:r>
            <a:endParaRPr lang="en-US" sz="1100" dirty="0"/>
          </a:p>
          <a:p>
            <a:pPr>
              <a:spcAft>
                <a:spcPts val="400"/>
              </a:spcAft>
            </a:pPr>
            <a:r>
              <a:rPr lang="en-US" sz="1100" dirty="0">
                <a:solidFill>
                  <a:srgbClr val="333333"/>
                </a:solidFill>
                <a:latin typeface="Arial" pitchFamily="34" charset="0"/>
                <a:ea typeface="Arial" pitchFamily="34" charset="-122"/>
                <a:cs typeface="Arial" pitchFamily="34" charset="-120"/>
              </a:rPr>
              <a:t>Shallow depth of field separates layers with selective focus</a:t>
            </a:r>
            <a:endParaRPr lang="en-US" sz="1100" dirty="0"/>
          </a:p>
          <a:p>
            <a:pPr>
              <a:spcAft>
                <a:spcPts val="400"/>
              </a:spcAft>
            </a:pPr>
            <a:r>
              <a:rPr lang="en-US" sz="1100" dirty="0">
                <a:solidFill>
                  <a:srgbClr val="333333"/>
                </a:solidFill>
                <a:latin typeface="Arial" pitchFamily="34" charset="0"/>
                <a:ea typeface="Arial" pitchFamily="34" charset="-122"/>
                <a:cs typeface="Arial" pitchFamily="34" charset="-120"/>
              </a:rPr>
              <a:t>Wide-angle lenses exaggerate depth between near and far objects</a:t>
            </a:r>
            <a:endParaRPr lang="en-US" sz="1100" dirty="0"/>
          </a:p>
          <a:p>
            <a:pPr>
              <a:spcAft>
                <a:spcPts val="400"/>
              </a:spcAft>
            </a:pPr>
            <a:r>
              <a:rPr lang="en-US" sz="1100" dirty="0">
                <a:solidFill>
                  <a:srgbClr val="333333"/>
                </a:solidFill>
                <a:latin typeface="Arial" pitchFamily="34" charset="0"/>
                <a:ea typeface="Arial" pitchFamily="34" charset="-122"/>
                <a:cs typeface="Arial" pitchFamily="34" charset="-120"/>
              </a:rPr>
              <a:t>Slightly overlapping elements help reinforce spatial depth</a:t>
            </a:r>
            <a:endParaRPr lang="en-US" sz="1100" dirty="0"/>
          </a:p>
        </p:txBody>
      </p:sp>
      <p:pic>
        <p:nvPicPr>
          <p:cNvPr id="14" name="Image 1" descr="/home/claude/img_07_depth_layers_cropped.jpg">    </p:cNvPr>
          <p:cNvPicPr>
            <a:picLocks noChangeAspect="1"/>
          </p:cNvPicPr>
          <p:nvPr/>
        </p:nvPicPr>
        <p:blipFill>
          <a:blip r:embed="rId2"/>
          <a:stretch>
            <a:fillRect/>
          </a:stretch>
        </p:blipFill>
        <p:spPr>
          <a:xfrm>
            <a:off x="4800600" y="960120"/>
            <a:ext cx="4114800" cy="3086100"/>
          </a:xfrm>
          <a:prstGeom prst="rect">
            <a:avLst/>
          </a:prstGeom>
        </p:spPr>
      </p:pic>
      <p:sp>
        <p:nvSpPr>
          <p:cNvPr id="15" name="Shape 11"/>
          <p:cNvSpPr/>
          <p:nvPr/>
        </p:nvSpPr>
        <p:spPr>
          <a:xfrm>
            <a:off x="4800600" y="960120"/>
            <a:ext cx="4114800" cy="3086100"/>
          </a:xfrm>
          <a:prstGeom prst="rect">
            <a:avLst/>
          </a:prstGeom>
          <a:ln w="12700">
            <a:solidFill>
              <a:srgbClr val="009999"/>
            </a:solidFill>
            <a:prstDash val="solid"/>
          </a:ln>
        </p:spPr>
      </p:sp>
      <p:sp>
        <p:nvSpPr>
          <p:cNvPr id="16" name="Text 12"/>
          <p:cNvSpPr/>
          <p:nvPr/>
        </p:nvSpPr>
        <p:spPr>
          <a:xfrm>
            <a:off x="201168" y="4919472"/>
            <a:ext cx="5486400" cy="201168"/>
          </a:xfrm>
          <a:prstGeom prst="rect">
            <a:avLst/>
          </a:prstGeom>
          <a:noFill/>
          <a:ln/>
        </p:spPr>
        <p:txBody>
          <a:bodyPr wrap="square" lIns="0" tIns="0" rIns="0" bIns="0" rtlCol="0" anchor="ctr"/>
          <a:lstStyle/>
          <a:p>
            <a:pPr indent="0" marL="0">
              <a:buNone/>
            </a:pPr>
            <a:r>
              <a:rPr lang="en-US" sz="700" dirty="0">
                <a:solidFill>
                  <a:srgbClr val="888888"/>
                </a:solidFill>
                <a:latin typeface="Arial" pitchFamily="34" charset="0"/>
                <a:ea typeface="Arial" pitchFamily="34" charset="-122"/>
                <a:cs typeface="Arial" pitchFamily="34" charset="-120"/>
              </a:rPr>
              <a:t>Pioneer Valley High School  -  Photography 2A</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4FAFA"/>
          </a:solidFill>
          <a:ln w="12700">
            <a:solidFill>
              <a:srgbClr val="F4FAFA"/>
            </a:solidFill>
            <a:prstDash val="solid"/>
          </a:ln>
        </p:spPr>
      </p:sp>
      <p:sp>
        <p:nvSpPr>
          <p:cNvPr id="3" name="Shape 1"/>
          <p:cNvSpPr/>
          <p:nvPr/>
        </p:nvSpPr>
        <p:spPr>
          <a:xfrm>
            <a:off x="0" y="0"/>
            <a:ext cx="109728" cy="5143500"/>
          </a:xfrm>
          <a:prstGeom prst="rect">
            <a:avLst/>
          </a:prstGeom>
          <a:solidFill>
            <a:srgbClr val="007474"/>
          </a:solidFill>
          <a:ln w="12700">
            <a:solidFill>
              <a:srgbClr val="007474"/>
            </a:solidFill>
            <a:prstDash val="solid"/>
          </a:ln>
        </p:spPr>
      </p:sp>
      <p:sp>
        <p:nvSpPr>
          <p:cNvPr id="4" name="Shape 2"/>
          <p:cNvSpPr/>
          <p:nvPr/>
        </p:nvSpPr>
        <p:spPr>
          <a:xfrm>
            <a:off x="0" y="0"/>
            <a:ext cx="9144000" cy="640080"/>
          </a:xfrm>
          <a:prstGeom prst="rect">
            <a:avLst/>
          </a:prstGeom>
          <a:solidFill>
            <a:srgbClr val="004444"/>
          </a:solidFill>
          <a:ln w="12700">
            <a:solidFill>
              <a:srgbClr val="004444"/>
            </a:solidFill>
            <a:prstDash val="solid"/>
          </a:ln>
        </p:spPr>
      </p:sp>
      <p:sp>
        <p:nvSpPr>
          <p:cNvPr id="5" name="Text 3"/>
          <p:cNvSpPr/>
          <p:nvPr/>
        </p:nvSpPr>
        <p:spPr>
          <a:xfrm>
            <a:off x="182880" y="0"/>
            <a:ext cx="7772400" cy="64008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CTE Photography 2A  -  Composition Review</a:t>
            </a:r>
            <a:endParaRPr lang="en-US" sz="1100" dirty="0"/>
          </a:p>
        </p:txBody>
      </p:sp>
      <p:pic>
        <p:nvPicPr>
          <p:cNvPr id="6" name="Image 0" descr="/home/claude/PV_LOGO_NEW.png">    </p:cNvPr>
          <p:cNvPicPr>
            <a:picLocks noChangeAspect="1"/>
          </p:cNvPicPr>
          <p:nvPr/>
        </p:nvPicPr>
        <p:blipFill>
          <a:blip r:embed="rId1"/>
          <a:stretch>
            <a:fillRect/>
          </a:stretch>
        </p:blipFill>
        <p:spPr>
          <a:xfrm>
            <a:off x="8138160" y="109728"/>
            <a:ext cx="777240" cy="777240"/>
          </a:xfrm>
          <a:prstGeom prst="rect">
            <a:avLst/>
          </a:prstGeom>
        </p:spPr>
      </p:pic>
      <p:sp>
        <p:nvSpPr>
          <p:cNvPr id="7" name="Shape 4"/>
          <p:cNvSpPr/>
          <p:nvPr/>
        </p:nvSpPr>
        <p:spPr>
          <a:xfrm>
            <a:off x="201168" y="777240"/>
            <a:ext cx="502920" cy="502920"/>
          </a:xfrm>
          <a:prstGeom prst="ellipse">
            <a:avLst/>
          </a:prstGeom>
          <a:solidFill>
            <a:srgbClr val="007474"/>
          </a:solidFill>
          <a:ln w="12700">
            <a:solidFill>
              <a:srgbClr val="007474"/>
            </a:solidFill>
            <a:prstDash val="solid"/>
          </a:ln>
        </p:spPr>
      </p:sp>
      <p:sp>
        <p:nvSpPr>
          <p:cNvPr id="8" name="Text 5"/>
          <p:cNvSpPr/>
          <p:nvPr/>
        </p:nvSpPr>
        <p:spPr>
          <a:xfrm>
            <a:off x="201168" y="7772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8</a:t>
            </a:r>
            <a:endParaRPr lang="en-US" sz="1600" dirty="0"/>
          </a:p>
        </p:txBody>
      </p:sp>
      <p:sp>
        <p:nvSpPr>
          <p:cNvPr id="9" name="Text 6"/>
          <p:cNvSpPr/>
          <p:nvPr/>
        </p:nvSpPr>
        <p:spPr>
          <a:xfrm>
            <a:off x="804672" y="713232"/>
            <a:ext cx="3749040" cy="594360"/>
          </a:xfrm>
          <a:prstGeom prst="rect">
            <a:avLst/>
          </a:prstGeom>
          <a:noFill/>
          <a:ln/>
        </p:spPr>
        <p:txBody>
          <a:bodyPr wrap="square" lIns="0" tIns="0" rIns="0" bIns="0" rtlCol="0" anchor="ctr"/>
          <a:lstStyle/>
          <a:p>
            <a:pPr indent="0" marL="0">
              <a:buNone/>
            </a:pPr>
            <a:r>
              <a:rPr lang="en-US" sz="2400" b="1" dirty="0">
                <a:solidFill>
                  <a:srgbClr val="004444"/>
                </a:solidFill>
                <a:latin typeface="Arial" pitchFamily="34" charset="0"/>
                <a:ea typeface="Arial" pitchFamily="34" charset="-122"/>
                <a:cs typeface="Arial" pitchFamily="34" charset="-120"/>
              </a:rPr>
              <a:t>Point of View</a:t>
            </a:r>
            <a:endParaRPr lang="en-US" sz="2400" dirty="0"/>
          </a:p>
        </p:txBody>
      </p:sp>
      <p:sp>
        <p:nvSpPr>
          <p:cNvPr id="10" name="Shape 7"/>
          <p:cNvSpPr/>
          <p:nvPr/>
        </p:nvSpPr>
        <p:spPr>
          <a:xfrm>
            <a:off x="201168" y="1371600"/>
            <a:ext cx="4343400" cy="27432"/>
          </a:xfrm>
          <a:prstGeom prst="rect">
            <a:avLst/>
          </a:prstGeom>
          <a:solidFill>
            <a:srgbClr val="009999"/>
          </a:solidFill>
          <a:ln w="12700">
            <a:solidFill>
              <a:srgbClr val="009999"/>
            </a:solidFill>
            <a:prstDash val="solid"/>
          </a:ln>
        </p:spPr>
      </p:sp>
      <p:sp>
        <p:nvSpPr>
          <p:cNvPr id="11" name="Text 8"/>
          <p:cNvSpPr/>
          <p:nvPr/>
        </p:nvSpPr>
        <p:spPr>
          <a:xfrm>
            <a:off x="201168" y="1463040"/>
            <a:ext cx="4343400" cy="1234440"/>
          </a:xfrm>
          <a:prstGeom prst="rect">
            <a:avLst/>
          </a:prstGeom>
          <a:noFill/>
          <a:ln/>
        </p:spPr>
        <p:txBody>
          <a:bodyPr wrap="square" lIns="0" tIns="0" rIns="0" bIns="0" rtlCol="0" anchor="t"/>
          <a:lstStyle/>
          <a:p>
            <a:pPr indent="0" marL="0">
              <a:buNone/>
            </a:pPr>
            <a:r>
              <a:rPr lang="en-US" sz="1200" dirty="0">
                <a:solidFill>
                  <a:srgbClr val="333333"/>
                </a:solidFill>
                <a:latin typeface="Arial" pitchFamily="34" charset="0"/>
                <a:ea typeface="Arial" pitchFamily="34" charset="-122"/>
                <a:cs typeface="Arial" pitchFamily="34" charset="-120"/>
              </a:rPr>
              <a:t>Point of view is where you physically place the camera before you capture an image. Eye level is safe but neutral. Getting low makes your subject look powerful. Positioning above creates a feeling of vulnerability or gives context to the scene. Your angle is a creative choice.</a:t>
            </a:r>
            <a:endParaRPr lang="en-US" sz="1200" dirty="0"/>
          </a:p>
        </p:txBody>
      </p:sp>
      <p:sp>
        <p:nvSpPr>
          <p:cNvPr id="12" name="Text 9"/>
          <p:cNvSpPr/>
          <p:nvPr/>
        </p:nvSpPr>
        <p:spPr>
          <a:xfrm>
            <a:off x="201168" y="2788920"/>
            <a:ext cx="1097280" cy="256032"/>
          </a:xfrm>
          <a:prstGeom prst="rect">
            <a:avLst/>
          </a:prstGeom>
          <a:noFill/>
          <a:ln/>
        </p:spPr>
        <p:txBody>
          <a:bodyPr wrap="square" lIns="0" tIns="0" rIns="0" bIns="0" rtlCol="0" anchor="ctr"/>
          <a:lstStyle/>
          <a:p>
            <a:pPr indent="0" marL="0">
              <a:buNone/>
            </a:pPr>
            <a:r>
              <a:rPr lang="en-US" sz="800" b="1" dirty="0">
                <a:solidFill>
                  <a:srgbClr val="007474"/>
                </a:solidFill>
                <a:latin typeface="Arial" pitchFamily="34" charset="0"/>
                <a:ea typeface="Arial" pitchFamily="34" charset="-122"/>
                <a:cs typeface="Arial" pitchFamily="34" charset="-120"/>
              </a:rPr>
              <a:t>KEY TIPS</a:t>
            </a:r>
            <a:endParaRPr lang="en-US" sz="800" dirty="0"/>
          </a:p>
        </p:txBody>
      </p:sp>
      <p:sp>
        <p:nvSpPr>
          <p:cNvPr id="13" name="Text 10"/>
          <p:cNvSpPr/>
          <p:nvPr/>
        </p:nvSpPr>
        <p:spPr>
          <a:xfrm>
            <a:off x="201168" y="3063240"/>
            <a:ext cx="4343400" cy="1691640"/>
          </a:xfrm>
          <a:prstGeom prst="rect">
            <a:avLst/>
          </a:prstGeom>
          <a:noFill/>
          <a:ln/>
        </p:spPr>
        <p:txBody>
          <a:bodyPr wrap="square" lIns="0" tIns="0" rIns="0" bIns="0" rtlCol="0" anchor="t"/>
          <a:lstStyle/>
          <a:p>
            <a:pPr>
              <a:spcAft>
                <a:spcPts val="400"/>
              </a:spcAft>
            </a:pPr>
            <a:r>
              <a:rPr lang="en-US" sz="1100" dirty="0">
                <a:solidFill>
                  <a:srgbClr val="333333"/>
                </a:solidFill>
                <a:latin typeface="Arial" pitchFamily="34" charset="0"/>
                <a:ea typeface="Arial" pitchFamily="34" charset="-122"/>
                <a:cs typeface="Arial" pitchFamily="34" charset="-120"/>
              </a:rPr>
              <a:t>Try at least two or three angles before you commit to a shot</a:t>
            </a:r>
            <a:endParaRPr lang="en-US" sz="1100" dirty="0"/>
          </a:p>
          <a:p>
            <a:pPr>
              <a:spcAft>
                <a:spcPts val="400"/>
              </a:spcAft>
            </a:pPr>
            <a:r>
              <a:rPr lang="en-US" sz="1100" dirty="0">
                <a:solidFill>
                  <a:srgbClr val="333333"/>
                </a:solidFill>
                <a:latin typeface="Arial" pitchFamily="34" charset="0"/>
                <a:ea typeface="Arial" pitchFamily="34" charset="-122"/>
                <a:cs typeface="Arial" pitchFamily="34" charset="-120"/>
              </a:rPr>
              <a:t>Low angles make subjects look dominant and strong</a:t>
            </a:r>
            <a:endParaRPr lang="en-US" sz="1100" dirty="0"/>
          </a:p>
          <a:p>
            <a:pPr>
              <a:spcAft>
                <a:spcPts val="400"/>
              </a:spcAft>
            </a:pPr>
            <a:r>
              <a:rPr lang="en-US" sz="1100" dirty="0">
                <a:solidFill>
                  <a:srgbClr val="333333"/>
                </a:solidFill>
                <a:latin typeface="Arial" pitchFamily="34" charset="0"/>
                <a:ea typeface="Arial" pitchFamily="34" charset="-122"/>
                <a:cs typeface="Arial" pitchFamily="34" charset="-120"/>
              </a:rPr>
              <a:t>A bird's eye view (camera pointing straight down) shows shape and pattern</a:t>
            </a:r>
            <a:endParaRPr lang="en-US" sz="1100" dirty="0"/>
          </a:p>
          <a:p>
            <a:pPr>
              <a:spcAft>
                <a:spcPts val="400"/>
              </a:spcAft>
            </a:pPr>
            <a:r>
              <a:rPr lang="en-US" sz="1100" dirty="0">
                <a:solidFill>
                  <a:srgbClr val="333333"/>
                </a:solidFill>
                <a:latin typeface="Arial" pitchFamily="34" charset="0"/>
                <a:ea typeface="Arial" pitchFamily="34" charset="-122"/>
                <a:cs typeface="Arial" pitchFamily="34" charset="-120"/>
              </a:rPr>
              <a:t>Positioning through objects at ground level creates unexpected foregrounds</a:t>
            </a:r>
            <a:endParaRPr lang="en-US" sz="1100" dirty="0"/>
          </a:p>
        </p:txBody>
      </p:sp>
      <p:pic>
        <p:nvPicPr>
          <p:cNvPr id="14" name="Image 1" descr="/home/claude/img_08_point_of_view_cropped.jpg">    </p:cNvPr>
          <p:cNvPicPr>
            <a:picLocks noChangeAspect="1"/>
          </p:cNvPicPr>
          <p:nvPr/>
        </p:nvPicPr>
        <p:blipFill>
          <a:blip r:embed="rId2"/>
          <a:stretch>
            <a:fillRect/>
          </a:stretch>
        </p:blipFill>
        <p:spPr>
          <a:xfrm>
            <a:off x="4800600" y="960120"/>
            <a:ext cx="4114800" cy="3086100"/>
          </a:xfrm>
          <a:prstGeom prst="rect">
            <a:avLst/>
          </a:prstGeom>
        </p:spPr>
      </p:pic>
      <p:sp>
        <p:nvSpPr>
          <p:cNvPr id="15" name="Shape 11"/>
          <p:cNvSpPr/>
          <p:nvPr/>
        </p:nvSpPr>
        <p:spPr>
          <a:xfrm>
            <a:off x="4800600" y="960120"/>
            <a:ext cx="4114800" cy="3086100"/>
          </a:xfrm>
          <a:prstGeom prst="rect">
            <a:avLst/>
          </a:prstGeom>
          <a:ln w="12700">
            <a:solidFill>
              <a:srgbClr val="009999"/>
            </a:solidFill>
            <a:prstDash val="solid"/>
          </a:ln>
        </p:spPr>
      </p:sp>
      <p:sp>
        <p:nvSpPr>
          <p:cNvPr id="16" name="Text 12"/>
          <p:cNvSpPr/>
          <p:nvPr/>
        </p:nvSpPr>
        <p:spPr>
          <a:xfrm>
            <a:off x="201168" y="4919472"/>
            <a:ext cx="5486400" cy="201168"/>
          </a:xfrm>
          <a:prstGeom prst="rect">
            <a:avLst/>
          </a:prstGeom>
          <a:noFill/>
          <a:ln/>
        </p:spPr>
        <p:txBody>
          <a:bodyPr wrap="square" lIns="0" tIns="0" rIns="0" bIns="0" rtlCol="0" anchor="ctr"/>
          <a:lstStyle/>
          <a:p>
            <a:pPr indent="0" marL="0">
              <a:buNone/>
            </a:pPr>
            <a:r>
              <a:rPr lang="en-US" sz="700" dirty="0">
                <a:solidFill>
                  <a:srgbClr val="888888"/>
                </a:solidFill>
                <a:latin typeface="Arial" pitchFamily="34" charset="0"/>
                <a:ea typeface="Arial" pitchFamily="34" charset="-122"/>
                <a:cs typeface="Arial" pitchFamily="34" charset="-120"/>
              </a:rPr>
              <a:t>Pioneer Valley High School  -  Photography 2A</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4FAFA"/>
          </a:solidFill>
          <a:ln w="12700">
            <a:solidFill>
              <a:srgbClr val="F4FAFA"/>
            </a:solidFill>
            <a:prstDash val="solid"/>
          </a:ln>
        </p:spPr>
      </p:sp>
      <p:sp>
        <p:nvSpPr>
          <p:cNvPr id="3" name="Shape 1"/>
          <p:cNvSpPr/>
          <p:nvPr/>
        </p:nvSpPr>
        <p:spPr>
          <a:xfrm>
            <a:off x="0" y="0"/>
            <a:ext cx="109728" cy="5143500"/>
          </a:xfrm>
          <a:prstGeom prst="rect">
            <a:avLst/>
          </a:prstGeom>
          <a:solidFill>
            <a:srgbClr val="007474"/>
          </a:solidFill>
          <a:ln w="12700">
            <a:solidFill>
              <a:srgbClr val="007474"/>
            </a:solidFill>
            <a:prstDash val="solid"/>
          </a:ln>
        </p:spPr>
      </p:sp>
      <p:sp>
        <p:nvSpPr>
          <p:cNvPr id="4" name="Shape 2"/>
          <p:cNvSpPr/>
          <p:nvPr/>
        </p:nvSpPr>
        <p:spPr>
          <a:xfrm>
            <a:off x="0" y="0"/>
            <a:ext cx="9144000" cy="640080"/>
          </a:xfrm>
          <a:prstGeom prst="rect">
            <a:avLst/>
          </a:prstGeom>
          <a:solidFill>
            <a:srgbClr val="004444"/>
          </a:solidFill>
          <a:ln w="12700">
            <a:solidFill>
              <a:srgbClr val="004444"/>
            </a:solidFill>
            <a:prstDash val="solid"/>
          </a:ln>
        </p:spPr>
      </p:sp>
      <p:sp>
        <p:nvSpPr>
          <p:cNvPr id="5" name="Text 3"/>
          <p:cNvSpPr/>
          <p:nvPr/>
        </p:nvSpPr>
        <p:spPr>
          <a:xfrm>
            <a:off x="182880" y="0"/>
            <a:ext cx="7772400" cy="64008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CTE Photography 2A  -  Composition Review</a:t>
            </a:r>
            <a:endParaRPr lang="en-US" sz="1100" dirty="0"/>
          </a:p>
        </p:txBody>
      </p:sp>
      <p:pic>
        <p:nvPicPr>
          <p:cNvPr id="6" name="Image 0" descr="/home/claude/PV_LOGO_NEW.png">    </p:cNvPr>
          <p:cNvPicPr>
            <a:picLocks noChangeAspect="1"/>
          </p:cNvPicPr>
          <p:nvPr/>
        </p:nvPicPr>
        <p:blipFill>
          <a:blip r:embed="rId1"/>
          <a:stretch>
            <a:fillRect/>
          </a:stretch>
        </p:blipFill>
        <p:spPr>
          <a:xfrm>
            <a:off x="8138160" y="109728"/>
            <a:ext cx="777240" cy="777240"/>
          </a:xfrm>
          <a:prstGeom prst="rect">
            <a:avLst/>
          </a:prstGeom>
        </p:spPr>
      </p:pic>
      <p:sp>
        <p:nvSpPr>
          <p:cNvPr id="7" name="Shape 4"/>
          <p:cNvSpPr/>
          <p:nvPr/>
        </p:nvSpPr>
        <p:spPr>
          <a:xfrm>
            <a:off x="201168" y="777240"/>
            <a:ext cx="502920" cy="502920"/>
          </a:xfrm>
          <a:prstGeom prst="ellipse">
            <a:avLst/>
          </a:prstGeom>
          <a:solidFill>
            <a:srgbClr val="007474"/>
          </a:solidFill>
          <a:ln w="12700">
            <a:solidFill>
              <a:srgbClr val="007474"/>
            </a:solidFill>
            <a:prstDash val="solid"/>
          </a:ln>
        </p:spPr>
      </p:sp>
      <p:sp>
        <p:nvSpPr>
          <p:cNvPr id="8" name="Text 5"/>
          <p:cNvSpPr/>
          <p:nvPr/>
        </p:nvSpPr>
        <p:spPr>
          <a:xfrm>
            <a:off x="201168" y="7772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9</a:t>
            </a:r>
            <a:endParaRPr lang="en-US" sz="1600" dirty="0"/>
          </a:p>
        </p:txBody>
      </p:sp>
      <p:sp>
        <p:nvSpPr>
          <p:cNvPr id="9" name="Text 6"/>
          <p:cNvSpPr/>
          <p:nvPr/>
        </p:nvSpPr>
        <p:spPr>
          <a:xfrm>
            <a:off x="804672" y="713232"/>
            <a:ext cx="3749040" cy="594360"/>
          </a:xfrm>
          <a:prstGeom prst="rect">
            <a:avLst/>
          </a:prstGeom>
          <a:noFill/>
          <a:ln/>
        </p:spPr>
        <p:txBody>
          <a:bodyPr wrap="square" lIns="0" tIns="0" rIns="0" bIns="0" rtlCol="0" anchor="ctr"/>
          <a:lstStyle/>
          <a:p>
            <a:pPr indent="0" marL="0">
              <a:buNone/>
            </a:pPr>
            <a:r>
              <a:rPr lang="en-US" sz="2400" b="1" dirty="0">
                <a:solidFill>
                  <a:srgbClr val="004444"/>
                </a:solidFill>
                <a:latin typeface="Arial" pitchFamily="34" charset="0"/>
                <a:ea typeface="Arial" pitchFamily="34" charset="-122"/>
                <a:cs typeface="Arial" pitchFamily="34" charset="-120"/>
              </a:rPr>
              <a:t>Fill the Frame</a:t>
            </a:r>
            <a:endParaRPr lang="en-US" sz="2400" dirty="0"/>
          </a:p>
        </p:txBody>
      </p:sp>
      <p:sp>
        <p:nvSpPr>
          <p:cNvPr id="10" name="Shape 7"/>
          <p:cNvSpPr/>
          <p:nvPr/>
        </p:nvSpPr>
        <p:spPr>
          <a:xfrm>
            <a:off x="201168" y="1371600"/>
            <a:ext cx="4343400" cy="27432"/>
          </a:xfrm>
          <a:prstGeom prst="rect">
            <a:avLst/>
          </a:prstGeom>
          <a:solidFill>
            <a:srgbClr val="009999"/>
          </a:solidFill>
          <a:ln w="12700">
            <a:solidFill>
              <a:srgbClr val="009999"/>
            </a:solidFill>
            <a:prstDash val="solid"/>
          </a:ln>
        </p:spPr>
      </p:sp>
      <p:sp>
        <p:nvSpPr>
          <p:cNvPr id="11" name="Text 8"/>
          <p:cNvSpPr/>
          <p:nvPr/>
        </p:nvSpPr>
        <p:spPr>
          <a:xfrm>
            <a:off x="201168" y="1463040"/>
            <a:ext cx="4343400" cy="1234440"/>
          </a:xfrm>
          <a:prstGeom prst="rect">
            <a:avLst/>
          </a:prstGeom>
          <a:noFill/>
          <a:ln/>
        </p:spPr>
        <p:txBody>
          <a:bodyPr wrap="square" lIns="0" tIns="0" rIns="0" bIns="0" rtlCol="0" anchor="t"/>
          <a:lstStyle/>
          <a:p>
            <a:pPr indent="0" marL="0">
              <a:buNone/>
            </a:pPr>
            <a:r>
              <a:rPr lang="en-US" sz="1200" dirty="0">
                <a:solidFill>
                  <a:srgbClr val="333333"/>
                </a:solidFill>
                <a:latin typeface="Arial" pitchFamily="34" charset="0"/>
                <a:ea typeface="Arial" pitchFamily="34" charset="-122"/>
                <a:cs typeface="Arial" pitchFamily="34" charset="-120"/>
              </a:rPr>
              <a:t>Move in close until your subject fills most of the frame. This removes distracting backgrounds and forces the viewer to focus on your subject. It works especially well for portraits, textures, and close-up detail images. Getting physically closer is always better than cropping in post.</a:t>
            </a:r>
            <a:endParaRPr lang="en-US" sz="1200" dirty="0"/>
          </a:p>
        </p:txBody>
      </p:sp>
      <p:sp>
        <p:nvSpPr>
          <p:cNvPr id="12" name="Text 9"/>
          <p:cNvSpPr/>
          <p:nvPr/>
        </p:nvSpPr>
        <p:spPr>
          <a:xfrm>
            <a:off x="201168" y="2788920"/>
            <a:ext cx="1097280" cy="256032"/>
          </a:xfrm>
          <a:prstGeom prst="rect">
            <a:avLst/>
          </a:prstGeom>
          <a:noFill/>
          <a:ln/>
        </p:spPr>
        <p:txBody>
          <a:bodyPr wrap="square" lIns="0" tIns="0" rIns="0" bIns="0" rtlCol="0" anchor="ctr"/>
          <a:lstStyle/>
          <a:p>
            <a:pPr indent="0" marL="0">
              <a:buNone/>
            </a:pPr>
            <a:r>
              <a:rPr lang="en-US" sz="800" b="1" dirty="0">
                <a:solidFill>
                  <a:srgbClr val="007474"/>
                </a:solidFill>
                <a:latin typeface="Arial" pitchFamily="34" charset="0"/>
                <a:ea typeface="Arial" pitchFamily="34" charset="-122"/>
                <a:cs typeface="Arial" pitchFamily="34" charset="-120"/>
              </a:rPr>
              <a:t>KEY TIPS</a:t>
            </a:r>
            <a:endParaRPr lang="en-US" sz="800" dirty="0"/>
          </a:p>
        </p:txBody>
      </p:sp>
      <p:sp>
        <p:nvSpPr>
          <p:cNvPr id="13" name="Text 10"/>
          <p:cNvSpPr/>
          <p:nvPr/>
        </p:nvSpPr>
        <p:spPr>
          <a:xfrm>
            <a:off x="201168" y="3063240"/>
            <a:ext cx="4343400" cy="1691640"/>
          </a:xfrm>
          <a:prstGeom prst="rect">
            <a:avLst/>
          </a:prstGeom>
          <a:noFill/>
          <a:ln/>
        </p:spPr>
        <p:txBody>
          <a:bodyPr wrap="square" lIns="0" tIns="0" rIns="0" bIns="0" rtlCol="0" anchor="t"/>
          <a:lstStyle/>
          <a:p>
            <a:pPr>
              <a:spcAft>
                <a:spcPts val="400"/>
              </a:spcAft>
            </a:pPr>
            <a:r>
              <a:rPr lang="en-US" sz="1100" dirty="0">
                <a:solidFill>
                  <a:srgbClr val="333333"/>
                </a:solidFill>
                <a:latin typeface="Arial" pitchFamily="34" charset="0"/>
                <a:ea typeface="Arial" pitchFamily="34" charset="-122"/>
                <a:cs typeface="Arial" pitchFamily="34" charset="-120"/>
              </a:rPr>
              <a:t>Move your feet first. Then zoom if you need to.</a:t>
            </a:r>
            <a:endParaRPr lang="en-US" sz="1100" dirty="0"/>
          </a:p>
          <a:p>
            <a:pPr>
              <a:spcAft>
                <a:spcPts val="400"/>
              </a:spcAft>
            </a:pPr>
            <a:r>
              <a:rPr lang="en-US" sz="1100" dirty="0">
                <a:solidFill>
                  <a:srgbClr val="333333"/>
                </a:solidFill>
                <a:latin typeface="Arial" pitchFamily="34" charset="0"/>
                <a:ea typeface="Arial" pitchFamily="34" charset="-122"/>
                <a:cs typeface="Arial" pitchFamily="34" charset="-120"/>
              </a:rPr>
              <a:t>Leave just a little breathing room so the subject does not feel trapped</a:t>
            </a:r>
            <a:endParaRPr lang="en-US" sz="1100" dirty="0"/>
          </a:p>
          <a:p>
            <a:pPr>
              <a:spcAft>
                <a:spcPts val="400"/>
              </a:spcAft>
            </a:pPr>
            <a:r>
              <a:rPr lang="en-US" sz="1100" dirty="0">
                <a:solidFill>
                  <a:srgbClr val="333333"/>
                </a:solidFill>
                <a:latin typeface="Arial" pitchFamily="34" charset="0"/>
                <a:ea typeface="Arial" pitchFamily="34" charset="-122"/>
                <a:cs typeface="Arial" pitchFamily="34" charset="-120"/>
              </a:rPr>
              <a:t>Works best when the subject has strong texture or fine detail</a:t>
            </a:r>
            <a:endParaRPr lang="en-US" sz="1100" dirty="0"/>
          </a:p>
          <a:p>
            <a:pPr>
              <a:spcAft>
                <a:spcPts val="400"/>
              </a:spcAft>
            </a:pPr>
            <a:r>
              <a:rPr lang="en-US" sz="1100" dirty="0">
                <a:solidFill>
                  <a:srgbClr val="333333"/>
                </a:solidFill>
                <a:latin typeface="Arial" pitchFamily="34" charset="0"/>
                <a:ea typeface="Arial" pitchFamily="34" charset="-122"/>
                <a:cs typeface="Arial" pitchFamily="34" charset="-120"/>
              </a:rPr>
              <a:t>Great for cutting out messy or busy backgrounds fast</a:t>
            </a:r>
            <a:endParaRPr lang="en-US" sz="1100" dirty="0"/>
          </a:p>
        </p:txBody>
      </p:sp>
      <p:pic>
        <p:nvPicPr>
          <p:cNvPr id="14" name="Image 1" descr="/home/claude/img_09_fill_frame_cropped.jpg">    </p:cNvPr>
          <p:cNvPicPr>
            <a:picLocks noChangeAspect="1"/>
          </p:cNvPicPr>
          <p:nvPr/>
        </p:nvPicPr>
        <p:blipFill>
          <a:blip r:embed="rId2"/>
          <a:stretch>
            <a:fillRect/>
          </a:stretch>
        </p:blipFill>
        <p:spPr>
          <a:xfrm>
            <a:off x="4800600" y="960120"/>
            <a:ext cx="4114800" cy="3086100"/>
          </a:xfrm>
          <a:prstGeom prst="rect">
            <a:avLst/>
          </a:prstGeom>
        </p:spPr>
      </p:pic>
      <p:sp>
        <p:nvSpPr>
          <p:cNvPr id="15" name="Shape 11"/>
          <p:cNvSpPr/>
          <p:nvPr/>
        </p:nvSpPr>
        <p:spPr>
          <a:xfrm>
            <a:off x="4800600" y="960120"/>
            <a:ext cx="4114800" cy="3086100"/>
          </a:xfrm>
          <a:prstGeom prst="rect">
            <a:avLst/>
          </a:prstGeom>
          <a:ln w="12700">
            <a:solidFill>
              <a:srgbClr val="009999"/>
            </a:solidFill>
            <a:prstDash val="solid"/>
          </a:ln>
        </p:spPr>
      </p:sp>
      <p:sp>
        <p:nvSpPr>
          <p:cNvPr id="16" name="Text 12"/>
          <p:cNvSpPr/>
          <p:nvPr/>
        </p:nvSpPr>
        <p:spPr>
          <a:xfrm>
            <a:off x="201168" y="4919472"/>
            <a:ext cx="5486400" cy="201168"/>
          </a:xfrm>
          <a:prstGeom prst="rect">
            <a:avLst/>
          </a:prstGeom>
          <a:noFill/>
          <a:ln/>
        </p:spPr>
        <p:txBody>
          <a:bodyPr wrap="square" lIns="0" tIns="0" rIns="0" bIns="0" rtlCol="0" anchor="ctr"/>
          <a:lstStyle/>
          <a:p>
            <a:pPr indent="0" marL="0">
              <a:buNone/>
            </a:pPr>
            <a:r>
              <a:rPr lang="en-US" sz="700" dirty="0">
                <a:solidFill>
                  <a:srgbClr val="888888"/>
                </a:solidFill>
                <a:latin typeface="Arial" pitchFamily="34" charset="0"/>
                <a:ea typeface="Arial" pitchFamily="34" charset="-122"/>
                <a:cs typeface="Arial" pitchFamily="34" charset="-120"/>
              </a:rPr>
              <a:t>Pioneer Valley High School  -  Photography 2A</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4FAFA"/>
          </a:solidFill>
          <a:ln w="12700">
            <a:solidFill>
              <a:srgbClr val="F4FAFA"/>
            </a:solidFill>
            <a:prstDash val="solid"/>
          </a:ln>
        </p:spPr>
      </p:sp>
      <p:sp>
        <p:nvSpPr>
          <p:cNvPr id="3" name="Shape 1"/>
          <p:cNvSpPr/>
          <p:nvPr/>
        </p:nvSpPr>
        <p:spPr>
          <a:xfrm>
            <a:off x="0" y="0"/>
            <a:ext cx="109728" cy="5143500"/>
          </a:xfrm>
          <a:prstGeom prst="rect">
            <a:avLst/>
          </a:prstGeom>
          <a:solidFill>
            <a:srgbClr val="007474"/>
          </a:solidFill>
          <a:ln w="12700">
            <a:solidFill>
              <a:srgbClr val="007474"/>
            </a:solidFill>
            <a:prstDash val="solid"/>
          </a:ln>
        </p:spPr>
      </p:sp>
      <p:sp>
        <p:nvSpPr>
          <p:cNvPr id="4" name="Shape 2"/>
          <p:cNvSpPr/>
          <p:nvPr/>
        </p:nvSpPr>
        <p:spPr>
          <a:xfrm>
            <a:off x="0" y="0"/>
            <a:ext cx="9144000" cy="640080"/>
          </a:xfrm>
          <a:prstGeom prst="rect">
            <a:avLst/>
          </a:prstGeom>
          <a:solidFill>
            <a:srgbClr val="004444"/>
          </a:solidFill>
          <a:ln w="12700">
            <a:solidFill>
              <a:srgbClr val="004444"/>
            </a:solidFill>
            <a:prstDash val="solid"/>
          </a:ln>
        </p:spPr>
      </p:sp>
      <p:sp>
        <p:nvSpPr>
          <p:cNvPr id="5" name="Text 3"/>
          <p:cNvSpPr/>
          <p:nvPr/>
        </p:nvSpPr>
        <p:spPr>
          <a:xfrm>
            <a:off x="182880" y="0"/>
            <a:ext cx="7772400" cy="64008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CTE Photography 2A  -  Composition Review</a:t>
            </a:r>
            <a:endParaRPr lang="en-US" sz="1100" dirty="0"/>
          </a:p>
        </p:txBody>
      </p:sp>
      <p:pic>
        <p:nvPicPr>
          <p:cNvPr id="6" name="Image 0" descr="/home/claude/PV_LOGO_NEW.png">    </p:cNvPr>
          <p:cNvPicPr>
            <a:picLocks noChangeAspect="1"/>
          </p:cNvPicPr>
          <p:nvPr/>
        </p:nvPicPr>
        <p:blipFill>
          <a:blip r:embed="rId1"/>
          <a:stretch>
            <a:fillRect/>
          </a:stretch>
        </p:blipFill>
        <p:spPr>
          <a:xfrm>
            <a:off x="8138160" y="109728"/>
            <a:ext cx="777240" cy="777240"/>
          </a:xfrm>
          <a:prstGeom prst="rect">
            <a:avLst/>
          </a:prstGeom>
        </p:spPr>
      </p:pic>
      <p:sp>
        <p:nvSpPr>
          <p:cNvPr id="7" name="Shape 4"/>
          <p:cNvSpPr/>
          <p:nvPr/>
        </p:nvSpPr>
        <p:spPr>
          <a:xfrm>
            <a:off x="201168" y="777240"/>
            <a:ext cx="502920" cy="502920"/>
          </a:xfrm>
          <a:prstGeom prst="ellipse">
            <a:avLst/>
          </a:prstGeom>
          <a:solidFill>
            <a:srgbClr val="007474"/>
          </a:solidFill>
          <a:ln w="12700">
            <a:solidFill>
              <a:srgbClr val="007474"/>
            </a:solidFill>
            <a:prstDash val="solid"/>
          </a:ln>
        </p:spPr>
      </p:sp>
      <p:sp>
        <p:nvSpPr>
          <p:cNvPr id="8" name="Text 5"/>
          <p:cNvSpPr/>
          <p:nvPr/>
        </p:nvSpPr>
        <p:spPr>
          <a:xfrm>
            <a:off x="201168" y="7772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10</a:t>
            </a:r>
            <a:endParaRPr lang="en-US" sz="1600" dirty="0"/>
          </a:p>
        </p:txBody>
      </p:sp>
      <p:sp>
        <p:nvSpPr>
          <p:cNvPr id="9" name="Text 6"/>
          <p:cNvSpPr/>
          <p:nvPr/>
        </p:nvSpPr>
        <p:spPr>
          <a:xfrm>
            <a:off x="804672" y="713232"/>
            <a:ext cx="3749040" cy="594360"/>
          </a:xfrm>
          <a:prstGeom prst="rect">
            <a:avLst/>
          </a:prstGeom>
          <a:noFill/>
          <a:ln/>
        </p:spPr>
        <p:txBody>
          <a:bodyPr wrap="square" lIns="0" tIns="0" rIns="0" bIns="0" rtlCol="0" anchor="ctr"/>
          <a:lstStyle/>
          <a:p>
            <a:pPr indent="0" marL="0">
              <a:buNone/>
            </a:pPr>
            <a:r>
              <a:rPr lang="en-US" sz="2400" b="1" dirty="0">
                <a:solidFill>
                  <a:srgbClr val="004444"/>
                </a:solidFill>
                <a:latin typeface="Arial" pitchFamily="34" charset="0"/>
                <a:ea typeface="Arial" pitchFamily="34" charset="-122"/>
                <a:cs typeface="Arial" pitchFamily="34" charset="-120"/>
              </a:rPr>
              <a:t>Centered Composition</a:t>
            </a:r>
            <a:endParaRPr lang="en-US" sz="2400" dirty="0"/>
          </a:p>
        </p:txBody>
      </p:sp>
      <p:sp>
        <p:nvSpPr>
          <p:cNvPr id="10" name="Shape 7"/>
          <p:cNvSpPr/>
          <p:nvPr/>
        </p:nvSpPr>
        <p:spPr>
          <a:xfrm>
            <a:off x="201168" y="1371600"/>
            <a:ext cx="4343400" cy="27432"/>
          </a:xfrm>
          <a:prstGeom prst="rect">
            <a:avLst/>
          </a:prstGeom>
          <a:solidFill>
            <a:srgbClr val="009999"/>
          </a:solidFill>
          <a:ln w="12700">
            <a:solidFill>
              <a:srgbClr val="009999"/>
            </a:solidFill>
            <a:prstDash val="solid"/>
          </a:ln>
        </p:spPr>
      </p:sp>
      <p:sp>
        <p:nvSpPr>
          <p:cNvPr id="11" name="Text 8"/>
          <p:cNvSpPr/>
          <p:nvPr/>
        </p:nvSpPr>
        <p:spPr>
          <a:xfrm>
            <a:off x="201168" y="1463040"/>
            <a:ext cx="4343400" cy="1234440"/>
          </a:xfrm>
          <a:prstGeom prst="rect">
            <a:avLst/>
          </a:prstGeom>
          <a:noFill/>
          <a:ln/>
        </p:spPr>
        <p:txBody>
          <a:bodyPr wrap="square" lIns="0" tIns="0" rIns="0" bIns="0" rtlCol="0" anchor="t"/>
          <a:lstStyle/>
          <a:p>
            <a:pPr indent="0" marL="0">
              <a:buNone/>
            </a:pPr>
            <a:r>
              <a:rPr lang="en-US" sz="1200" dirty="0">
                <a:solidFill>
                  <a:srgbClr val="333333"/>
                </a:solidFill>
                <a:latin typeface="Arial" pitchFamily="34" charset="0"/>
                <a:ea typeface="Arial" pitchFamily="34" charset="-122"/>
                <a:cs typeface="Arial" pitchFamily="34" charset="-120"/>
              </a:rPr>
              <a:t>Placing your subject directly in the center of the frame is bold and direct. It works best with symmetrical subjects like faces, tunnels, and buildings. Centered composition tells the viewer exactly where to look. It reads as confident when done on purpose.</a:t>
            </a:r>
            <a:endParaRPr lang="en-US" sz="1200" dirty="0"/>
          </a:p>
        </p:txBody>
      </p:sp>
      <p:sp>
        <p:nvSpPr>
          <p:cNvPr id="12" name="Text 9"/>
          <p:cNvSpPr/>
          <p:nvPr/>
        </p:nvSpPr>
        <p:spPr>
          <a:xfrm>
            <a:off x="201168" y="2788920"/>
            <a:ext cx="1097280" cy="256032"/>
          </a:xfrm>
          <a:prstGeom prst="rect">
            <a:avLst/>
          </a:prstGeom>
          <a:noFill/>
          <a:ln/>
        </p:spPr>
        <p:txBody>
          <a:bodyPr wrap="square" lIns="0" tIns="0" rIns="0" bIns="0" rtlCol="0" anchor="ctr"/>
          <a:lstStyle/>
          <a:p>
            <a:pPr indent="0" marL="0">
              <a:buNone/>
            </a:pPr>
            <a:r>
              <a:rPr lang="en-US" sz="800" b="1" dirty="0">
                <a:solidFill>
                  <a:srgbClr val="007474"/>
                </a:solidFill>
                <a:latin typeface="Arial" pitchFamily="34" charset="0"/>
                <a:ea typeface="Arial" pitchFamily="34" charset="-122"/>
                <a:cs typeface="Arial" pitchFamily="34" charset="-120"/>
              </a:rPr>
              <a:t>KEY TIPS</a:t>
            </a:r>
            <a:endParaRPr lang="en-US" sz="800" dirty="0"/>
          </a:p>
        </p:txBody>
      </p:sp>
      <p:sp>
        <p:nvSpPr>
          <p:cNvPr id="13" name="Text 10"/>
          <p:cNvSpPr/>
          <p:nvPr/>
        </p:nvSpPr>
        <p:spPr>
          <a:xfrm>
            <a:off x="201168" y="3063240"/>
            <a:ext cx="4343400" cy="1691640"/>
          </a:xfrm>
          <a:prstGeom prst="rect">
            <a:avLst/>
          </a:prstGeom>
          <a:noFill/>
          <a:ln/>
        </p:spPr>
        <p:txBody>
          <a:bodyPr wrap="square" lIns="0" tIns="0" rIns="0" bIns="0" rtlCol="0" anchor="t"/>
          <a:lstStyle/>
          <a:p>
            <a:pPr>
              <a:spcAft>
                <a:spcPts val="400"/>
              </a:spcAft>
            </a:pPr>
            <a:r>
              <a:rPr lang="en-US" sz="1100" dirty="0">
                <a:solidFill>
                  <a:srgbClr val="333333"/>
                </a:solidFill>
                <a:latin typeface="Arial" pitchFamily="34" charset="0"/>
                <a:ea typeface="Arial" pitchFamily="34" charset="-122"/>
                <a:cs typeface="Arial" pitchFamily="34" charset="-120"/>
              </a:rPr>
              <a:t>Works best with subjects that are symmetrical by nature</a:t>
            </a:r>
            <a:endParaRPr lang="en-US" sz="1100" dirty="0"/>
          </a:p>
          <a:p>
            <a:pPr>
              <a:spcAft>
                <a:spcPts val="400"/>
              </a:spcAft>
            </a:pPr>
            <a:r>
              <a:rPr lang="en-US" sz="1100" dirty="0">
                <a:solidFill>
                  <a:srgbClr val="333333"/>
                </a:solidFill>
                <a:latin typeface="Arial" pitchFamily="34" charset="0"/>
                <a:ea typeface="Arial" pitchFamily="34" charset="-122"/>
                <a:cs typeface="Arial" pitchFamily="34" charset="-120"/>
              </a:rPr>
              <a:t>Pair centering with a simple, clean background</a:t>
            </a:r>
            <a:endParaRPr lang="en-US" sz="1100" dirty="0"/>
          </a:p>
          <a:p>
            <a:pPr>
              <a:spcAft>
                <a:spcPts val="400"/>
              </a:spcAft>
            </a:pPr>
            <a:r>
              <a:rPr lang="en-US" sz="1100" dirty="0">
                <a:solidFill>
                  <a:srgbClr val="333333"/>
                </a:solidFill>
                <a:latin typeface="Arial" pitchFamily="34" charset="0"/>
                <a:ea typeface="Arial" pitchFamily="34" charset="-122"/>
                <a:cs typeface="Arial" pitchFamily="34" charset="-120"/>
              </a:rPr>
              <a:t>Combine with a perfectly level horizon for a clean, powerful look</a:t>
            </a:r>
            <a:endParaRPr lang="en-US" sz="1100" dirty="0"/>
          </a:p>
          <a:p>
            <a:pPr>
              <a:spcAft>
                <a:spcPts val="400"/>
              </a:spcAft>
            </a:pPr>
            <a:r>
              <a:rPr lang="en-US" sz="1100" dirty="0">
                <a:solidFill>
                  <a:srgbClr val="333333"/>
                </a:solidFill>
                <a:latin typeface="Arial" pitchFamily="34" charset="0"/>
                <a:ea typeface="Arial" pitchFamily="34" charset="-122"/>
                <a:cs typeface="Arial" pitchFamily="34" charset="-120"/>
              </a:rPr>
              <a:t>Intentional centering looks confident. Accidental centering looks lazy.</a:t>
            </a:r>
            <a:endParaRPr lang="en-US" sz="1100" dirty="0"/>
          </a:p>
        </p:txBody>
      </p:sp>
      <p:pic>
        <p:nvPicPr>
          <p:cNvPr id="14" name="Image 1" descr="/home/claude/img_10_centered_comp_cropped.jpg">    </p:cNvPr>
          <p:cNvPicPr>
            <a:picLocks noChangeAspect="1"/>
          </p:cNvPicPr>
          <p:nvPr/>
        </p:nvPicPr>
        <p:blipFill>
          <a:blip r:embed="rId2"/>
          <a:stretch>
            <a:fillRect/>
          </a:stretch>
        </p:blipFill>
        <p:spPr>
          <a:xfrm>
            <a:off x="4800600" y="960120"/>
            <a:ext cx="4114800" cy="3086100"/>
          </a:xfrm>
          <a:prstGeom prst="rect">
            <a:avLst/>
          </a:prstGeom>
        </p:spPr>
      </p:pic>
      <p:sp>
        <p:nvSpPr>
          <p:cNvPr id="15" name="Shape 11"/>
          <p:cNvSpPr/>
          <p:nvPr/>
        </p:nvSpPr>
        <p:spPr>
          <a:xfrm>
            <a:off x="4800600" y="960120"/>
            <a:ext cx="4114800" cy="3086100"/>
          </a:xfrm>
          <a:prstGeom prst="rect">
            <a:avLst/>
          </a:prstGeom>
          <a:ln w="12700">
            <a:solidFill>
              <a:srgbClr val="009999"/>
            </a:solidFill>
            <a:prstDash val="solid"/>
          </a:ln>
        </p:spPr>
      </p:sp>
      <p:sp>
        <p:nvSpPr>
          <p:cNvPr id="16" name="Text 12"/>
          <p:cNvSpPr/>
          <p:nvPr/>
        </p:nvSpPr>
        <p:spPr>
          <a:xfrm>
            <a:off x="201168" y="4919472"/>
            <a:ext cx="5486400" cy="201168"/>
          </a:xfrm>
          <a:prstGeom prst="rect">
            <a:avLst/>
          </a:prstGeom>
          <a:noFill/>
          <a:ln/>
        </p:spPr>
        <p:txBody>
          <a:bodyPr wrap="square" lIns="0" tIns="0" rIns="0" bIns="0" rtlCol="0" anchor="ctr"/>
          <a:lstStyle/>
          <a:p>
            <a:pPr indent="0" marL="0">
              <a:buNone/>
            </a:pPr>
            <a:r>
              <a:rPr lang="en-US" sz="700" dirty="0">
                <a:solidFill>
                  <a:srgbClr val="888888"/>
                </a:solidFill>
                <a:latin typeface="Arial" pitchFamily="34" charset="0"/>
                <a:ea typeface="Arial" pitchFamily="34" charset="-122"/>
                <a:cs typeface="Arial" pitchFamily="34" charset="-120"/>
              </a:rPr>
              <a:t>Pioneer Valley High School  -  Photography 2A</a:t>
            </a:r>
            <a:endParaRPr lang="en-US" sz="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4FAFA"/>
          </a:solidFill>
          <a:ln w="12700">
            <a:solidFill>
              <a:srgbClr val="F4FAFA"/>
            </a:solidFill>
            <a:prstDash val="solid"/>
          </a:ln>
        </p:spPr>
      </p:sp>
      <p:sp>
        <p:nvSpPr>
          <p:cNvPr id="3" name="Shape 1"/>
          <p:cNvSpPr/>
          <p:nvPr/>
        </p:nvSpPr>
        <p:spPr>
          <a:xfrm>
            <a:off x="0" y="0"/>
            <a:ext cx="109728" cy="5143500"/>
          </a:xfrm>
          <a:prstGeom prst="rect">
            <a:avLst/>
          </a:prstGeom>
          <a:solidFill>
            <a:srgbClr val="007474"/>
          </a:solidFill>
          <a:ln w="12700">
            <a:solidFill>
              <a:srgbClr val="007474"/>
            </a:solidFill>
            <a:prstDash val="solid"/>
          </a:ln>
        </p:spPr>
      </p:sp>
      <p:sp>
        <p:nvSpPr>
          <p:cNvPr id="4" name="Shape 2"/>
          <p:cNvSpPr/>
          <p:nvPr/>
        </p:nvSpPr>
        <p:spPr>
          <a:xfrm>
            <a:off x="0" y="0"/>
            <a:ext cx="9144000" cy="640080"/>
          </a:xfrm>
          <a:prstGeom prst="rect">
            <a:avLst/>
          </a:prstGeom>
          <a:solidFill>
            <a:srgbClr val="004444"/>
          </a:solidFill>
          <a:ln w="12700">
            <a:solidFill>
              <a:srgbClr val="004444"/>
            </a:solidFill>
            <a:prstDash val="solid"/>
          </a:ln>
        </p:spPr>
      </p:sp>
      <p:sp>
        <p:nvSpPr>
          <p:cNvPr id="5" name="Text 3"/>
          <p:cNvSpPr/>
          <p:nvPr/>
        </p:nvSpPr>
        <p:spPr>
          <a:xfrm>
            <a:off x="182880" y="0"/>
            <a:ext cx="7772400" cy="64008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CTE Photography 2A  -  Composition Review</a:t>
            </a:r>
            <a:endParaRPr lang="en-US" sz="1100" dirty="0"/>
          </a:p>
        </p:txBody>
      </p:sp>
      <p:pic>
        <p:nvPicPr>
          <p:cNvPr id="6" name="Image 0" descr="/home/claude/PV_LOGO_NEW.png">    </p:cNvPr>
          <p:cNvPicPr>
            <a:picLocks noChangeAspect="1"/>
          </p:cNvPicPr>
          <p:nvPr/>
        </p:nvPicPr>
        <p:blipFill>
          <a:blip r:embed="rId1"/>
          <a:stretch>
            <a:fillRect/>
          </a:stretch>
        </p:blipFill>
        <p:spPr>
          <a:xfrm>
            <a:off x="8138160" y="109728"/>
            <a:ext cx="777240" cy="777240"/>
          </a:xfrm>
          <a:prstGeom prst="rect">
            <a:avLst/>
          </a:prstGeom>
        </p:spPr>
      </p:pic>
      <p:sp>
        <p:nvSpPr>
          <p:cNvPr id="7" name="Shape 4"/>
          <p:cNvSpPr/>
          <p:nvPr/>
        </p:nvSpPr>
        <p:spPr>
          <a:xfrm>
            <a:off x="201168" y="777240"/>
            <a:ext cx="502920" cy="502920"/>
          </a:xfrm>
          <a:prstGeom prst="ellipse">
            <a:avLst/>
          </a:prstGeom>
          <a:solidFill>
            <a:srgbClr val="007474"/>
          </a:solidFill>
          <a:ln w="12700">
            <a:solidFill>
              <a:srgbClr val="007474"/>
            </a:solidFill>
            <a:prstDash val="solid"/>
          </a:ln>
        </p:spPr>
      </p:sp>
      <p:sp>
        <p:nvSpPr>
          <p:cNvPr id="8" name="Text 5"/>
          <p:cNvSpPr/>
          <p:nvPr/>
        </p:nvSpPr>
        <p:spPr>
          <a:xfrm>
            <a:off x="201168" y="7772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11</a:t>
            </a:r>
            <a:endParaRPr lang="en-US" sz="1600" dirty="0"/>
          </a:p>
        </p:txBody>
      </p:sp>
      <p:sp>
        <p:nvSpPr>
          <p:cNvPr id="9" name="Text 6"/>
          <p:cNvSpPr/>
          <p:nvPr/>
        </p:nvSpPr>
        <p:spPr>
          <a:xfrm>
            <a:off x="804672" y="713232"/>
            <a:ext cx="3749040" cy="594360"/>
          </a:xfrm>
          <a:prstGeom prst="rect">
            <a:avLst/>
          </a:prstGeom>
          <a:noFill/>
          <a:ln/>
        </p:spPr>
        <p:txBody>
          <a:bodyPr wrap="square" lIns="0" tIns="0" rIns="0" bIns="0" rtlCol="0" anchor="ctr"/>
          <a:lstStyle/>
          <a:p>
            <a:pPr indent="0" marL="0">
              <a:buNone/>
            </a:pPr>
            <a:r>
              <a:rPr lang="en-US" sz="2400" b="1" dirty="0">
                <a:solidFill>
                  <a:srgbClr val="004444"/>
                </a:solidFill>
                <a:latin typeface="Arial" pitchFamily="34" charset="0"/>
                <a:ea typeface="Arial" pitchFamily="34" charset="-122"/>
                <a:cs typeface="Arial" pitchFamily="34" charset="-120"/>
              </a:rPr>
              <a:t>Horizon Line</a:t>
            </a:r>
            <a:endParaRPr lang="en-US" sz="2400" dirty="0"/>
          </a:p>
        </p:txBody>
      </p:sp>
      <p:sp>
        <p:nvSpPr>
          <p:cNvPr id="10" name="Shape 7"/>
          <p:cNvSpPr/>
          <p:nvPr/>
        </p:nvSpPr>
        <p:spPr>
          <a:xfrm>
            <a:off x="201168" y="1371600"/>
            <a:ext cx="4343400" cy="27432"/>
          </a:xfrm>
          <a:prstGeom prst="rect">
            <a:avLst/>
          </a:prstGeom>
          <a:solidFill>
            <a:srgbClr val="009999"/>
          </a:solidFill>
          <a:ln w="12700">
            <a:solidFill>
              <a:srgbClr val="009999"/>
            </a:solidFill>
            <a:prstDash val="solid"/>
          </a:ln>
        </p:spPr>
      </p:sp>
      <p:sp>
        <p:nvSpPr>
          <p:cNvPr id="11" name="Text 8"/>
          <p:cNvSpPr/>
          <p:nvPr/>
        </p:nvSpPr>
        <p:spPr>
          <a:xfrm>
            <a:off x="201168" y="1463040"/>
            <a:ext cx="4343400" cy="1234440"/>
          </a:xfrm>
          <a:prstGeom prst="rect">
            <a:avLst/>
          </a:prstGeom>
          <a:noFill/>
          <a:ln/>
        </p:spPr>
        <p:txBody>
          <a:bodyPr wrap="square" lIns="0" tIns="0" rIns="0" bIns="0" rtlCol="0" anchor="t"/>
          <a:lstStyle/>
          <a:p>
            <a:pPr indent="0" marL="0">
              <a:buNone/>
            </a:pPr>
            <a:r>
              <a:rPr lang="en-US" sz="1200" dirty="0">
                <a:solidFill>
                  <a:srgbClr val="333333"/>
                </a:solidFill>
                <a:latin typeface="Arial" pitchFamily="34" charset="0"/>
                <a:ea typeface="Arial" pitchFamily="34" charset="-122"/>
                <a:cs typeface="Arial" pitchFamily="34" charset="-120"/>
              </a:rPr>
              <a:t>The horizon line is where the sky meets the ground. A level horizon looks clean and in control. A tilted or crooked horizon is one of the most common and distracting composition mistakes. Always decide on purpose whether your horizon is level or intentionally tilted.</a:t>
            </a:r>
            <a:endParaRPr lang="en-US" sz="1200" dirty="0"/>
          </a:p>
        </p:txBody>
      </p:sp>
      <p:sp>
        <p:nvSpPr>
          <p:cNvPr id="12" name="Text 9"/>
          <p:cNvSpPr/>
          <p:nvPr/>
        </p:nvSpPr>
        <p:spPr>
          <a:xfrm>
            <a:off x="201168" y="2788920"/>
            <a:ext cx="1097280" cy="256032"/>
          </a:xfrm>
          <a:prstGeom prst="rect">
            <a:avLst/>
          </a:prstGeom>
          <a:noFill/>
          <a:ln/>
        </p:spPr>
        <p:txBody>
          <a:bodyPr wrap="square" lIns="0" tIns="0" rIns="0" bIns="0" rtlCol="0" anchor="ctr"/>
          <a:lstStyle/>
          <a:p>
            <a:pPr indent="0" marL="0">
              <a:buNone/>
            </a:pPr>
            <a:r>
              <a:rPr lang="en-US" sz="800" b="1" dirty="0">
                <a:solidFill>
                  <a:srgbClr val="007474"/>
                </a:solidFill>
                <a:latin typeface="Arial" pitchFamily="34" charset="0"/>
                <a:ea typeface="Arial" pitchFamily="34" charset="-122"/>
                <a:cs typeface="Arial" pitchFamily="34" charset="-120"/>
              </a:rPr>
              <a:t>KEY TIPS</a:t>
            </a:r>
            <a:endParaRPr lang="en-US" sz="800" dirty="0"/>
          </a:p>
        </p:txBody>
      </p:sp>
      <p:sp>
        <p:nvSpPr>
          <p:cNvPr id="13" name="Text 10"/>
          <p:cNvSpPr/>
          <p:nvPr/>
        </p:nvSpPr>
        <p:spPr>
          <a:xfrm>
            <a:off x="201168" y="3063240"/>
            <a:ext cx="4343400" cy="1691640"/>
          </a:xfrm>
          <a:prstGeom prst="rect">
            <a:avLst/>
          </a:prstGeom>
          <a:noFill/>
          <a:ln/>
        </p:spPr>
        <p:txBody>
          <a:bodyPr wrap="square" lIns="0" tIns="0" rIns="0" bIns="0" rtlCol="0" anchor="t"/>
          <a:lstStyle/>
          <a:p>
            <a:pPr>
              <a:spcAft>
                <a:spcPts val="400"/>
              </a:spcAft>
            </a:pPr>
            <a:r>
              <a:rPr lang="en-US" sz="1100" dirty="0">
                <a:solidFill>
                  <a:srgbClr val="333333"/>
                </a:solidFill>
                <a:latin typeface="Arial" pitchFamily="34" charset="0"/>
                <a:ea typeface="Arial" pitchFamily="34" charset="-122"/>
                <a:cs typeface="Arial" pitchFamily="34" charset="-120"/>
              </a:rPr>
              <a:t>Use your camera's electronic level or grid to check alignment</a:t>
            </a:r>
            <a:endParaRPr lang="en-US" sz="1100" dirty="0"/>
          </a:p>
          <a:p>
            <a:pPr>
              <a:spcAft>
                <a:spcPts val="400"/>
              </a:spcAft>
            </a:pPr>
            <a:r>
              <a:rPr lang="en-US" sz="1100" dirty="0">
                <a:solidFill>
                  <a:srgbClr val="333333"/>
                </a:solidFill>
                <a:latin typeface="Arial" pitchFamily="34" charset="0"/>
                <a:ea typeface="Arial" pitchFamily="34" charset="-122"/>
                <a:cs typeface="Arial" pitchFamily="34" charset="-120"/>
              </a:rPr>
              <a:t>Place the horizon on the upper or lower third, not the center</a:t>
            </a:r>
            <a:endParaRPr lang="en-US" sz="1100" dirty="0"/>
          </a:p>
          <a:p>
            <a:pPr>
              <a:spcAft>
                <a:spcPts val="400"/>
              </a:spcAft>
            </a:pPr>
            <a:r>
              <a:rPr lang="en-US" sz="1100" dirty="0">
                <a:solidFill>
                  <a:srgbClr val="333333"/>
                </a:solidFill>
                <a:latin typeface="Arial" pitchFamily="34" charset="0"/>
                <a:ea typeface="Arial" pitchFamily="34" charset="-122"/>
                <a:cs typeface="Arial" pitchFamily="34" charset="-120"/>
              </a:rPr>
              <a:t>A Dutch angle (intentional tilt) creates tension but must be obvious</a:t>
            </a:r>
            <a:endParaRPr lang="en-US" sz="1100" dirty="0"/>
          </a:p>
          <a:p>
            <a:pPr>
              <a:spcAft>
                <a:spcPts val="400"/>
              </a:spcAft>
            </a:pPr>
            <a:r>
              <a:rPr lang="en-US" sz="1100" dirty="0">
                <a:solidFill>
                  <a:srgbClr val="333333"/>
                </a:solidFill>
                <a:latin typeface="Arial" pitchFamily="34" charset="0"/>
                <a:ea typeface="Arial" pitchFamily="34" charset="-122"/>
                <a:cs typeface="Arial" pitchFamily="34" charset="-120"/>
              </a:rPr>
              <a:t>Fix a slightly tilted horizon quickly in Lightroom with the Crop tool</a:t>
            </a:r>
            <a:endParaRPr lang="en-US" sz="1100" dirty="0"/>
          </a:p>
        </p:txBody>
      </p:sp>
      <p:pic>
        <p:nvPicPr>
          <p:cNvPr id="14" name="Image 1" descr="/home/claude/img_11_horizon_line_cropped.jpg">    </p:cNvPr>
          <p:cNvPicPr>
            <a:picLocks noChangeAspect="1"/>
          </p:cNvPicPr>
          <p:nvPr/>
        </p:nvPicPr>
        <p:blipFill>
          <a:blip r:embed="rId2"/>
          <a:stretch>
            <a:fillRect/>
          </a:stretch>
        </p:blipFill>
        <p:spPr>
          <a:xfrm>
            <a:off x="4800600" y="960120"/>
            <a:ext cx="4114800" cy="3086100"/>
          </a:xfrm>
          <a:prstGeom prst="rect">
            <a:avLst/>
          </a:prstGeom>
        </p:spPr>
      </p:pic>
      <p:sp>
        <p:nvSpPr>
          <p:cNvPr id="15" name="Shape 11"/>
          <p:cNvSpPr/>
          <p:nvPr/>
        </p:nvSpPr>
        <p:spPr>
          <a:xfrm>
            <a:off x="4800600" y="960120"/>
            <a:ext cx="4114800" cy="3086100"/>
          </a:xfrm>
          <a:prstGeom prst="rect">
            <a:avLst/>
          </a:prstGeom>
          <a:ln w="12700">
            <a:solidFill>
              <a:srgbClr val="009999"/>
            </a:solidFill>
            <a:prstDash val="solid"/>
          </a:ln>
        </p:spPr>
      </p:sp>
      <p:sp>
        <p:nvSpPr>
          <p:cNvPr id="16" name="Text 12"/>
          <p:cNvSpPr/>
          <p:nvPr/>
        </p:nvSpPr>
        <p:spPr>
          <a:xfrm>
            <a:off x="201168" y="4919472"/>
            <a:ext cx="5486400" cy="201168"/>
          </a:xfrm>
          <a:prstGeom prst="rect">
            <a:avLst/>
          </a:prstGeom>
          <a:noFill/>
          <a:ln/>
        </p:spPr>
        <p:txBody>
          <a:bodyPr wrap="square" lIns="0" tIns="0" rIns="0" bIns="0" rtlCol="0" anchor="ctr"/>
          <a:lstStyle/>
          <a:p>
            <a:pPr indent="0" marL="0">
              <a:buNone/>
            </a:pPr>
            <a:r>
              <a:rPr lang="en-US" sz="700" dirty="0">
                <a:solidFill>
                  <a:srgbClr val="888888"/>
                </a:solidFill>
                <a:latin typeface="Arial" pitchFamily="34" charset="0"/>
                <a:ea typeface="Arial" pitchFamily="34" charset="-122"/>
                <a:cs typeface="Arial" pitchFamily="34" charset="-120"/>
              </a:rPr>
              <a:t>Pioneer Valley High School  -  Photography 2A</a:t>
            </a:r>
            <a:endParaRPr lang="en-US" sz="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4FAFA"/>
          </a:solidFill>
          <a:ln w="12700">
            <a:solidFill>
              <a:srgbClr val="F4FAFA"/>
            </a:solidFill>
            <a:prstDash val="solid"/>
          </a:ln>
        </p:spPr>
      </p:sp>
      <p:sp>
        <p:nvSpPr>
          <p:cNvPr id="3" name="Shape 1"/>
          <p:cNvSpPr/>
          <p:nvPr/>
        </p:nvSpPr>
        <p:spPr>
          <a:xfrm>
            <a:off x="0" y="0"/>
            <a:ext cx="109728" cy="5143500"/>
          </a:xfrm>
          <a:prstGeom prst="rect">
            <a:avLst/>
          </a:prstGeom>
          <a:solidFill>
            <a:srgbClr val="007474"/>
          </a:solidFill>
          <a:ln w="12700">
            <a:solidFill>
              <a:srgbClr val="007474"/>
            </a:solidFill>
            <a:prstDash val="solid"/>
          </a:ln>
        </p:spPr>
      </p:sp>
      <p:sp>
        <p:nvSpPr>
          <p:cNvPr id="4" name="Shape 2"/>
          <p:cNvSpPr/>
          <p:nvPr/>
        </p:nvSpPr>
        <p:spPr>
          <a:xfrm>
            <a:off x="0" y="0"/>
            <a:ext cx="9144000" cy="640080"/>
          </a:xfrm>
          <a:prstGeom prst="rect">
            <a:avLst/>
          </a:prstGeom>
          <a:solidFill>
            <a:srgbClr val="004444"/>
          </a:solidFill>
          <a:ln w="12700">
            <a:solidFill>
              <a:srgbClr val="004444"/>
            </a:solidFill>
            <a:prstDash val="solid"/>
          </a:ln>
        </p:spPr>
      </p:sp>
      <p:sp>
        <p:nvSpPr>
          <p:cNvPr id="5" name="Text 3"/>
          <p:cNvSpPr/>
          <p:nvPr/>
        </p:nvSpPr>
        <p:spPr>
          <a:xfrm>
            <a:off x="182880" y="0"/>
            <a:ext cx="7772400" cy="64008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CTE Photography 2A  -  Composition Review</a:t>
            </a:r>
            <a:endParaRPr lang="en-US" sz="1100" dirty="0"/>
          </a:p>
        </p:txBody>
      </p:sp>
      <p:pic>
        <p:nvPicPr>
          <p:cNvPr id="6" name="Image 0" descr="/home/claude/PV_LOGO_NEW.png">    </p:cNvPr>
          <p:cNvPicPr>
            <a:picLocks noChangeAspect="1"/>
          </p:cNvPicPr>
          <p:nvPr/>
        </p:nvPicPr>
        <p:blipFill>
          <a:blip r:embed="rId1"/>
          <a:stretch>
            <a:fillRect/>
          </a:stretch>
        </p:blipFill>
        <p:spPr>
          <a:xfrm>
            <a:off x="8138160" y="109728"/>
            <a:ext cx="777240" cy="777240"/>
          </a:xfrm>
          <a:prstGeom prst="rect">
            <a:avLst/>
          </a:prstGeom>
        </p:spPr>
      </p:pic>
      <p:sp>
        <p:nvSpPr>
          <p:cNvPr id="7" name="Shape 4"/>
          <p:cNvSpPr/>
          <p:nvPr/>
        </p:nvSpPr>
        <p:spPr>
          <a:xfrm>
            <a:off x="201168" y="777240"/>
            <a:ext cx="502920" cy="502920"/>
          </a:xfrm>
          <a:prstGeom prst="ellipse">
            <a:avLst/>
          </a:prstGeom>
          <a:solidFill>
            <a:srgbClr val="007474"/>
          </a:solidFill>
          <a:ln w="12700">
            <a:solidFill>
              <a:srgbClr val="007474"/>
            </a:solidFill>
            <a:prstDash val="solid"/>
          </a:ln>
        </p:spPr>
      </p:sp>
      <p:sp>
        <p:nvSpPr>
          <p:cNvPr id="8" name="Text 5"/>
          <p:cNvSpPr/>
          <p:nvPr/>
        </p:nvSpPr>
        <p:spPr>
          <a:xfrm>
            <a:off x="201168" y="7772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12</a:t>
            </a:r>
            <a:endParaRPr lang="en-US" sz="1600" dirty="0"/>
          </a:p>
        </p:txBody>
      </p:sp>
      <p:sp>
        <p:nvSpPr>
          <p:cNvPr id="9" name="Text 6"/>
          <p:cNvSpPr/>
          <p:nvPr/>
        </p:nvSpPr>
        <p:spPr>
          <a:xfrm>
            <a:off x="804672" y="713232"/>
            <a:ext cx="3749040" cy="594360"/>
          </a:xfrm>
          <a:prstGeom prst="rect">
            <a:avLst/>
          </a:prstGeom>
          <a:noFill/>
          <a:ln/>
        </p:spPr>
        <p:txBody>
          <a:bodyPr wrap="square" lIns="0" tIns="0" rIns="0" bIns="0" rtlCol="0" anchor="ctr"/>
          <a:lstStyle/>
          <a:p>
            <a:pPr indent="0" marL="0">
              <a:buNone/>
            </a:pPr>
            <a:r>
              <a:rPr lang="en-US" sz="2400" b="1" dirty="0">
                <a:solidFill>
                  <a:srgbClr val="004444"/>
                </a:solidFill>
                <a:latin typeface="Arial" pitchFamily="34" charset="0"/>
                <a:ea typeface="Arial" pitchFamily="34" charset="-122"/>
                <a:cs typeface="Arial" pitchFamily="34" charset="-120"/>
              </a:rPr>
              <a:t>Texture and Detail</a:t>
            </a:r>
            <a:endParaRPr lang="en-US" sz="2400" dirty="0"/>
          </a:p>
        </p:txBody>
      </p:sp>
      <p:sp>
        <p:nvSpPr>
          <p:cNvPr id="10" name="Shape 7"/>
          <p:cNvSpPr/>
          <p:nvPr/>
        </p:nvSpPr>
        <p:spPr>
          <a:xfrm>
            <a:off x="201168" y="1371600"/>
            <a:ext cx="4343400" cy="27432"/>
          </a:xfrm>
          <a:prstGeom prst="rect">
            <a:avLst/>
          </a:prstGeom>
          <a:solidFill>
            <a:srgbClr val="009999"/>
          </a:solidFill>
          <a:ln w="12700">
            <a:solidFill>
              <a:srgbClr val="009999"/>
            </a:solidFill>
            <a:prstDash val="solid"/>
          </a:ln>
        </p:spPr>
      </p:sp>
      <p:sp>
        <p:nvSpPr>
          <p:cNvPr id="11" name="Text 8"/>
          <p:cNvSpPr/>
          <p:nvPr/>
        </p:nvSpPr>
        <p:spPr>
          <a:xfrm>
            <a:off x="201168" y="1463040"/>
            <a:ext cx="4343400" cy="1234440"/>
          </a:xfrm>
          <a:prstGeom prst="rect">
            <a:avLst/>
          </a:prstGeom>
          <a:noFill/>
          <a:ln/>
        </p:spPr>
        <p:txBody>
          <a:bodyPr wrap="square" lIns="0" tIns="0" rIns="0" bIns="0" rtlCol="0" anchor="t"/>
          <a:lstStyle/>
          <a:p>
            <a:pPr indent="0" marL="0">
              <a:buNone/>
            </a:pPr>
            <a:r>
              <a:rPr lang="en-US" sz="1200" dirty="0">
                <a:solidFill>
                  <a:srgbClr val="333333"/>
                </a:solidFill>
                <a:latin typeface="Arial" pitchFamily="34" charset="0"/>
                <a:ea typeface="Arial" pitchFamily="34" charset="-122"/>
                <a:cs typeface="Arial" pitchFamily="34" charset="-120"/>
              </a:rPr>
              <a:t>Getting close enough to show surface texture makes a photo feel tactile. The viewer can almost feel what they are seeing. Raking light (light coming in from a low side angle) is the best way to reveal texture in stone, wood, fabric, skin, and food.</a:t>
            </a:r>
            <a:endParaRPr lang="en-US" sz="1200" dirty="0"/>
          </a:p>
        </p:txBody>
      </p:sp>
      <p:sp>
        <p:nvSpPr>
          <p:cNvPr id="12" name="Text 9"/>
          <p:cNvSpPr/>
          <p:nvPr/>
        </p:nvSpPr>
        <p:spPr>
          <a:xfrm>
            <a:off x="201168" y="2788920"/>
            <a:ext cx="1097280" cy="256032"/>
          </a:xfrm>
          <a:prstGeom prst="rect">
            <a:avLst/>
          </a:prstGeom>
          <a:noFill/>
          <a:ln/>
        </p:spPr>
        <p:txBody>
          <a:bodyPr wrap="square" lIns="0" tIns="0" rIns="0" bIns="0" rtlCol="0" anchor="ctr"/>
          <a:lstStyle/>
          <a:p>
            <a:pPr indent="0" marL="0">
              <a:buNone/>
            </a:pPr>
            <a:r>
              <a:rPr lang="en-US" sz="800" b="1" dirty="0">
                <a:solidFill>
                  <a:srgbClr val="007474"/>
                </a:solidFill>
                <a:latin typeface="Arial" pitchFamily="34" charset="0"/>
                <a:ea typeface="Arial" pitchFamily="34" charset="-122"/>
                <a:cs typeface="Arial" pitchFamily="34" charset="-120"/>
              </a:rPr>
              <a:t>KEY TIPS</a:t>
            </a:r>
            <a:endParaRPr lang="en-US" sz="800" dirty="0"/>
          </a:p>
        </p:txBody>
      </p:sp>
      <p:sp>
        <p:nvSpPr>
          <p:cNvPr id="13" name="Text 10"/>
          <p:cNvSpPr/>
          <p:nvPr/>
        </p:nvSpPr>
        <p:spPr>
          <a:xfrm>
            <a:off x="201168" y="3063240"/>
            <a:ext cx="4343400" cy="1691640"/>
          </a:xfrm>
          <a:prstGeom prst="rect">
            <a:avLst/>
          </a:prstGeom>
          <a:noFill/>
          <a:ln/>
        </p:spPr>
        <p:txBody>
          <a:bodyPr wrap="square" lIns="0" tIns="0" rIns="0" bIns="0" rtlCol="0" anchor="t"/>
          <a:lstStyle/>
          <a:p>
            <a:pPr>
              <a:spcAft>
                <a:spcPts val="400"/>
              </a:spcAft>
            </a:pPr>
            <a:r>
              <a:rPr lang="en-US" sz="1100" dirty="0">
                <a:solidFill>
                  <a:srgbClr val="333333"/>
                </a:solidFill>
                <a:latin typeface="Arial" pitchFamily="34" charset="0"/>
                <a:ea typeface="Arial" pitchFamily="34" charset="-122"/>
                <a:cs typeface="Arial" pitchFamily="34" charset="-120"/>
              </a:rPr>
              <a:t>Side lighting at a low angle is the best light for texture images</a:t>
            </a:r>
            <a:endParaRPr lang="en-US" sz="1100" dirty="0"/>
          </a:p>
          <a:p>
            <a:pPr>
              <a:spcAft>
                <a:spcPts val="400"/>
              </a:spcAft>
            </a:pPr>
            <a:r>
              <a:rPr lang="en-US" sz="1100" dirty="0">
                <a:solidFill>
                  <a:srgbClr val="333333"/>
                </a:solidFill>
                <a:latin typeface="Arial" pitchFamily="34" charset="0"/>
                <a:ea typeface="Arial" pitchFamily="34" charset="-122"/>
                <a:cs typeface="Arial" pitchFamily="34" charset="-120"/>
              </a:rPr>
              <a:t>Use a prime lens or macro lens to get the sharpest detail</a:t>
            </a:r>
            <a:endParaRPr lang="en-US" sz="1100" dirty="0"/>
          </a:p>
          <a:p>
            <a:pPr>
              <a:spcAft>
                <a:spcPts val="400"/>
              </a:spcAft>
            </a:pPr>
            <a:r>
              <a:rPr lang="en-US" sz="1100" dirty="0">
                <a:solidFill>
                  <a:srgbClr val="333333"/>
                </a:solidFill>
                <a:latin typeface="Arial" pitchFamily="34" charset="0"/>
                <a:ea typeface="Arial" pitchFamily="34" charset="-122"/>
                <a:cs typeface="Arial" pitchFamily="34" charset="-120"/>
              </a:rPr>
              <a:t>Focus precisely on the part of the texture that matters most</a:t>
            </a:r>
            <a:endParaRPr lang="en-US" sz="1100" dirty="0"/>
          </a:p>
          <a:p>
            <a:pPr>
              <a:spcAft>
                <a:spcPts val="400"/>
              </a:spcAft>
            </a:pPr>
            <a:r>
              <a:rPr lang="en-US" sz="1100" dirty="0">
                <a:solidFill>
                  <a:srgbClr val="333333"/>
                </a:solidFill>
                <a:latin typeface="Arial" pitchFamily="34" charset="0"/>
                <a:ea typeface="Arial" pitchFamily="34" charset="-122"/>
                <a:cs typeface="Arial" pitchFamily="34" charset="-120"/>
              </a:rPr>
              <a:t>High contrast between light and shadow makes texture pop</a:t>
            </a:r>
            <a:endParaRPr lang="en-US" sz="1100" dirty="0"/>
          </a:p>
        </p:txBody>
      </p:sp>
      <p:pic>
        <p:nvPicPr>
          <p:cNvPr id="14" name="Image 1" descr="/home/claude/img_12_texture_cropped.jpg">    </p:cNvPr>
          <p:cNvPicPr>
            <a:picLocks noChangeAspect="1"/>
          </p:cNvPicPr>
          <p:nvPr/>
        </p:nvPicPr>
        <p:blipFill>
          <a:blip r:embed="rId2"/>
          <a:stretch>
            <a:fillRect/>
          </a:stretch>
        </p:blipFill>
        <p:spPr>
          <a:xfrm>
            <a:off x="4800600" y="960120"/>
            <a:ext cx="4114800" cy="3086100"/>
          </a:xfrm>
          <a:prstGeom prst="rect">
            <a:avLst/>
          </a:prstGeom>
        </p:spPr>
      </p:pic>
      <p:sp>
        <p:nvSpPr>
          <p:cNvPr id="15" name="Shape 11"/>
          <p:cNvSpPr/>
          <p:nvPr/>
        </p:nvSpPr>
        <p:spPr>
          <a:xfrm>
            <a:off x="4800600" y="960120"/>
            <a:ext cx="4114800" cy="3086100"/>
          </a:xfrm>
          <a:prstGeom prst="rect">
            <a:avLst/>
          </a:prstGeom>
          <a:ln w="12700">
            <a:solidFill>
              <a:srgbClr val="009999"/>
            </a:solidFill>
            <a:prstDash val="solid"/>
          </a:ln>
        </p:spPr>
      </p:sp>
      <p:sp>
        <p:nvSpPr>
          <p:cNvPr id="16" name="Text 12"/>
          <p:cNvSpPr/>
          <p:nvPr/>
        </p:nvSpPr>
        <p:spPr>
          <a:xfrm>
            <a:off x="201168" y="4919472"/>
            <a:ext cx="5486400" cy="201168"/>
          </a:xfrm>
          <a:prstGeom prst="rect">
            <a:avLst/>
          </a:prstGeom>
          <a:noFill/>
          <a:ln/>
        </p:spPr>
        <p:txBody>
          <a:bodyPr wrap="square" lIns="0" tIns="0" rIns="0" bIns="0" rtlCol="0" anchor="ctr"/>
          <a:lstStyle/>
          <a:p>
            <a:pPr indent="0" marL="0">
              <a:buNone/>
            </a:pPr>
            <a:r>
              <a:rPr lang="en-US" sz="700" dirty="0">
                <a:solidFill>
                  <a:srgbClr val="888888"/>
                </a:solidFill>
                <a:latin typeface="Arial" pitchFamily="34" charset="0"/>
                <a:ea typeface="Arial" pitchFamily="34" charset="-122"/>
                <a:cs typeface="Arial" pitchFamily="34" charset="-120"/>
              </a:rPr>
              <a:t>Pioneer Valley High School  -  Photography 2A</a:t>
            </a:r>
            <a:endParaRPr lang="en-US" sz="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4FAFA"/>
          </a:solidFill>
          <a:ln w="12700">
            <a:solidFill>
              <a:srgbClr val="F4FAFA"/>
            </a:solidFill>
            <a:prstDash val="solid"/>
          </a:ln>
        </p:spPr>
      </p:sp>
      <p:sp>
        <p:nvSpPr>
          <p:cNvPr id="3" name="Shape 1"/>
          <p:cNvSpPr/>
          <p:nvPr/>
        </p:nvSpPr>
        <p:spPr>
          <a:xfrm>
            <a:off x="0" y="0"/>
            <a:ext cx="109728" cy="5143500"/>
          </a:xfrm>
          <a:prstGeom prst="rect">
            <a:avLst/>
          </a:prstGeom>
          <a:solidFill>
            <a:srgbClr val="007474"/>
          </a:solidFill>
          <a:ln w="12700">
            <a:solidFill>
              <a:srgbClr val="007474"/>
            </a:solidFill>
            <a:prstDash val="solid"/>
          </a:ln>
        </p:spPr>
      </p:sp>
      <p:sp>
        <p:nvSpPr>
          <p:cNvPr id="4" name="Shape 2"/>
          <p:cNvSpPr/>
          <p:nvPr/>
        </p:nvSpPr>
        <p:spPr>
          <a:xfrm>
            <a:off x="0" y="0"/>
            <a:ext cx="9144000" cy="640080"/>
          </a:xfrm>
          <a:prstGeom prst="rect">
            <a:avLst/>
          </a:prstGeom>
          <a:solidFill>
            <a:srgbClr val="004444"/>
          </a:solidFill>
          <a:ln w="12700">
            <a:solidFill>
              <a:srgbClr val="004444"/>
            </a:solidFill>
            <a:prstDash val="solid"/>
          </a:ln>
        </p:spPr>
      </p:sp>
      <p:sp>
        <p:nvSpPr>
          <p:cNvPr id="5" name="Text 3"/>
          <p:cNvSpPr/>
          <p:nvPr/>
        </p:nvSpPr>
        <p:spPr>
          <a:xfrm>
            <a:off x="182880" y="0"/>
            <a:ext cx="7772400" cy="64008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CTE Photography 2A  -  Composition Review</a:t>
            </a:r>
            <a:endParaRPr lang="en-US" sz="1100" dirty="0"/>
          </a:p>
        </p:txBody>
      </p:sp>
      <p:pic>
        <p:nvPicPr>
          <p:cNvPr id="6" name="Image 0" descr="/home/claude/PV_LOGO_NEW.png">    </p:cNvPr>
          <p:cNvPicPr>
            <a:picLocks noChangeAspect="1"/>
          </p:cNvPicPr>
          <p:nvPr/>
        </p:nvPicPr>
        <p:blipFill>
          <a:blip r:embed="rId1"/>
          <a:stretch>
            <a:fillRect/>
          </a:stretch>
        </p:blipFill>
        <p:spPr>
          <a:xfrm>
            <a:off x="8138160" y="109728"/>
            <a:ext cx="777240" cy="777240"/>
          </a:xfrm>
          <a:prstGeom prst="rect">
            <a:avLst/>
          </a:prstGeom>
        </p:spPr>
      </p:pic>
      <p:sp>
        <p:nvSpPr>
          <p:cNvPr id="7" name="Shape 4"/>
          <p:cNvSpPr/>
          <p:nvPr/>
        </p:nvSpPr>
        <p:spPr>
          <a:xfrm>
            <a:off x="201168" y="777240"/>
            <a:ext cx="502920" cy="502920"/>
          </a:xfrm>
          <a:prstGeom prst="ellipse">
            <a:avLst/>
          </a:prstGeom>
          <a:solidFill>
            <a:srgbClr val="007474"/>
          </a:solidFill>
          <a:ln w="12700">
            <a:solidFill>
              <a:srgbClr val="007474"/>
            </a:solidFill>
            <a:prstDash val="solid"/>
          </a:ln>
        </p:spPr>
      </p:sp>
      <p:sp>
        <p:nvSpPr>
          <p:cNvPr id="8" name="Text 5"/>
          <p:cNvSpPr/>
          <p:nvPr/>
        </p:nvSpPr>
        <p:spPr>
          <a:xfrm>
            <a:off x="201168" y="7772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13</a:t>
            </a:r>
            <a:endParaRPr lang="en-US" sz="1600" dirty="0"/>
          </a:p>
        </p:txBody>
      </p:sp>
      <p:sp>
        <p:nvSpPr>
          <p:cNvPr id="9" name="Text 6"/>
          <p:cNvSpPr/>
          <p:nvPr/>
        </p:nvSpPr>
        <p:spPr>
          <a:xfrm>
            <a:off x="804672" y="713232"/>
            <a:ext cx="3749040" cy="594360"/>
          </a:xfrm>
          <a:prstGeom prst="rect">
            <a:avLst/>
          </a:prstGeom>
          <a:noFill/>
          <a:ln/>
        </p:spPr>
        <p:txBody>
          <a:bodyPr wrap="square" lIns="0" tIns="0" rIns="0" bIns="0" rtlCol="0" anchor="ctr"/>
          <a:lstStyle/>
          <a:p>
            <a:pPr indent="0" marL="0">
              <a:buNone/>
            </a:pPr>
            <a:r>
              <a:rPr lang="en-US" sz="2400" b="1" dirty="0">
                <a:solidFill>
                  <a:srgbClr val="004444"/>
                </a:solidFill>
                <a:latin typeface="Arial" pitchFamily="34" charset="0"/>
                <a:ea typeface="Arial" pitchFamily="34" charset="-122"/>
                <a:cs typeface="Arial" pitchFamily="34" charset="-120"/>
              </a:rPr>
              <a:t>Color and Contrast</a:t>
            </a:r>
            <a:endParaRPr lang="en-US" sz="2400" dirty="0"/>
          </a:p>
        </p:txBody>
      </p:sp>
      <p:sp>
        <p:nvSpPr>
          <p:cNvPr id="10" name="Shape 7"/>
          <p:cNvSpPr/>
          <p:nvPr/>
        </p:nvSpPr>
        <p:spPr>
          <a:xfrm>
            <a:off x="201168" y="1371600"/>
            <a:ext cx="4343400" cy="27432"/>
          </a:xfrm>
          <a:prstGeom prst="rect">
            <a:avLst/>
          </a:prstGeom>
          <a:solidFill>
            <a:srgbClr val="009999"/>
          </a:solidFill>
          <a:ln w="12700">
            <a:solidFill>
              <a:srgbClr val="009999"/>
            </a:solidFill>
            <a:prstDash val="solid"/>
          </a:ln>
        </p:spPr>
      </p:sp>
      <p:sp>
        <p:nvSpPr>
          <p:cNvPr id="11" name="Text 8"/>
          <p:cNvSpPr/>
          <p:nvPr/>
        </p:nvSpPr>
        <p:spPr>
          <a:xfrm>
            <a:off x="201168" y="1463040"/>
            <a:ext cx="4343400" cy="1234440"/>
          </a:xfrm>
          <a:prstGeom prst="rect">
            <a:avLst/>
          </a:prstGeom>
          <a:noFill/>
          <a:ln/>
        </p:spPr>
        <p:txBody>
          <a:bodyPr wrap="square" lIns="0" tIns="0" rIns="0" bIns="0" rtlCol="0" anchor="t"/>
          <a:lstStyle/>
          <a:p>
            <a:pPr indent="0" marL="0">
              <a:buNone/>
            </a:pPr>
            <a:r>
              <a:rPr lang="en-US" sz="1200" dirty="0">
                <a:solidFill>
                  <a:srgbClr val="333333"/>
                </a:solidFill>
                <a:latin typeface="Arial" pitchFamily="34" charset="0"/>
                <a:ea typeface="Arial" pitchFamily="34" charset="-122"/>
                <a:cs typeface="Arial" pitchFamily="34" charset="-120"/>
              </a:rPr>
              <a:t>Color contrast between your subject and background controls where the eye goes first. Complementary colors (colors opposite each other on the color wheel) create strong visual tension. A single bold color against a neutral background is one of the easiest ways to isolate a subject.</a:t>
            </a:r>
            <a:endParaRPr lang="en-US" sz="1200" dirty="0"/>
          </a:p>
        </p:txBody>
      </p:sp>
      <p:sp>
        <p:nvSpPr>
          <p:cNvPr id="12" name="Text 9"/>
          <p:cNvSpPr/>
          <p:nvPr/>
        </p:nvSpPr>
        <p:spPr>
          <a:xfrm>
            <a:off x="201168" y="2788920"/>
            <a:ext cx="1097280" cy="256032"/>
          </a:xfrm>
          <a:prstGeom prst="rect">
            <a:avLst/>
          </a:prstGeom>
          <a:noFill/>
          <a:ln/>
        </p:spPr>
        <p:txBody>
          <a:bodyPr wrap="square" lIns="0" tIns="0" rIns="0" bIns="0" rtlCol="0" anchor="ctr"/>
          <a:lstStyle/>
          <a:p>
            <a:pPr indent="0" marL="0">
              <a:buNone/>
            </a:pPr>
            <a:r>
              <a:rPr lang="en-US" sz="800" b="1" dirty="0">
                <a:solidFill>
                  <a:srgbClr val="007474"/>
                </a:solidFill>
                <a:latin typeface="Arial" pitchFamily="34" charset="0"/>
                <a:ea typeface="Arial" pitchFamily="34" charset="-122"/>
                <a:cs typeface="Arial" pitchFamily="34" charset="-120"/>
              </a:rPr>
              <a:t>KEY TIPS</a:t>
            </a:r>
            <a:endParaRPr lang="en-US" sz="800" dirty="0"/>
          </a:p>
        </p:txBody>
      </p:sp>
      <p:sp>
        <p:nvSpPr>
          <p:cNvPr id="13" name="Text 10"/>
          <p:cNvSpPr/>
          <p:nvPr/>
        </p:nvSpPr>
        <p:spPr>
          <a:xfrm>
            <a:off x="201168" y="3063240"/>
            <a:ext cx="4343400" cy="1691640"/>
          </a:xfrm>
          <a:prstGeom prst="rect">
            <a:avLst/>
          </a:prstGeom>
          <a:noFill/>
          <a:ln/>
        </p:spPr>
        <p:txBody>
          <a:bodyPr wrap="square" lIns="0" tIns="0" rIns="0" bIns="0" rtlCol="0" anchor="t"/>
          <a:lstStyle/>
          <a:p>
            <a:pPr>
              <a:spcAft>
                <a:spcPts val="400"/>
              </a:spcAft>
            </a:pPr>
            <a:r>
              <a:rPr lang="en-US" sz="1100" dirty="0">
                <a:solidFill>
                  <a:srgbClr val="333333"/>
                </a:solidFill>
                <a:latin typeface="Arial" pitchFamily="34" charset="0"/>
                <a:ea typeface="Arial" pitchFamily="34" charset="-122"/>
                <a:cs typeface="Arial" pitchFamily="34" charset="-120"/>
              </a:rPr>
              <a:t>Look for bold color contrast between subject and background</a:t>
            </a:r>
            <a:endParaRPr lang="en-US" sz="1100" dirty="0"/>
          </a:p>
          <a:p>
            <a:pPr>
              <a:spcAft>
                <a:spcPts val="400"/>
              </a:spcAft>
            </a:pPr>
            <a:r>
              <a:rPr lang="en-US" sz="1100" dirty="0">
                <a:solidFill>
                  <a:srgbClr val="333333"/>
                </a:solidFill>
                <a:latin typeface="Arial" pitchFamily="34" charset="0"/>
                <a:ea typeface="Arial" pitchFamily="34" charset="-122"/>
                <a:cs typeface="Arial" pitchFamily="34" charset="-120"/>
              </a:rPr>
              <a:t>Complementary pairs: orange and blue, red and green, yellow and purple</a:t>
            </a:r>
            <a:endParaRPr lang="en-US" sz="1100" dirty="0"/>
          </a:p>
          <a:p>
            <a:pPr>
              <a:spcAft>
                <a:spcPts val="400"/>
              </a:spcAft>
            </a:pPr>
            <a:r>
              <a:rPr lang="en-US" sz="1100" dirty="0">
                <a:solidFill>
                  <a:srgbClr val="333333"/>
                </a:solidFill>
                <a:latin typeface="Arial" pitchFamily="34" charset="0"/>
                <a:ea typeface="Arial" pitchFamily="34" charset="-122"/>
                <a:cs typeface="Arial" pitchFamily="34" charset="-120"/>
              </a:rPr>
              <a:t>A desaturated background makes a colorful subject pop harder</a:t>
            </a:r>
            <a:endParaRPr lang="en-US" sz="1100" dirty="0"/>
          </a:p>
          <a:p>
            <a:pPr>
              <a:spcAft>
                <a:spcPts val="400"/>
              </a:spcAft>
            </a:pPr>
            <a:r>
              <a:rPr lang="en-US" sz="1100" dirty="0">
                <a:solidFill>
                  <a:srgbClr val="333333"/>
                </a:solidFill>
                <a:latin typeface="Arial" pitchFamily="34" charset="0"/>
                <a:ea typeface="Arial" pitchFamily="34" charset="-122"/>
                <a:cs typeface="Arial" pitchFamily="34" charset="-120"/>
              </a:rPr>
              <a:t>Golden hour adds warm color naturally to any outdoor session</a:t>
            </a:r>
            <a:endParaRPr lang="en-US" sz="1100" dirty="0"/>
          </a:p>
        </p:txBody>
      </p:sp>
      <p:pic>
        <p:nvPicPr>
          <p:cNvPr id="14" name="Image 1" descr="/home/claude/img_13_color_contrast_cropped.jpg">    </p:cNvPr>
          <p:cNvPicPr>
            <a:picLocks noChangeAspect="1"/>
          </p:cNvPicPr>
          <p:nvPr/>
        </p:nvPicPr>
        <p:blipFill>
          <a:blip r:embed="rId2"/>
          <a:stretch>
            <a:fillRect/>
          </a:stretch>
        </p:blipFill>
        <p:spPr>
          <a:xfrm>
            <a:off x="4800600" y="960120"/>
            <a:ext cx="4114800" cy="3086100"/>
          </a:xfrm>
          <a:prstGeom prst="rect">
            <a:avLst/>
          </a:prstGeom>
        </p:spPr>
      </p:pic>
      <p:sp>
        <p:nvSpPr>
          <p:cNvPr id="15" name="Shape 11"/>
          <p:cNvSpPr/>
          <p:nvPr/>
        </p:nvSpPr>
        <p:spPr>
          <a:xfrm>
            <a:off x="4800600" y="960120"/>
            <a:ext cx="4114800" cy="3086100"/>
          </a:xfrm>
          <a:prstGeom prst="rect">
            <a:avLst/>
          </a:prstGeom>
          <a:ln w="12700">
            <a:solidFill>
              <a:srgbClr val="009999"/>
            </a:solidFill>
            <a:prstDash val="solid"/>
          </a:ln>
        </p:spPr>
      </p:sp>
      <p:sp>
        <p:nvSpPr>
          <p:cNvPr id="16" name="Text 12"/>
          <p:cNvSpPr/>
          <p:nvPr/>
        </p:nvSpPr>
        <p:spPr>
          <a:xfrm>
            <a:off x="201168" y="4919472"/>
            <a:ext cx="5486400" cy="201168"/>
          </a:xfrm>
          <a:prstGeom prst="rect">
            <a:avLst/>
          </a:prstGeom>
          <a:noFill/>
          <a:ln/>
        </p:spPr>
        <p:txBody>
          <a:bodyPr wrap="square" lIns="0" tIns="0" rIns="0" bIns="0" rtlCol="0" anchor="ctr"/>
          <a:lstStyle/>
          <a:p>
            <a:pPr indent="0" marL="0">
              <a:buNone/>
            </a:pPr>
            <a:r>
              <a:rPr lang="en-US" sz="700" dirty="0">
                <a:solidFill>
                  <a:srgbClr val="888888"/>
                </a:solidFill>
                <a:latin typeface="Arial" pitchFamily="34" charset="0"/>
                <a:ea typeface="Arial" pitchFamily="34" charset="-122"/>
                <a:cs typeface="Arial" pitchFamily="34" charset="-120"/>
              </a:rPr>
              <a:t>Pioneer Valley High School  -  Photography 2A</a:t>
            </a:r>
            <a:endParaRPr lang="en-US" sz="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4FAFA"/>
          </a:solidFill>
          <a:ln w="12700">
            <a:solidFill>
              <a:srgbClr val="F4FAFA"/>
            </a:solidFill>
            <a:prstDash val="solid"/>
          </a:ln>
        </p:spPr>
      </p:sp>
      <p:sp>
        <p:nvSpPr>
          <p:cNvPr id="3" name="Shape 1"/>
          <p:cNvSpPr/>
          <p:nvPr/>
        </p:nvSpPr>
        <p:spPr>
          <a:xfrm>
            <a:off x="0" y="0"/>
            <a:ext cx="109728" cy="5143500"/>
          </a:xfrm>
          <a:prstGeom prst="rect">
            <a:avLst/>
          </a:prstGeom>
          <a:solidFill>
            <a:srgbClr val="007474"/>
          </a:solidFill>
          <a:ln w="12700">
            <a:solidFill>
              <a:srgbClr val="007474"/>
            </a:solidFill>
            <a:prstDash val="solid"/>
          </a:ln>
        </p:spPr>
      </p:sp>
      <p:sp>
        <p:nvSpPr>
          <p:cNvPr id="4" name="Shape 2"/>
          <p:cNvSpPr/>
          <p:nvPr/>
        </p:nvSpPr>
        <p:spPr>
          <a:xfrm>
            <a:off x="0" y="0"/>
            <a:ext cx="9144000" cy="640080"/>
          </a:xfrm>
          <a:prstGeom prst="rect">
            <a:avLst/>
          </a:prstGeom>
          <a:solidFill>
            <a:srgbClr val="004444"/>
          </a:solidFill>
          <a:ln w="12700">
            <a:solidFill>
              <a:srgbClr val="004444"/>
            </a:solidFill>
            <a:prstDash val="solid"/>
          </a:ln>
        </p:spPr>
      </p:sp>
      <p:sp>
        <p:nvSpPr>
          <p:cNvPr id="5" name="Text 3"/>
          <p:cNvSpPr/>
          <p:nvPr/>
        </p:nvSpPr>
        <p:spPr>
          <a:xfrm>
            <a:off x="182880" y="0"/>
            <a:ext cx="7772400" cy="64008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CTE Photography 2A  -  Composition Review</a:t>
            </a:r>
            <a:endParaRPr lang="en-US" sz="1100" dirty="0"/>
          </a:p>
        </p:txBody>
      </p:sp>
      <p:pic>
        <p:nvPicPr>
          <p:cNvPr id="6" name="Image 0" descr="/home/claude/PV_LOGO_NEW.png">    </p:cNvPr>
          <p:cNvPicPr>
            <a:picLocks noChangeAspect="1"/>
          </p:cNvPicPr>
          <p:nvPr/>
        </p:nvPicPr>
        <p:blipFill>
          <a:blip r:embed="rId1"/>
          <a:stretch>
            <a:fillRect/>
          </a:stretch>
        </p:blipFill>
        <p:spPr>
          <a:xfrm>
            <a:off x="8138160" y="109728"/>
            <a:ext cx="777240" cy="777240"/>
          </a:xfrm>
          <a:prstGeom prst="rect">
            <a:avLst/>
          </a:prstGeom>
        </p:spPr>
      </p:pic>
      <p:sp>
        <p:nvSpPr>
          <p:cNvPr id="7" name="Shape 4"/>
          <p:cNvSpPr/>
          <p:nvPr/>
        </p:nvSpPr>
        <p:spPr>
          <a:xfrm>
            <a:off x="201168" y="777240"/>
            <a:ext cx="502920" cy="502920"/>
          </a:xfrm>
          <a:prstGeom prst="ellipse">
            <a:avLst/>
          </a:prstGeom>
          <a:solidFill>
            <a:srgbClr val="007474"/>
          </a:solidFill>
          <a:ln w="12700">
            <a:solidFill>
              <a:srgbClr val="007474"/>
            </a:solidFill>
            <a:prstDash val="solid"/>
          </a:ln>
        </p:spPr>
      </p:sp>
      <p:sp>
        <p:nvSpPr>
          <p:cNvPr id="8" name="Text 5"/>
          <p:cNvSpPr/>
          <p:nvPr/>
        </p:nvSpPr>
        <p:spPr>
          <a:xfrm>
            <a:off x="201168" y="7772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14</a:t>
            </a:r>
            <a:endParaRPr lang="en-US" sz="1600" dirty="0"/>
          </a:p>
        </p:txBody>
      </p:sp>
      <p:sp>
        <p:nvSpPr>
          <p:cNvPr id="9" name="Text 6"/>
          <p:cNvSpPr/>
          <p:nvPr/>
        </p:nvSpPr>
        <p:spPr>
          <a:xfrm>
            <a:off x="804672" y="713232"/>
            <a:ext cx="3749040" cy="594360"/>
          </a:xfrm>
          <a:prstGeom prst="rect">
            <a:avLst/>
          </a:prstGeom>
          <a:noFill/>
          <a:ln/>
        </p:spPr>
        <p:txBody>
          <a:bodyPr wrap="square" lIns="0" tIns="0" rIns="0" bIns="0" rtlCol="0" anchor="ctr"/>
          <a:lstStyle/>
          <a:p>
            <a:pPr indent="0" marL="0">
              <a:buNone/>
            </a:pPr>
            <a:r>
              <a:rPr lang="en-US" sz="2400" b="1" dirty="0">
                <a:solidFill>
                  <a:srgbClr val="004444"/>
                </a:solidFill>
                <a:latin typeface="Arial" pitchFamily="34" charset="0"/>
                <a:ea typeface="Arial" pitchFamily="34" charset="-122"/>
                <a:cs typeface="Arial" pitchFamily="34" charset="-120"/>
              </a:rPr>
              <a:t>Rule of Space</a:t>
            </a:r>
            <a:endParaRPr lang="en-US" sz="2400" dirty="0"/>
          </a:p>
        </p:txBody>
      </p:sp>
      <p:sp>
        <p:nvSpPr>
          <p:cNvPr id="10" name="Shape 7"/>
          <p:cNvSpPr/>
          <p:nvPr/>
        </p:nvSpPr>
        <p:spPr>
          <a:xfrm>
            <a:off x="201168" y="1371600"/>
            <a:ext cx="4343400" cy="27432"/>
          </a:xfrm>
          <a:prstGeom prst="rect">
            <a:avLst/>
          </a:prstGeom>
          <a:solidFill>
            <a:srgbClr val="009999"/>
          </a:solidFill>
          <a:ln w="12700">
            <a:solidFill>
              <a:srgbClr val="009999"/>
            </a:solidFill>
            <a:prstDash val="solid"/>
          </a:ln>
        </p:spPr>
      </p:sp>
      <p:sp>
        <p:nvSpPr>
          <p:cNvPr id="11" name="Text 8"/>
          <p:cNvSpPr/>
          <p:nvPr/>
        </p:nvSpPr>
        <p:spPr>
          <a:xfrm>
            <a:off x="201168" y="1463040"/>
            <a:ext cx="4343400" cy="1234440"/>
          </a:xfrm>
          <a:prstGeom prst="rect">
            <a:avLst/>
          </a:prstGeom>
          <a:noFill/>
          <a:ln/>
        </p:spPr>
        <p:txBody>
          <a:bodyPr wrap="square" lIns="0" tIns="0" rIns="0" bIns="0" rtlCol="0" anchor="t"/>
          <a:lstStyle/>
          <a:p>
            <a:pPr indent="0" marL="0">
              <a:buNone/>
            </a:pPr>
            <a:r>
              <a:rPr lang="en-US" sz="1200" dirty="0">
                <a:solidFill>
                  <a:srgbClr val="333333"/>
                </a:solidFill>
                <a:latin typeface="Arial" pitchFamily="34" charset="0"/>
                <a:ea typeface="Arial" pitchFamily="34" charset="-122"/>
                <a:cs typeface="Arial" pitchFamily="34" charset="-120"/>
              </a:rPr>
              <a:t>When your subject is moving or looking in a direction, leave space in front of them in the frame. This is called the rule of space. It gives the subject somewhere to go. Without it, the subject looks like it is about to run into the edge of the frame, which feels uncomfortable.</a:t>
            </a:r>
            <a:endParaRPr lang="en-US" sz="1200" dirty="0"/>
          </a:p>
        </p:txBody>
      </p:sp>
      <p:sp>
        <p:nvSpPr>
          <p:cNvPr id="12" name="Text 9"/>
          <p:cNvSpPr/>
          <p:nvPr/>
        </p:nvSpPr>
        <p:spPr>
          <a:xfrm>
            <a:off x="201168" y="2788920"/>
            <a:ext cx="1097280" cy="256032"/>
          </a:xfrm>
          <a:prstGeom prst="rect">
            <a:avLst/>
          </a:prstGeom>
          <a:noFill/>
          <a:ln/>
        </p:spPr>
        <p:txBody>
          <a:bodyPr wrap="square" lIns="0" tIns="0" rIns="0" bIns="0" rtlCol="0" anchor="ctr"/>
          <a:lstStyle/>
          <a:p>
            <a:pPr indent="0" marL="0">
              <a:buNone/>
            </a:pPr>
            <a:r>
              <a:rPr lang="en-US" sz="800" b="1" dirty="0">
                <a:solidFill>
                  <a:srgbClr val="007474"/>
                </a:solidFill>
                <a:latin typeface="Arial" pitchFamily="34" charset="0"/>
                <a:ea typeface="Arial" pitchFamily="34" charset="-122"/>
                <a:cs typeface="Arial" pitchFamily="34" charset="-120"/>
              </a:rPr>
              <a:t>KEY TIPS</a:t>
            </a:r>
            <a:endParaRPr lang="en-US" sz="800" dirty="0"/>
          </a:p>
        </p:txBody>
      </p:sp>
      <p:sp>
        <p:nvSpPr>
          <p:cNvPr id="13" name="Text 10"/>
          <p:cNvSpPr/>
          <p:nvPr/>
        </p:nvSpPr>
        <p:spPr>
          <a:xfrm>
            <a:off x="201168" y="3063240"/>
            <a:ext cx="4343400" cy="1691640"/>
          </a:xfrm>
          <a:prstGeom prst="rect">
            <a:avLst/>
          </a:prstGeom>
          <a:noFill/>
          <a:ln/>
        </p:spPr>
        <p:txBody>
          <a:bodyPr wrap="square" lIns="0" tIns="0" rIns="0" bIns="0" rtlCol="0" anchor="t"/>
          <a:lstStyle/>
          <a:p>
            <a:pPr>
              <a:spcAft>
                <a:spcPts val="400"/>
              </a:spcAft>
            </a:pPr>
            <a:r>
              <a:rPr lang="en-US" sz="1100" dirty="0">
                <a:solidFill>
                  <a:srgbClr val="333333"/>
                </a:solidFill>
                <a:latin typeface="Arial" pitchFamily="34" charset="0"/>
                <a:ea typeface="Arial" pitchFamily="34" charset="-122"/>
                <a:cs typeface="Arial" pitchFamily="34" charset="-120"/>
              </a:rPr>
              <a:t>Leave more space in front of a moving subject than behind it</a:t>
            </a:r>
            <a:endParaRPr lang="en-US" sz="1100" dirty="0"/>
          </a:p>
          <a:p>
            <a:pPr>
              <a:spcAft>
                <a:spcPts val="400"/>
              </a:spcAft>
            </a:pPr>
            <a:r>
              <a:rPr lang="en-US" sz="1100" dirty="0">
                <a:solidFill>
                  <a:srgbClr val="333333"/>
                </a:solidFill>
                <a:latin typeface="Arial" pitchFamily="34" charset="0"/>
                <a:ea typeface="Arial" pitchFamily="34" charset="-122"/>
                <a:cs typeface="Arial" pitchFamily="34" charset="-120"/>
              </a:rPr>
              <a:t>Works for any subject with a clear direction: runners, cars, birds</a:t>
            </a:r>
            <a:endParaRPr lang="en-US" sz="1100" dirty="0"/>
          </a:p>
          <a:p>
            <a:pPr>
              <a:spcAft>
                <a:spcPts val="400"/>
              </a:spcAft>
            </a:pPr>
            <a:r>
              <a:rPr lang="en-US" sz="1100" dirty="0">
                <a:solidFill>
                  <a:srgbClr val="333333"/>
                </a:solidFill>
                <a:latin typeface="Arial" pitchFamily="34" charset="0"/>
                <a:ea typeface="Arial" pitchFamily="34" charset="-122"/>
                <a:cs typeface="Arial" pitchFamily="34" charset="-120"/>
              </a:rPr>
              <a:t>The same idea applies to a subject that is simply looking off frame</a:t>
            </a:r>
            <a:endParaRPr lang="en-US" sz="1100" dirty="0"/>
          </a:p>
          <a:p>
            <a:pPr>
              <a:spcAft>
                <a:spcPts val="400"/>
              </a:spcAft>
            </a:pPr>
            <a:r>
              <a:rPr lang="en-US" sz="1100" dirty="0">
                <a:solidFill>
                  <a:srgbClr val="333333"/>
                </a:solidFill>
                <a:latin typeface="Arial" pitchFamily="34" charset="0"/>
                <a:ea typeface="Arial" pitchFamily="34" charset="-122"/>
                <a:cs typeface="Arial" pitchFamily="34" charset="-120"/>
              </a:rPr>
              <a:t>Breaking this rule intentionally can create a feeling of tension</a:t>
            </a:r>
            <a:endParaRPr lang="en-US" sz="1100" dirty="0"/>
          </a:p>
        </p:txBody>
      </p:sp>
      <p:pic>
        <p:nvPicPr>
          <p:cNvPr id="14" name="Image 1" descr="/home/claude/img_14_rule_of_space_cropped.jpg">    </p:cNvPr>
          <p:cNvPicPr>
            <a:picLocks noChangeAspect="1"/>
          </p:cNvPicPr>
          <p:nvPr/>
        </p:nvPicPr>
        <p:blipFill>
          <a:blip r:embed="rId2"/>
          <a:stretch>
            <a:fillRect/>
          </a:stretch>
        </p:blipFill>
        <p:spPr>
          <a:xfrm>
            <a:off x="4800600" y="960120"/>
            <a:ext cx="4114800" cy="3086100"/>
          </a:xfrm>
          <a:prstGeom prst="rect">
            <a:avLst/>
          </a:prstGeom>
        </p:spPr>
      </p:pic>
      <p:sp>
        <p:nvSpPr>
          <p:cNvPr id="15" name="Shape 11"/>
          <p:cNvSpPr/>
          <p:nvPr/>
        </p:nvSpPr>
        <p:spPr>
          <a:xfrm>
            <a:off x="4800600" y="960120"/>
            <a:ext cx="4114800" cy="3086100"/>
          </a:xfrm>
          <a:prstGeom prst="rect">
            <a:avLst/>
          </a:prstGeom>
          <a:ln w="12700">
            <a:solidFill>
              <a:srgbClr val="009999"/>
            </a:solidFill>
            <a:prstDash val="solid"/>
          </a:ln>
        </p:spPr>
      </p:sp>
      <p:sp>
        <p:nvSpPr>
          <p:cNvPr id="16" name="Text 12"/>
          <p:cNvSpPr/>
          <p:nvPr/>
        </p:nvSpPr>
        <p:spPr>
          <a:xfrm>
            <a:off x="201168" y="4919472"/>
            <a:ext cx="5486400" cy="201168"/>
          </a:xfrm>
          <a:prstGeom prst="rect">
            <a:avLst/>
          </a:prstGeom>
          <a:noFill/>
          <a:ln/>
        </p:spPr>
        <p:txBody>
          <a:bodyPr wrap="square" lIns="0" tIns="0" rIns="0" bIns="0" rtlCol="0" anchor="ctr"/>
          <a:lstStyle/>
          <a:p>
            <a:pPr indent="0" marL="0">
              <a:buNone/>
            </a:pPr>
            <a:r>
              <a:rPr lang="en-US" sz="700" dirty="0">
                <a:solidFill>
                  <a:srgbClr val="888888"/>
                </a:solidFill>
                <a:latin typeface="Arial" pitchFamily="34" charset="0"/>
                <a:ea typeface="Arial" pitchFamily="34" charset="-122"/>
                <a:cs typeface="Arial" pitchFamily="34" charset="-120"/>
              </a:rPr>
              <a:t>Pioneer Valley High School  -  Photography 2A</a:t>
            </a:r>
            <a:endParaRPr lang="en-US" sz="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4FAFA"/>
          </a:solidFill>
          <a:ln w="12700">
            <a:solidFill>
              <a:srgbClr val="F4FAFA"/>
            </a:solidFill>
            <a:prstDash val="solid"/>
          </a:ln>
        </p:spPr>
      </p:sp>
      <p:sp>
        <p:nvSpPr>
          <p:cNvPr id="3" name="Shape 1"/>
          <p:cNvSpPr/>
          <p:nvPr/>
        </p:nvSpPr>
        <p:spPr>
          <a:xfrm>
            <a:off x="0" y="0"/>
            <a:ext cx="109728" cy="5143500"/>
          </a:xfrm>
          <a:prstGeom prst="rect">
            <a:avLst/>
          </a:prstGeom>
          <a:solidFill>
            <a:srgbClr val="007474"/>
          </a:solidFill>
          <a:ln w="12700">
            <a:solidFill>
              <a:srgbClr val="007474"/>
            </a:solidFill>
            <a:prstDash val="solid"/>
          </a:ln>
        </p:spPr>
      </p:sp>
      <p:sp>
        <p:nvSpPr>
          <p:cNvPr id="4" name="Shape 2"/>
          <p:cNvSpPr/>
          <p:nvPr/>
        </p:nvSpPr>
        <p:spPr>
          <a:xfrm>
            <a:off x="0" y="0"/>
            <a:ext cx="9144000" cy="640080"/>
          </a:xfrm>
          <a:prstGeom prst="rect">
            <a:avLst/>
          </a:prstGeom>
          <a:solidFill>
            <a:srgbClr val="004444"/>
          </a:solidFill>
          <a:ln w="12700">
            <a:solidFill>
              <a:srgbClr val="004444"/>
            </a:solidFill>
            <a:prstDash val="solid"/>
          </a:ln>
        </p:spPr>
      </p:sp>
      <p:sp>
        <p:nvSpPr>
          <p:cNvPr id="5" name="Text 3"/>
          <p:cNvSpPr/>
          <p:nvPr/>
        </p:nvSpPr>
        <p:spPr>
          <a:xfrm>
            <a:off x="182880" y="0"/>
            <a:ext cx="7772400" cy="64008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CTE Photography 2A  -  Composition Review</a:t>
            </a:r>
            <a:endParaRPr lang="en-US" sz="1100" dirty="0"/>
          </a:p>
        </p:txBody>
      </p:sp>
      <p:pic>
        <p:nvPicPr>
          <p:cNvPr id="6" name="Image 0" descr="/home/claude/PV_LOGO_NEW.png">    </p:cNvPr>
          <p:cNvPicPr>
            <a:picLocks noChangeAspect="1"/>
          </p:cNvPicPr>
          <p:nvPr/>
        </p:nvPicPr>
        <p:blipFill>
          <a:blip r:embed="rId1"/>
          <a:stretch>
            <a:fillRect/>
          </a:stretch>
        </p:blipFill>
        <p:spPr>
          <a:xfrm>
            <a:off x="8138160" y="109728"/>
            <a:ext cx="777240" cy="777240"/>
          </a:xfrm>
          <a:prstGeom prst="rect">
            <a:avLst/>
          </a:prstGeom>
        </p:spPr>
      </p:pic>
      <p:sp>
        <p:nvSpPr>
          <p:cNvPr id="7" name="Shape 4"/>
          <p:cNvSpPr/>
          <p:nvPr/>
        </p:nvSpPr>
        <p:spPr>
          <a:xfrm>
            <a:off x="201168" y="777240"/>
            <a:ext cx="502920" cy="502920"/>
          </a:xfrm>
          <a:prstGeom prst="ellipse">
            <a:avLst/>
          </a:prstGeom>
          <a:solidFill>
            <a:srgbClr val="007474"/>
          </a:solidFill>
          <a:ln w="12700">
            <a:solidFill>
              <a:srgbClr val="007474"/>
            </a:solidFill>
            <a:prstDash val="solid"/>
          </a:ln>
        </p:spPr>
      </p:sp>
      <p:sp>
        <p:nvSpPr>
          <p:cNvPr id="8" name="Text 5"/>
          <p:cNvSpPr/>
          <p:nvPr/>
        </p:nvSpPr>
        <p:spPr>
          <a:xfrm>
            <a:off x="201168" y="7772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15</a:t>
            </a:r>
            <a:endParaRPr lang="en-US" sz="1600" dirty="0"/>
          </a:p>
        </p:txBody>
      </p:sp>
      <p:sp>
        <p:nvSpPr>
          <p:cNvPr id="9" name="Text 6"/>
          <p:cNvSpPr/>
          <p:nvPr/>
        </p:nvSpPr>
        <p:spPr>
          <a:xfrm>
            <a:off x="804672" y="713232"/>
            <a:ext cx="3749040" cy="594360"/>
          </a:xfrm>
          <a:prstGeom prst="rect">
            <a:avLst/>
          </a:prstGeom>
          <a:noFill/>
          <a:ln/>
        </p:spPr>
        <p:txBody>
          <a:bodyPr wrap="square" lIns="0" tIns="0" rIns="0" bIns="0" rtlCol="0" anchor="ctr"/>
          <a:lstStyle/>
          <a:p>
            <a:pPr indent="0" marL="0">
              <a:buNone/>
            </a:pPr>
            <a:r>
              <a:rPr lang="en-US" sz="2400" b="1" dirty="0">
                <a:solidFill>
                  <a:srgbClr val="004444"/>
                </a:solidFill>
                <a:latin typeface="Arial" pitchFamily="34" charset="0"/>
                <a:ea typeface="Arial" pitchFamily="34" charset="-122"/>
                <a:cs typeface="Arial" pitchFamily="34" charset="-120"/>
              </a:rPr>
              <a:t>Visual Weight and Balance</a:t>
            </a:r>
            <a:endParaRPr lang="en-US" sz="2400" dirty="0"/>
          </a:p>
        </p:txBody>
      </p:sp>
      <p:sp>
        <p:nvSpPr>
          <p:cNvPr id="10" name="Shape 7"/>
          <p:cNvSpPr/>
          <p:nvPr/>
        </p:nvSpPr>
        <p:spPr>
          <a:xfrm>
            <a:off x="201168" y="1371600"/>
            <a:ext cx="4343400" cy="27432"/>
          </a:xfrm>
          <a:prstGeom prst="rect">
            <a:avLst/>
          </a:prstGeom>
          <a:solidFill>
            <a:srgbClr val="009999"/>
          </a:solidFill>
          <a:ln w="12700">
            <a:solidFill>
              <a:srgbClr val="009999"/>
            </a:solidFill>
            <a:prstDash val="solid"/>
          </a:ln>
        </p:spPr>
      </p:sp>
      <p:sp>
        <p:nvSpPr>
          <p:cNvPr id="11" name="Text 8"/>
          <p:cNvSpPr/>
          <p:nvPr/>
        </p:nvSpPr>
        <p:spPr>
          <a:xfrm>
            <a:off x="201168" y="1463040"/>
            <a:ext cx="4343400" cy="1234440"/>
          </a:xfrm>
          <a:prstGeom prst="rect">
            <a:avLst/>
          </a:prstGeom>
          <a:noFill/>
          <a:ln/>
        </p:spPr>
        <p:txBody>
          <a:bodyPr wrap="square" lIns="0" tIns="0" rIns="0" bIns="0" rtlCol="0" anchor="t"/>
          <a:lstStyle/>
          <a:p>
            <a:pPr indent="0" marL="0">
              <a:buNone/>
            </a:pPr>
            <a:r>
              <a:rPr lang="en-US" sz="1200" dirty="0">
                <a:solidFill>
                  <a:srgbClr val="333333"/>
                </a:solidFill>
                <a:latin typeface="Arial" pitchFamily="34" charset="0"/>
                <a:ea typeface="Arial" pitchFamily="34" charset="-122"/>
                <a:cs typeface="Arial" pitchFamily="34" charset="-120"/>
              </a:rPr>
              <a:t>Visual weight is how much attention a part of your frame pulls. Large, bright, sharp, or colorful things carry more visual weight than small, dark, or blurry things. A well-balanced photo distributes that weight so no single area feels too heavy. Balance does not have to mean symmetry.</a:t>
            </a:r>
            <a:endParaRPr lang="en-US" sz="1200" dirty="0"/>
          </a:p>
        </p:txBody>
      </p:sp>
      <p:sp>
        <p:nvSpPr>
          <p:cNvPr id="12" name="Text 9"/>
          <p:cNvSpPr/>
          <p:nvPr/>
        </p:nvSpPr>
        <p:spPr>
          <a:xfrm>
            <a:off x="201168" y="2788920"/>
            <a:ext cx="1097280" cy="256032"/>
          </a:xfrm>
          <a:prstGeom prst="rect">
            <a:avLst/>
          </a:prstGeom>
          <a:noFill/>
          <a:ln/>
        </p:spPr>
        <p:txBody>
          <a:bodyPr wrap="square" lIns="0" tIns="0" rIns="0" bIns="0" rtlCol="0" anchor="ctr"/>
          <a:lstStyle/>
          <a:p>
            <a:pPr indent="0" marL="0">
              <a:buNone/>
            </a:pPr>
            <a:r>
              <a:rPr lang="en-US" sz="800" b="1" dirty="0">
                <a:solidFill>
                  <a:srgbClr val="007474"/>
                </a:solidFill>
                <a:latin typeface="Arial" pitchFamily="34" charset="0"/>
                <a:ea typeface="Arial" pitchFamily="34" charset="-122"/>
                <a:cs typeface="Arial" pitchFamily="34" charset="-120"/>
              </a:rPr>
              <a:t>KEY TIPS</a:t>
            </a:r>
            <a:endParaRPr lang="en-US" sz="800" dirty="0"/>
          </a:p>
        </p:txBody>
      </p:sp>
      <p:sp>
        <p:nvSpPr>
          <p:cNvPr id="13" name="Text 10"/>
          <p:cNvSpPr/>
          <p:nvPr/>
        </p:nvSpPr>
        <p:spPr>
          <a:xfrm>
            <a:off x="201168" y="3063240"/>
            <a:ext cx="4343400" cy="1691640"/>
          </a:xfrm>
          <a:prstGeom prst="rect">
            <a:avLst/>
          </a:prstGeom>
          <a:noFill/>
          <a:ln/>
        </p:spPr>
        <p:txBody>
          <a:bodyPr wrap="square" lIns="0" tIns="0" rIns="0" bIns="0" rtlCol="0" anchor="t"/>
          <a:lstStyle/>
          <a:p>
            <a:pPr>
              <a:spcAft>
                <a:spcPts val="400"/>
              </a:spcAft>
            </a:pPr>
            <a:r>
              <a:rPr lang="en-US" sz="1100" dirty="0">
                <a:solidFill>
                  <a:srgbClr val="333333"/>
                </a:solidFill>
                <a:latin typeface="Arial" pitchFamily="34" charset="0"/>
                <a:ea typeface="Arial" pitchFamily="34" charset="-122"/>
                <a:cs typeface="Arial" pitchFamily="34" charset="-120"/>
              </a:rPr>
              <a:t>A small bright object can balance a large dark one</a:t>
            </a:r>
            <a:endParaRPr lang="en-US" sz="1100" dirty="0"/>
          </a:p>
          <a:p>
            <a:pPr>
              <a:spcAft>
                <a:spcPts val="400"/>
              </a:spcAft>
            </a:pPr>
            <a:r>
              <a:rPr lang="en-US" sz="1100" dirty="0">
                <a:solidFill>
                  <a:srgbClr val="333333"/>
                </a:solidFill>
                <a:latin typeface="Arial" pitchFamily="34" charset="0"/>
                <a:ea typeface="Arial" pitchFamily="34" charset="-122"/>
                <a:cs typeface="Arial" pitchFamily="34" charset="-120"/>
              </a:rPr>
              <a:t>Sharp subjects carry more weight than blurry backgrounds</a:t>
            </a:r>
            <a:endParaRPr lang="en-US" sz="1100" dirty="0"/>
          </a:p>
          <a:p>
            <a:pPr>
              <a:spcAft>
                <a:spcPts val="400"/>
              </a:spcAft>
            </a:pPr>
            <a:r>
              <a:rPr lang="en-US" sz="1100" dirty="0">
                <a:solidFill>
                  <a:srgbClr val="333333"/>
                </a:solidFill>
                <a:latin typeface="Arial" pitchFamily="34" charset="0"/>
                <a:ea typeface="Arial" pitchFamily="34" charset="-122"/>
                <a:cs typeface="Arial" pitchFamily="34" charset="-120"/>
              </a:rPr>
              <a:t>Warm colors feel heavier than cool colors of the same size</a:t>
            </a:r>
            <a:endParaRPr lang="en-US" sz="1100" dirty="0"/>
          </a:p>
          <a:p>
            <a:pPr>
              <a:spcAft>
                <a:spcPts val="400"/>
              </a:spcAft>
            </a:pPr>
            <a:r>
              <a:rPr lang="en-US" sz="1100" dirty="0">
                <a:solidFill>
                  <a:srgbClr val="333333"/>
                </a:solidFill>
                <a:latin typeface="Arial" pitchFamily="34" charset="0"/>
                <a:ea typeface="Arial" pitchFamily="34" charset="-122"/>
                <a:cs typeface="Arial" pitchFamily="34" charset="-120"/>
              </a:rPr>
              <a:t>Step back and look at your whole frame before you capture the image</a:t>
            </a:r>
            <a:endParaRPr lang="en-US" sz="1100" dirty="0"/>
          </a:p>
        </p:txBody>
      </p:sp>
      <p:pic>
        <p:nvPicPr>
          <p:cNvPr id="14" name="Image 1" descr="/home/claude/img_15_balance_cropped.jpg">    </p:cNvPr>
          <p:cNvPicPr>
            <a:picLocks noChangeAspect="1"/>
          </p:cNvPicPr>
          <p:nvPr/>
        </p:nvPicPr>
        <p:blipFill>
          <a:blip r:embed="rId2"/>
          <a:stretch>
            <a:fillRect/>
          </a:stretch>
        </p:blipFill>
        <p:spPr>
          <a:xfrm>
            <a:off x="4800600" y="960120"/>
            <a:ext cx="4114800" cy="3086100"/>
          </a:xfrm>
          <a:prstGeom prst="rect">
            <a:avLst/>
          </a:prstGeom>
        </p:spPr>
      </p:pic>
      <p:sp>
        <p:nvSpPr>
          <p:cNvPr id="15" name="Shape 11"/>
          <p:cNvSpPr/>
          <p:nvPr/>
        </p:nvSpPr>
        <p:spPr>
          <a:xfrm>
            <a:off x="4800600" y="960120"/>
            <a:ext cx="4114800" cy="3086100"/>
          </a:xfrm>
          <a:prstGeom prst="rect">
            <a:avLst/>
          </a:prstGeom>
          <a:ln w="12700">
            <a:solidFill>
              <a:srgbClr val="009999"/>
            </a:solidFill>
            <a:prstDash val="solid"/>
          </a:ln>
        </p:spPr>
      </p:sp>
      <p:sp>
        <p:nvSpPr>
          <p:cNvPr id="16" name="Text 12"/>
          <p:cNvSpPr/>
          <p:nvPr/>
        </p:nvSpPr>
        <p:spPr>
          <a:xfrm>
            <a:off x="201168" y="4919472"/>
            <a:ext cx="5486400" cy="201168"/>
          </a:xfrm>
          <a:prstGeom prst="rect">
            <a:avLst/>
          </a:prstGeom>
          <a:noFill/>
          <a:ln/>
        </p:spPr>
        <p:txBody>
          <a:bodyPr wrap="square" lIns="0" tIns="0" rIns="0" bIns="0" rtlCol="0" anchor="ctr"/>
          <a:lstStyle/>
          <a:p>
            <a:pPr indent="0" marL="0">
              <a:buNone/>
            </a:pPr>
            <a:r>
              <a:rPr lang="en-US" sz="700" dirty="0">
                <a:solidFill>
                  <a:srgbClr val="888888"/>
                </a:solidFill>
                <a:latin typeface="Arial" pitchFamily="34" charset="0"/>
                <a:ea typeface="Arial" pitchFamily="34" charset="-122"/>
                <a:cs typeface="Arial" pitchFamily="34" charset="-120"/>
              </a:rPr>
              <a:t>Pioneer Valley High School  -  Photography 2A</a:t>
            </a:r>
            <a:endParaRPr lang="en-US" sz="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04444"/>
          </a:solidFill>
          <a:ln w="12700">
            <a:solidFill>
              <a:srgbClr val="004444"/>
            </a:solidFill>
            <a:prstDash val="solid"/>
          </a:ln>
        </p:spPr>
      </p:sp>
      <p:sp>
        <p:nvSpPr>
          <p:cNvPr id="3" name="Shape 1"/>
          <p:cNvSpPr/>
          <p:nvPr/>
        </p:nvSpPr>
        <p:spPr>
          <a:xfrm>
            <a:off x="0" y="0"/>
            <a:ext cx="164592" cy="5143500"/>
          </a:xfrm>
          <a:prstGeom prst="rect">
            <a:avLst/>
          </a:prstGeom>
          <a:solidFill>
            <a:srgbClr val="009999"/>
          </a:solidFill>
          <a:ln w="12700">
            <a:solidFill>
              <a:srgbClr val="009999"/>
            </a:solidFill>
            <a:prstDash val="solid"/>
          </a:ln>
        </p:spPr>
      </p:sp>
      <p:pic>
        <p:nvPicPr>
          <p:cNvPr id="4" name="Image 0" descr="/home/claude/PV_LOGO_NEW.png">    </p:cNvPr>
          <p:cNvPicPr>
            <a:picLocks noChangeAspect="1"/>
          </p:cNvPicPr>
          <p:nvPr/>
        </p:nvPicPr>
        <p:blipFill>
          <a:blip r:embed="rId1"/>
          <a:stretch>
            <a:fillRect/>
          </a:stretch>
        </p:blipFill>
        <p:spPr>
          <a:xfrm>
            <a:off x="3749040" y="457200"/>
            <a:ext cx="1645920" cy="1645920"/>
          </a:xfrm>
          <a:prstGeom prst="rect">
            <a:avLst/>
          </a:prstGeom>
        </p:spPr>
      </p:pic>
      <p:sp>
        <p:nvSpPr>
          <p:cNvPr id="5" name="Text 2"/>
          <p:cNvSpPr/>
          <p:nvPr/>
        </p:nvSpPr>
        <p:spPr>
          <a:xfrm>
            <a:off x="457200" y="2286000"/>
            <a:ext cx="8229600" cy="1097280"/>
          </a:xfrm>
          <a:prstGeom prst="rect">
            <a:avLst/>
          </a:prstGeom>
          <a:noFill/>
          <a:ln/>
        </p:spPr>
        <p:txBody>
          <a:bodyPr wrap="square" lIns="0" tIns="0" rIns="0" bIns="0" rtlCol="0" anchor="ctr"/>
          <a:lstStyle/>
          <a:p>
            <a:pPr algn="ctr" indent="0" marL="0">
              <a:buNone/>
            </a:pPr>
            <a:r>
              <a:rPr lang="en-US" sz="4800" b="1" dirty="0">
                <a:solidFill>
                  <a:srgbClr val="FFFFFF"/>
                </a:solidFill>
                <a:latin typeface="Arial" pitchFamily="34" charset="0"/>
                <a:ea typeface="Arial" pitchFamily="34" charset="-122"/>
                <a:cs typeface="Arial" pitchFamily="34" charset="-120"/>
              </a:rPr>
              <a:t>Now go capture.</a:t>
            </a:r>
            <a:endParaRPr lang="en-US" sz="4800" dirty="0"/>
          </a:p>
        </p:txBody>
      </p:sp>
      <p:sp>
        <p:nvSpPr>
          <p:cNvPr id="6" name="Text 3"/>
          <p:cNvSpPr/>
          <p:nvPr/>
        </p:nvSpPr>
        <p:spPr>
          <a:xfrm>
            <a:off x="914400" y="3337560"/>
            <a:ext cx="7315200" cy="502920"/>
          </a:xfrm>
          <a:prstGeom prst="rect">
            <a:avLst/>
          </a:prstGeom>
          <a:noFill/>
          <a:ln/>
        </p:spPr>
        <p:txBody>
          <a:bodyPr wrap="square" lIns="0" tIns="0" rIns="0" bIns="0" rtlCol="0" anchor="ctr"/>
          <a:lstStyle/>
          <a:p>
            <a:pPr algn="ctr" indent="0" marL="0">
              <a:buNone/>
            </a:pPr>
            <a:r>
              <a:rPr lang="en-US" sz="1200" dirty="0">
                <a:solidFill>
                  <a:srgbClr val="009999"/>
                </a:solidFill>
                <a:latin typeface="Arial" pitchFamily="34" charset="0"/>
                <a:ea typeface="Arial" pitchFamily="34" charset="-122"/>
                <a:cs typeface="Arial" pitchFamily="34" charset="-120"/>
              </a:rPr>
              <a:t>Rules are tools. The best photographers know when to use them and when to break them.</a:t>
            </a:r>
            <a:endParaRPr lang="en-US" sz="1200" dirty="0"/>
          </a:p>
        </p:txBody>
      </p:sp>
      <p:sp>
        <p:nvSpPr>
          <p:cNvPr id="7" name="Text 4"/>
          <p:cNvSpPr/>
          <p:nvPr/>
        </p:nvSpPr>
        <p:spPr>
          <a:xfrm>
            <a:off x="457200" y="4846320"/>
            <a:ext cx="8229600" cy="228600"/>
          </a:xfrm>
          <a:prstGeom prst="rect">
            <a:avLst/>
          </a:prstGeom>
          <a:noFill/>
          <a:ln/>
        </p:spPr>
        <p:txBody>
          <a:bodyPr wrap="square" lIns="0" tIns="0" rIns="0" bIns="0" rtlCol="0" anchor="ctr"/>
          <a:lstStyle/>
          <a:p>
            <a:pPr algn="ctr" indent="0" marL="0">
              <a:buNone/>
            </a:pPr>
            <a:r>
              <a:rPr lang="en-US" sz="700" dirty="0">
                <a:solidFill>
                  <a:srgbClr val="888888"/>
                </a:solidFill>
                <a:latin typeface="Arial" pitchFamily="34" charset="0"/>
                <a:ea typeface="Arial" pitchFamily="34" charset="-122"/>
                <a:cs typeface="Arial" pitchFamily="34" charset="-120"/>
              </a:rPr>
              <a:t>Pioneer Valley High School  -  Photography 2A  -  Composition Review</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2026-08-18T18:41:17Z</dcterms:created>
  <dcterms:modified xsi:type="dcterms:W3CDTF">2026-08-18T18:41:17Z</dcterms:modified>
</cp:coreProperties>
</file>