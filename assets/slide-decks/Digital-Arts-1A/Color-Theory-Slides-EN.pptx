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71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ARTS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Language of Color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colors feel exciting?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others feel calm?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brand choose green over red?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Mr. Silva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1DA4B7-C6A5-2987-89F8-304A5AE8DB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00013" y="160020"/>
            <a:ext cx="1401582" cy="1514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7432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685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108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"Color is the first thing people notice about a design."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 is a set of rules that helps artists and designers use color on purpose.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234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just picking colors you like, color theory gives you a system. It helps you choose colors that work together, send a message, and make people feel something.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4904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Painters have used color rules for centuries.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58968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58968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50408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pick colors that match a brand's message.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68896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68896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use color to make you feel and buy.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Wheel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color you will ever use starts here.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three starting colors. You cannot mix other colors to make them.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" y="3337560"/>
            <a:ext cx="502920" cy="502920"/>
          </a:xfrm>
          <a:prstGeom prst="ellipse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55064" y="3337560"/>
            <a:ext cx="502920" cy="502920"/>
          </a:xfrm>
          <a:prstGeom prst="ellipse">
            <a:avLst/>
          </a:prstGeom>
          <a:solidFill>
            <a:srgbClr val="00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Yellow  Blue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747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Colors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two primary colors together and you get a secondary color.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337560"/>
            <a:ext cx="502920" cy="502920"/>
          </a:xfrm>
          <a:prstGeom prst="ellipse">
            <a:avLst/>
          </a:prstGeom>
          <a:solidFill>
            <a:srgbClr val="FF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50792" y="3337560"/>
            <a:ext cx="502920" cy="502920"/>
          </a:xfrm>
          <a:prstGeom prst="ellipse">
            <a:avLst/>
          </a:prstGeom>
          <a:solidFill>
            <a:srgbClr val="0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3337560"/>
            <a:ext cx="502920" cy="502920"/>
          </a:xfrm>
          <a:prstGeom prst="ellipse">
            <a:avLst/>
          </a:prstGeom>
          <a:solidFill>
            <a:srgbClr val="7F00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47472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 Green  Purple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Colors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 primary and a secondary color to get a tertiary color. There are six of them.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337560"/>
            <a:ext cx="347472" cy="347472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67144" y="3337560"/>
            <a:ext cx="347472" cy="347472"/>
          </a:xfrm>
          <a:prstGeom prst="ellipse">
            <a:avLst/>
          </a:prstGeom>
          <a:solidFill>
            <a:srgbClr val="CCC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87768" y="3337560"/>
            <a:ext cx="347472" cy="347472"/>
          </a:xfrm>
          <a:prstGeom prst="ellipse">
            <a:avLst/>
          </a:prstGeom>
          <a:solidFill>
            <a:srgbClr val="007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08392" y="3337560"/>
            <a:ext cx="347472" cy="347472"/>
          </a:xfrm>
          <a:prstGeom prst="ellipse">
            <a:avLst/>
          </a:prstGeom>
          <a:solidFill>
            <a:srgbClr val="003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29016" y="3337560"/>
            <a:ext cx="347472" cy="347472"/>
          </a:xfrm>
          <a:prstGeom prst="ellipse">
            <a:avLst/>
          </a:prstGeom>
          <a:solidFill>
            <a:srgbClr val="4B0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49640" y="3337560"/>
            <a:ext cx="347472" cy="347472"/>
          </a:xfrm>
          <a:prstGeom prst="ellipse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4652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Red-Orange  Yellow-Green  Blue-Green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Color Relationships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Colors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2618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colors sit directly across from each other on the color wheel. Together they create strong contrast and make each other look brighter.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325880" cy="100584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2057400"/>
            <a:ext cx="1325880" cy="1005840"/>
          </a:xfrm>
          <a:prstGeom prst="rect">
            <a:avLst/>
          </a:prstGeom>
          <a:solidFill>
            <a:srgbClr val="00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+  Green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Stop signs &amp; holiday decorations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2057400"/>
            <a:ext cx="1325880" cy="1005840"/>
          </a:xfrm>
          <a:prstGeom prst="rect">
            <a:avLst/>
          </a:prstGeom>
          <a:solidFill>
            <a:srgbClr val="000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2057400"/>
            <a:ext cx="1325880" cy="1005840"/>
          </a:xfrm>
          <a:prstGeom prst="rect">
            <a:avLst/>
          </a:prstGeom>
          <a:solidFill>
            <a:srgbClr val="FF8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319272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 +  Orange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19272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Sports teams, bold posters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057400"/>
            <a:ext cx="1325880" cy="1005840"/>
          </a:xfrm>
          <a:prstGeom prst="rect">
            <a:avLst/>
          </a:prstGeom>
          <a:solidFill>
            <a:srgbClr val="990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15784" y="2057400"/>
            <a:ext cx="1325880" cy="1005840"/>
          </a:xfrm>
          <a:prstGeom prst="rect">
            <a:avLst/>
          </a:prstGeom>
          <a:solidFill>
            <a:srgbClr val="88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81344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 +  Yellow-Green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Grape packaging, energy drinks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Color Relationships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Colors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931920" cy="3337560"/>
          </a:xfrm>
          <a:prstGeom prst="roundRect">
            <a:avLst>
              <a:gd name="adj" fmla="val 411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colors are colors that sit next to each other on the color wheel. They always look good together because they are related.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sunset. Orange, red, and yellow are all next to each other. That is why it looks so beautiful.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analogous colors when you want a design to feel calm, natural, and peaceful.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Palette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914400" cy="59436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828800"/>
            <a:ext cx="914400" cy="594360"/>
          </a:xfrm>
          <a:prstGeom prst="rect">
            <a:avLst/>
          </a:prstGeom>
          <a:solidFill>
            <a:srgbClr val="FF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914400" cy="594360"/>
          </a:xfrm>
          <a:prstGeom prst="rect">
            <a:avLst/>
          </a:prstGeom>
          <a:solidFill>
            <a:srgbClr val="FFB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52360" y="1828800"/>
            <a:ext cx="914400" cy="59436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Palette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914400" cy="5943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32120" y="3017520"/>
            <a:ext cx="914400" cy="594360"/>
          </a:xfrm>
          <a:prstGeom prst="rect">
            <a:avLst/>
          </a:prstGeom>
          <a:solidFill>
            <a:srgbClr val="0055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914400" cy="594360"/>
          </a:xfrm>
          <a:prstGeom prst="rect">
            <a:avLst/>
          </a:prstGeom>
          <a:solidFill>
            <a:srgbClr val="00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3017520"/>
            <a:ext cx="914400" cy="594360"/>
          </a:xfrm>
          <a:prstGeom prst="rect">
            <a:avLst/>
          </a:prstGeom>
          <a:solidFill>
            <a:srgbClr val="00A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Palette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206240"/>
            <a:ext cx="914400" cy="594360"/>
          </a:xfrm>
          <a:prstGeom prst="rect">
            <a:avLst/>
          </a:prstGeom>
          <a:solidFill>
            <a:srgbClr val="1A4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32120" y="4206240"/>
            <a:ext cx="914400" cy="594360"/>
          </a:xfrm>
          <a:prstGeom prst="rect">
            <a:avLst/>
          </a:prstGeom>
          <a:solidFill>
            <a:srgbClr val="2D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206240"/>
            <a:ext cx="914400" cy="594360"/>
          </a:xfrm>
          <a:prstGeom prst="rect">
            <a:avLst/>
          </a:prstGeom>
          <a:solidFill>
            <a:srgbClr val="44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52360" y="4206240"/>
            <a:ext cx="914400" cy="594360"/>
          </a:xfrm>
          <a:prstGeom prst="rect">
            <a:avLst/>
          </a:prstGeom>
          <a:solidFill>
            <a:srgbClr val="66CC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|  Color Relationships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Triadic Colors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colors spaced equally around the color wheel. Bold, balanced, and energetic.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1188720" cy="118872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716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1188720" cy="118872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4048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200400"/>
            <a:ext cx="1188720" cy="118872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60604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Primary Triad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3017520" cy="3383280"/>
          </a:xfrm>
          <a:prstGeom prst="roundRect">
            <a:avLst>
              <a:gd name="adj" fmla="val 4545"/>
            </a:avLst>
          </a:prstGeom>
          <a:solidFill>
            <a:srgbClr val="E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4360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triadic colors: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you want your design to feel exciting and bold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700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posters, logos, or social media graphics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32841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you need all three colors to stand out equally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98678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kids brands, sports, and games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palette is a small set of colors a designer picks and uses everywhere in a project.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Monochromatic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04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color in many shades. Very clean and professional.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965960"/>
            <a:ext cx="1097280" cy="685800"/>
          </a:xfrm>
          <a:prstGeom prst="rect">
            <a:avLst/>
          </a:prstGeom>
          <a:solidFill>
            <a:srgbClr val="001A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1097280" cy="685800"/>
          </a:xfrm>
          <a:prstGeom prst="rect">
            <a:avLst/>
          </a:prstGeom>
          <a:solidFill>
            <a:srgbClr val="003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94960" y="1965960"/>
            <a:ext cx="1097280" cy="68580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965960"/>
            <a:ext cx="1097280" cy="685800"/>
          </a:xfrm>
          <a:prstGeom prst="rect">
            <a:avLst/>
          </a:prstGeom>
          <a:solidFill>
            <a:srgbClr val="3399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0" y="1965960"/>
            <a:ext cx="1097280" cy="685800"/>
          </a:xfrm>
          <a:prstGeom prst="rect">
            <a:avLst/>
          </a:prstGeom>
          <a:solidFill>
            <a:srgbClr val="99C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8361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201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opposite colors. High energy and contrast.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881860"/>
            <a:ext cx="1097280" cy="685800"/>
          </a:xfrm>
          <a:prstGeom prst="rect">
            <a:avLst/>
          </a:prstGeom>
          <a:solidFill>
            <a:srgbClr val="00339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2881860"/>
            <a:ext cx="1097280" cy="685800"/>
          </a:xfrm>
          <a:prstGeom prst="rect">
            <a:avLst/>
          </a:prstGeom>
          <a:solidFill>
            <a:srgbClr val="0055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2881860"/>
            <a:ext cx="1097280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2881860"/>
            <a:ext cx="1097280" cy="685800"/>
          </a:xfrm>
          <a:prstGeom prst="rect">
            <a:avLst/>
          </a:prstGeom>
          <a:solidFill>
            <a:srgbClr val="FF88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0" y="2881860"/>
            <a:ext cx="1097280" cy="685800"/>
          </a:xfrm>
          <a:prstGeom prst="rect">
            <a:avLst/>
          </a:prstGeom>
          <a:solidFill>
            <a:srgbClr val="FFAA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3752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+ Accent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36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background colors with one bold pop of color.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379776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0" y="3797760"/>
            <a:ext cx="10972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0" y="3797760"/>
            <a:ext cx="1097280" cy="68580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83680" y="3797760"/>
            <a:ext cx="10972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0" y="3797760"/>
            <a:ext cx="1097280" cy="685800"/>
          </a:xfrm>
          <a:prstGeom prst="rect">
            <a:avLst/>
          </a:prstGeom>
          <a:solidFill>
            <a:srgbClr val="FF33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681287"/>
            <a:ext cx="8412480" cy="317395"/>
          </a:xfrm>
          <a:prstGeom prst="roundRect">
            <a:avLst>
              <a:gd name="adj" fmla="val 19048"/>
            </a:avLst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0080" y="4721453"/>
            <a:ext cx="8046720" cy="26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Pick 3 to 5 colors and stick to them. Using too many colors makes a design look messy.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Psychology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make you feel things. Smart designers use this on purpose.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606040" cy="21031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 |  Urgency  |  Power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YouTube, Target, Coca-Cola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FF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847088"/>
            <a:ext cx="2606040" cy="210312"/>
          </a:xfrm>
          <a:prstGeom prst="rect">
            <a:avLst/>
          </a:prstGeom>
          <a:solidFill>
            <a:srgbClr val="FF7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29184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 |  Warmth  |  Creativity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Amazon, Fanta, Nickelodeon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847088"/>
            <a:ext cx="2606040" cy="210312"/>
          </a:xfrm>
          <a:prstGeom prst="rect">
            <a:avLst/>
          </a:prstGeom>
          <a:solidFill>
            <a:srgbClr val="CC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2648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 |  Attention  |  Caution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McDonald's, IKEA, Snapchat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1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538728"/>
            <a:ext cx="2606040" cy="210312"/>
          </a:xfrm>
          <a:prstGeom prst="rect">
            <a:avLst/>
          </a:prstGeom>
          <a:solidFill>
            <a:srgbClr val="1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5720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 |  Health  |  Growth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Starbucks, Whole Foods, John Deere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003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3538728"/>
            <a:ext cx="2606040" cy="210312"/>
          </a:xfrm>
          <a:prstGeom prst="rect">
            <a:avLst/>
          </a:prstGeom>
          <a:solidFill>
            <a:srgbClr val="003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29184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 |  Calm  |  Intelligence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Facebook, Samsung, Ford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35040" y="3538728"/>
            <a:ext cx="2606040" cy="210312"/>
          </a:xfrm>
          <a:prstGeom prst="rect">
            <a:avLst/>
          </a:prstGeom>
          <a:solidFill>
            <a:srgbClr val="660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12648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 |  Mystery  |  Creativity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2648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Cadbury, Hallmark, Twitch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|  Color Psychology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Brands Use Color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548640"/>
          </a:xfrm>
          <a:prstGeom prst="rect">
            <a:avLst/>
          </a:prstGeom>
          <a:solidFill>
            <a:srgbClr val="DA0B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743200" cy="548640"/>
          </a:xfrm>
          <a:prstGeom prst="rect">
            <a:avLst/>
          </a:prstGeom>
          <a:solidFill>
            <a:srgbClr val="FFC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solidFill>
            <a:srgbClr val="FFC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548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creates hunger and urgency. Yellow creates happiness and energy. Together they make you want to eat fast and feel good about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743200" cy="54864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0156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is bold, exciting, and energetic. White keeps it clean and classic. This combo has not changed in over 100 years.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274320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2743200" cy="54864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2764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white, and silver say: simple, premium, and modern. No color = no distraction. The product speaks for itself.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  |  Section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Touchpoints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 customer actually see a brand's colors?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727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touchpoint is any moment when a customer sees or interacts with a brand. Every single touchpoint uses the same colors. That is what makes a brand feel familiar.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004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Starbucks: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☕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and white, every time, every location.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77316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green, same fonts, same icons as the store.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Storefront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sign, warm wood tones inside.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4924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Napkins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napkins match the brand.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2623AE-4A05-DA01-74E7-15CA92B94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026" y="4141089"/>
            <a:ext cx="496062" cy="4960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28600" y="457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 session, you will pick a real brand and analyze 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65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brand you know. Here is what you will look for: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105156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40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024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colors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169235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 to 4 colors does this brand use most?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05740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404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type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175075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colors complementary, analogous, or something else?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06324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035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psychology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24837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those colors make people feel? Why do you think the brand chose them?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406908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404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touchpoints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4186755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see the colors? App, building, packaging, website?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Today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164437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 gives designers a system for choosing colors on purpose.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92808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777085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wheel shows primary, secondary, and tertiary colors.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389733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analogous, and triadic colors are the main relationships.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3002381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palette is a small set of colors used consistently across a design.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3615029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create feelings. Designers use this to influence how people react.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4227677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use color at every touch-point so customers always recognize them.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Digital Arts 1  |  Mr. Silva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C85BE9-436B-D1BA-3E84-3A6F2BB494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00013" y="160020"/>
            <a:ext cx="1401582" cy="1514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1022</Words>
  <Application>Microsoft Macintosh PowerPoint</Application>
  <PresentationFormat>On-screen Show (16:9)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creativesilva.com</cp:lastModifiedBy>
  <cp:revision>3</cp:revision>
  <dcterms:created xsi:type="dcterms:W3CDTF">2026-08-26T16:06:59Z</dcterms:created>
  <dcterms:modified xsi:type="dcterms:W3CDTF">2026-08-26T17:34:21Z</dcterms:modified>
</cp:coreProperties>
</file>