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4610"/>
  </p:normalViewPr>
  <p:slideViewPr>
    <p:cSldViewPr snapToGrid="0" snapToObjects="1">
      <p:cViewPr varScale="1">
        <p:scale>
          <a:sx n="170" d="100"/>
          <a:sy n="170" d="100"/>
        </p:scale>
        <p:origin x="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496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Shift+click circle + number, right-click &gt; Group.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7474"/>
          </a:solidFill>
          <a:ln/>
        </p:spPr>
        <p:txBody>
          <a:bodyPr/>
          <a:lstStyle/>
          <a:p>
            <a:endParaRPr lang="en-US"/>
          </a:p>
        </p:txBody>
      </p:sp>
      <p:sp>
        <p:nvSpPr>
          <p:cNvPr id="3" name="Shape 1"/>
          <p:cNvSpPr/>
          <p:nvPr/>
        </p:nvSpPr>
        <p:spPr>
          <a:xfrm>
            <a:off x="0" y="4498848"/>
            <a:ext cx="9144000" cy="644652"/>
          </a:xfrm>
          <a:prstGeom prst="rect">
            <a:avLst/>
          </a:prstGeom>
          <a:solidFill>
            <a:srgbClr val="8B5CF6"/>
          </a:solidFill>
          <a:ln/>
        </p:spPr>
        <p:txBody>
          <a:bodyPr/>
          <a:lstStyle/>
          <a:p>
            <a:endParaRPr lang="en-US"/>
          </a:p>
        </p:txBody>
      </p:sp>
      <p:sp>
        <p:nvSpPr>
          <p:cNvPr id="4" name="Shape 2"/>
          <p:cNvSpPr/>
          <p:nvPr/>
        </p:nvSpPr>
        <p:spPr>
          <a:xfrm>
            <a:off x="7132320" y="-777240"/>
            <a:ext cx="3291840" cy="3291840"/>
          </a:xfrm>
          <a:prstGeom prst="ellipse">
            <a:avLst/>
          </a:prstGeom>
          <a:solidFill>
            <a:srgbClr val="005555"/>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360920" y="45720"/>
            <a:ext cx="1600200" cy="1600200"/>
          </a:xfrm>
          <a:prstGeom prst="rect">
            <a:avLst/>
          </a:prstGeom>
        </p:spPr>
      </p:pic>
      <p:sp>
        <p:nvSpPr>
          <p:cNvPr id="6" name="Text 3"/>
          <p:cNvSpPr txBox="1"/>
          <p:nvPr/>
        </p:nvSpPr>
        <p:spPr>
          <a:xfrm>
            <a:off x="182880" y="91440"/>
            <a:ext cx="6766560" cy="438912"/>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FOTOGRAFIA 1  |  LIGHTROOM CLASSIC  |  LECCION 03</a:t>
            </a:r>
            <a:endParaRPr lang="en-US" sz="1000" dirty="0"/>
          </a:p>
        </p:txBody>
      </p:sp>
      <p:sp>
        <p:nvSpPr>
          <p:cNvPr id="7" name="Text 4"/>
          <p:cNvSpPr txBox="1"/>
          <p:nvPr/>
        </p:nvSpPr>
        <p:spPr>
          <a:xfrm>
            <a:off x="914400" y="813816"/>
            <a:ext cx="3632117" cy="566928"/>
          </a:xfrm>
          <a:prstGeom prst="rect">
            <a:avLst/>
          </a:prstGeom>
          <a:noFill/>
          <a:ln/>
        </p:spPr>
        <p:txBody>
          <a:bodyPr wrap="square" lIns="0" tIns="0" rIns="0" bIns="0" rtlCol="0" anchor="ctr"/>
          <a:lstStyle/>
          <a:p>
            <a:pPr marL="0" indent="0">
              <a:lnSpc>
                <a:spcPct val="100000"/>
              </a:lnSpc>
              <a:buNone/>
            </a:pPr>
            <a:r>
              <a:rPr lang="en-US" sz="3400" b="1" dirty="0">
                <a:solidFill>
                  <a:srgbClr val="FFFFFF"/>
                </a:solidFill>
                <a:latin typeface="Calibri" pitchFamily="34" charset="0"/>
                <a:ea typeface="Calibri" pitchFamily="34" charset="-122"/>
                <a:cs typeface="Calibri" pitchFamily="34" charset="-120"/>
              </a:rPr>
              <a:t>Lightroom Classic:</a:t>
            </a:r>
            <a:endParaRPr lang="en-US" sz="3400" dirty="0"/>
          </a:p>
        </p:txBody>
      </p:sp>
      <p:sp>
        <p:nvSpPr>
          <p:cNvPr id="8" name="Text 5"/>
          <p:cNvSpPr txBox="1"/>
          <p:nvPr/>
        </p:nvSpPr>
        <p:spPr>
          <a:xfrm>
            <a:off x="914400" y="1389888"/>
            <a:ext cx="3632117" cy="457200"/>
          </a:xfrm>
          <a:prstGeom prst="rect">
            <a:avLst/>
          </a:prstGeom>
          <a:noFill/>
          <a:ln/>
        </p:spPr>
        <p:txBody>
          <a:bodyPr wrap="square" lIns="0" tIns="0" rIns="0" bIns="0" rtlCol="0" anchor="ctr"/>
          <a:lstStyle/>
          <a:p>
            <a:pPr marL="0" indent="0">
              <a:lnSpc>
                <a:spcPct val="100000"/>
              </a:lnSpc>
              <a:buNone/>
            </a:pPr>
            <a:r>
              <a:rPr lang="en-US" sz="2400" dirty="0">
                <a:solidFill>
                  <a:srgbClr val="80E0E0"/>
                </a:solidFill>
                <a:latin typeface="Calibri" pitchFamily="34" charset="0"/>
                <a:ea typeface="Calibri" pitchFamily="34" charset="-122"/>
                <a:cs typeface="Calibri" pitchFamily="34" charset="-120"/>
              </a:rPr>
              <a:t>Aprende lo Esencial</a:t>
            </a:r>
            <a:endParaRPr lang="en-US" sz="2400" dirty="0"/>
          </a:p>
        </p:txBody>
      </p:sp>
      <p:sp>
        <p:nvSpPr>
          <p:cNvPr id="9" name="Text 6"/>
          <p:cNvSpPr txBox="1"/>
          <p:nvPr/>
        </p:nvSpPr>
        <p:spPr>
          <a:xfrm>
            <a:off x="914400" y="1984248"/>
            <a:ext cx="6858000" cy="310896"/>
          </a:xfrm>
          <a:prstGeom prst="rect">
            <a:avLst/>
          </a:prstGeom>
          <a:noFill/>
          <a:ln/>
        </p:spPr>
        <p:txBody>
          <a:bodyPr wrap="square" lIns="0" tIns="0" rIns="0" bIns="0" rtlCol="0" anchor="ctr"/>
          <a:lstStyle/>
          <a:p>
            <a:pPr marL="0" indent="0">
              <a:lnSpc>
                <a:spcPct val="100000"/>
              </a:lnSpc>
              <a:buNone/>
            </a:pPr>
            <a:r>
              <a:rPr lang="en-US" sz="1300" dirty="0">
                <a:solidFill>
                  <a:srgbClr val="FFFFFF"/>
                </a:solidFill>
                <a:latin typeface="Calibri" pitchFamily="34" charset="0"/>
                <a:ea typeface="Calibri" pitchFamily="34" charset="-122"/>
                <a:cs typeface="Calibri" pitchFamily="34" charset="-120"/>
              </a:rPr>
              <a:t>Leccion 03: Fundamentos del Revelado</a:t>
            </a:r>
            <a:endParaRPr lang="en-US" sz="1300" dirty="0"/>
          </a:p>
        </p:txBody>
      </p:sp>
      <p:sp>
        <p:nvSpPr>
          <p:cNvPr id="10" name="Shape 7"/>
          <p:cNvSpPr/>
          <p:nvPr/>
        </p:nvSpPr>
        <p:spPr>
          <a:xfrm>
            <a:off x="914400" y="2386584"/>
            <a:ext cx="4572000" cy="22860"/>
          </a:xfrm>
          <a:prstGeom prst="rect">
            <a:avLst/>
          </a:prstGeom>
          <a:solidFill>
            <a:srgbClr val="8B5CF6"/>
          </a:solidFill>
          <a:ln/>
        </p:spPr>
        <p:txBody>
          <a:bodyPr/>
          <a:lstStyle/>
          <a:p>
            <a:endParaRPr lang="en-US"/>
          </a:p>
        </p:txBody>
      </p:sp>
      <p:sp>
        <p:nvSpPr>
          <p:cNvPr id="11" name="Text 8"/>
          <p:cNvSpPr txBox="1"/>
          <p:nvPr/>
        </p:nvSpPr>
        <p:spPr>
          <a:xfrm>
            <a:off x="914400" y="2514600"/>
            <a:ext cx="6583680" cy="621792"/>
          </a:xfrm>
          <a:prstGeom prst="rect">
            <a:avLst/>
          </a:prstGeom>
          <a:noFill/>
          <a:ln/>
        </p:spPr>
        <p:txBody>
          <a:bodyPr wrap="square" lIns="0" tIns="0" rIns="0" bIns="0" rtlCol="0" anchor="ctr"/>
          <a:lstStyle/>
          <a:p>
            <a:pPr marL="0" indent="0">
              <a:lnSpc>
                <a:spcPct val="100000"/>
              </a:lnSpc>
              <a:buNone/>
            </a:pPr>
            <a:r>
              <a:rPr lang="en-US" sz="1100" dirty="0">
                <a:solidFill>
                  <a:srgbClr val="AAAAAA"/>
                </a:solidFill>
                <a:latin typeface="Calibri" pitchFamily="34" charset="0"/>
                <a:ea typeface="Calibri" pitchFamily="34" charset="-122"/>
                <a:cs typeface="Calibri" pitchFamily="34" charset="-120"/>
              </a:rPr>
              <a:t>En esta leccion aprenderas a usar el modulo Develop para corregir y mejorar tus fotos: desde el recorte y el balance de blancos hasta la exposicion, el contraste y la presencia.</a:t>
            </a:r>
            <a:endParaRPr lang="en-US" sz="1100" dirty="0"/>
          </a:p>
        </p:txBody>
      </p:sp>
      <p:sp>
        <p:nvSpPr>
          <p:cNvPr id="13" name="Text 9"/>
          <p:cNvSpPr txBox="1"/>
          <p:nvPr/>
        </p:nvSpPr>
        <p:spPr>
          <a:xfrm>
            <a:off x="182880" y="4443984"/>
            <a:ext cx="5029200" cy="201168"/>
          </a:xfrm>
          <a:prstGeom prst="rect">
            <a:avLst/>
          </a:prstGeom>
          <a:noFill/>
          <a:ln/>
        </p:spPr>
        <p:txBody>
          <a:bodyPr wrap="square" lIns="0" tIns="0" rIns="0" bIns="0" rtlCol="0" anchor="ctr"/>
          <a:lstStyle/>
          <a:p>
            <a:pPr marL="0" indent="0">
              <a:lnSpc>
                <a:spcPct val="100000"/>
              </a:lnSpc>
              <a:buNone/>
            </a:pPr>
            <a:r>
              <a:rPr lang="en-US" sz="900" i="1" dirty="0">
                <a:solidFill>
                  <a:srgbClr val="AAAAAA"/>
                </a:solidFill>
                <a:latin typeface="Calibri" pitchFamily="34" charset="0"/>
                <a:ea typeface="Calibri" pitchFamily="34" charset="-122"/>
                <a:cs typeface="Calibri" pitchFamily="34" charset="-120"/>
              </a:rPr>
              <a:t>Vista Antes / Despues en el modulo Develop</a:t>
            </a:r>
            <a:endParaRPr lang="en-US" sz="900" dirty="0"/>
          </a:p>
        </p:txBody>
      </p:sp>
      <p:sp>
        <p:nvSpPr>
          <p:cNvPr id="14" name="Text 10"/>
          <p:cNvSpPr txBox="1"/>
          <p:nvPr/>
        </p:nvSpPr>
        <p:spPr>
          <a:xfrm>
            <a:off x="0" y="4663440"/>
            <a:ext cx="9144000" cy="329184"/>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RECURSO DEL MODULO  |  Mr. Silva  |  Pioneer Valley High School</a:t>
            </a:r>
            <a:endParaRPr lang="en-US" sz="1000" dirty="0"/>
          </a:p>
        </p:txBody>
      </p:sp>
      <p:pic>
        <p:nvPicPr>
          <p:cNvPr id="12" name="Image 1" descr="preencoded.png">
            <a:extLst>
              <a:ext uri="{FF2B5EF4-FFF2-40B4-BE49-F238E27FC236}">
                <a16:creationId xmlns:a16="http://schemas.microsoft.com/office/drawing/2014/main" id="{122931A3-24C2-3663-08A7-C49DEAD6438D}"/>
              </a:ext>
            </a:extLst>
          </p:cNvPr>
          <p:cNvPicPr>
            <a:picLocks noChangeAspect="1"/>
          </p:cNvPicPr>
          <p:nvPr/>
        </p:nvPicPr>
        <p:blipFill>
          <a:blip r:embed="rId4"/>
          <a:stretch>
            <a:fillRect/>
          </a:stretch>
        </p:blipFill>
        <p:spPr>
          <a:xfrm>
            <a:off x="109728" y="854964"/>
            <a:ext cx="713232" cy="713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8778240"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Al Final de Esta Leccion Sabras Como...</a:t>
            </a:r>
            <a:endParaRPr lang="en-US" sz="2000" dirty="0"/>
          </a:p>
        </p:txBody>
      </p:sp>
      <p:sp>
        <p:nvSpPr>
          <p:cNvPr id="4" name="Shape 2"/>
          <p:cNvSpPr/>
          <p:nvPr/>
        </p:nvSpPr>
        <p:spPr>
          <a:xfrm>
            <a:off x="201168" y="823710"/>
            <a:ext cx="310896" cy="310896"/>
          </a:xfrm>
          <a:prstGeom prst="ellipse">
            <a:avLst/>
          </a:prstGeom>
          <a:solidFill>
            <a:srgbClr val="007474"/>
          </a:solidFill>
          <a:ln/>
        </p:spPr>
        <p:txBody>
          <a:bodyPr/>
          <a:lstStyle/>
          <a:p>
            <a:endParaRPr lang="en-US"/>
          </a:p>
        </p:txBody>
      </p:sp>
      <p:sp>
        <p:nvSpPr>
          <p:cNvPr id="5" name="Text 3"/>
          <p:cNvSpPr txBox="1"/>
          <p:nvPr/>
        </p:nvSpPr>
        <p:spPr>
          <a:xfrm>
            <a:off x="201168" y="823710"/>
            <a:ext cx="310896" cy="310896"/>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6" name="Text 4"/>
          <p:cNvSpPr txBox="1"/>
          <p:nvPr/>
        </p:nvSpPr>
        <p:spPr>
          <a:xfrm>
            <a:off x="621792" y="777990"/>
            <a:ext cx="3118254"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Navegar el espacio de trabajo del modulo Develop</a:t>
            </a:r>
            <a:endParaRPr lang="en-US" sz="1100" dirty="0"/>
          </a:p>
        </p:txBody>
      </p:sp>
      <p:sp>
        <p:nvSpPr>
          <p:cNvPr id="7" name="Text 5"/>
          <p:cNvSpPr txBox="1"/>
          <p:nvPr/>
        </p:nvSpPr>
        <p:spPr>
          <a:xfrm>
            <a:off x="621792" y="974062"/>
            <a:ext cx="3761632"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Encontrar el Histogram, el panel Basic y la barra de herramientas, y saber que hace cada seccion.</a:t>
            </a:r>
            <a:endParaRPr lang="en-US" sz="1050" dirty="0"/>
          </a:p>
        </p:txBody>
      </p:sp>
      <p:sp>
        <p:nvSpPr>
          <p:cNvPr id="8" name="Shape 6"/>
          <p:cNvSpPr/>
          <p:nvPr/>
        </p:nvSpPr>
        <p:spPr>
          <a:xfrm>
            <a:off x="201168" y="1500366"/>
            <a:ext cx="310896" cy="310896"/>
          </a:xfrm>
          <a:prstGeom prst="ellipse">
            <a:avLst/>
          </a:prstGeom>
          <a:solidFill>
            <a:srgbClr val="007474"/>
          </a:solidFill>
          <a:ln/>
        </p:spPr>
        <p:txBody>
          <a:bodyPr/>
          <a:lstStyle/>
          <a:p>
            <a:endParaRPr lang="en-US"/>
          </a:p>
        </p:txBody>
      </p:sp>
      <p:sp>
        <p:nvSpPr>
          <p:cNvPr id="9" name="Text 7"/>
          <p:cNvSpPr txBox="1"/>
          <p:nvPr/>
        </p:nvSpPr>
        <p:spPr>
          <a:xfrm>
            <a:off x="201168" y="1500366"/>
            <a:ext cx="310896" cy="310896"/>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0" name="Text 8"/>
          <p:cNvSpPr txBox="1"/>
          <p:nvPr/>
        </p:nvSpPr>
        <p:spPr>
          <a:xfrm>
            <a:off x="621792" y="1454646"/>
            <a:ext cx="3118254"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Recortar y enderezar tus fotos</a:t>
            </a:r>
            <a:endParaRPr lang="en-US" sz="1100" dirty="0"/>
          </a:p>
        </p:txBody>
      </p:sp>
      <p:sp>
        <p:nvSpPr>
          <p:cNvPr id="11" name="Text 9"/>
          <p:cNvSpPr txBox="1"/>
          <p:nvPr/>
        </p:nvSpPr>
        <p:spPr>
          <a:xfrm>
            <a:off x="621792" y="1650718"/>
            <a:ext cx="3761632"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Usa la herramienta Crop Overlay para mejorar la composicion y corregir un horizonte inclinado.</a:t>
            </a:r>
            <a:endParaRPr lang="en-US" sz="1050" dirty="0"/>
          </a:p>
        </p:txBody>
      </p:sp>
      <p:sp>
        <p:nvSpPr>
          <p:cNvPr id="12" name="Shape 10"/>
          <p:cNvSpPr/>
          <p:nvPr/>
        </p:nvSpPr>
        <p:spPr>
          <a:xfrm>
            <a:off x="201168" y="2177022"/>
            <a:ext cx="310896" cy="310896"/>
          </a:xfrm>
          <a:prstGeom prst="ellipse">
            <a:avLst/>
          </a:prstGeom>
          <a:solidFill>
            <a:srgbClr val="007474"/>
          </a:solidFill>
          <a:ln/>
        </p:spPr>
        <p:txBody>
          <a:bodyPr/>
          <a:lstStyle/>
          <a:p>
            <a:endParaRPr lang="en-US"/>
          </a:p>
        </p:txBody>
      </p:sp>
      <p:sp>
        <p:nvSpPr>
          <p:cNvPr id="13" name="Text 11"/>
          <p:cNvSpPr txBox="1"/>
          <p:nvPr/>
        </p:nvSpPr>
        <p:spPr>
          <a:xfrm>
            <a:off x="201168" y="2177022"/>
            <a:ext cx="310896" cy="310896"/>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4" name="Text 12"/>
          <p:cNvSpPr txBox="1"/>
          <p:nvPr/>
        </p:nvSpPr>
        <p:spPr>
          <a:xfrm>
            <a:off x="621792" y="2131302"/>
            <a:ext cx="3118254"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Aplicar un perfil de camara</a:t>
            </a:r>
            <a:endParaRPr lang="en-US" sz="1100" dirty="0"/>
          </a:p>
        </p:txBody>
      </p:sp>
      <p:sp>
        <p:nvSpPr>
          <p:cNvPr id="15" name="Text 13"/>
          <p:cNvSpPr txBox="1"/>
          <p:nvPr/>
        </p:nvSpPr>
        <p:spPr>
          <a:xfrm>
            <a:off x="621792" y="2327374"/>
            <a:ext cx="3761632"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Elige el perfil de color correcto para tu imagen como punto de partida para editar.</a:t>
            </a:r>
            <a:endParaRPr lang="en-US" sz="1050" dirty="0"/>
          </a:p>
        </p:txBody>
      </p:sp>
      <p:sp>
        <p:nvSpPr>
          <p:cNvPr id="16" name="Shape 14"/>
          <p:cNvSpPr/>
          <p:nvPr/>
        </p:nvSpPr>
        <p:spPr>
          <a:xfrm>
            <a:off x="4572000" y="823710"/>
            <a:ext cx="310896" cy="310896"/>
          </a:xfrm>
          <a:prstGeom prst="ellipse">
            <a:avLst/>
          </a:prstGeom>
          <a:solidFill>
            <a:srgbClr val="007474"/>
          </a:solidFill>
          <a:ln/>
        </p:spPr>
        <p:txBody>
          <a:bodyPr/>
          <a:lstStyle/>
          <a:p>
            <a:endParaRPr lang="en-US"/>
          </a:p>
        </p:txBody>
      </p:sp>
      <p:sp>
        <p:nvSpPr>
          <p:cNvPr id="17" name="Text 15"/>
          <p:cNvSpPr txBox="1"/>
          <p:nvPr/>
        </p:nvSpPr>
        <p:spPr>
          <a:xfrm>
            <a:off x="4572000" y="823710"/>
            <a:ext cx="310896" cy="310896"/>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8" name="Text 16"/>
          <p:cNvSpPr txBox="1"/>
          <p:nvPr/>
        </p:nvSpPr>
        <p:spPr>
          <a:xfrm>
            <a:off x="4992624" y="777990"/>
            <a:ext cx="3118254"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Establecer el balance de blancos</a:t>
            </a:r>
            <a:endParaRPr lang="en-US" sz="1100" dirty="0"/>
          </a:p>
        </p:txBody>
      </p:sp>
      <p:sp>
        <p:nvSpPr>
          <p:cNvPr id="19" name="Text 17"/>
          <p:cNvSpPr txBox="1"/>
          <p:nvPr/>
        </p:nvSpPr>
        <p:spPr>
          <a:xfrm>
            <a:off x="4992624" y="974062"/>
            <a:ext cx="3761632"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Corrige dominantes de color usando el menu WB o la herramienta White Balance Selector.</a:t>
            </a:r>
            <a:endParaRPr lang="en-US" sz="1050" dirty="0"/>
          </a:p>
        </p:txBody>
      </p:sp>
      <p:sp>
        <p:nvSpPr>
          <p:cNvPr id="20" name="Shape 18"/>
          <p:cNvSpPr/>
          <p:nvPr/>
        </p:nvSpPr>
        <p:spPr>
          <a:xfrm>
            <a:off x="4572000" y="1500366"/>
            <a:ext cx="310896" cy="310896"/>
          </a:xfrm>
          <a:prstGeom prst="ellipse">
            <a:avLst/>
          </a:prstGeom>
          <a:solidFill>
            <a:srgbClr val="007474"/>
          </a:solidFill>
          <a:ln/>
        </p:spPr>
        <p:txBody>
          <a:bodyPr/>
          <a:lstStyle/>
          <a:p>
            <a:endParaRPr lang="en-US"/>
          </a:p>
        </p:txBody>
      </p:sp>
      <p:sp>
        <p:nvSpPr>
          <p:cNvPr id="21" name="Text 19"/>
          <p:cNvSpPr txBox="1"/>
          <p:nvPr/>
        </p:nvSpPr>
        <p:spPr>
          <a:xfrm>
            <a:off x="4572000" y="1500366"/>
            <a:ext cx="310896" cy="310896"/>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2" name="Text 20"/>
          <p:cNvSpPr txBox="1"/>
          <p:nvPr/>
        </p:nvSpPr>
        <p:spPr>
          <a:xfrm>
            <a:off x="4992624" y="1454646"/>
            <a:ext cx="3118254"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Ajustar exposicion, contraste, luces y sombras</a:t>
            </a:r>
            <a:endParaRPr lang="en-US" sz="1100" dirty="0"/>
          </a:p>
        </p:txBody>
      </p:sp>
      <p:sp>
        <p:nvSpPr>
          <p:cNvPr id="23" name="Text 21"/>
          <p:cNvSpPr txBox="1"/>
          <p:nvPr/>
        </p:nvSpPr>
        <p:spPr>
          <a:xfrm>
            <a:off x="4992624" y="1650718"/>
            <a:ext cx="3761632"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Usa los controles de Tone en el panel Basic para corregir el brillo y resaltar los detalles.</a:t>
            </a:r>
            <a:endParaRPr lang="en-US" sz="1050" dirty="0"/>
          </a:p>
        </p:txBody>
      </p:sp>
      <p:sp>
        <p:nvSpPr>
          <p:cNvPr id="24" name="Shape 22"/>
          <p:cNvSpPr/>
          <p:nvPr/>
        </p:nvSpPr>
        <p:spPr>
          <a:xfrm>
            <a:off x="4572000" y="2177022"/>
            <a:ext cx="310896" cy="310896"/>
          </a:xfrm>
          <a:prstGeom prst="ellipse">
            <a:avLst/>
          </a:prstGeom>
          <a:solidFill>
            <a:srgbClr val="007474"/>
          </a:solidFill>
          <a:ln/>
        </p:spPr>
        <p:txBody>
          <a:bodyPr/>
          <a:lstStyle/>
          <a:p>
            <a:endParaRPr lang="en-US"/>
          </a:p>
        </p:txBody>
      </p:sp>
      <p:sp>
        <p:nvSpPr>
          <p:cNvPr id="25" name="Text 23"/>
          <p:cNvSpPr txBox="1"/>
          <p:nvPr/>
        </p:nvSpPr>
        <p:spPr>
          <a:xfrm>
            <a:off x="4572000" y="2177022"/>
            <a:ext cx="310896" cy="310896"/>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6" name="Text 24"/>
          <p:cNvSpPr txBox="1"/>
          <p:nvPr/>
        </p:nvSpPr>
        <p:spPr>
          <a:xfrm>
            <a:off x="4992624" y="2131302"/>
            <a:ext cx="3118254"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Usar los controles de Presence</a:t>
            </a:r>
            <a:endParaRPr lang="en-US" sz="1100" dirty="0"/>
          </a:p>
        </p:txBody>
      </p:sp>
      <p:sp>
        <p:nvSpPr>
          <p:cNvPr id="27" name="Text 25"/>
          <p:cNvSpPr txBox="1"/>
          <p:nvPr/>
        </p:nvSpPr>
        <p:spPr>
          <a:xfrm>
            <a:off x="4992624" y="2327374"/>
            <a:ext cx="3761632"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Agrega textura, claridad y vibracion de color para terminar tu imagen.</a:t>
            </a:r>
            <a:endParaRPr lang="en-US" sz="1050" dirty="0"/>
          </a:p>
        </p:txBody>
      </p:sp>
      <p:pic>
        <p:nvPicPr>
          <p:cNvPr id="29" name="Image 1" descr="preencoded.png">
            <a:extLst>
              <a:ext uri="{FF2B5EF4-FFF2-40B4-BE49-F238E27FC236}">
                <a16:creationId xmlns:a16="http://schemas.microsoft.com/office/drawing/2014/main" id="{399EACA6-201F-1C1E-2605-1B846EC5A6E7}"/>
              </a:ext>
            </a:extLst>
          </p:cNvPr>
          <p:cNvPicPr>
            <a:picLocks noChangeAspect="1"/>
          </p:cNvPicPr>
          <p:nvPr/>
        </p:nvPicPr>
        <p:blipFill>
          <a:blip r:embed="rId3"/>
          <a:srcRect t="8325" r="22315" b="4175"/>
          <a:stretch>
            <a:fillRect/>
          </a:stretch>
        </p:blipFill>
        <p:spPr>
          <a:xfrm>
            <a:off x="1427063" y="2728960"/>
            <a:ext cx="6487743" cy="23976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2024386" y="85917"/>
            <a:ext cx="5095227"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El Espacio de Trabajo del Modulo Develop</a:t>
            </a:r>
            <a:endParaRPr lang="en-US" sz="2000" dirty="0"/>
          </a:p>
        </p:txBody>
      </p:sp>
      <p:sp>
        <p:nvSpPr>
          <p:cNvPr id="5" name="Shape 3"/>
          <p:cNvSpPr/>
          <p:nvPr/>
        </p:nvSpPr>
        <p:spPr>
          <a:xfrm>
            <a:off x="182880" y="777240"/>
            <a:ext cx="3955671" cy="502920"/>
          </a:xfrm>
          <a:prstGeom prst="roundRect">
            <a:avLst>
              <a:gd name="adj" fmla="val 12727"/>
            </a:avLst>
          </a:prstGeom>
          <a:solidFill>
            <a:srgbClr val="160D28"/>
          </a:solidFill>
          <a:ln w="12700">
            <a:solidFill>
              <a:srgbClr val="8B5CF6"/>
            </a:solidFill>
            <a:prstDash val="solid"/>
          </a:ln>
        </p:spPr>
        <p:txBody>
          <a:bodyPr/>
          <a:lstStyle/>
          <a:p>
            <a:endParaRPr lang="en-US"/>
          </a:p>
        </p:txBody>
      </p:sp>
      <p:sp>
        <p:nvSpPr>
          <p:cNvPr id="6" name="Shape 4"/>
          <p:cNvSpPr/>
          <p:nvPr/>
        </p:nvSpPr>
        <p:spPr>
          <a:xfrm>
            <a:off x="182880" y="777240"/>
            <a:ext cx="50292" cy="502920"/>
          </a:xfrm>
          <a:prstGeom prst="rect">
            <a:avLst/>
          </a:prstGeom>
          <a:solidFill>
            <a:srgbClr val="8B5CF6"/>
          </a:solidFill>
          <a:ln/>
        </p:spPr>
        <p:txBody>
          <a:bodyPr/>
          <a:lstStyle/>
          <a:p>
            <a:endParaRPr lang="en-US"/>
          </a:p>
        </p:txBody>
      </p:sp>
      <p:sp>
        <p:nvSpPr>
          <p:cNvPr id="7" name="Text 5"/>
          <p:cNvSpPr txBox="1"/>
          <p:nvPr/>
        </p:nvSpPr>
        <p:spPr>
          <a:xfrm>
            <a:off x="347472" y="868680"/>
            <a:ext cx="3702014" cy="32004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El modulo Develop es donde corriges y mejoras tus fotos. Es no destructivo: tu archivo de foto original nunca se modifica.</a:t>
            </a:r>
            <a:endParaRPr lang="en-US" sz="1050" dirty="0"/>
          </a:p>
        </p:txBody>
      </p:sp>
      <p:sp>
        <p:nvSpPr>
          <p:cNvPr id="8" name="Shape 6"/>
          <p:cNvSpPr/>
          <p:nvPr/>
        </p:nvSpPr>
        <p:spPr>
          <a:xfrm>
            <a:off x="182880" y="1417320"/>
            <a:ext cx="50292" cy="640080"/>
          </a:xfrm>
          <a:prstGeom prst="rect">
            <a:avLst/>
          </a:prstGeom>
          <a:solidFill>
            <a:srgbClr val="8B5CF6"/>
          </a:solidFill>
          <a:ln/>
        </p:spPr>
        <p:txBody>
          <a:bodyPr/>
          <a:lstStyle/>
          <a:p>
            <a:endParaRPr lang="en-US"/>
          </a:p>
        </p:txBody>
      </p:sp>
      <p:sp>
        <p:nvSpPr>
          <p:cNvPr id="9" name="Text 7"/>
          <p:cNvSpPr txBox="1"/>
          <p:nvPr/>
        </p:nvSpPr>
        <p:spPr>
          <a:xfrm>
            <a:off x="347472" y="1444752"/>
            <a:ext cx="4572000"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Histogram (arriba a la derecha)</a:t>
            </a:r>
            <a:endParaRPr lang="en-US" sz="1100" dirty="0"/>
          </a:p>
        </p:txBody>
      </p:sp>
      <p:sp>
        <p:nvSpPr>
          <p:cNvPr id="10" name="Text 8"/>
          <p:cNvSpPr txBox="1"/>
          <p:nvPr/>
        </p:nvSpPr>
        <p:spPr>
          <a:xfrm>
            <a:off x="347472" y="1709928"/>
            <a:ext cx="4789169"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Muestra el rango tonal de tu foto. Los triangulos en las esquinas son advertencias de recorte.</a:t>
            </a:r>
            <a:endParaRPr lang="en-US" sz="1050" dirty="0"/>
          </a:p>
        </p:txBody>
      </p:sp>
      <p:sp>
        <p:nvSpPr>
          <p:cNvPr id="11" name="Shape 9"/>
          <p:cNvSpPr/>
          <p:nvPr/>
        </p:nvSpPr>
        <p:spPr>
          <a:xfrm>
            <a:off x="182880" y="2185416"/>
            <a:ext cx="50292" cy="640080"/>
          </a:xfrm>
          <a:prstGeom prst="rect">
            <a:avLst/>
          </a:prstGeom>
          <a:solidFill>
            <a:srgbClr val="8B5CF6"/>
          </a:solidFill>
          <a:ln/>
        </p:spPr>
        <p:txBody>
          <a:bodyPr/>
          <a:lstStyle/>
          <a:p>
            <a:endParaRPr lang="en-US"/>
          </a:p>
        </p:txBody>
      </p:sp>
      <p:sp>
        <p:nvSpPr>
          <p:cNvPr id="12" name="Text 10"/>
          <p:cNvSpPr txBox="1"/>
          <p:nvPr/>
        </p:nvSpPr>
        <p:spPr>
          <a:xfrm>
            <a:off x="347472" y="2212848"/>
            <a:ext cx="4572000"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Panel Basic (derecha)</a:t>
            </a:r>
            <a:endParaRPr lang="en-US" sz="1100" dirty="0"/>
          </a:p>
        </p:txBody>
      </p:sp>
      <p:sp>
        <p:nvSpPr>
          <p:cNvPr id="13" name="Text 11"/>
          <p:cNvSpPr txBox="1"/>
          <p:nvPr/>
        </p:nvSpPr>
        <p:spPr>
          <a:xfrm>
            <a:off x="347472" y="2478024"/>
            <a:ext cx="4789169"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Tu panel de edicion principal. Aqui estan los controles de Profile, balance de blancos, Tone y Presence.</a:t>
            </a:r>
            <a:endParaRPr lang="en-US" sz="1050" dirty="0"/>
          </a:p>
        </p:txBody>
      </p:sp>
      <p:sp>
        <p:nvSpPr>
          <p:cNvPr id="14" name="Shape 12"/>
          <p:cNvSpPr/>
          <p:nvPr/>
        </p:nvSpPr>
        <p:spPr>
          <a:xfrm>
            <a:off x="182880" y="2953512"/>
            <a:ext cx="50292" cy="640080"/>
          </a:xfrm>
          <a:prstGeom prst="rect">
            <a:avLst/>
          </a:prstGeom>
          <a:solidFill>
            <a:srgbClr val="8B5CF6"/>
          </a:solidFill>
          <a:ln/>
        </p:spPr>
        <p:txBody>
          <a:bodyPr/>
          <a:lstStyle/>
          <a:p>
            <a:endParaRPr lang="en-US"/>
          </a:p>
        </p:txBody>
      </p:sp>
      <p:sp>
        <p:nvSpPr>
          <p:cNvPr id="15" name="Text 13"/>
          <p:cNvSpPr txBox="1"/>
          <p:nvPr/>
        </p:nvSpPr>
        <p:spPr>
          <a:xfrm>
            <a:off x="347472" y="2980944"/>
            <a:ext cx="4572000"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Barra de herramientas (debajo del Histogram)</a:t>
            </a:r>
            <a:endParaRPr lang="en-US" sz="1100" dirty="0"/>
          </a:p>
        </p:txBody>
      </p:sp>
      <p:sp>
        <p:nvSpPr>
          <p:cNvPr id="16" name="Text 14"/>
          <p:cNvSpPr txBox="1"/>
          <p:nvPr/>
        </p:nvSpPr>
        <p:spPr>
          <a:xfrm>
            <a:off x="347472" y="3246120"/>
            <a:ext cx="457200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Herramientas Crop, Remove, Masking, Red Eye y Graduated Filter. Presiona R para Crop.</a:t>
            </a:r>
            <a:endParaRPr lang="en-US" sz="1050" dirty="0"/>
          </a:p>
        </p:txBody>
      </p:sp>
      <p:sp>
        <p:nvSpPr>
          <p:cNvPr id="17" name="Shape 15"/>
          <p:cNvSpPr/>
          <p:nvPr/>
        </p:nvSpPr>
        <p:spPr>
          <a:xfrm>
            <a:off x="182880" y="3721608"/>
            <a:ext cx="50292" cy="640080"/>
          </a:xfrm>
          <a:prstGeom prst="rect">
            <a:avLst/>
          </a:prstGeom>
          <a:solidFill>
            <a:srgbClr val="8B5CF6"/>
          </a:solidFill>
          <a:ln/>
        </p:spPr>
        <p:txBody>
          <a:bodyPr/>
          <a:lstStyle/>
          <a:p>
            <a:endParaRPr lang="en-US"/>
          </a:p>
        </p:txBody>
      </p:sp>
      <p:sp>
        <p:nvSpPr>
          <p:cNvPr id="18" name="Text 16"/>
          <p:cNvSpPr txBox="1"/>
          <p:nvPr/>
        </p:nvSpPr>
        <p:spPr>
          <a:xfrm>
            <a:off x="347472" y="3749040"/>
            <a:ext cx="4572000"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Panel izquierdo</a:t>
            </a:r>
            <a:endParaRPr lang="en-US" sz="1100" dirty="0"/>
          </a:p>
        </p:txBody>
      </p:sp>
      <p:sp>
        <p:nvSpPr>
          <p:cNvPr id="19" name="Text 17"/>
          <p:cNvSpPr txBox="1"/>
          <p:nvPr/>
        </p:nvSpPr>
        <p:spPr>
          <a:xfrm>
            <a:off x="347471" y="4014216"/>
            <a:ext cx="5334871"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Navigator, Presets, Snapshots, History y Collections. Usa Presets para aplicar estilos rapidamente.</a:t>
            </a:r>
            <a:endParaRPr lang="en-US" sz="1050" dirty="0"/>
          </a:p>
        </p:txBody>
      </p:sp>
      <p:pic>
        <p:nvPicPr>
          <p:cNvPr id="20" name="Image 0" descr="preencoded.png"/>
          <p:cNvPicPr>
            <a:picLocks noChangeAspect="1"/>
          </p:cNvPicPr>
          <p:nvPr/>
        </p:nvPicPr>
        <p:blipFill rotWithShape="1">
          <a:blip r:embed="rId3"/>
          <a:srcRect l="1773" t="1909" r="18760" b="4579"/>
          <a:stretch>
            <a:fillRect/>
          </a:stretch>
        </p:blipFill>
        <p:spPr>
          <a:xfrm>
            <a:off x="5136641" y="777596"/>
            <a:ext cx="1930037" cy="1469208"/>
          </a:xfrm>
          <a:prstGeom prst="rect">
            <a:avLst/>
          </a:prstGeom>
        </p:spPr>
      </p:pic>
      <p:sp>
        <p:nvSpPr>
          <p:cNvPr id="21" name="Text 18"/>
          <p:cNvSpPr txBox="1"/>
          <p:nvPr/>
        </p:nvSpPr>
        <p:spPr>
          <a:xfrm>
            <a:off x="5136641" y="2350008"/>
            <a:ext cx="1930037" cy="201168"/>
          </a:xfrm>
          <a:prstGeom prst="rect">
            <a:avLst/>
          </a:prstGeom>
          <a:noFill/>
          <a:ln/>
        </p:spPr>
        <p:txBody>
          <a:bodyPr wrap="square" lIns="0" tIns="0" rIns="0" bIns="0" rtlCol="0" anchor="ctr"/>
          <a:lstStyle/>
          <a:p>
            <a:pPr marL="0" indent="0" algn="ctr">
              <a:lnSpc>
                <a:spcPct val="100000"/>
              </a:lnSpc>
              <a:buNone/>
            </a:pPr>
            <a:r>
              <a:rPr lang="en-US" sz="800" i="1" dirty="0">
                <a:solidFill>
                  <a:srgbClr val="AAAAAA"/>
                </a:solidFill>
                <a:latin typeface="Calibri" pitchFamily="34" charset="0"/>
                <a:ea typeface="Calibri" pitchFamily="34" charset="-122"/>
                <a:cs typeface="Calibri" pitchFamily="34" charset="-120"/>
              </a:rPr>
              <a:t>Panel Histogram: muestra el rango tonal y los metadatos de la camara</a:t>
            </a:r>
            <a:endParaRPr lang="en-US" sz="800" dirty="0"/>
          </a:p>
        </p:txBody>
      </p:sp>
      <p:pic>
        <p:nvPicPr>
          <p:cNvPr id="22" name="Image 1" descr="preencoded.png"/>
          <p:cNvPicPr>
            <a:picLocks noChangeAspect="1"/>
          </p:cNvPicPr>
          <p:nvPr/>
        </p:nvPicPr>
        <p:blipFill>
          <a:blip r:embed="rId4"/>
          <a:srcRect t="3103" r="11658" b="4157"/>
          <a:stretch>
            <a:fillRect/>
          </a:stretch>
        </p:blipFill>
        <p:spPr>
          <a:xfrm>
            <a:off x="7111983" y="777240"/>
            <a:ext cx="1930037" cy="3961015"/>
          </a:xfrm>
          <a:prstGeom prst="rect">
            <a:avLst/>
          </a:prstGeom>
        </p:spPr>
      </p:pic>
      <p:sp>
        <p:nvSpPr>
          <p:cNvPr id="23" name="Text 19"/>
          <p:cNvSpPr txBox="1"/>
          <p:nvPr/>
        </p:nvSpPr>
        <p:spPr>
          <a:xfrm>
            <a:off x="7089330" y="4850357"/>
            <a:ext cx="1975342" cy="201168"/>
          </a:xfrm>
          <a:prstGeom prst="rect">
            <a:avLst/>
          </a:prstGeom>
          <a:noFill/>
          <a:ln/>
        </p:spPr>
        <p:txBody>
          <a:bodyPr wrap="square" lIns="0" tIns="0" rIns="0" bIns="0" rtlCol="0" anchor="ctr"/>
          <a:lstStyle/>
          <a:p>
            <a:pPr marL="0" indent="0" algn="ctr">
              <a:lnSpc>
                <a:spcPct val="100000"/>
              </a:lnSpc>
              <a:buNone/>
            </a:pPr>
            <a:r>
              <a:rPr lang="en-US" sz="800" i="1" dirty="0">
                <a:solidFill>
                  <a:srgbClr val="AAAAAA"/>
                </a:solidFill>
                <a:latin typeface="Calibri" pitchFamily="34" charset="0"/>
                <a:ea typeface="Calibri" pitchFamily="34" charset="-122"/>
                <a:cs typeface="Calibri" pitchFamily="34" charset="-120"/>
              </a:rPr>
              <a:t>Panel Basic: controles de Profile, WB, Tone y Presence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01</a:t>
            </a:r>
            <a:endParaRPr lang="en-US" sz="1000" dirty="0"/>
          </a:p>
        </p:txBody>
      </p:sp>
      <p:sp>
        <p:nvSpPr>
          <p:cNvPr id="4" name="Text 2"/>
          <p:cNvSpPr txBox="1"/>
          <p:nvPr/>
        </p:nvSpPr>
        <p:spPr>
          <a:xfrm>
            <a:off x="87782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Recortar y Enderezar tu Foto</a:t>
            </a:r>
            <a:endParaRPr lang="en-US" sz="2000" dirty="0"/>
          </a:p>
        </p:txBody>
      </p:sp>
      <p:sp>
        <p:nvSpPr>
          <p:cNvPr id="5" name="Shape 3"/>
          <p:cNvSpPr/>
          <p:nvPr/>
        </p:nvSpPr>
        <p:spPr>
          <a:xfrm>
            <a:off x="182880" y="804672"/>
            <a:ext cx="347472" cy="347472"/>
          </a:xfrm>
          <a:prstGeom prst="ellipse">
            <a:avLst/>
          </a:prstGeom>
          <a:solidFill>
            <a:srgbClr val="FF6B1A"/>
          </a:solidFill>
          <a:ln/>
        </p:spPr>
        <p:txBody>
          <a:bodyPr/>
          <a:lstStyle/>
          <a:p>
            <a:endParaRPr lang="en-US"/>
          </a:p>
        </p:txBody>
      </p:sp>
      <p:sp>
        <p:nvSpPr>
          <p:cNvPr id="6" name="Text 4"/>
          <p:cNvSpPr txBox="1"/>
          <p:nvPr/>
        </p:nvSpPr>
        <p:spPr>
          <a:xfrm>
            <a:off x="182880" y="80467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24282" y="777240"/>
            <a:ext cx="2718262"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D para ir al modulo Develop</a:t>
            </a:r>
            <a:endParaRPr lang="en-US" sz="1100" dirty="0"/>
          </a:p>
        </p:txBody>
      </p:sp>
      <p:sp>
        <p:nvSpPr>
          <p:cNvPr id="8" name="Text 6"/>
          <p:cNvSpPr txBox="1"/>
          <p:nvPr/>
        </p:nvSpPr>
        <p:spPr>
          <a:xfrm>
            <a:off x="624282" y="925415"/>
            <a:ext cx="472567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Asegurate de estar en la vista Loupe. Presiona D en tu teclado desde el modulo Library.</a:t>
            </a:r>
            <a:endParaRPr lang="en-US" sz="1050" dirty="0"/>
          </a:p>
        </p:txBody>
      </p:sp>
      <p:sp>
        <p:nvSpPr>
          <p:cNvPr id="9" name="Shape 7"/>
          <p:cNvSpPr/>
          <p:nvPr/>
        </p:nvSpPr>
        <p:spPr>
          <a:xfrm>
            <a:off x="182880" y="1330960"/>
            <a:ext cx="347472" cy="347472"/>
          </a:xfrm>
          <a:prstGeom prst="ellipse">
            <a:avLst/>
          </a:prstGeom>
          <a:solidFill>
            <a:srgbClr val="FF6B1A"/>
          </a:solidFill>
          <a:ln/>
        </p:spPr>
        <p:txBody>
          <a:bodyPr/>
          <a:lstStyle/>
          <a:p>
            <a:endParaRPr lang="en-US"/>
          </a:p>
        </p:txBody>
      </p:sp>
      <p:sp>
        <p:nvSpPr>
          <p:cNvPr id="10" name="Text 8"/>
          <p:cNvSpPr txBox="1"/>
          <p:nvPr/>
        </p:nvSpPr>
        <p:spPr>
          <a:xfrm>
            <a:off x="182880" y="133096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24282" y="1227167"/>
            <a:ext cx="2718262"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R para abrir el Crop Overlay</a:t>
            </a:r>
            <a:endParaRPr lang="en-US" sz="1100" dirty="0"/>
          </a:p>
        </p:txBody>
      </p:sp>
      <p:sp>
        <p:nvSpPr>
          <p:cNvPr id="12" name="Text 10"/>
          <p:cNvSpPr txBox="1"/>
          <p:nvPr/>
        </p:nvSpPr>
        <p:spPr>
          <a:xfrm>
            <a:off x="624282" y="1406305"/>
            <a:ext cx="472567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Aparece un rectangulo de recorte alrededor de tu foto. El panel Crop &amp; Straighten se abre encima del panel Basic.</a:t>
            </a:r>
            <a:endParaRPr lang="en-US" sz="1050" dirty="0"/>
          </a:p>
        </p:txBody>
      </p:sp>
      <p:sp>
        <p:nvSpPr>
          <p:cNvPr id="13" name="Shape 11"/>
          <p:cNvSpPr/>
          <p:nvPr/>
        </p:nvSpPr>
        <p:spPr>
          <a:xfrm>
            <a:off x="182880" y="2002518"/>
            <a:ext cx="347472" cy="347472"/>
          </a:xfrm>
          <a:prstGeom prst="ellipse">
            <a:avLst/>
          </a:prstGeom>
          <a:solidFill>
            <a:srgbClr val="FF6B1A"/>
          </a:solidFill>
          <a:ln/>
        </p:spPr>
        <p:txBody>
          <a:bodyPr/>
          <a:lstStyle/>
          <a:p>
            <a:endParaRPr lang="en-US"/>
          </a:p>
        </p:txBody>
      </p:sp>
      <p:sp>
        <p:nvSpPr>
          <p:cNvPr id="14" name="Text 12"/>
          <p:cNvSpPr txBox="1"/>
          <p:nvPr/>
        </p:nvSpPr>
        <p:spPr>
          <a:xfrm>
            <a:off x="182880" y="2002518"/>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24282" y="1920222"/>
            <a:ext cx="2623821"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Arrastra los controladores para ajustar el recorte</a:t>
            </a:r>
            <a:endParaRPr lang="en-US" sz="1100" dirty="0"/>
          </a:p>
        </p:txBody>
      </p:sp>
      <p:sp>
        <p:nvSpPr>
          <p:cNvPr id="16" name="Text 14"/>
          <p:cNvSpPr txBox="1"/>
          <p:nvPr/>
        </p:nvSpPr>
        <p:spPr>
          <a:xfrm>
            <a:off x="624282" y="2306123"/>
            <a:ext cx="1824526"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Arrastra cualquier esquina o borde del recuadro de recorte. El area fuera del recorte se oscurece para que puedas ver el resultado.</a:t>
            </a:r>
            <a:endParaRPr lang="en-US" sz="1050" dirty="0"/>
          </a:p>
        </p:txBody>
      </p:sp>
      <p:sp>
        <p:nvSpPr>
          <p:cNvPr id="17" name="Shape 15"/>
          <p:cNvSpPr/>
          <p:nvPr/>
        </p:nvSpPr>
        <p:spPr>
          <a:xfrm>
            <a:off x="182880" y="3002851"/>
            <a:ext cx="347472" cy="347472"/>
          </a:xfrm>
          <a:prstGeom prst="ellipse">
            <a:avLst/>
          </a:prstGeom>
          <a:solidFill>
            <a:srgbClr val="FF6B1A"/>
          </a:solidFill>
          <a:ln/>
        </p:spPr>
        <p:txBody>
          <a:bodyPr/>
          <a:lstStyle/>
          <a:p>
            <a:endParaRPr lang="en-US"/>
          </a:p>
        </p:txBody>
      </p:sp>
      <p:sp>
        <p:nvSpPr>
          <p:cNvPr id="18" name="Text 16"/>
          <p:cNvSpPr txBox="1"/>
          <p:nvPr/>
        </p:nvSpPr>
        <p:spPr>
          <a:xfrm>
            <a:off x="182880" y="3002851"/>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24282" y="3002851"/>
            <a:ext cx="1824526"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O para cambiar las guias de recorte</a:t>
            </a:r>
            <a:endParaRPr lang="en-US" sz="1100" dirty="0"/>
          </a:p>
        </p:txBody>
      </p:sp>
      <p:sp>
        <p:nvSpPr>
          <p:cNvPr id="20" name="Text 18"/>
          <p:cNvSpPr txBox="1"/>
          <p:nvPr/>
        </p:nvSpPr>
        <p:spPr>
          <a:xfrm>
            <a:off x="624282" y="3423406"/>
            <a:ext cx="1782534"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Regla de Tercios, Diagonal, Proporcion Aurea y mas. Usalas como guias de composicion.</a:t>
            </a:r>
            <a:endParaRPr lang="en-US" sz="1050" dirty="0"/>
          </a:p>
        </p:txBody>
      </p:sp>
      <p:sp>
        <p:nvSpPr>
          <p:cNvPr id="21" name="Shape 19"/>
          <p:cNvSpPr/>
          <p:nvPr/>
        </p:nvSpPr>
        <p:spPr>
          <a:xfrm>
            <a:off x="182880" y="3953002"/>
            <a:ext cx="347472" cy="347472"/>
          </a:xfrm>
          <a:prstGeom prst="ellipse">
            <a:avLst/>
          </a:prstGeom>
          <a:solidFill>
            <a:srgbClr val="FF6B1A"/>
          </a:solidFill>
          <a:ln/>
        </p:spPr>
        <p:txBody>
          <a:bodyPr/>
          <a:lstStyle/>
          <a:p>
            <a:endParaRPr lang="en-US"/>
          </a:p>
        </p:txBody>
      </p:sp>
      <p:sp>
        <p:nvSpPr>
          <p:cNvPr id="22" name="Text 20"/>
          <p:cNvSpPr txBox="1"/>
          <p:nvPr/>
        </p:nvSpPr>
        <p:spPr>
          <a:xfrm>
            <a:off x="182880" y="395300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624282" y="3953002"/>
            <a:ext cx="1950052"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Return o Enter para confirmar el recorte</a:t>
            </a:r>
            <a:endParaRPr lang="en-US" sz="1100" dirty="0"/>
          </a:p>
        </p:txBody>
      </p:sp>
      <p:sp>
        <p:nvSpPr>
          <p:cNvPr id="24" name="Text 22"/>
          <p:cNvSpPr txBox="1"/>
          <p:nvPr/>
        </p:nvSpPr>
        <p:spPr>
          <a:xfrm>
            <a:off x="624282" y="4380397"/>
            <a:ext cx="1840324" cy="282633"/>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El recorte se aplica. Presiona R en cualquier momento para volver y ajustarlo.</a:t>
            </a:r>
            <a:endParaRPr lang="en-US" sz="1050" dirty="0"/>
          </a:p>
        </p:txBody>
      </p:sp>
      <p:pic>
        <p:nvPicPr>
          <p:cNvPr id="25" name="Image 0" descr="preencoded.png"/>
          <p:cNvPicPr>
            <a:picLocks noChangeAspect="1"/>
          </p:cNvPicPr>
          <p:nvPr/>
        </p:nvPicPr>
        <p:blipFill rotWithShape="1">
          <a:blip r:embed="rId3"/>
          <a:srcRect l="55776" t="30379" r="23323" b="29574"/>
          <a:stretch>
            <a:fillRect/>
          </a:stretch>
        </p:blipFill>
        <p:spPr>
          <a:xfrm>
            <a:off x="5890230" y="660248"/>
            <a:ext cx="1883793" cy="1479616"/>
          </a:xfrm>
          <a:prstGeom prst="rect">
            <a:avLst/>
          </a:prstGeom>
        </p:spPr>
      </p:pic>
      <p:sp>
        <p:nvSpPr>
          <p:cNvPr id="26" name="Text 23"/>
          <p:cNvSpPr txBox="1"/>
          <p:nvPr/>
        </p:nvSpPr>
        <p:spPr>
          <a:xfrm>
            <a:off x="5785660" y="2166959"/>
            <a:ext cx="2207027" cy="201168"/>
          </a:xfrm>
          <a:prstGeom prst="rect">
            <a:avLst/>
          </a:prstGeom>
          <a:noFill/>
          <a:ln/>
        </p:spPr>
        <p:txBody>
          <a:bodyPr wrap="square" lIns="0" tIns="0" rIns="0" bIns="0" rtlCol="0" anchor="ctr"/>
          <a:lstStyle/>
          <a:p>
            <a:pPr marL="0" indent="0">
              <a:lnSpc>
                <a:spcPct val="100000"/>
              </a:lnSpc>
              <a:buNone/>
            </a:pPr>
            <a:r>
              <a:rPr lang="en-US" sz="900" i="1" dirty="0">
                <a:solidFill>
                  <a:srgbClr val="AAAAAA"/>
                </a:solidFill>
                <a:latin typeface="Calibri" pitchFamily="34" charset="0"/>
                <a:ea typeface="Calibri" pitchFamily="34" charset="-122"/>
                <a:cs typeface="Calibri" pitchFamily="34" charset="-120"/>
              </a:rPr>
              <a:t>Crop Overlay activo: cuadricula de Regla de Tercios visible</a:t>
            </a:r>
            <a:endParaRPr lang="en-US" sz="900" dirty="0"/>
          </a:p>
        </p:txBody>
      </p:sp>
      <p:pic>
        <p:nvPicPr>
          <p:cNvPr id="27" name="Image 1" descr="preencoded.png"/>
          <p:cNvPicPr>
            <a:picLocks noChangeAspect="1"/>
          </p:cNvPicPr>
          <p:nvPr/>
        </p:nvPicPr>
        <p:blipFill>
          <a:blip r:embed="rId4"/>
          <a:srcRect l="1204" t="4985" r="7145" b="2298"/>
          <a:stretch>
            <a:fillRect/>
          </a:stretch>
        </p:blipFill>
        <p:spPr>
          <a:xfrm>
            <a:off x="2574334" y="2471027"/>
            <a:ext cx="3153844" cy="2352601"/>
          </a:xfrm>
          <a:prstGeom prst="rect">
            <a:avLst/>
          </a:prstGeom>
        </p:spPr>
      </p:pic>
      <p:pic>
        <p:nvPicPr>
          <p:cNvPr id="28" name="Image 2" descr="preencoded.png"/>
          <p:cNvPicPr>
            <a:picLocks noChangeAspect="1"/>
          </p:cNvPicPr>
          <p:nvPr/>
        </p:nvPicPr>
        <p:blipFill>
          <a:blip r:embed="rId5"/>
          <a:srcRect l="1747" t="5383" r="16651" b="1748"/>
          <a:stretch>
            <a:fillRect/>
          </a:stretch>
        </p:blipFill>
        <p:spPr>
          <a:xfrm>
            <a:off x="5884477" y="2459964"/>
            <a:ext cx="3139012" cy="2363664"/>
          </a:xfrm>
          <a:prstGeom prst="rect">
            <a:avLst/>
          </a:prstGeom>
        </p:spPr>
      </p:pic>
      <p:sp>
        <p:nvSpPr>
          <p:cNvPr id="29" name="Text 24"/>
          <p:cNvSpPr txBox="1"/>
          <p:nvPr/>
        </p:nvSpPr>
        <p:spPr>
          <a:xfrm>
            <a:off x="4370015" y="4850892"/>
            <a:ext cx="2878160"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Izquierda: Regla de Tercios  |  Derecha: guia Diagonal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87782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Guias de Recorte y Enderezado</a:t>
            </a:r>
            <a:endParaRPr lang="en-US" sz="2000" dirty="0"/>
          </a:p>
        </p:txBody>
      </p:sp>
      <p:sp>
        <p:nvSpPr>
          <p:cNvPr id="5" name="Shape 3"/>
          <p:cNvSpPr/>
          <p:nvPr/>
        </p:nvSpPr>
        <p:spPr>
          <a:xfrm>
            <a:off x="182880" y="777240"/>
            <a:ext cx="4892040" cy="502920"/>
          </a:xfrm>
          <a:prstGeom prst="roundRect">
            <a:avLst>
              <a:gd name="adj" fmla="val 12727"/>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347472" y="868680"/>
            <a:ext cx="4663440" cy="32004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Las guias de recorte son referencias, no reglas. Usalas para mejorar tus composiciones. Presiona O para cambiar entre ellas.</a:t>
            </a:r>
            <a:endParaRPr lang="en-US" sz="1050" dirty="0"/>
          </a:p>
        </p:txBody>
      </p:sp>
      <p:pic>
        <p:nvPicPr>
          <p:cNvPr id="8" name="Image 0" descr="preencoded.png"/>
          <p:cNvPicPr>
            <a:picLocks noChangeAspect="1"/>
          </p:cNvPicPr>
          <p:nvPr/>
        </p:nvPicPr>
        <p:blipFill>
          <a:blip r:embed="rId3"/>
          <a:srcRect l="5961" t="4646" r="33793" b="4867"/>
          <a:stretch>
            <a:fillRect/>
          </a:stretch>
        </p:blipFill>
        <p:spPr>
          <a:xfrm>
            <a:off x="206248" y="1485900"/>
            <a:ext cx="1556238" cy="2491740"/>
          </a:xfrm>
          <a:prstGeom prst="rect">
            <a:avLst/>
          </a:prstGeom>
        </p:spPr>
      </p:pic>
      <p:sp>
        <p:nvSpPr>
          <p:cNvPr id="9" name="Text 6"/>
          <p:cNvSpPr txBox="1"/>
          <p:nvPr/>
        </p:nvSpPr>
        <p:spPr>
          <a:xfrm>
            <a:off x="182880" y="3995928"/>
            <a:ext cx="1556238"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Las 9 guias de recorte disponibles</a:t>
            </a:r>
            <a:endParaRPr lang="en-US" sz="900" dirty="0"/>
          </a:p>
        </p:txBody>
      </p:sp>
      <p:sp>
        <p:nvSpPr>
          <p:cNvPr id="10" name="Text 7"/>
          <p:cNvSpPr txBox="1"/>
          <p:nvPr/>
        </p:nvSpPr>
        <p:spPr>
          <a:xfrm>
            <a:off x="1938528" y="1663446"/>
            <a:ext cx="3072384" cy="219456"/>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Regla de Tercios</a:t>
            </a:r>
            <a:endParaRPr lang="en-US" sz="1100" dirty="0"/>
          </a:p>
        </p:txBody>
      </p:sp>
      <p:sp>
        <p:nvSpPr>
          <p:cNvPr id="11" name="Text 8"/>
          <p:cNvSpPr txBox="1"/>
          <p:nvPr/>
        </p:nvSpPr>
        <p:spPr>
          <a:xfrm>
            <a:off x="1938528" y="1915559"/>
            <a:ext cx="3072384" cy="256032"/>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Divide el encuadre en tercios. Coloca tu sujeto sobre las lineas o las intersecciones.</a:t>
            </a:r>
            <a:endParaRPr lang="en-US" sz="1000" dirty="0"/>
          </a:p>
        </p:txBody>
      </p:sp>
      <p:sp>
        <p:nvSpPr>
          <p:cNvPr id="12" name="Text 9"/>
          <p:cNvSpPr txBox="1"/>
          <p:nvPr/>
        </p:nvSpPr>
        <p:spPr>
          <a:xfrm>
            <a:off x="1938528" y="2204248"/>
            <a:ext cx="3072384" cy="219456"/>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Diagonal</a:t>
            </a:r>
            <a:endParaRPr lang="en-US" sz="1100" dirty="0"/>
          </a:p>
        </p:txBody>
      </p:sp>
      <p:sp>
        <p:nvSpPr>
          <p:cNvPr id="13" name="Text 10"/>
          <p:cNvSpPr txBox="1"/>
          <p:nvPr/>
        </p:nvSpPr>
        <p:spPr>
          <a:xfrm>
            <a:off x="1938528" y="2456361"/>
            <a:ext cx="3072384" cy="256032"/>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Una linea de esquina a esquina. Ideal para lineas de conduccion y composiciones dinamicas.</a:t>
            </a:r>
            <a:endParaRPr lang="en-US" sz="1000" dirty="0"/>
          </a:p>
        </p:txBody>
      </p:sp>
      <p:sp>
        <p:nvSpPr>
          <p:cNvPr id="14" name="Text 11"/>
          <p:cNvSpPr txBox="1"/>
          <p:nvPr/>
        </p:nvSpPr>
        <p:spPr>
          <a:xfrm>
            <a:off x="1938528" y="2745050"/>
            <a:ext cx="3072384" cy="219456"/>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Proporcion Aurea</a:t>
            </a:r>
            <a:endParaRPr lang="en-US" sz="1100" dirty="0"/>
          </a:p>
        </p:txBody>
      </p:sp>
      <p:sp>
        <p:nvSpPr>
          <p:cNvPr id="15" name="Text 12"/>
          <p:cNvSpPr txBox="1"/>
          <p:nvPr/>
        </p:nvSpPr>
        <p:spPr>
          <a:xfrm>
            <a:off x="1938528" y="2997163"/>
            <a:ext cx="3072384" cy="256032"/>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Una guia de composicion curva usada por pintores clasicos y fotografos.</a:t>
            </a:r>
            <a:endParaRPr lang="en-US" sz="1000" dirty="0"/>
          </a:p>
        </p:txBody>
      </p:sp>
      <p:sp>
        <p:nvSpPr>
          <p:cNvPr id="16" name="Text 13"/>
          <p:cNvSpPr txBox="1"/>
          <p:nvPr/>
        </p:nvSpPr>
        <p:spPr>
          <a:xfrm>
            <a:off x="1938528" y="3285852"/>
            <a:ext cx="3072384" cy="219456"/>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Proporciones de Encuadre</a:t>
            </a:r>
            <a:endParaRPr lang="en-US" sz="1100" dirty="0"/>
          </a:p>
        </p:txBody>
      </p:sp>
      <p:sp>
        <p:nvSpPr>
          <p:cNvPr id="17" name="Text 14"/>
          <p:cNvSpPr txBox="1"/>
          <p:nvPr/>
        </p:nvSpPr>
        <p:spPr>
          <a:xfrm>
            <a:off x="1938528" y="3537966"/>
            <a:ext cx="3072384" cy="256032"/>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Muestra las proporciones de recorte mas comunes para impresion y pantalla.</a:t>
            </a:r>
            <a:endParaRPr lang="en-US" sz="1000" dirty="0"/>
          </a:p>
        </p:txBody>
      </p:sp>
      <p:sp>
        <p:nvSpPr>
          <p:cNvPr id="18" name="Shape 15"/>
          <p:cNvSpPr/>
          <p:nvPr/>
        </p:nvSpPr>
        <p:spPr>
          <a:xfrm>
            <a:off x="182880" y="4288536"/>
            <a:ext cx="4892040" cy="621792"/>
          </a:xfrm>
          <a:prstGeom prst="roundRect">
            <a:avLst>
              <a:gd name="adj" fmla="val 10294"/>
            </a:avLst>
          </a:prstGeom>
          <a:solidFill>
            <a:srgbClr val="041414"/>
          </a:solidFill>
          <a:ln w="12700">
            <a:solidFill>
              <a:srgbClr val="007474"/>
            </a:solidFill>
            <a:prstDash val="solid"/>
          </a:ln>
        </p:spPr>
        <p:txBody>
          <a:bodyPr/>
          <a:lstStyle/>
          <a:p>
            <a:endParaRPr lang="en-US"/>
          </a:p>
        </p:txBody>
      </p:sp>
      <p:sp>
        <p:nvSpPr>
          <p:cNvPr id="20" name="Text 17"/>
          <p:cNvSpPr txBox="1"/>
          <p:nvPr/>
        </p:nvSpPr>
        <p:spPr>
          <a:xfrm>
            <a:off x="347472" y="4379976"/>
            <a:ext cx="4663440" cy="438912"/>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Enderezar: En el panel Crop &amp; Straighten, arrastra el control Angle izquierda o derecha para nivelar un horizonte inclinado. O arrastra a lo largo de una linea en la foto que deba ser horizontal.</a:t>
            </a:r>
            <a:endParaRPr lang="en-US" sz="1050" dirty="0"/>
          </a:p>
        </p:txBody>
      </p:sp>
      <p:pic>
        <p:nvPicPr>
          <p:cNvPr id="21" name="Image 1" descr="preencoded.png"/>
          <p:cNvPicPr>
            <a:picLocks noChangeAspect="1"/>
          </p:cNvPicPr>
          <p:nvPr/>
        </p:nvPicPr>
        <p:blipFill>
          <a:blip r:embed="rId4"/>
          <a:srcRect l="3635" t="4020" r="22122" b="3517"/>
          <a:stretch>
            <a:fillRect/>
          </a:stretch>
        </p:blipFill>
        <p:spPr>
          <a:xfrm>
            <a:off x="5175504" y="777240"/>
            <a:ext cx="2083816" cy="3755972"/>
          </a:xfrm>
          <a:prstGeom prst="rect">
            <a:avLst/>
          </a:prstGeom>
        </p:spPr>
      </p:pic>
      <p:sp>
        <p:nvSpPr>
          <p:cNvPr id="22" name="Text 18"/>
          <p:cNvSpPr txBox="1"/>
          <p:nvPr/>
        </p:nvSpPr>
        <p:spPr>
          <a:xfrm>
            <a:off x="5175504" y="4533212"/>
            <a:ext cx="1999488"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Opciones de proporcion de encuadre: 16x9 es 1920x1080</a:t>
            </a:r>
            <a:endParaRPr lang="en-US" sz="900" dirty="0"/>
          </a:p>
        </p:txBody>
      </p:sp>
      <p:pic>
        <p:nvPicPr>
          <p:cNvPr id="23" name="Image 2" descr="preencoded.png"/>
          <p:cNvPicPr>
            <a:picLocks noChangeAspect="1"/>
          </p:cNvPicPr>
          <p:nvPr/>
        </p:nvPicPr>
        <p:blipFill>
          <a:blip r:embed="rId5"/>
          <a:srcRect t="8475" r="10711" b="-1"/>
          <a:stretch>
            <a:fillRect/>
          </a:stretch>
        </p:blipFill>
        <p:spPr>
          <a:xfrm>
            <a:off x="7352634" y="777240"/>
            <a:ext cx="1685988" cy="1728216"/>
          </a:xfrm>
          <a:prstGeom prst="rect">
            <a:avLst/>
          </a:prstGeom>
        </p:spPr>
      </p:pic>
      <p:sp>
        <p:nvSpPr>
          <p:cNvPr id="24" name="Text 19"/>
          <p:cNvSpPr txBox="1"/>
          <p:nvPr/>
        </p:nvSpPr>
        <p:spPr>
          <a:xfrm>
            <a:off x="7656132" y="2600961"/>
            <a:ext cx="1078992"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Panel Crop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02</a:t>
            </a:r>
            <a:endParaRPr lang="en-US" sz="1000" dirty="0"/>
          </a:p>
        </p:txBody>
      </p:sp>
      <p:sp>
        <p:nvSpPr>
          <p:cNvPr id="4" name="Text 2"/>
          <p:cNvSpPr txBox="1"/>
          <p:nvPr/>
        </p:nvSpPr>
        <p:spPr>
          <a:xfrm>
            <a:off x="182880" y="91440"/>
            <a:ext cx="8778240"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Aplicar un Perfil de Camara</a:t>
            </a:r>
            <a:endParaRPr lang="en-US" sz="2000" dirty="0"/>
          </a:p>
        </p:txBody>
      </p:sp>
      <p:sp>
        <p:nvSpPr>
          <p:cNvPr id="5" name="Shape 3"/>
          <p:cNvSpPr/>
          <p:nvPr/>
        </p:nvSpPr>
        <p:spPr>
          <a:xfrm>
            <a:off x="182880" y="777240"/>
            <a:ext cx="5719496" cy="640080"/>
          </a:xfrm>
          <a:prstGeom prst="roundRect">
            <a:avLst>
              <a:gd name="adj" fmla="val 10000"/>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347471" y="868680"/>
            <a:ext cx="5356285" cy="45720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Un perfil de camara establece la interpretacion de color inicial de tu foto. Piensa en el como el punto de partida de color que usa Lightroom antes de que hagas cualquier ajuste.</a:t>
            </a:r>
            <a:endParaRPr lang="en-US" sz="1050" dirty="0"/>
          </a:p>
        </p:txBody>
      </p:sp>
      <p:sp>
        <p:nvSpPr>
          <p:cNvPr id="8" name="Shape 6"/>
          <p:cNvSpPr/>
          <p:nvPr/>
        </p:nvSpPr>
        <p:spPr>
          <a:xfrm>
            <a:off x="182880" y="1581912"/>
            <a:ext cx="347472" cy="347472"/>
          </a:xfrm>
          <a:prstGeom prst="ellipse">
            <a:avLst/>
          </a:prstGeom>
          <a:solidFill>
            <a:srgbClr val="FF6B1A"/>
          </a:solidFill>
          <a:ln/>
        </p:spPr>
        <p:txBody>
          <a:bodyPr/>
          <a:lstStyle/>
          <a:p>
            <a:endParaRPr lang="en-US"/>
          </a:p>
        </p:txBody>
      </p:sp>
      <p:sp>
        <p:nvSpPr>
          <p:cNvPr id="9" name="Text 7"/>
          <p:cNvSpPr txBox="1"/>
          <p:nvPr/>
        </p:nvSpPr>
        <p:spPr>
          <a:xfrm>
            <a:off x="182880" y="158191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55448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Ve al panel Basic en el modulo Develop</a:t>
            </a:r>
            <a:endParaRPr lang="en-US" sz="1100" dirty="0"/>
          </a:p>
        </p:txBody>
      </p:sp>
      <p:sp>
        <p:nvSpPr>
          <p:cNvPr id="11" name="Text 9"/>
          <p:cNvSpPr txBox="1"/>
          <p:nvPr/>
        </p:nvSpPr>
        <p:spPr>
          <a:xfrm>
            <a:off x="640079" y="1761345"/>
            <a:ext cx="5063677"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Mira en la parte superior del panel Basic, justo debajo de los botones Auto, B&amp;W y HDR.</a:t>
            </a:r>
            <a:endParaRPr lang="en-US" sz="1050" dirty="0"/>
          </a:p>
        </p:txBody>
      </p:sp>
      <p:sp>
        <p:nvSpPr>
          <p:cNvPr id="12" name="Shape 10"/>
          <p:cNvSpPr/>
          <p:nvPr/>
        </p:nvSpPr>
        <p:spPr>
          <a:xfrm>
            <a:off x="182880" y="2295144"/>
            <a:ext cx="347472" cy="347472"/>
          </a:xfrm>
          <a:prstGeom prst="ellipse">
            <a:avLst/>
          </a:prstGeom>
          <a:solidFill>
            <a:srgbClr val="FF6B1A"/>
          </a:solidFill>
          <a:ln/>
        </p:spPr>
        <p:txBody>
          <a:bodyPr/>
          <a:lstStyle/>
          <a:p>
            <a:endParaRPr lang="en-US"/>
          </a:p>
        </p:txBody>
      </p:sp>
      <p:sp>
        <p:nvSpPr>
          <p:cNvPr id="13" name="Text 11"/>
          <p:cNvSpPr txBox="1"/>
          <p:nvPr/>
        </p:nvSpPr>
        <p:spPr>
          <a:xfrm>
            <a:off x="182880" y="2295144"/>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267712"/>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Haz clic en el menu desplegable Profile</a:t>
            </a:r>
            <a:endParaRPr lang="en-US" sz="1100" dirty="0"/>
          </a:p>
        </p:txBody>
      </p:sp>
      <p:sp>
        <p:nvSpPr>
          <p:cNvPr id="15" name="Text 13"/>
          <p:cNvSpPr txBox="1"/>
          <p:nvPr/>
        </p:nvSpPr>
        <p:spPr>
          <a:xfrm>
            <a:off x="640079" y="2474577"/>
            <a:ext cx="5063677"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Puede mostrar Adobe Color, Adaptive Color o As Shot. Haz clic en el para abrir el menu.</a:t>
            </a:r>
            <a:endParaRPr lang="en-US" sz="1050" dirty="0"/>
          </a:p>
        </p:txBody>
      </p:sp>
      <p:sp>
        <p:nvSpPr>
          <p:cNvPr id="16" name="Shape 14"/>
          <p:cNvSpPr/>
          <p:nvPr/>
        </p:nvSpPr>
        <p:spPr>
          <a:xfrm>
            <a:off x="182880" y="3008376"/>
            <a:ext cx="347472" cy="347472"/>
          </a:xfrm>
          <a:prstGeom prst="ellipse">
            <a:avLst/>
          </a:prstGeom>
          <a:solidFill>
            <a:srgbClr val="FF6B1A"/>
          </a:solidFill>
          <a:ln/>
        </p:spPr>
        <p:txBody>
          <a:bodyPr/>
          <a:lstStyle/>
          <a:p>
            <a:endParaRPr lang="en-US"/>
          </a:p>
        </p:txBody>
      </p:sp>
      <p:sp>
        <p:nvSpPr>
          <p:cNvPr id="17" name="Text 15"/>
          <p:cNvSpPr txBox="1"/>
          <p:nvPr/>
        </p:nvSpPr>
        <p:spPr>
          <a:xfrm>
            <a:off x="182880" y="3008376"/>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2980944"/>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Elige Adaptive Color como punto de partida</a:t>
            </a:r>
            <a:endParaRPr lang="en-US" sz="1100" dirty="0"/>
          </a:p>
        </p:txBody>
      </p:sp>
      <p:sp>
        <p:nvSpPr>
          <p:cNvPr id="19" name="Text 17"/>
          <p:cNvSpPr txBox="1"/>
          <p:nvPr/>
        </p:nvSpPr>
        <p:spPr>
          <a:xfrm>
            <a:off x="640079" y="3187809"/>
            <a:ext cx="5063677"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Adaptive Color usa IA para analizar cada foto individualmente y aplicar el mejor color inicial. Es la configuracion recomendada para el trabajo de clase.</a:t>
            </a:r>
            <a:endParaRPr lang="en-US" sz="1050" dirty="0"/>
          </a:p>
        </p:txBody>
      </p:sp>
      <p:sp>
        <p:nvSpPr>
          <p:cNvPr id="20" name="Shape 18"/>
          <p:cNvSpPr/>
          <p:nvPr/>
        </p:nvSpPr>
        <p:spPr>
          <a:xfrm>
            <a:off x="182880" y="3886200"/>
            <a:ext cx="347472" cy="347472"/>
          </a:xfrm>
          <a:prstGeom prst="ellipse">
            <a:avLst/>
          </a:prstGeom>
          <a:solidFill>
            <a:srgbClr val="FF6B1A"/>
          </a:solidFill>
          <a:ln/>
        </p:spPr>
        <p:txBody>
          <a:bodyPr/>
          <a:lstStyle/>
          <a:p>
            <a:endParaRPr lang="en-US"/>
          </a:p>
        </p:txBody>
      </p:sp>
      <p:sp>
        <p:nvSpPr>
          <p:cNvPr id="21" name="Text 19"/>
          <p:cNvSpPr txBox="1"/>
          <p:nvPr/>
        </p:nvSpPr>
        <p:spPr>
          <a:xfrm>
            <a:off x="182880" y="388620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40080" y="3858768"/>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Haz clic en el icono de cuadricula para abrir el Profile Browser</a:t>
            </a:r>
            <a:endParaRPr lang="en-US" sz="1100" dirty="0"/>
          </a:p>
        </p:txBody>
      </p:sp>
      <p:sp>
        <p:nvSpPr>
          <p:cNvPr id="23" name="Text 21"/>
          <p:cNvSpPr txBox="1"/>
          <p:nvPr/>
        </p:nvSpPr>
        <p:spPr>
          <a:xfrm>
            <a:off x="640079" y="4065633"/>
            <a:ext cx="5063677"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El Profile Browser muestra todos los perfiles disponibles con miniaturas para que puedas previsualizarlos en tu foto.</a:t>
            </a:r>
            <a:endParaRPr lang="en-US" sz="1050" dirty="0"/>
          </a:p>
        </p:txBody>
      </p:sp>
      <p:pic>
        <p:nvPicPr>
          <p:cNvPr id="24" name="Image 0" descr="preencoded.png"/>
          <p:cNvPicPr>
            <a:picLocks noChangeAspect="1"/>
          </p:cNvPicPr>
          <p:nvPr/>
        </p:nvPicPr>
        <p:blipFill>
          <a:blip r:embed="rId3"/>
          <a:srcRect t="4546" r="3926" b="7727"/>
          <a:stretch>
            <a:fillRect/>
          </a:stretch>
        </p:blipFill>
        <p:spPr>
          <a:xfrm>
            <a:off x="5963772" y="754830"/>
            <a:ext cx="3004457" cy="1764792"/>
          </a:xfrm>
          <a:prstGeom prst="rect">
            <a:avLst/>
          </a:prstGeom>
        </p:spPr>
      </p:pic>
      <p:sp>
        <p:nvSpPr>
          <p:cNvPr id="25" name="Text 22"/>
          <p:cNvSpPr txBox="1"/>
          <p:nvPr/>
        </p:nvSpPr>
        <p:spPr>
          <a:xfrm>
            <a:off x="5902376" y="2552663"/>
            <a:ext cx="3127248"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Panel Basic: Profile configurado en Adaptive Color</a:t>
            </a:r>
            <a:endParaRPr lang="en-US" sz="900" dirty="0"/>
          </a:p>
        </p:txBody>
      </p:sp>
      <p:pic>
        <p:nvPicPr>
          <p:cNvPr id="26" name="Image 1" descr="preencoded.png"/>
          <p:cNvPicPr>
            <a:picLocks noChangeAspect="1"/>
          </p:cNvPicPr>
          <p:nvPr/>
        </p:nvPicPr>
        <p:blipFill>
          <a:blip r:embed="rId4"/>
          <a:srcRect t="7770" r="18227" b="25826"/>
          <a:stretch>
            <a:fillRect/>
          </a:stretch>
        </p:blipFill>
        <p:spPr>
          <a:xfrm>
            <a:off x="6684188" y="2816852"/>
            <a:ext cx="1563624" cy="1824681"/>
          </a:xfrm>
          <a:prstGeom prst="rect">
            <a:avLst/>
          </a:prstGeom>
        </p:spPr>
      </p:pic>
      <p:sp>
        <p:nvSpPr>
          <p:cNvPr id="27" name="Text 23"/>
          <p:cNvSpPr txBox="1"/>
          <p:nvPr/>
        </p:nvSpPr>
        <p:spPr>
          <a:xfrm>
            <a:off x="6268136" y="4726374"/>
            <a:ext cx="2395728"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Menu Profile mostrando todos los perfiles Adobe Raw y las opciones Adaptive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87782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Perfiles de Camara: Que Son</a:t>
            </a:r>
            <a:endParaRPr lang="en-US" sz="2000" dirty="0"/>
          </a:p>
        </p:txBody>
      </p:sp>
      <p:pic>
        <p:nvPicPr>
          <p:cNvPr id="5" name="Image 0" descr="preencoded.png"/>
          <p:cNvPicPr>
            <a:picLocks noChangeAspect="1"/>
          </p:cNvPicPr>
          <p:nvPr/>
        </p:nvPicPr>
        <p:blipFill>
          <a:blip r:embed="rId3"/>
          <a:srcRect t="2921" r="13014" b="27316"/>
          <a:stretch>
            <a:fillRect/>
          </a:stretch>
        </p:blipFill>
        <p:spPr>
          <a:xfrm>
            <a:off x="286173" y="822960"/>
            <a:ext cx="1439334" cy="4221994"/>
          </a:xfrm>
          <a:prstGeom prst="rect">
            <a:avLst/>
          </a:prstGeom>
        </p:spPr>
      </p:pic>
      <p:sp>
        <p:nvSpPr>
          <p:cNvPr id="7" name="Shape 4"/>
          <p:cNvSpPr/>
          <p:nvPr/>
        </p:nvSpPr>
        <p:spPr>
          <a:xfrm>
            <a:off x="2108200" y="792980"/>
            <a:ext cx="6852920" cy="859536"/>
          </a:xfrm>
          <a:prstGeom prst="roundRect">
            <a:avLst>
              <a:gd name="adj" fmla="val 6383"/>
            </a:avLst>
          </a:prstGeom>
          <a:solidFill>
            <a:srgbClr val="1C1C1C"/>
          </a:solidFill>
          <a:ln w="12700">
            <a:solidFill>
              <a:srgbClr val="8B5CF6"/>
            </a:solidFill>
            <a:prstDash val="solid"/>
          </a:ln>
        </p:spPr>
        <p:txBody>
          <a:bodyPr/>
          <a:lstStyle/>
          <a:p>
            <a:endParaRPr lang="en-US"/>
          </a:p>
        </p:txBody>
      </p:sp>
      <p:sp>
        <p:nvSpPr>
          <p:cNvPr id="8" name="Text 5"/>
          <p:cNvSpPr txBox="1"/>
          <p:nvPr/>
        </p:nvSpPr>
        <p:spPr>
          <a:xfrm>
            <a:off x="2226744" y="866132"/>
            <a:ext cx="6588072"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Perfiles Adobe Raw</a:t>
            </a:r>
            <a:endParaRPr lang="en-US" sz="1100" dirty="0"/>
          </a:p>
        </p:txBody>
      </p:sp>
      <p:sp>
        <p:nvSpPr>
          <p:cNvPr id="9" name="Text 6"/>
          <p:cNvSpPr txBox="1"/>
          <p:nvPr/>
        </p:nvSpPr>
        <p:spPr>
          <a:xfrm>
            <a:off x="2226744" y="1140452"/>
            <a:ext cx="6588072" cy="438912"/>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Independientes de la camara. Dan a cualquier imagen un aspecto inicial unificado y neutral. Adobe Color es la linea base estandar.</a:t>
            </a:r>
            <a:endParaRPr lang="en-US" sz="1050" dirty="0"/>
          </a:p>
        </p:txBody>
      </p:sp>
      <p:sp>
        <p:nvSpPr>
          <p:cNvPr id="10" name="Shape 7"/>
          <p:cNvSpPr/>
          <p:nvPr/>
        </p:nvSpPr>
        <p:spPr>
          <a:xfrm>
            <a:off x="2108200" y="1780532"/>
            <a:ext cx="6852920" cy="859536"/>
          </a:xfrm>
          <a:prstGeom prst="roundRect">
            <a:avLst>
              <a:gd name="adj" fmla="val 6383"/>
            </a:avLst>
          </a:prstGeom>
          <a:solidFill>
            <a:srgbClr val="1C1C1C"/>
          </a:solidFill>
          <a:ln w="12700">
            <a:solidFill>
              <a:srgbClr val="8B5CF6"/>
            </a:solidFill>
            <a:prstDash val="solid"/>
          </a:ln>
        </p:spPr>
        <p:txBody>
          <a:bodyPr/>
          <a:lstStyle/>
          <a:p>
            <a:endParaRPr lang="en-US"/>
          </a:p>
        </p:txBody>
      </p:sp>
      <p:sp>
        <p:nvSpPr>
          <p:cNvPr id="11" name="Text 8"/>
          <p:cNvSpPr txBox="1"/>
          <p:nvPr/>
        </p:nvSpPr>
        <p:spPr>
          <a:xfrm>
            <a:off x="2226744" y="1853684"/>
            <a:ext cx="6588072"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Adaptive Color</a:t>
            </a:r>
            <a:endParaRPr lang="en-US" sz="1100" dirty="0"/>
          </a:p>
        </p:txBody>
      </p:sp>
      <p:sp>
        <p:nvSpPr>
          <p:cNvPr id="12" name="Text 9"/>
          <p:cNvSpPr txBox="1"/>
          <p:nvPr/>
        </p:nvSpPr>
        <p:spPr>
          <a:xfrm>
            <a:off x="2226744" y="2128004"/>
            <a:ext cx="6588072" cy="438912"/>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Mejorado con IA. Analiza cada foto individualmente para aplicar el mejor color inicial. Recomendado para el trabajo de clase.</a:t>
            </a:r>
            <a:endParaRPr lang="en-US" sz="1050" dirty="0"/>
          </a:p>
        </p:txBody>
      </p:sp>
      <p:sp>
        <p:nvSpPr>
          <p:cNvPr id="13" name="Shape 10"/>
          <p:cNvSpPr/>
          <p:nvPr/>
        </p:nvSpPr>
        <p:spPr>
          <a:xfrm>
            <a:off x="2108200" y="2768084"/>
            <a:ext cx="6852920" cy="859536"/>
          </a:xfrm>
          <a:prstGeom prst="roundRect">
            <a:avLst>
              <a:gd name="adj" fmla="val 6383"/>
            </a:avLst>
          </a:prstGeom>
          <a:solidFill>
            <a:srgbClr val="1C1C1C"/>
          </a:solidFill>
          <a:ln w="12700">
            <a:solidFill>
              <a:srgbClr val="8B5CF6"/>
            </a:solidFill>
            <a:prstDash val="solid"/>
          </a:ln>
        </p:spPr>
        <p:txBody>
          <a:bodyPr/>
          <a:lstStyle/>
          <a:p>
            <a:endParaRPr lang="en-US"/>
          </a:p>
        </p:txBody>
      </p:sp>
      <p:sp>
        <p:nvSpPr>
          <p:cNvPr id="14" name="Text 11"/>
          <p:cNvSpPr txBox="1"/>
          <p:nvPr/>
        </p:nvSpPr>
        <p:spPr>
          <a:xfrm>
            <a:off x="2226744" y="2841236"/>
            <a:ext cx="6588072"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Perfiles Camera Matching</a:t>
            </a:r>
            <a:endParaRPr lang="en-US" sz="1100" dirty="0"/>
          </a:p>
        </p:txBody>
      </p:sp>
      <p:sp>
        <p:nvSpPr>
          <p:cNvPr id="15" name="Text 12"/>
          <p:cNvSpPr txBox="1"/>
          <p:nvPr/>
        </p:nvSpPr>
        <p:spPr>
          <a:xfrm>
            <a:off x="2226744" y="3115556"/>
            <a:ext cx="6588072" cy="438912"/>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Imitan los estilos de imagen incorporados en tu camara especifica. El numero disponible depende de la marca de tu camara.</a:t>
            </a:r>
            <a:endParaRPr lang="en-US" sz="1050" dirty="0"/>
          </a:p>
        </p:txBody>
      </p:sp>
      <p:sp>
        <p:nvSpPr>
          <p:cNvPr id="16" name="Shape 13"/>
          <p:cNvSpPr/>
          <p:nvPr/>
        </p:nvSpPr>
        <p:spPr>
          <a:xfrm>
            <a:off x="2108200" y="3755636"/>
            <a:ext cx="6852920" cy="859536"/>
          </a:xfrm>
          <a:prstGeom prst="roundRect">
            <a:avLst>
              <a:gd name="adj" fmla="val 6383"/>
            </a:avLst>
          </a:prstGeom>
          <a:solidFill>
            <a:srgbClr val="1C1C1C"/>
          </a:solidFill>
          <a:ln w="12700">
            <a:solidFill>
              <a:srgbClr val="8B5CF6"/>
            </a:solidFill>
            <a:prstDash val="solid"/>
          </a:ln>
        </p:spPr>
        <p:txBody>
          <a:bodyPr/>
          <a:lstStyle/>
          <a:p>
            <a:endParaRPr lang="en-US"/>
          </a:p>
        </p:txBody>
      </p:sp>
      <p:sp>
        <p:nvSpPr>
          <p:cNvPr id="17" name="Text 14"/>
          <p:cNvSpPr txBox="1"/>
          <p:nvPr/>
        </p:nvSpPr>
        <p:spPr>
          <a:xfrm>
            <a:off x="2226744" y="3828788"/>
            <a:ext cx="6588072"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Perfiles Creative</a:t>
            </a:r>
            <a:endParaRPr lang="en-US" sz="1100" dirty="0"/>
          </a:p>
        </p:txBody>
      </p:sp>
      <p:sp>
        <p:nvSpPr>
          <p:cNvPr id="18" name="Text 15"/>
          <p:cNvSpPr txBox="1"/>
          <p:nvPr/>
        </p:nvSpPr>
        <p:spPr>
          <a:xfrm>
            <a:off x="2226744" y="4103108"/>
            <a:ext cx="6588072" cy="438912"/>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Efectos artisticos que usan LUTs (tablas de busqueda de color). Tienen un control Amount para ajustar la intensidad.</a:t>
            </a:r>
            <a:endParaRPr lang="en-US" sz="1050" dirty="0"/>
          </a:p>
        </p:txBody>
      </p:sp>
      <p:sp>
        <p:nvSpPr>
          <p:cNvPr id="19" name="Shape 16"/>
          <p:cNvSpPr/>
          <p:nvPr/>
        </p:nvSpPr>
        <p:spPr>
          <a:xfrm>
            <a:off x="2703492" y="4718296"/>
            <a:ext cx="5741233" cy="329184"/>
          </a:xfrm>
          <a:prstGeom prst="roundRect">
            <a:avLst>
              <a:gd name="adj" fmla="val 38889"/>
            </a:avLst>
          </a:prstGeom>
          <a:solidFill>
            <a:srgbClr val="160D28"/>
          </a:solidFill>
          <a:ln w="12700">
            <a:solidFill>
              <a:srgbClr val="8B5CF6"/>
            </a:solidFill>
            <a:prstDash val="solid"/>
          </a:ln>
        </p:spPr>
        <p:txBody>
          <a:bodyPr/>
          <a:lstStyle/>
          <a:p>
            <a:endParaRPr lang="en-US"/>
          </a:p>
        </p:txBody>
      </p:sp>
      <p:sp>
        <p:nvSpPr>
          <p:cNvPr id="21" name="Text 18"/>
          <p:cNvSpPr txBox="1"/>
          <p:nvPr/>
        </p:nvSpPr>
        <p:spPr>
          <a:xfrm>
            <a:off x="2251104" y="4860028"/>
            <a:ext cx="6646008" cy="0"/>
          </a:xfrm>
          <a:prstGeom prst="rect">
            <a:avLst/>
          </a:prstGeom>
          <a:noFill/>
          <a:ln/>
        </p:spPr>
        <p:txBody>
          <a:bodyPr wrap="square" lIns="0" tIns="0" rIns="0" bIns="0"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Los perfiles no cambian los controles de Tone ni de Presence: sigues teniendo control total despues de elegir un perfil.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03</a:t>
            </a:r>
            <a:endParaRPr lang="en-US" sz="1000" dirty="0"/>
          </a:p>
        </p:txBody>
      </p:sp>
      <p:sp>
        <p:nvSpPr>
          <p:cNvPr id="4" name="Text 2"/>
          <p:cNvSpPr txBox="1"/>
          <p:nvPr/>
        </p:nvSpPr>
        <p:spPr>
          <a:xfrm>
            <a:off x="87782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Establecer tu Balance de Blancos</a:t>
            </a:r>
            <a:endParaRPr lang="en-US" sz="2000" dirty="0"/>
          </a:p>
        </p:txBody>
      </p:sp>
      <p:sp>
        <p:nvSpPr>
          <p:cNvPr id="5" name="Shape 3"/>
          <p:cNvSpPr/>
          <p:nvPr/>
        </p:nvSpPr>
        <p:spPr>
          <a:xfrm>
            <a:off x="182880" y="777240"/>
            <a:ext cx="8721276" cy="566928"/>
          </a:xfrm>
          <a:prstGeom prst="roundRect">
            <a:avLst>
              <a:gd name="adj" fmla="val 11290"/>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302501" y="868680"/>
            <a:ext cx="8556685" cy="384048"/>
          </a:xfrm>
          <a:prstGeom prst="rect">
            <a:avLst/>
          </a:prstGeom>
          <a:noFill/>
          <a:ln/>
        </p:spPr>
        <p:txBody>
          <a:bodyPr wrap="square" lIns="0" tIns="0" rIns="0" bIns="0"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El balance de blancos corrige las dominantes de color causadas por diferentes fuentes de luz. La luz fluorescente vuelve las fotos verdes. La luz tungsteno las vuelve naranjas. WB </a:t>
            </a:r>
            <a:r>
              <a:rPr lang="en-US" sz="1030" dirty="0">
                <a:solidFill>
                  <a:srgbClr val="FFFFFF"/>
                </a:solidFill>
                <a:latin typeface="Calibri" pitchFamily="34" charset="0"/>
                <a:ea typeface="Calibri" pitchFamily="34" charset="-122"/>
                <a:cs typeface="Calibri" pitchFamily="34" charset="-120"/>
              </a:rPr>
              <a:t>corrige</a:t>
            </a:r>
            <a:r>
              <a:rPr lang="en-US" sz="1050" dirty="0">
                <a:solidFill>
                  <a:srgbClr val="FFFFFF"/>
                </a:solidFill>
                <a:latin typeface="Calibri" pitchFamily="34" charset="0"/>
                <a:ea typeface="Calibri" pitchFamily="34" charset="-122"/>
                <a:cs typeface="Calibri" pitchFamily="34" charset="-120"/>
              </a:rPr>
              <a:t> eso.</a:t>
            </a:r>
            <a:endParaRPr lang="en-US" sz="1050" dirty="0"/>
          </a:p>
        </p:txBody>
      </p:sp>
      <p:sp>
        <p:nvSpPr>
          <p:cNvPr id="8" name="Shape 6"/>
          <p:cNvSpPr/>
          <p:nvPr/>
        </p:nvSpPr>
        <p:spPr>
          <a:xfrm>
            <a:off x="182880" y="1508760"/>
            <a:ext cx="347472" cy="347472"/>
          </a:xfrm>
          <a:prstGeom prst="ellipse">
            <a:avLst/>
          </a:prstGeom>
          <a:solidFill>
            <a:srgbClr val="FF6B1A"/>
          </a:solidFill>
          <a:ln/>
        </p:spPr>
        <p:txBody>
          <a:bodyPr/>
          <a:lstStyle/>
          <a:p>
            <a:endParaRPr lang="en-US"/>
          </a:p>
        </p:txBody>
      </p:sp>
      <p:sp>
        <p:nvSpPr>
          <p:cNvPr id="9" name="Text 7"/>
          <p:cNvSpPr txBox="1"/>
          <p:nvPr/>
        </p:nvSpPr>
        <p:spPr>
          <a:xfrm>
            <a:off x="182880" y="150876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481328"/>
            <a:ext cx="635127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Encuentra WB en la parte superior del panel Basic</a:t>
            </a:r>
            <a:endParaRPr lang="en-US" sz="1100" dirty="0"/>
          </a:p>
        </p:txBody>
      </p:sp>
      <p:sp>
        <p:nvSpPr>
          <p:cNvPr id="11" name="Text 9"/>
          <p:cNvSpPr txBox="1"/>
          <p:nvPr/>
        </p:nvSpPr>
        <p:spPr>
          <a:xfrm>
            <a:off x="640080" y="1673203"/>
            <a:ext cx="635127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WB significa White Balance (balance de blancos). Haz clic en el menu desplegable junto a el para ver tus opciones.</a:t>
            </a:r>
            <a:endParaRPr lang="en-US" sz="1050" dirty="0"/>
          </a:p>
        </p:txBody>
      </p:sp>
      <p:sp>
        <p:nvSpPr>
          <p:cNvPr id="12" name="Shape 10"/>
          <p:cNvSpPr/>
          <p:nvPr/>
        </p:nvSpPr>
        <p:spPr>
          <a:xfrm>
            <a:off x="182880" y="2221992"/>
            <a:ext cx="347472" cy="347472"/>
          </a:xfrm>
          <a:prstGeom prst="ellipse">
            <a:avLst/>
          </a:prstGeom>
          <a:solidFill>
            <a:srgbClr val="FF6B1A"/>
          </a:solidFill>
          <a:ln/>
        </p:spPr>
        <p:txBody>
          <a:bodyPr/>
          <a:lstStyle/>
          <a:p>
            <a:endParaRPr lang="en-US"/>
          </a:p>
        </p:txBody>
      </p:sp>
      <p:sp>
        <p:nvSpPr>
          <p:cNvPr id="13" name="Text 11"/>
          <p:cNvSpPr txBox="1"/>
          <p:nvPr/>
        </p:nvSpPr>
        <p:spPr>
          <a:xfrm>
            <a:off x="182880" y="222199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194560"/>
            <a:ext cx="635127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Elige la opcion que corresponde a tu iluminacion</a:t>
            </a:r>
            <a:endParaRPr lang="en-US" sz="1100" dirty="0"/>
          </a:p>
        </p:txBody>
      </p:sp>
      <p:sp>
        <p:nvSpPr>
          <p:cNvPr id="15" name="Text 13"/>
          <p:cNvSpPr txBox="1"/>
          <p:nvPr/>
        </p:nvSpPr>
        <p:spPr>
          <a:xfrm>
            <a:off x="640080" y="2386435"/>
            <a:ext cx="635127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Daylight, Cloudy, Shade, Tungsten, Fluorescent, Flash. Para fotos RAW, prueba Auto primero y ajusta desde ahi.</a:t>
            </a:r>
            <a:endParaRPr lang="en-US" sz="1050" dirty="0"/>
          </a:p>
        </p:txBody>
      </p:sp>
      <p:sp>
        <p:nvSpPr>
          <p:cNvPr id="16" name="Shape 14"/>
          <p:cNvSpPr/>
          <p:nvPr/>
        </p:nvSpPr>
        <p:spPr>
          <a:xfrm>
            <a:off x="182880" y="3099816"/>
            <a:ext cx="347472" cy="347472"/>
          </a:xfrm>
          <a:prstGeom prst="ellipse">
            <a:avLst/>
          </a:prstGeom>
          <a:solidFill>
            <a:srgbClr val="FF6B1A"/>
          </a:solidFill>
          <a:ln/>
        </p:spPr>
        <p:txBody>
          <a:bodyPr/>
          <a:lstStyle/>
          <a:p>
            <a:endParaRPr lang="en-US"/>
          </a:p>
        </p:txBody>
      </p:sp>
      <p:sp>
        <p:nvSpPr>
          <p:cNvPr id="17" name="Text 15"/>
          <p:cNvSpPr txBox="1"/>
          <p:nvPr/>
        </p:nvSpPr>
        <p:spPr>
          <a:xfrm>
            <a:off x="182880" y="3099816"/>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3072384"/>
            <a:ext cx="635127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Usa los controles Temp y Tint para ajustar con precision</a:t>
            </a:r>
            <a:endParaRPr lang="en-US" sz="1100" dirty="0"/>
          </a:p>
        </p:txBody>
      </p:sp>
      <p:sp>
        <p:nvSpPr>
          <p:cNvPr id="19" name="Text 17"/>
          <p:cNvSpPr txBox="1"/>
          <p:nvPr/>
        </p:nvSpPr>
        <p:spPr>
          <a:xfrm>
            <a:off x="640080" y="3264259"/>
            <a:ext cx="635127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Temp mueve de azul a amarillo (frio a calido). Tint mueve de verde a magenta. Arrastra hasta que los colores se vean naturales.</a:t>
            </a:r>
            <a:endParaRPr lang="en-US" sz="1050" dirty="0"/>
          </a:p>
        </p:txBody>
      </p:sp>
      <p:sp>
        <p:nvSpPr>
          <p:cNvPr id="20" name="Shape 18"/>
          <p:cNvSpPr/>
          <p:nvPr/>
        </p:nvSpPr>
        <p:spPr>
          <a:xfrm>
            <a:off x="182880" y="3977640"/>
            <a:ext cx="347472" cy="347472"/>
          </a:xfrm>
          <a:prstGeom prst="ellipse">
            <a:avLst/>
          </a:prstGeom>
          <a:solidFill>
            <a:srgbClr val="FF6B1A"/>
          </a:solidFill>
          <a:ln/>
        </p:spPr>
        <p:txBody>
          <a:bodyPr/>
          <a:lstStyle/>
          <a:p>
            <a:endParaRPr lang="en-US"/>
          </a:p>
        </p:txBody>
      </p:sp>
      <p:sp>
        <p:nvSpPr>
          <p:cNvPr id="21" name="Text 19"/>
          <p:cNvSpPr txBox="1"/>
          <p:nvPr/>
        </p:nvSpPr>
        <p:spPr>
          <a:xfrm>
            <a:off x="182880" y="397764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40080" y="3950208"/>
            <a:ext cx="635127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Usa el White Balance Selector para mayor precision</a:t>
            </a:r>
            <a:endParaRPr lang="en-US" sz="1100" dirty="0"/>
          </a:p>
        </p:txBody>
      </p:sp>
      <p:sp>
        <p:nvSpPr>
          <p:cNvPr id="23" name="Text 21"/>
          <p:cNvSpPr txBox="1"/>
          <p:nvPr/>
        </p:nvSpPr>
        <p:spPr>
          <a:xfrm>
            <a:off x="640080" y="4142083"/>
            <a:ext cx="6460998" cy="45720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Presiona W o haz clic en el icono del cuentagotas en el panel Basic. Haz clic en algo en tu foto que deba ser gris neutro. Lightroom establece el WB automaticamente.</a:t>
            </a:r>
            <a:endParaRPr lang="en-US" sz="1050" dirty="0"/>
          </a:p>
        </p:txBody>
      </p:sp>
      <p:pic>
        <p:nvPicPr>
          <p:cNvPr id="24" name="Image 0" descr="preencoded.png"/>
          <p:cNvPicPr>
            <a:picLocks noChangeAspect="1"/>
          </p:cNvPicPr>
          <p:nvPr/>
        </p:nvPicPr>
        <p:blipFill>
          <a:blip r:embed="rId3"/>
          <a:srcRect l="8383" t="5435" r="51180" b="3803"/>
          <a:stretch>
            <a:fillRect/>
          </a:stretch>
        </p:blipFill>
        <p:spPr>
          <a:xfrm>
            <a:off x="7711820" y="1717873"/>
            <a:ext cx="845058" cy="2115108"/>
          </a:xfrm>
          <a:prstGeom prst="rect">
            <a:avLst/>
          </a:prstGeom>
        </p:spPr>
      </p:pic>
      <p:sp>
        <p:nvSpPr>
          <p:cNvPr id="25" name="Text 22"/>
          <p:cNvSpPr txBox="1"/>
          <p:nvPr/>
        </p:nvSpPr>
        <p:spPr>
          <a:xfrm>
            <a:off x="7684960" y="4171309"/>
            <a:ext cx="898779"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Menu WB: elige la opcion que corresponde a tu fuente de luz</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04</a:t>
            </a:r>
            <a:endParaRPr lang="en-US" sz="1000" dirty="0"/>
          </a:p>
        </p:txBody>
      </p:sp>
      <p:sp>
        <p:nvSpPr>
          <p:cNvPr id="4" name="Text 2"/>
          <p:cNvSpPr txBox="1"/>
          <p:nvPr/>
        </p:nvSpPr>
        <p:spPr>
          <a:xfrm>
            <a:off x="1572768" y="91440"/>
            <a:ext cx="7388352" cy="457200"/>
          </a:xfrm>
          <a:prstGeom prst="rect">
            <a:avLst/>
          </a:prstGeom>
          <a:noFill/>
          <a:ln/>
        </p:spPr>
        <p:txBody>
          <a:bodyPr wrap="square" lIns="0" tIns="0" rIns="0" bIns="0" rtlCol="0" anchor="ctr"/>
          <a:lstStyle/>
          <a:p>
            <a:pPr marL="0" indent="0">
              <a:lnSpc>
                <a:spcPct val="100000"/>
              </a:lnSpc>
              <a:buNone/>
            </a:pPr>
            <a:r>
              <a:rPr lang="en-US" sz="2000" b="1" dirty="0">
                <a:solidFill>
                  <a:srgbClr val="FFFFFF"/>
                </a:solidFill>
                <a:latin typeface="Calibri" pitchFamily="34" charset="0"/>
                <a:ea typeface="Calibri" pitchFamily="34" charset="-122"/>
                <a:cs typeface="Calibri" pitchFamily="34" charset="-120"/>
              </a:rPr>
              <a:t>Ajustar Exposicion y Contraste</a:t>
            </a:r>
            <a:endParaRPr lang="en-US" sz="2000" dirty="0"/>
          </a:p>
        </p:txBody>
      </p:sp>
      <p:sp>
        <p:nvSpPr>
          <p:cNvPr id="5" name="Shape 3"/>
          <p:cNvSpPr/>
          <p:nvPr/>
        </p:nvSpPr>
        <p:spPr>
          <a:xfrm>
            <a:off x="182880" y="804672"/>
            <a:ext cx="347472" cy="347472"/>
          </a:xfrm>
          <a:prstGeom prst="ellipse">
            <a:avLst/>
          </a:prstGeom>
          <a:solidFill>
            <a:srgbClr val="FF6B1A"/>
          </a:solidFill>
          <a:ln/>
        </p:spPr>
        <p:txBody>
          <a:bodyPr/>
          <a:lstStyle/>
          <a:p>
            <a:endParaRPr lang="en-US"/>
          </a:p>
        </p:txBody>
      </p:sp>
      <p:sp>
        <p:nvSpPr>
          <p:cNvPr id="6" name="Text 4"/>
          <p:cNvSpPr txBox="1"/>
          <p:nvPr/>
        </p:nvSpPr>
        <p:spPr>
          <a:xfrm>
            <a:off x="182880" y="80467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40080" y="77724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Encuentra la seccion Tone en el panel Basic</a:t>
            </a:r>
            <a:endParaRPr lang="en-US" sz="1100" dirty="0"/>
          </a:p>
        </p:txBody>
      </p:sp>
      <p:sp>
        <p:nvSpPr>
          <p:cNvPr id="8" name="Text 6"/>
          <p:cNvSpPr txBox="1"/>
          <p:nvPr/>
        </p:nvSpPr>
        <p:spPr>
          <a:xfrm>
            <a:off x="640080" y="1051560"/>
            <a:ext cx="3371453"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Debajo de White Balance veras Tone con seis controles: Exposure, Contrast, Highlights, Shadows, Whites y Blacks.</a:t>
            </a:r>
            <a:endParaRPr lang="en-US" sz="1050" dirty="0"/>
          </a:p>
        </p:txBody>
      </p:sp>
      <p:sp>
        <p:nvSpPr>
          <p:cNvPr id="9" name="Shape 7"/>
          <p:cNvSpPr/>
          <p:nvPr/>
        </p:nvSpPr>
        <p:spPr>
          <a:xfrm>
            <a:off x="182880" y="1673352"/>
            <a:ext cx="347472" cy="347472"/>
          </a:xfrm>
          <a:prstGeom prst="ellipse">
            <a:avLst/>
          </a:prstGeom>
          <a:solidFill>
            <a:srgbClr val="FF6B1A"/>
          </a:solidFill>
          <a:ln/>
        </p:spPr>
        <p:txBody>
          <a:bodyPr/>
          <a:lstStyle/>
          <a:p>
            <a:endParaRPr lang="en-US"/>
          </a:p>
        </p:txBody>
      </p:sp>
      <p:sp>
        <p:nvSpPr>
          <p:cNvPr id="10" name="Text 8"/>
          <p:cNvSpPr txBox="1"/>
          <p:nvPr/>
        </p:nvSpPr>
        <p:spPr>
          <a:xfrm>
            <a:off x="182880" y="167335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40080" y="164592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Arrastra Exposure para establecer el brillo general</a:t>
            </a:r>
            <a:endParaRPr lang="en-US" sz="1100" dirty="0"/>
          </a:p>
        </p:txBody>
      </p:sp>
      <p:sp>
        <p:nvSpPr>
          <p:cNvPr id="12" name="Text 10"/>
          <p:cNvSpPr txBox="1"/>
          <p:nvPr/>
        </p:nvSpPr>
        <p:spPr>
          <a:xfrm>
            <a:off x="640080" y="1920240"/>
            <a:ext cx="3204897"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Exposure afecta principalmente los tonos medios. Arrastra a la derecha para aclarar, a la izquierda para oscurecer. Piensa en el como el ajuste del brillo base de toda la foto.</a:t>
            </a:r>
            <a:endParaRPr lang="en-US" sz="1050" dirty="0"/>
          </a:p>
        </p:txBody>
      </p:sp>
      <p:sp>
        <p:nvSpPr>
          <p:cNvPr id="13" name="Shape 11"/>
          <p:cNvSpPr/>
          <p:nvPr/>
        </p:nvSpPr>
        <p:spPr>
          <a:xfrm>
            <a:off x="182880" y="2542032"/>
            <a:ext cx="347472" cy="347472"/>
          </a:xfrm>
          <a:prstGeom prst="ellipse">
            <a:avLst/>
          </a:prstGeom>
          <a:solidFill>
            <a:srgbClr val="FF6B1A"/>
          </a:solidFill>
          <a:ln/>
        </p:spPr>
        <p:txBody>
          <a:bodyPr/>
          <a:lstStyle/>
          <a:p>
            <a:endParaRPr lang="en-US"/>
          </a:p>
        </p:txBody>
      </p:sp>
      <p:sp>
        <p:nvSpPr>
          <p:cNvPr id="14" name="Text 12"/>
          <p:cNvSpPr txBox="1"/>
          <p:nvPr/>
        </p:nvSpPr>
        <p:spPr>
          <a:xfrm>
            <a:off x="182880" y="254203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40080" y="251460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Agrega Contrast para separar los tonos</a:t>
            </a:r>
            <a:endParaRPr lang="en-US" sz="1100" dirty="0"/>
          </a:p>
        </p:txBody>
      </p:sp>
      <p:sp>
        <p:nvSpPr>
          <p:cNvPr id="16" name="Text 14"/>
          <p:cNvSpPr txBox="1"/>
          <p:nvPr/>
        </p:nvSpPr>
        <p:spPr>
          <a:xfrm>
            <a:off x="640080" y="2788920"/>
            <a:ext cx="3287343"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Contrast hace que las luces sean mas brillantes y las sombras mas oscuras, aumentando la diferencia entre ellos. Comienza con +20 a +50 en la mayoria de las fotos.</a:t>
            </a:r>
            <a:endParaRPr lang="en-US" sz="1050" dirty="0"/>
          </a:p>
        </p:txBody>
      </p:sp>
      <p:sp>
        <p:nvSpPr>
          <p:cNvPr id="17" name="Shape 15"/>
          <p:cNvSpPr/>
          <p:nvPr/>
        </p:nvSpPr>
        <p:spPr>
          <a:xfrm>
            <a:off x="182880" y="3756518"/>
            <a:ext cx="8727948" cy="327672"/>
          </a:xfrm>
          <a:prstGeom prst="roundRect">
            <a:avLst>
              <a:gd name="adj" fmla="val 11667"/>
            </a:avLst>
          </a:prstGeom>
          <a:solidFill>
            <a:srgbClr val="041414"/>
          </a:solidFill>
          <a:ln w="12700">
            <a:solidFill>
              <a:srgbClr val="007474"/>
            </a:solidFill>
            <a:prstDash val="solid"/>
          </a:ln>
        </p:spPr>
        <p:txBody>
          <a:bodyPr/>
          <a:lstStyle/>
          <a:p>
            <a:endParaRPr lang="en-US"/>
          </a:p>
        </p:txBody>
      </p:sp>
      <p:sp>
        <p:nvSpPr>
          <p:cNvPr id="19" name="Text 17"/>
          <p:cNvSpPr txBox="1"/>
          <p:nvPr/>
        </p:nvSpPr>
        <p:spPr>
          <a:xfrm>
            <a:off x="356616" y="3731527"/>
            <a:ext cx="8361813" cy="36576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Consejo: Mantiene presionado Shift y haz doble clic en cualquier nombre de control para que Lightroom lo ajuste automaticamente. Util cuando quieres que Lightroom haga una estimacion rapida.</a:t>
            </a:r>
            <a:endParaRPr lang="en-US" sz="1050" dirty="0"/>
          </a:p>
        </p:txBody>
      </p:sp>
      <p:sp>
        <p:nvSpPr>
          <p:cNvPr id="20" name="Shape 18"/>
          <p:cNvSpPr/>
          <p:nvPr/>
        </p:nvSpPr>
        <p:spPr>
          <a:xfrm>
            <a:off x="182880" y="4227304"/>
            <a:ext cx="8727948" cy="583952"/>
          </a:xfrm>
          <a:prstGeom prst="roundRect">
            <a:avLst>
              <a:gd name="adj" fmla="val 8235"/>
            </a:avLst>
          </a:prstGeom>
          <a:solidFill>
            <a:srgbClr val="1A0A00"/>
          </a:solidFill>
          <a:ln w="12700">
            <a:solidFill>
              <a:srgbClr val="FF6B1A"/>
            </a:solidFill>
            <a:prstDash val="solid"/>
          </a:ln>
        </p:spPr>
        <p:txBody>
          <a:bodyPr/>
          <a:lstStyle/>
          <a:p>
            <a:endParaRPr lang="en-US"/>
          </a:p>
        </p:txBody>
      </p:sp>
      <p:sp>
        <p:nvSpPr>
          <p:cNvPr id="22" name="Text 20"/>
          <p:cNvSpPr txBox="1"/>
          <p:nvPr/>
        </p:nvSpPr>
        <p:spPr>
          <a:xfrm>
            <a:off x="347472" y="4222100"/>
            <a:ext cx="8427046" cy="59436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No lleves Exposure ni Contrast al maximo. Los ajustes sutiles dan mejores resultados. Una foto con +2.0 de exposicion perdera detalle en las luces y se vera desteñida. Comienza poco a poco.</a:t>
            </a:r>
            <a:endParaRPr lang="en-US" sz="1050" dirty="0"/>
          </a:p>
        </p:txBody>
      </p:sp>
      <p:pic>
        <p:nvPicPr>
          <p:cNvPr id="23" name="Image 0" descr="preencoded.png"/>
          <p:cNvPicPr>
            <a:picLocks noChangeAspect="1"/>
          </p:cNvPicPr>
          <p:nvPr/>
        </p:nvPicPr>
        <p:blipFill>
          <a:blip r:embed="rId3"/>
          <a:srcRect t="4611" r="7505" b="7818"/>
          <a:stretch>
            <a:fillRect/>
          </a:stretch>
        </p:blipFill>
        <p:spPr>
          <a:xfrm>
            <a:off x="4121261" y="802459"/>
            <a:ext cx="4861181" cy="2500037"/>
          </a:xfrm>
          <a:prstGeom prst="rect">
            <a:avLst/>
          </a:prstGeom>
        </p:spPr>
      </p:pic>
      <p:sp>
        <p:nvSpPr>
          <p:cNvPr id="24" name="Text 21"/>
          <p:cNvSpPr txBox="1"/>
          <p:nvPr/>
        </p:nvSpPr>
        <p:spPr>
          <a:xfrm>
            <a:off x="4700191" y="3384792"/>
            <a:ext cx="3703320"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Espacio de trabajo Develop: Exposure +1.70 aplicado a la foto de la calle de La Habana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05</a:t>
            </a:r>
            <a:endParaRPr lang="en-US" sz="1000" dirty="0"/>
          </a:p>
        </p:txBody>
      </p:sp>
      <p:sp>
        <p:nvSpPr>
          <p:cNvPr id="4" name="Text 2"/>
          <p:cNvSpPr txBox="1"/>
          <p:nvPr/>
        </p:nvSpPr>
        <p:spPr>
          <a:xfrm>
            <a:off x="1572768" y="91440"/>
            <a:ext cx="7388352" cy="457200"/>
          </a:xfrm>
          <a:prstGeom prst="rect">
            <a:avLst/>
          </a:prstGeom>
          <a:noFill/>
          <a:ln/>
        </p:spPr>
        <p:txBody>
          <a:bodyPr wrap="square" lIns="0" tIns="0" rIns="0" bIns="0" rtlCol="0" anchor="ctr"/>
          <a:lstStyle/>
          <a:p>
            <a:pPr marL="0" indent="0">
              <a:lnSpc>
                <a:spcPct val="100000"/>
              </a:lnSpc>
              <a:buNone/>
            </a:pPr>
            <a:r>
              <a:rPr lang="en-US" sz="2000" b="1" dirty="0">
                <a:solidFill>
                  <a:srgbClr val="FFFFFF"/>
                </a:solidFill>
                <a:latin typeface="Calibri" pitchFamily="34" charset="0"/>
                <a:ea typeface="Calibri" pitchFamily="34" charset="-122"/>
                <a:cs typeface="Calibri" pitchFamily="34" charset="-120"/>
              </a:rPr>
              <a:t>Recuperar Luces y Levantar Sombras</a:t>
            </a:r>
            <a:endParaRPr lang="en-US" sz="2000" dirty="0"/>
          </a:p>
        </p:txBody>
      </p:sp>
      <p:sp>
        <p:nvSpPr>
          <p:cNvPr id="5" name="Shape 3"/>
          <p:cNvSpPr/>
          <p:nvPr/>
        </p:nvSpPr>
        <p:spPr>
          <a:xfrm>
            <a:off x="182880" y="976616"/>
            <a:ext cx="8778240" cy="413832"/>
          </a:xfrm>
          <a:prstGeom prst="roundRect">
            <a:avLst>
              <a:gd name="adj" fmla="val 9722"/>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281063" y="932688"/>
            <a:ext cx="8735126" cy="475488"/>
          </a:xfrm>
          <a:prstGeom prst="rect">
            <a:avLst/>
          </a:prstGeom>
          <a:noFill/>
          <a:ln/>
        </p:spPr>
        <p:txBody>
          <a:bodyPr wrap="square" lIns="0" tIns="0" rIns="0" bIns="0" rtlCol="0" anchor="ctr"/>
          <a:lstStyle/>
          <a:p>
            <a:pPr marL="0" indent="0">
              <a:lnSpc>
                <a:spcPct val="100000"/>
              </a:lnSpc>
              <a:buNone/>
            </a:pPr>
            <a:r>
              <a:rPr lang="en-US" sz="1025" dirty="0">
                <a:solidFill>
                  <a:srgbClr val="FFFFFF"/>
                </a:solidFill>
                <a:latin typeface="Calibri" pitchFamily="34" charset="0"/>
                <a:ea typeface="Calibri" pitchFamily="34" charset="-122"/>
                <a:cs typeface="Calibri" pitchFamily="34" charset="-120"/>
              </a:rPr>
              <a:t>Highlights y Shadows son controles dirigidos. Highlights solo afecta las areas brillantes. Shadows solo afecta las areas oscuras. No se interfieren entre si.</a:t>
            </a:r>
            <a:endParaRPr lang="en-US" sz="1025" dirty="0"/>
          </a:p>
        </p:txBody>
      </p:sp>
      <p:sp>
        <p:nvSpPr>
          <p:cNvPr id="8" name="Shape 6"/>
          <p:cNvSpPr/>
          <p:nvPr/>
        </p:nvSpPr>
        <p:spPr>
          <a:xfrm>
            <a:off x="182880" y="1840296"/>
            <a:ext cx="347472" cy="347472"/>
          </a:xfrm>
          <a:prstGeom prst="ellipse">
            <a:avLst/>
          </a:prstGeom>
          <a:solidFill>
            <a:srgbClr val="FF6B1A"/>
          </a:solidFill>
          <a:ln/>
        </p:spPr>
        <p:txBody>
          <a:bodyPr/>
          <a:lstStyle/>
          <a:p>
            <a:endParaRPr lang="en-US"/>
          </a:p>
        </p:txBody>
      </p:sp>
      <p:sp>
        <p:nvSpPr>
          <p:cNvPr id="9" name="Text 7"/>
          <p:cNvSpPr txBox="1"/>
          <p:nvPr/>
        </p:nvSpPr>
        <p:spPr>
          <a:xfrm>
            <a:off x="182880" y="1840296"/>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792427"/>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Arrastra Highlights a la izquierda para recuperar un cielo brillante</a:t>
            </a:r>
            <a:endParaRPr lang="en-US" sz="1100" dirty="0"/>
          </a:p>
        </p:txBody>
      </p:sp>
      <p:sp>
        <p:nvSpPr>
          <p:cNvPr id="11" name="Text 9"/>
          <p:cNvSpPr txBox="1"/>
          <p:nvPr/>
        </p:nvSpPr>
        <p:spPr>
          <a:xfrm>
            <a:off x="629097" y="1933776"/>
            <a:ext cx="8039057"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Bajar Highlights (hacia -100) recupera el detalle en areas sobreexpuestas como nubes o un cielo brillante. No oscurece las sombras.</a:t>
            </a:r>
            <a:endParaRPr lang="en-US" sz="1050" dirty="0"/>
          </a:p>
        </p:txBody>
      </p:sp>
      <p:sp>
        <p:nvSpPr>
          <p:cNvPr id="12" name="Shape 10"/>
          <p:cNvSpPr/>
          <p:nvPr/>
        </p:nvSpPr>
        <p:spPr>
          <a:xfrm>
            <a:off x="182880" y="2718120"/>
            <a:ext cx="347472" cy="347472"/>
          </a:xfrm>
          <a:prstGeom prst="ellipse">
            <a:avLst/>
          </a:prstGeom>
          <a:solidFill>
            <a:srgbClr val="FF6B1A"/>
          </a:solidFill>
          <a:ln/>
        </p:spPr>
        <p:txBody>
          <a:bodyPr/>
          <a:lstStyle/>
          <a:p>
            <a:endParaRPr lang="en-US"/>
          </a:p>
        </p:txBody>
      </p:sp>
      <p:sp>
        <p:nvSpPr>
          <p:cNvPr id="13" name="Text 11"/>
          <p:cNvSpPr txBox="1"/>
          <p:nvPr/>
        </p:nvSpPr>
        <p:spPr>
          <a:xfrm>
            <a:off x="182880" y="271812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670251"/>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Arrastra Shadows a la derecha para abrir areas oscuras</a:t>
            </a:r>
            <a:endParaRPr lang="en-US" sz="1100" dirty="0"/>
          </a:p>
        </p:txBody>
      </p:sp>
      <p:sp>
        <p:nvSpPr>
          <p:cNvPr id="15" name="Text 13"/>
          <p:cNvSpPr txBox="1"/>
          <p:nvPr/>
        </p:nvSpPr>
        <p:spPr>
          <a:xfrm>
            <a:off x="640080" y="2965008"/>
            <a:ext cx="2767209"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Subir Shadows (hacia +100) revela detalle en areas oscuras como rostros en sombra o un primer plano oscuro. No afecta las areas brillantes.</a:t>
            </a:r>
            <a:endParaRPr lang="en-US" sz="1050" dirty="0"/>
          </a:p>
        </p:txBody>
      </p:sp>
      <p:sp>
        <p:nvSpPr>
          <p:cNvPr id="16" name="Shape 14"/>
          <p:cNvSpPr/>
          <p:nvPr/>
        </p:nvSpPr>
        <p:spPr>
          <a:xfrm>
            <a:off x="182880" y="3818128"/>
            <a:ext cx="347472" cy="347472"/>
          </a:xfrm>
          <a:prstGeom prst="ellipse">
            <a:avLst/>
          </a:prstGeom>
          <a:solidFill>
            <a:srgbClr val="FF6B1A"/>
          </a:solidFill>
          <a:ln/>
        </p:spPr>
        <p:txBody>
          <a:bodyPr/>
          <a:lstStyle/>
          <a:p>
            <a:endParaRPr lang="en-US"/>
          </a:p>
        </p:txBody>
      </p:sp>
      <p:sp>
        <p:nvSpPr>
          <p:cNvPr id="17" name="Text 15"/>
          <p:cNvSpPr txBox="1"/>
          <p:nvPr/>
        </p:nvSpPr>
        <p:spPr>
          <a:xfrm>
            <a:off x="182880" y="3818128"/>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3735832"/>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J para ver las advertencias de recorte</a:t>
            </a:r>
            <a:endParaRPr lang="en-US" sz="1100" dirty="0"/>
          </a:p>
        </p:txBody>
      </p:sp>
      <p:sp>
        <p:nvSpPr>
          <p:cNvPr id="19" name="Text 17"/>
          <p:cNvSpPr txBox="1"/>
          <p:nvPr/>
        </p:nvSpPr>
        <p:spPr>
          <a:xfrm>
            <a:off x="640080" y="4030589"/>
            <a:ext cx="2767209"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Las areas azules estan perdiendo detalle en las sombras. Las areas rojas estan perdiendo detalle en las luces. Usa esto para saber hasta donde puedes llevar los controles antes de perder detalle.</a:t>
            </a:r>
            <a:endParaRPr lang="en-US" sz="1050" dirty="0"/>
          </a:p>
        </p:txBody>
      </p:sp>
      <p:pic>
        <p:nvPicPr>
          <p:cNvPr id="20" name="Image 0" descr="preencoded.png"/>
          <p:cNvPicPr>
            <a:picLocks noChangeAspect="1"/>
          </p:cNvPicPr>
          <p:nvPr/>
        </p:nvPicPr>
        <p:blipFill>
          <a:blip r:embed="rId3"/>
          <a:srcRect l="104" t="5081" r="7016" b="897"/>
          <a:stretch>
            <a:fillRect/>
          </a:stretch>
        </p:blipFill>
        <p:spPr>
          <a:xfrm>
            <a:off x="3580974" y="2481553"/>
            <a:ext cx="2623811" cy="2258769"/>
          </a:xfrm>
          <a:prstGeom prst="rect">
            <a:avLst/>
          </a:prstGeom>
        </p:spPr>
      </p:pic>
      <p:sp>
        <p:nvSpPr>
          <p:cNvPr id="21" name="Text 18"/>
          <p:cNvSpPr txBox="1"/>
          <p:nvPr/>
        </p:nvSpPr>
        <p:spPr>
          <a:xfrm>
            <a:off x="3500366" y="4767756"/>
            <a:ext cx="2785170" cy="256031"/>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Shadows +52 aplicado: el detalle se abre en el primer plano oscuro</a:t>
            </a:r>
            <a:endParaRPr lang="en-US" sz="900" dirty="0"/>
          </a:p>
        </p:txBody>
      </p:sp>
      <p:pic>
        <p:nvPicPr>
          <p:cNvPr id="22" name="Image 1" descr="preencoded.png"/>
          <p:cNvPicPr>
            <a:picLocks noChangeAspect="1"/>
          </p:cNvPicPr>
          <p:nvPr/>
        </p:nvPicPr>
        <p:blipFill>
          <a:blip r:embed="rId4"/>
          <a:srcRect t="5978" r="5717"/>
          <a:stretch>
            <a:fillRect/>
          </a:stretch>
        </p:blipFill>
        <p:spPr>
          <a:xfrm>
            <a:off x="6285536" y="2481553"/>
            <a:ext cx="2663448" cy="2258769"/>
          </a:xfrm>
          <a:prstGeom prst="rect">
            <a:avLst/>
          </a:prstGeom>
        </p:spPr>
      </p:pic>
      <p:sp>
        <p:nvSpPr>
          <p:cNvPr id="23" name="Text 19"/>
          <p:cNvSpPr txBox="1"/>
          <p:nvPr/>
        </p:nvSpPr>
        <p:spPr>
          <a:xfrm>
            <a:off x="6258303" y="4767756"/>
            <a:ext cx="2717914" cy="256031"/>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Highlights -100: el detalle del cielo recuperado por completo</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06</a:t>
            </a:r>
            <a:endParaRPr lang="en-US" sz="1000" dirty="0"/>
          </a:p>
        </p:txBody>
      </p:sp>
      <p:sp>
        <p:nvSpPr>
          <p:cNvPr id="4" name="Text 2"/>
          <p:cNvSpPr txBox="1"/>
          <p:nvPr/>
        </p:nvSpPr>
        <p:spPr>
          <a:xfrm>
            <a:off x="1572768" y="91440"/>
            <a:ext cx="7388352" cy="457200"/>
          </a:xfrm>
          <a:prstGeom prst="rect">
            <a:avLst/>
          </a:prstGeom>
          <a:noFill/>
          <a:ln/>
        </p:spPr>
        <p:txBody>
          <a:bodyPr wrap="square" lIns="0" tIns="0" rIns="0" bIns="0" rtlCol="0" anchor="ctr"/>
          <a:lstStyle/>
          <a:p>
            <a:pPr marL="0" indent="0">
              <a:lnSpc>
                <a:spcPct val="100000"/>
              </a:lnSpc>
              <a:buNone/>
            </a:pPr>
            <a:r>
              <a:rPr lang="en-US" sz="2000" b="1" dirty="0">
                <a:solidFill>
                  <a:srgbClr val="FFFFFF"/>
                </a:solidFill>
                <a:latin typeface="Calibri" pitchFamily="34" charset="0"/>
                <a:ea typeface="Calibri" pitchFamily="34" charset="-122"/>
                <a:cs typeface="Calibri" pitchFamily="34" charset="-120"/>
              </a:rPr>
              <a:t>Establecer Whites y Blacks</a:t>
            </a:r>
            <a:endParaRPr lang="en-US" sz="2000" dirty="0"/>
          </a:p>
        </p:txBody>
      </p:sp>
      <p:sp>
        <p:nvSpPr>
          <p:cNvPr id="5" name="Shape 3"/>
          <p:cNvSpPr/>
          <p:nvPr/>
        </p:nvSpPr>
        <p:spPr>
          <a:xfrm>
            <a:off x="182880" y="777240"/>
            <a:ext cx="4892040" cy="658368"/>
          </a:xfrm>
          <a:prstGeom prst="roundRect">
            <a:avLst>
              <a:gd name="adj" fmla="val 9722"/>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347472" y="868680"/>
            <a:ext cx="4663440"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Whites establece el punto mas brillante de tu foto. Blacks establece el punto mas oscuro. Configurarlos correctamente distribuye toda la informacion tonal a lo largo del rango completo de negro a blanco.</a:t>
            </a:r>
            <a:endParaRPr lang="en-US" sz="1050" dirty="0"/>
          </a:p>
        </p:txBody>
      </p:sp>
      <p:sp>
        <p:nvSpPr>
          <p:cNvPr id="8" name="Shape 6"/>
          <p:cNvSpPr/>
          <p:nvPr/>
        </p:nvSpPr>
        <p:spPr>
          <a:xfrm>
            <a:off x="182880" y="1712625"/>
            <a:ext cx="347472" cy="347472"/>
          </a:xfrm>
          <a:prstGeom prst="ellipse">
            <a:avLst/>
          </a:prstGeom>
          <a:solidFill>
            <a:srgbClr val="FF6B1A"/>
          </a:solidFill>
          <a:ln/>
        </p:spPr>
        <p:txBody>
          <a:bodyPr/>
          <a:lstStyle/>
          <a:p>
            <a:endParaRPr lang="en-US"/>
          </a:p>
        </p:txBody>
      </p:sp>
      <p:sp>
        <p:nvSpPr>
          <p:cNvPr id="9" name="Text 7"/>
          <p:cNvSpPr txBox="1"/>
          <p:nvPr/>
        </p:nvSpPr>
        <p:spPr>
          <a:xfrm>
            <a:off x="182880" y="1712625"/>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685193"/>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Mantiene Option y arrastra el control Whites</a:t>
            </a:r>
            <a:endParaRPr lang="en-US" sz="1100" dirty="0"/>
          </a:p>
        </p:txBody>
      </p:sp>
      <p:sp>
        <p:nvSpPr>
          <p:cNvPr id="11" name="Text 9"/>
          <p:cNvSpPr txBox="1"/>
          <p:nvPr/>
        </p:nvSpPr>
        <p:spPr>
          <a:xfrm>
            <a:off x="640080" y="1899553"/>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La pantalla se vuelve negra. Arrastra a la derecha hasta que veas aparecer las primeras areas blancas o de color. Ese es tu punto de recorte: retrocede un poco.</a:t>
            </a:r>
            <a:endParaRPr lang="en-US" sz="1050" dirty="0"/>
          </a:p>
        </p:txBody>
      </p:sp>
      <p:sp>
        <p:nvSpPr>
          <p:cNvPr id="12" name="Shape 10"/>
          <p:cNvSpPr/>
          <p:nvPr/>
        </p:nvSpPr>
        <p:spPr>
          <a:xfrm>
            <a:off x="182880" y="2590449"/>
            <a:ext cx="347472" cy="347472"/>
          </a:xfrm>
          <a:prstGeom prst="ellipse">
            <a:avLst/>
          </a:prstGeom>
          <a:solidFill>
            <a:srgbClr val="FF6B1A"/>
          </a:solidFill>
          <a:ln/>
        </p:spPr>
        <p:txBody>
          <a:bodyPr/>
          <a:lstStyle/>
          <a:p>
            <a:endParaRPr lang="en-US"/>
          </a:p>
        </p:txBody>
      </p:sp>
      <p:sp>
        <p:nvSpPr>
          <p:cNvPr id="13" name="Text 11"/>
          <p:cNvSpPr txBox="1"/>
          <p:nvPr/>
        </p:nvSpPr>
        <p:spPr>
          <a:xfrm>
            <a:off x="182880" y="2590449"/>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563017"/>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Mantiene Option y arrastra el control Blacks</a:t>
            </a:r>
            <a:endParaRPr lang="en-US" sz="1100" dirty="0"/>
          </a:p>
        </p:txBody>
      </p:sp>
      <p:sp>
        <p:nvSpPr>
          <p:cNvPr id="15" name="Text 13"/>
          <p:cNvSpPr txBox="1"/>
          <p:nvPr/>
        </p:nvSpPr>
        <p:spPr>
          <a:xfrm>
            <a:off x="640080" y="2777377"/>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La pantalla se vuelve blanca. Arrastra a la izquierda hasta que veas aparecer las primeras areas negras. Ese es tu punto de negro: retrocede un poco.</a:t>
            </a:r>
            <a:endParaRPr lang="en-US" sz="1050" dirty="0"/>
          </a:p>
        </p:txBody>
      </p:sp>
      <p:sp>
        <p:nvSpPr>
          <p:cNvPr id="16" name="Shape 14"/>
          <p:cNvSpPr/>
          <p:nvPr/>
        </p:nvSpPr>
        <p:spPr>
          <a:xfrm>
            <a:off x="182880" y="3468273"/>
            <a:ext cx="347472" cy="347472"/>
          </a:xfrm>
          <a:prstGeom prst="ellipse">
            <a:avLst/>
          </a:prstGeom>
          <a:solidFill>
            <a:srgbClr val="FF6B1A"/>
          </a:solidFill>
          <a:ln/>
        </p:spPr>
        <p:txBody>
          <a:bodyPr/>
          <a:lstStyle/>
          <a:p>
            <a:endParaRPr lang="en-US"/>
          </a:p>
        </p:txBody>
      </p:sp>
      <p:sp>
        <p:nvSpPr>
          <p:cNvPr id="17" name="Text 15"/>
          <p:cNvSpPr txBox="1"/>
          <p:nvPr/>
        </p:nvSpPr>
        <p:spPr>
          <a:xfrm>
            <a:off x="182880" y="3468273"/>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3440841"/>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Revisa el Histogram despues de ajustar</a:t>
            </a:r>
            <a:endParaRPr lang="en-US" sz="1100" dirty="0"/>
          </a:p>
        </p:txBody>
      </p:sp>
      <p:sp>
        <p:nvSpPr>
          <p:cNvPr id="19" name="Text 17"/>
          <p:cNvSpPr txBox="1"/>
          <p:nvPr/>
        </p:nvSpPr>
        <p:spPr>
          <a:xfrm>
            <a:off x="640080" y="3598987"/>
            <a:ext cx="6405297"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Una foto bien ajustada tiene datos distribuidos en la mayor parte del Histogram, sin grandes acumulaciones contra los bordes izquierdo o derecho.</a:t>
            </a:r>
            <a:endParaRPr lang="en-US" sz="1050" dirty="0"/>
          </a:p>
        </p:txBody>
      </p:sp>
      <p:sp>
        <p:nvSpPr>
          <p:cNvPr id="20" name="Shape 18"/>
          <p:cNvSpPr/>
          <p:nvPr/>
        </p:nvSpPr>
        <p:spPr>
          <a:xfrm>
            <a:off x="182880" y="4187952"/>
            <a:ext cx="8648575" cy="694944"/>
          </a:xfrm>
          <a:prstGeom prst="roundRect">
            <a:avLst>
              <a:gd name="adj" fmla="val 9211"/>
            </a:avLst>
          </a:prstGeom>
          <a:solidFill>
            <a:srgbClr val="041414"/>
          </a:solidFill>
          <a:ln w="12700">
            <a:solidFill>
              <a:srgbClr val="007474"/>
            </a:solidFill>
            <a:prstDash val="solid"/>
          </a:ln>
        </p:spPr>
        <p:txBody>
          <a:bodyPr/>
          <a:lstStyle/>
          <a:p>
            <a:endParaRPr lang="en-US"/>
          </a:p>
        </p:txBody>
      </p:sp>
      <p:sp>
        <p:nvSpPr>
          <p:cNvPr id="22" name="Text 20"/>
          <p:cNvSpPr txBox="1"/>
          <p:nvPr/>
        </p:nvSpPr>
        <p:spPr>
          <a:xfrm>
            <a:off x="347472" y="4279392"/>
            <a:ext cx="8106980" cy="512064"/>
          </a:xfrm>
          <a:prstGeom prst="rect">
            <a:avLst/>
          </a:prstGeom>
          <a:noFill/>
          <a:ln/>
        </p:spPr>
        <p:txBody>
          <a:bodyPr wrap="square" lIns="0" tIns="0" rIns="0" bIns="0"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Orden de flujo de trabajo profesional: primero Exposure. Luego Highlights y Shadows para recuperar detalle. Despues Whites y Blacks para establecer los extremos. Por ultimo Contrast al gusto.</a:t>
            </a:r>
            <a:endParaRPr lang="en-US" sz="1050" dirty="0"/>
          </a:p>
        </p:txBody>
      </p:sp>
      <p:grpSp>
        <p:nvGrpSpPr>
          <p:cNvPr id="25" name="Group 24">
            <a:extLst>
              <a:ext uri="{FF2B5EF4-FFF2-40B4-BE49-F238E27FC236}">
                <a16:creationId xmlns:a16="http://schemas.microsoft.com/office/drawing/2014/main" id="{9377AA29-EB95-1956-2292-088FE639750A}"/>
              </a:ext>
            </a:extLst>
          </p:cNvPr>
          <p:cNvGrpSpPr/>
          <p:nvPr/>
        </p:nvGrpSpPr>
        <p:grpSpPr>
          <a:xfrm>
            <a:off x="5074920" y="777239"/>
            <a:ext cx="3886200" cy="2730307"/>
            <a:chOff x="5257800" y="868680"/>
            <a:chExt cx="3703320" cy="2468880"/>
          </a:xfrm>
        </p:grpSpPr>
        <p:pic>
          <p:nvPicPr>
            <p:cNvPr id="23" name="Image 0" descr="preencoded.png"/>
            <p:cNvPicPr>
              <a:picLocks noChangeAspect="1"/>
            </p:cNvPicPr>
            <p:nvPr/>
          </p:nvPicPr>
          <p:blipFill>
            <a:blip r:embed="rId3"/>
            <a:srcRect t="4928" r="7003" b="5657"/>
            <a:stretch>
              <a:fillRect/>
            </a:stretch>
          </p:blipFill>
          <p:spPr>
            <a:xfrm>
              <a:off x="5387465" y="868680"/>
              <a:ext cx="3443990" cy="2240280"/>
            </a:xfrm>
            <a:prstGeom prst="rect">
              <a:avLst/>
            </a:prstGeom>
          </p:spPr>
        </p:pic>
        <p:sp>
          <p:nvSpPr>
            <p:cNvPr id="24" name="Text 21"/>
            <p:cNvSpPr txBox="1"/>
            <p:nvPr/>
          </p:nvSpPr>
          <p:spPr>
            <a:xfrm>
              <a:off x="5257800" y="3136392"/>
              <a:ext cx="3703320"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Histogram mostrando un rango tonal bien distribuido: ISO 1600, 70mm, f/2.8</a:t>
              </a:r>
              <a:endParaRPr lang="en-US" sz="9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1572768" y="91440"/>
            <a:ext cx="7388352" cy="457200"/>
          </a:xfrm>
          <a:prstGeom prst="rect">
            <a:avLst/>
          </a:prstGeom>
          <a:noFill/>
          <a:ln/>
        </p:spPr>
        <p:txBody>
          <a:bodyPr wrap="square" lIns="0" tIns="0" rIns="0" bIns="0" rtlCol="0" anchor="ctr"/>
          <a:lstStyle/>
          <a:p>
            <a:pPr marL="0" indent="0">
              <a:lnSpc>
                <a:spcPct val="100000"/>
              </a:lnSpc>
              <a:buNone/>
            </a:pPr>
            <a:r>
              <a:rPr lang="en-US" sz="2000" b="1" dirty="0">
                <a:solidFill>
                  <a:srgbClr val="FFFFFF"/>
                </a:solidFill>
                <a:latin typeface="Calibri" pitchFamily="34" charset="0"/>
                <a:ea typeface="Calibri" pitchFamily="34" charset="-122"/>
                <a:cs typeface="Calibri" pitchFamily="34" charset="-120"/>
              </a:rPr>
              <a:t>Como Leer el Histogram</a:t>
            </a:r>
            <a:endParaRPr lang="en-US" sz="2000" dirty="0"/>
          </a:p>
        </p:txBody>
      </p:sp>
      <p:pic>
        <p:nvPicPr>
          <p:cNvPr id="5" name="Image 0" descr="preencoded.png"/>
          <p:cNvPicPr>
            <a:picLocks noChangeAspect="1"/>
          </p:cNvPicPr>
          <p:nvPr/>
        </p:nvPicPr>
        <p:blipFill>
          <a:blip r:embed="rId3"/>
          <a:srcRect l="1588" t="866" r="18632" b="6035"/>
          <a:stretch>
            <a:fillRect/>
          </a:stretch>
        </p:blipFill>
        <p:spPr>
          <a:xfrm>
            <a:off x="367555" y="864632"/>
            <a:ext cx="3215091" cy="2720639"/>
          </a:xfrm>
          <a:prstGeom prst="rect">
            <a:avLst/>
          </a:prstGeom>
        </p:spPr>
      </p:pic>
      <p:sp>
        <p:nvSpPr>
          <p:cNvPr id="6" name="Text 3"/>
          <p:cNvSpPr txBox="1"/>
          <p:nvPr/>
        </p:nvSpPr>
        <p:spPr>
          <a:xfrm>
            <a:off x="246138" y="3648109"/>
            <a:ext cx="3456882"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Panel Histogram: canales de color superpuestos, metadatos de camara abajo</a:t>
            </a:r>
            <a:endParaRPr lang="en-US" sz="900" dirty="0"/>
          </a:p>
        </p:txBody>
      </p:sp>
      <p:sp>
        <p:nvSpPr>
          <p:cNvPr id="7" name="Text 4"/>
          <p:cNvSpPr txBox="1"/>
          <p:nvPr/>
        </p:nvSpPr>
        <p:spPr>
          <a:xfrm>
            <a:off x="4242966" y="864632"/>
            <a:ext cx="4699866"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Lado izquierdo = tonos oscuros</a:t>
            </a:r>
            <a:endParaRPr lang="en-US" sz="1100" dirty="0"/>
          </a:p>
        </p:txBody>
      </p:sp>
      <p:sp>
        <p:nvSpPr>
          <p:cNvPr id="8" name="Text 5"/>
          <p:cNvSpPr txBox="1"/>
          <p:nvPr/>
        </p:nvSpPr>
        <p:spPr>
          <a:xfrm>
            <a:off x="4242966" y="1030724"/>
            <a:ext cx="4699866"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Detalle de sombras y negros. Una acumulacion contra la pared izquierda significa negros recortados, negro puro sin detalle.</a:t>
            </a:r>
            <a:endParaRPr lang="en-US" sz="1050" dirty="0"/>
          </a:p>
        </p:txBody>
      </p:sp>
      <p:sp>
        <p:nvSpPr>
          <p:cNvPr id="9" name="Shape 6"/>
          <p:cNvSpPr/>
          <p:nvPr/>
        </p:nvSpPr>
        <p:spPr>
          <a:xfrm>
            <a:off x="3918504" y="843347"/>
            <a:ext cx="45720" cy="658368"/>
          </a:xfrm>
          <a:prstGeom prst="rect">
            <a:avLst/>
          </a:prstGeom>
          <a:solidFill>
            <a:srgbClr val="8B5CF6"/>
          </a:solidFill>
          <a:ln/>
        </p:spPr>
        <p:txBody>
          <a:bodyPr/>
          <a:lstStyle/>
          <a:p>
            <a:endParaRPr lang="en-US"/>
          </a:p>
        </p:txBody>
      </p:sp>
      <p:sp>
        <p:nvSpPr>
          <p:cNvPr id="10" name="Text 7"/>
          <p:cNvSpPr txBox="1"/>
          <p:nvPr/>
        </p:nvSpPr>
        <p:spPr>
          <a:xfrm>
            <a:off x="4242966" y="1695087"/>
            <a:ext cx="4699866"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Lado derecho = tonos brillantes</a:t>
            </a:r>
            <a:endParaRPr lang="en-US" sz="1100" dirty="0"/>
          </a:p>
        </p:txBody>
      </p:sp>
      <p:sp>
        <p:nvSpPr>
          <p:cNvPr id="11" name="Text 8"/>
          <p:cNvSpPr txBox="1"/>
          <p:nvPr/>
        </p:nvSpPr>
        <p:spPr>
          <a:xfrm>
            <a:off x="4242966" y="1861179"/>
            <a:ext cx="4699866"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Detalle de luces y blancos. Una acumulacion contra la pared derecha significa luces recortadas, blancos quemados sin detalle.</a:t>
            </a:r>
            <a:endParaRPr lang="en-US" sz="1050" dirty="0"/>
          </a:p>
        </p:txBody>
      </p:sp>
      <p:sp>
        <p:nvSpPr>
          <p:cNvPr id="12" name="Shape 9"/>
          <p:cNvSpPr/>
          <p:nvPr/>
        </p:nvSpPr>
        <p:spPr>
          <a:xfrm>
            <a:off x="3918505" y="1656638"/>
            <a:ext cx="45719" cy="658368"/>
          </a:xfrm>
          <a:prstGeom prst="rect">
            <a:avLst/>
          </a:prstGeom>
          <a:solidFill>
            <a:srgbClr val="8B5CF6"/>
          </a:solidFill>
          <a:ln/>
        </p:spPr>
        <p:txBody>
          <a:bodyPr/>
          <a:lstStyle/>
          <a:p>
            <a:endParaRPr lang="en-US"/>
          </a:p>
        </p:txBody>
      </p:sp>
      <p:sp>
        <p:nvSpPr>
          <p:cNvPr id="13" name="Text 10"/>
          <p:cNvSpPr txBox="1"/>
          <p:nvPr/>
        </p:nvSpPr>
        <p:spPr>
          <a:xfrm>
            <a:off x="4242966" y="2548027"/>
            <a:ext cx="4699866"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Centro = tonos medios</a:t>
            </a:r>
            <a:endParaRPr lang="en-US" sz="1100" dirty="0"/>
          </a:p>
        </p:txBody>
      </p:sp>
      <p:sp>
        <p:nvSpPr>
          <p:cNvPr id="14" name="Text 11"/>
          <p:cNvSpPr txBox="1"/>
          <p:nvPr/>
        </p:nvSpPr>
        <p:spPr>
          <a:xfrm>
            <a:off x="4242966" y="2638717"/>
            <a:ext cx="4699866"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La mayor parte de la informacion de casi todas las fotos. Aqui viven los tonos de piel, el follaje y los grises medios.</a:t>
            </a:r>
            <a:endParaRPr lang="en-US" sz="1050" dirty="0"/>
          </a:p>
        </p:txBody>
      </p:sp>
      <p:sp>
        <p:nvSpPr>
          <p:cNvPr id="15" name="Shape 12"/>
          <p:cNvSpPr/>
          <p:nvPr/>
        </p:nvSpPr>
        <p:spPr>
          <a:xfrm>
            <a:off x="3918504" y="3283220"/>
            <a:ext cx="45720" cy="658368"/>
          </a:xfrm>
          <a:prstGeom prst="rect">
            <a:avLst/>
          </a:prstGeom>
          <a:solidFill>
            <a:srgbClr val="8B5CF6"/>
          </a:solidFill>
          <a:ln/>
        </p:spPr>
        <p:txBody>
          <a:bodyPr/>
          <a:lstStyle/>
          <a:p>
            <a:endParaRPr lang="en-US"/>
          </a:p>
        </p:txBody>
      </p:sp>
      <p:sp>
        <p:nvSpPr>
          <p:cNvPr id="16" name="Text 13"/>
          <p:cNvSpPr txBox="1"/>
          <p:nvPr/>
        </p:nvSpPr>
        <p:spPr>
          <a:xfrm>
            <a:off x="4242966" y="3273552"/>
            <a:ext cx="4699866"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Colores = canales RGB</a:t>
            </a:r>
            <a:endParaRPr lang="en-US" sz="1100" dirty="0"/>
          </a:p>
        </p:txBody>
      </p:sp>
      <p:sp>
        <p:nvSpPr>
          <p:cNvPr id="17" name="Text 14"/>
          <p:cNvSpPr txBox="1"/>
          <p:nvPr/>
        </p:nvSpPr>
        <p:spPr>
          <a:xfrm>
            <a:off x="4242966" y="3439644"/>
            <a:ext cx="4699866"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Rojo, verde y azul tienen cada uno su propio canal. Las superposiciones aparecen como colores mezclados. Una foto con dominante de color mostrara un canal alejado de los demas.</a:t>
            </a:r>
            <a:endParaRPr lang="en-US" sz="1050" dirty="0"/>
          </a:p>
        </p:txBody>
      </p:sp>
      <p:sp>
        <p:nvSpPr>
          <p:cNvPr id="18" name="Shape 15"/>
          <p:cNvSpPr/>
          <p:nvPr/>
        </p:nvSpPr>
        <p:spPr>
          <a:xfrm>
            <a:off x="3918504" y="4096512"/>
            <a:ext cx="45720" cy="658368"/>
          </a:xfrm>
          <a:prstGeom prst="rect">
            <a:avLst/>
          </a:prstGeom>
          <a:solidFill>
            <a:srgbClr val="8B5CF6"/>
          </a:solidFill>
          <a:ln/>
        </p:spPr>
        <p:txBody>
          <a:bodyPr/>
          <a:lstStyle/>
          <a:p>
            <a:endParaRPr lang="en-US"/>
          </a:p>
        </p:txBody>
      </p:sp>
      <p:sp>
        <p:nvSpPr>
          <p:cNvPr id="19" name="Text 16"/>
          <p:cNvSpPr txBox="1"/>
          <p:nvPr/>
        </p:nvSpPr>
        <p:spPr>
          <a:xfrm>
            <a:off x="4242966" y="4096512"/>
            <a:ext cx="4699866" cy="237744"/>
          </a:xfrm>
          <a:prstGeom prst="rect">
            <a:avLst/>
          </a:prstGeom>
          <a:noFill/>
          <a:ln/>
        </p:spPr>
        <p:txBody>
          <a:bodyPr wrap="square" lIns="0" tIns="0" rIns="0" bIns="0" rtlCol="0" anchor="ctr"/>
          <a:lstStyle/>
          <a:p>
            <a:pPr marL="0" indent="0">
              <a:lnSpc>
                <a:spcPct val="100000"/>
              </a:lnSpc>
              <a:buNone/>
            </a:pPr>
            <a:r>
              <a:rPr lang="en-US" sz="1100" b="1" dirty="0">
                <a:solidFill>
                  <a:srgbClr val="80E0E0"/>
                </a:solidFill>
                <a:latin typeface="Calibri" pitchFamily="34" charset="0"/>
                <a:ea typeface="Calibri" pitchFamily="34" charset="-122"/>
                <a:cs typeface="Calibri" pitchFamily="34" charset="-120"/>
              </a:rPr>
              <a:t>Triangulos en las esquinas</a:t>
            </a:r>
            <a:endParaRPr lang="en-US" sz="1100" dirty="0"/>
          </a:p>
        </p:txBody>
      </p:sp>
      <p:sp>
        <p:nvSpPr>
          <p:cNvPr id="20" name="Text 17"/>
          <p:cNvSpPr txBox="1"/>
          <p:nvPr/>
        </p:nvSpPr>
        <p:spPr>
          <a:xfrm>
            <a:off x="4242966" y="4262604"/>
            <a:ext cx="4699866"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Indicadores de advertencia de recorte tonal. Hazles clic para activar la superposicion de recorte en tu foto (o presiona J).</a:t>
            </a:r>
            <a:endParaRPr lang="en-US" sz="1050" dirty="0"/>
          </a:p>
        </p:txBody>
      </p:sp>
      <p:sp>
        <p:nvSpPr>
          <p:cNvPr id="21" name="Shape 9">
            <a:extLst>
              <a:ext uri="{FF2B5EF4-FFF2-40B4-BE49-F238E27FC236}">
                <a16:creationId xmlns:a16="http://schemas.microsoft.com/office/drawing/2014/main" id="{1C540FF2-3A6E-2086-67B0-E408281635BE}"/>
              </a:ext>
            </a:extLst>
          </p:cNvPr>
          <p:cNvSpPr/>
          <p:nvPr/>
        </p:nvSpPr>
        <p:spPr>
          <a:xfrm>
            <a:off x="3918505" y="2469929"/>
            <a:ext cx="45719" cy="658368"/>
          </a:xfrm>
          <a:prstGeom prst="rect">
            <a:avLst/>
          </a:prstGeom>
          <a:solidFill>
            <a:srgbClr val="8B5CF6"/>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07</a:t>
            </a:r>
            <a:endParaRPr lang="en-US" sz="1000" dirty="0"/>
          </a:p>
        </p:txBody>
      </p:sp>
      <p:sp>
        <p:nvSpPr>
          <p:cNvPr id="4" name="Text 2"/>
          <p:cNvSpPr txBox="1"/>
          <p:nvPr/>
        </p:nvSpPr>
        <p:spPr>
          <a:xfrm>
            <a:off x="1572768" y="91440"/>
            <a:ext cx="7388352" cy="457200"/>
          </a:xfrm>
          <a:prstGeom prst="rect">
            <a:avLst/>
          </a:prstGeom>
          <a:noFill/>
          <a:ln/>
        </p:spPr>
        <p:txBody>
          <a:bodyPr wrap="square" lIns="0" tIns="0" rIns="0" bIns="0" rtlCol="0" anchor="ctr"/>
          <a:lstStyle/>
          <a:p>
            <a:pPr marL="0" indent="0">
              <a:lnSpc>
                <a:spcPct val="100000"/>
              </a:lnSpc>
              <a:buNone/>
            </a:pPr>
            <a:r>
              <a:rPr lang="en-US" sz="2000" b="1" dirty="0">
                <a:solidFill>
                  <a:srgbClr val="FFFFFF"/>
                </a:solidFill>
                <a:latin typeface="Calibri" pitchFamily="34" charset="0"/>
                <a:ea typeface="Calibri" pitchFamily="34" charset="-122"/>
                <a:cs typeface="Calibri" pitchFamily="34" charset="-120"/>
              </a:rPr>
              <a:t>Agregar Presence, Texture, Clarity, Vibrance</a:t>
            </a:r>
            <a:endParaRPr lang="en-US" sz="2000" dirty="0"/>
          </a:p>
        </p:txBody>
      </p:sp>
      <p:sp>
        <p:nvSpPr>
          <p:cNvPr id="5" name="Shape 3"/>
          <p:cNvSpPr/>
          <p:nvPr/>
        </p:nvSpPr>
        <p:spPr>
          <a:xfrm>
            <a:off x="182880" y="777240"/>
            <a:ext cx="4892040" cy="502920"/>
          </a:xfrm>
          <a:prstGeom prst="roundRect">
            <a:avLst>
              <a:gd name="adj" fmla="val 12727"/>
            </a:avLst>
          </a:prstGeom>
          <a:solidFill>
            <a:srgbClr val="160D28"/>
          </a:solidFill>
          <a:ln w="12700">
            <a:solidFill>
              <a:srgbClr val="8B5CF6"/>
            </a:solidFill>
            <a:prstDash val="solid"/>
          </a:ln>
        </p:spPr>
        <p:txBody>
          <a:bodyPr/>
          <a:lstStyle/>
          <a:p>
            <a:endParaRPr lang="en-US"/>
          </a:p>
        </p:txBody>
      </p:sp>
      <p:sp>
        <p:nvSpPr>
          <p:cNvPr id="6" name="Shape 4"/>
          <p:cNvSpPr/>
          <p:nvPr/>
        </p:nvSpPr>
        <p:spPr>
          <a:xfrm>
            <a:off x="182880" y="777240"/>
            <a:ext cx="50292" cy="502920"/>
          </a:xfrm>
          <a:prstGeom prst="rect">
            <a:avLst/>
          </a:prstGeom>
          <a:solidFill>
            <a:srgbClr val="8B5CF6"/>
          </a:solidFill>
          <a:ln/>
        </p:spPr>
        <p:txBody>
          <a:bodyPr/>
          <a:lstStyle/>
          <a:p>
            <a:endParaRPr lang="en-US"/>
          </a:p>
        </p:txBody>
      </p:sp>
      <p:sp>
        <p:nvSpPr>
          <p:cNvPr id="7" name="Text 5"/>
          <p:cNvSpPr txBox="1"/>
          <p:nvPr/>
        </p:nvSpPr>
        <p:spPr>
          <a:xfrm>
            <a:off x="347472" y="868680"/>
            <a:ext cx="4663440" cy="32004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Los controles de Presence son los toques finales. Aplicalos despues de haber ajustado el Tone y el balance de blancos.</a:t>
            </a:r>
            <a:endParaRPr lang="en-US" sz="1050" dirty="0"/>
          </a:p>
        </p:txBody>
      </p:sp>
      <p:sp>
        <p:nvSpPr>
          <p:cNvPr id="8" name="Shape 6"/>
          <p:cNvSpPr/>
          <p:nvPr/>
        </p:nvSpPr>
        <p:spPr>
          <a:xfrm>
            <a:off x="182880" y="1444752"/>
            <a:ext cx="347472" cy="347472"/>
          </a:xfrm>
          <a:prstGeom prst="ellipse">
            <a:avLst/>
          </a:prstGeom>
          <a:solidFill>
            <a:srgbClr val="FF6B1A"/>
          </a:solidFill>
          <a:ln/>
        </p:spPr>
        <p:txBody>
          <a:bodyPr/>
          <a:lstStyle/>
          <a:p>
            <a:endParaRPr lang="en-US"/>
          </a:p>
        </p:txBody>
      </p:sp>
      <p:sp>
        <p:nvSpPr>
          <p:cNvPr id="9" name="Text 7"/>
          <p:cNvSpPr txBox="1"/>
          <p:nvPr/>
        </p:nvSpPr>
        <p:spPr>
          <a:xfrm>
            <a:off x="182880" y="144475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41732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Agrega Texture para realzar el detalle de superficie</a:t>
            </a:r>
            <a:endParaRPr lang="en-US" sz="1100" dirty="0"/>
          </a:p>
        </p:txBody>
      </p:sp>
      <p:sp>
        <p:nvSpPr>
          <p:cNvPr id="11" name="Text 9"/>
          <p:cNvSpPr txBox="1"/>
          <p:nvPr/>
        </p:nvSpPr>
        <p:spPr>
          <a:xfrm>
            <a:off x="640080" y="1634935"/>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Texture realza el detalle fino como piel, tela, corteza y plumas sin afectar las areas fuera de foco. Comienza entre +15 y +30.</a:t>
            </a:r>
            <a:endParaRPr lang="en-US" sz="1050" dirty="0"/>
          </a:p>
        </p:txBody>
      </p:sp>
      <p:sp>
        <p:nvSpPr>
          <p:cNvPr id="12" name="Shape 10"/>
          <p:cNvSpPr/>
          <p:nvPr/>
        </p:nvSpPr>
        <p:spPr>
          <a:xfrm>
            <a:off x="182880" y="2313432"/>
            <a:ext cx="347472" cy="347472"/>
          </a:xfrm>
          <a:prstGeom prst="ellipse">
            <a:avLst/>
          </a:prstGeom>
          <a:solidFill>
            <a:srgbClr val="FF6B1A"/>
          </a:solidFill>
          <a:ln/>
        </p:spPr>
        <p:txBody>
          <a:bodyPr/>
          <a:lstStyle/>
          <a:p>
            <a:endParaRPr lang="en-US"/>
          </a:p>
        </p:txBody>
      </p:sp>
      <p:sp>
        <p:nvSpPr>
          <p:cNvPr id="13" name="Text 11"/>
          <p:cNvSpPr txBox="1"/>
          <p:nvPr/>
        </p:nvSpPr>
        <p:spPr>
          <a:xfrm>
            <a:off x="182880" y="231343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28600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Agrega Clarity para aumentar el contraste en los tonos medios</a:t>
            </a:r>
            <a:endParaRPr lang="en-US" sz="1100" dirty="0"/>
          </a:p>
        </p:txBody>
      </p:sp>
      <p:sp>
        <p:nvSpPr>
          <p:cNvPr id="15" name="Text 13"/>
          <p:cNvSpPr txBox="1"/>
          <p:nvPr/>
        </p:nvSpPr>
        <p:spPr>
          <a:xfrm>
            <a:off x="640080" y="2503615"/>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Clarity agrega impacto a los bordes y la estructura en los tonos medios. Demasiado hace que las fotos se vean rugosas y sobre-procesadas. Usalo con moderacion, entre +10 y +30.</a:t>
            </a:r>
            <a:endParaRPr lang="en-US" sz="1050" dirty="0"/>
          </a:p>
        </p:txBody>
      </p:sp>
      <p:sp>
        <p:nvSpPr>
          <p:cNvPr id="16" name="Shape 14"/>
          <p:cNvSpPr/>
          <p:nvPr/>
        </p:nvSpPr>
        <p:spPr>
          <a:xfrm>
            <a:off x="182880" y="3191256"/>
            <a:ext cx="347472" cy="347472"/>
          </a:xfrm>
          <a:prstGeom prst="ellipse">
            <a:avLst/>
          </a:prstGeom>
          <a:solidFill>
            <a:srgbClr val="FF6B1A"/>
          </a:solidFill>
          <a:ln/>
        </p:spPr>
        <p:txBody>
          <a:bodyPr/>
          <a:lstStyle/>
          <a:p>
            <a:endParaRPr lang="en-US"/>
          </a:p>
        </p:txBody>
      </p:sp>
      <p:sp>
        <p:nvSpPr>
          <p:cNvPr id="17" name="Text 15"/>
          <p:cNvSpPr txBox="1"/>
          <p:nvPr/>
        </p:nvSpPr>
        <p:spPr>
          <a:xfrm>
            <a:off x="182880" y="3191256"/>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3163824"/>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Agrega Vibrance para intensificar el color sin saturar en exceso</a:t>
            </a:r>
            <a:endParaRPr lang="en-US" sz="1100" dirty="0"/>
          </a:p>
        </p:txBody>
      </p:sp>
      <p:sp>
        <p:nvSpPr>
          <p:cNvPr id="19" name="Text 17"/>
          <p:cNvSpPr txBox="1"/>
          <p:nvPr/>
        </p:nvSpPr>
        <p:spPr>
          <a:xfrm>
            <a:off x="640080" y="3381439"/>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Vibrance es un intensificador de color inteligente: protege los tonos de piel y los colores ya saturados mientras eleva los colores mas apagados. Casi siempre es mas seguro que Saturation.</a:t>
            </a:r>
            <a:endParaRPr lang="en-US" sz="1050" dirty="0"/>
          </a:p>
        </p:txBody>
      </p:sp>
      <p:sp>
        <p:nvSpPr>
          <p:cNvPr id="20" name="Shape 18"/>
          <p:cNvSpPr/>
          <p:nvPr/>
        </p:nvSpPr>
        <p:spPr>
          <a:xfrm>
            <a:off x="182880" y="4069080"/>
            <a:ext cx="347472" cy="347472"/>
          </a:xfrm>
          <a:prstGeom prst="ellipse">
            <a:avLst/>
          </a:prstGeom>
          <a:solidFill>
            <a:srgbClr val="FF6B1A"/>
          </a:solidFill>
          <a:ln/>
        </p:spPr>
        <p:txBody>
          <a:bodyPr/>
          <a:lstStyle/>
          <a:p>
            <a:endParaRPr lang="en-US"/>
          </a:p>
        </p:txBody>
      </p:sp>
      <p:sp>
        <p:nvSpPr>
          <p:cNvPr id="21" name="Text 19"/>
          <p:cNvSpPr txBox="1"/>
          <p:nvPr/>
        </p:nvSpPr>
        <p:spPr>
          <a:xfrm>
            <a:off x="182880" y="406908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40080" y="4041648"/>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Usa Saturation con cuidado</a:t>
            </a:r>
            <a:endParaRPr lang="en-US" sz="1100" dirty="0"/>
          </a:p>
        </p:txBody>
      </p:sp>
      <p:sp>
        <p:nvSpPr>
          <p:cNvPr id="23" name="Text 21"/>
          <p:cNvSpPr txBox="1"/>
          <p:nvPr/>
        </p:nvSpPr>
        <p:spPr>
          <a:xfrm>
            <a:off x="640080" y="4259263"/>
            <a:ext cx="443484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Saturation intensifica todos los colores por igual y puede hacer que una foto se vea poco natural rapidamente. Raramente subas mas de +20.</a:t>
            </a:r>
            <a:endParaRPr lang="en-US" sz="1050" dirty="0"/>
          </a:p>
        </p:txBody>
      </p:sp>
      <p:pic>
        <p:nvPicPr>
          <p:cNvPr id="24" name="Image 0" descr="preencoded.png"/>
          <p:cNvPicPr>
            <a:picLocks noChangeAspect="1"/>
          </p:cNvPicPr>
          <p:nvPr/>
        </p:nvPicPr>
        <p:blipFill>
          <a:blip r:embed="rId3"/>
          <a:srcRect l="1358" t="7546" r="11097" b="9814"/>
          <a:stretch>
            <a:fillRect/>
          </a:stretch>
        </p:blipFill>
        <p:spPr>
          <a:xfrm>
            <a:off x="5308092" y="775500"/>
            <a:ext cx="3541618" cy="1766532"/>
          </a:xfrm>
          <a:prstGeom prst="rect">
            <a:avLst/>
          </a:prstGeom>
        </p:spPr>
      </p:pic>
      <p:sp>
        <p:nvSpPr>
          <p:cNvPr id="25" name="Text 22"/>
          <p:cNvSpPr txBox="1"/>
          <p:nvPr/>
        </p:nvSpPr>
        <p:spPr>
          <a:xfrm>
            <a:off x="5227241" y="2601469"/>
            <a:ext cx="3703320"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Seccion Presence: Texture, Clarity, Dehaze, Vibrance, Saturation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138074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Personalizar el Orden del Panel Develop</a:t>
            </a:r>
            <a:endParaRPr lang="en-US" sz="2000" dirty="0"/>
          </a:p>
        </p:txBody>
      </p:sp>
      <p:sp>
        <p:nvSpPr>
          <p:cNvPr id="5" name="Shape 3"/>
          <p:cNvSpPr/>
          <p:nvPr/>
        </p:nvSpPr>
        <p:spPr>
          <a:xfrm>
            <a:off x="182880" y="777240"/>
            <a:ext cx="4892040" cy="502920"/>
          </a:xfrm>
          <a:prstGeom prst="roundRect">
            <a:avLst>
              <a:gd name="adj" fmla="val 12727"/>
            </a:avLst>
          </a:prstGeom>
          <a:solidFill>
            <a:srgbClr val="160D28"/>
          </a:solidFill>
          <a:ln w="12700">
            <a:solidFill>
              <a:srgbClr val="8B5CF6"/>
            </a:solidFill>
            <a:prstDash val="solid"/>
          </a:ln>
        </p:spPr>
        <p:txBody>
          <a:bodyPr/>
          <a:lstStyle/>
          <a:p>
            <a:endParaRPr lang="en-US"/>
          </a:p>
        </p:txBody>
      </p:sp>
      <p:sp>
        <p:nvSpPr>
          <p:cNvPr id="6" name="Shape 4"/>
          <p:cNvSpPr/>
          <p:nvPr/>
        </p:nvSpPr>
        <p:spPr>
          <a:xfrm>
            <a:off x="182880" y="777240"/>
            <a:ext cx="50292" cy="502920"/>
          </a:xfrm>
          <a:prstGeom prst="rect">
            <a:avLst/>
          </a:prstGeom>
          <a:solidFill>
            <a:srgbClr val="8B5CF6"/>
          </a:solidFill>
          <a:ln/>
        </p:spPr>
        <p:txBody>
          <a:bodyPr/>
          <a:lstStyle/>
          <a:p>
            <a:endParaRPr lang="en-US"/>
          </a:p>
        </p:txBody>
      </p:sp>
      <p:sp>
        <p:nvSpPr>
          <p:cNvPr id="7" name="Text 5"/>
          <p:cNvSpPr txBox="1"/>
          <p:nvPr/>
        </p:nvSpPr>
        <p:spPr>
          <a:xfrm>
            <a:off x="347472" y="868680"/>
            <a:ext cx="4663440" cy="32004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Puedes reorganizar los paneles del grupo derecho del modulo Develop para adaptarlo a tu forma de trabajar.</a:t>
            </a:r>
            <a:endParaRPr lang="en-US" sz="1050" dirty="0"/>
          </a:p>
        </p:txBody>
      </p:sp>
      <p:sp>
        <p:nvSpPr>
          <p:cNvPr id="8" name="Shape 6"/>
          <p:cNvSpPr/>
          <p:nvPr/>
        </p:nvSpPr>
        <p:spPr>
          <a:xfrm>
            <a:off x="182880" y="1444752"/>
            <a:ext cx="347472" cy="347472"/>
          </a:xfrm>
          <a:prstGeom prst="ellipse">
            <a:avLst/>
          </a:prstGeom>
          <a:solidFill>
            <a:srgbClr val="FF6B1A"/>
          </a:solidFill>
          <a:ln/>
        </p:spPr>
        <p:txBody>
          <a:bodyPr/>
          <a:lstStyle/>
          <a:p>
            <a:endParaRPr lang="en-US"/>
          </a:p>
        </p:txBody>
      </p:sp>
      <p:sp>
        <p:nvSpPr>
          <p:cNvPr id="9" name="Text 7"/>
          <p:cNvSpPr txBox="1"/>
          <p:nvPr/>
        </p:nvSpPr>
        <p:spPr>
          <a:xfrm>
            <a:off x="182880" y="144475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41732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Haz Control+clic en cualquier encabezado de panel del lado derecho</a:t>
            </a:r>
            <a:endParaRPr lang="en-US" sz="1100" dirty="0"/>
          </a:p>
        </p:txBody>
      </p:sp>
      <p:sp>
        <p:nvSpPr>
          <p:cNvPr id="11" name="Text 9"/>
          <p:cNvSpPr txBox="1"/>
          <p:nvPr/>
        </p:nvSpPr>
        <p:spPr>
          <a:xfrm>
            <a:off x="640080" y="1653540"/>
            <a:ext cx="443484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Aparece un menu. Elige Customize Develop Panel.</a:t>
            </a:r>
            <a:endParaRPr lang="en-US" sz="1050" dirty="0"/>
          </a:p>
        </p:txBody>
      </p:sp>
      <p:sp>
        <p:nvSpPr>
          <p:cNvPr id="12" name="Shape 10"/>
          <p:cNvSpPr/>
          <p:nvPr/>
        </p:nvSpPr>
        <p:spPr>
          <a:xfrm>
            <a:off x="182880" y="2148840"/>
            <a:ext cx="347472" cy="347472"/>
          </a:xfrm>
          <a:prstGeom prst="ellipse">
            <a:avLst/>
          </a:prstGeom>
          <a:solidFill>
            <a:srgbClr val="FF6B1A"/>
          </a:solidFill>
          <a:ln/>
        </p:spPr>
        <p:txBody>
          <a:bodyPr/>
          <a:lstStyle/>
          <a:p>
            <a:endParaRPr lang="en-US"/>
          </a:p>
        </p:txBody>
      </p:sp>
      <p:sp>
        <p:nvSpPr>
          <p:cNvPr id="13" name="Text 11"/>
          <p:cNvSpPr txBox="1"/>
          <p:nvPr/>
        </p:nvSpPr>
        <p:spPr>
          <a:xfrm>
            <a:off x="182880" y="214884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121408"/>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Arrastra los nombres de los paneles para reordenarlos</a:t>
            </a:r>
            <a:endParaRPr lang="en-US" sz="1100" dirty="0"/>
          </a:p>
        </p:txBody>
      </p:sp>
      <p:sp>
        <p:nvSpPr>
          <p:cNvPr id="15" name="Text 13"/>
          <p:cNvSpPr txBox="1"/>
          <p:nvPr/>
        </p:nvSpPr>
        <p:spPr>
          <a:xfrm>
            <a:off x="640080" y="2357628"/>
            <a:ext cx="443484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Arrastra cualquier nombre de panel hacia arriba o hacia abajo para cambiar su posicion. Las casillas de verificacion controlan su visibilidad.</a:t>
            </a:r>
            <a:endParaRPr lang="en-US" sz="1050" dirty="0"/>
          </a:p>
        </p:txBody>
      </p:sp>
      <p:sp>
        <p:nvSpPr>
          <p:cNvPr id="16" name="Shape 14"/>
          <p:cNvSpPr/>
          <p:nvPr/>
        </p:nvSpPr>
        <p:spPr>
          <a:xfrm>
            <a:off x="182880" y="2862072"/>
            <a:ext cx="347472" cy="347472"/>
          </a:xfrm>
          <a:prstGeom prst="ellipse">
            <a:avLst/>
          </a:prstGeom>
          <a:solidFill>
            <a:srgbClr val="FF6B1A"/>
          </a:solidFill>
          <a:ln/>
        </p:spPr>
        <p:txBody>
          <a:bodyPr/>
          <a:lstStyle/>
          <a:p>
            <a:endParaRPr lang="en-US"/>
          </a:p>
        </p:txBody>
      </p:sp>
      <p:sp>
        <p:nvSpPr>
          <p:cNvPr id="17" name="Text 15"/>
          <p:cNvSpPr txBox="1"/>
          <p:nvPr/>
        </p:nvSpPr>
        <p:spPr>
          <a:xfrm>
            <a:off x="182880" y="286207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283464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Haz clic en Save y reinicia Lightroom</a:t>
            </a:r>
            <a:endParaRPr lang="en-US" sz="1100" dirty="0"/>
          </a:p>
        </p:txBody>
      </p:sp>
      <p:sp>
        <p:nvSpPr>
          <p:cNvPr id="19" name="Text 17"/>
          <p:cNvSpPr txBox="1"/>
          <p:nvPr/>
        </p:nvSpPr>
        <p:spPr>
          <a:xfrm>
            <a:off x="640080" y="3070860"/>
            <a:ext cx="443484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Tu orden personalizado se guarda. Lightroom se reinicia y tus paneles aparecen en el nuevo orden.</a:t>
            </a:r>
            <a:endParaRPr lang="en-US" sz="1050" dirty="0"/>
          </a:p>
        </p:txBody>
      </p:sp>
      <p:sp>
        <p:nvSpPr>
          <p:cNvPr id="20" name="Shape 18"/>
          <p:cNvSpPr/>
          <p:nvPr/>
        </p:nvSpPr>
        <p:spPr>
          <a:xfrm>
            <a:off x="182880" y="3584448"/>
            <a:ext cx="4892040" cy="502920"/>
          </a:xfrm>
          <a:prstGeom prst="roundRect">
            <a:avLst>
              <a:gd name="adj" fmla="val 12727"/>
            </a:avLst>
          </a:prstGeom>
          <a:solidFill>
            <a:srgbClr val="041414"/>
          </a:solidFill>
          <a:ln w="12700">
            <a:solidFill>
              <a:srgbClr val="007474"/>
            </a:solidFill>
            <a:prstDash val="solid"/>
          </a:ln>
        </p:spPr>
        <p:txBody>
          <a:bodyPr/>
          <a:lstStyle/>
          <a:p>
            <a:endParaRPr lang="en-US"/>
          </a:p>
        </p:txBody>
      </p:sp>
      <p:sp>
        <p:nvSpPr>
          <p:cNvPr id="21" name="Shape 19"/>
          <p:cNvSpPr/>
          <p:nvPr/>
        </p:nvSpPr>
        <p:spPr>
          <a:xfrm>
            <a:off x="182880" y="3584448"/>
            <a:ext cx="50292" cy="502920"/>
          </a:xfrm>
          <a:prstGeom prst="rect">
            <a:avLst/>
          </a:prstGeom>
          <a:solidFill>
            <a:srgbClr val="007474"/>
          </a:solidFill>
          <a:ln/>
        </p:spPr>
        <p:txBody>
          <a:bodyPr/>
          <a:lstStyle/>
          <a:p>
            <a:endParaRPr lang="en-US"/>
          </a:p>
        </p:txBody>
      </p:sp>
      <p:sp>
        <p:nvSpPr>
          <p:cNvPr id="22" name="Text 20"/>
          <p:cNvSpPr txBox="1"/>
          <p:nvPr/>
        </p:nvSpPr>
        <p:spPr>
          <a:xfrm>
            <a:off x="347472" y="3675888"/>
            <a:ext cx="4663440" cy="32004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Para volver al orden predeterminado, abre Customize Develop Panel de nuevo y haz clic en Default Order en la parte inferior izquierda.</a:t>
            </a:r>
            <a:endParaRPr lang="en-US" sz="1050" dirty="0"/>
          </a:p>
        </p:txBody>
      </p:sp>
      <p:sp>
        <p:nvSpPr>
          <p:cNvPr id="23" name="Shape 21"/>
          <p:cNvSpPr/>
          <p:nvPr/>
        </p:nvSpPr>
        <p:spPr>
          <a:xfrm>
            <a:off x="182880" y="4187952"/>
            <a:ext cx="4892040" cy="713232"/>
          </a:xfrm>
          <a:prstGeom prst="roundRect">
            <a:avLst>
              <a:gd name="adj" fmla="val 8974"/>
            </a:avLst>
          </a:prstGeom>
          <a:solidFill>
            <a:srgbClr val="1A0A00"/>
          </a:solidFill>
          <a:ln w="12700">
            <a:solidFill>
              <a:srgbClr val="FF6B1A"/>
            </a:solidFill>
            <a:prstDash val="solid"/>
          </a:ln>
        </p:spPr>
        <p:txBody>
          <a:bodyPr/>
          <a:lstStyle/>
          <a:p>
            <a:endParaRPr lang="en-US"/>
          </a:p>
        </p:txBody>
      </p:sp>
      <p:sp>
        <p:nvSpPr>
          <p:cNvPr id="24" name="Shape 22"/>
          <p:cNvSpPr/>
          <p:nvPr/>
        </p:nvSpPr>
        <p:spPr>
          <a:xfrm>
            <a:off x="182880" y="4187952"/>
            <a:ext cx="50292" cy="713232"/>
          </a:xfrm>
          <a:prstGeom prst="rect">
            <a:avLst/>
          </a:prstGeom>
          <a:solidFill>
            <a:srgbClr val="FF6B1A"/>
          </a:solidFill>
          <a:ln/>
        </p:spPr>
        <p:txBody>
          <a:bodyPr/>
          <a:lstStyle/>
          <a:p>
            <a:endParaRPr lang="en-US"/>
          </a:p>
        </p:txBody>
      </p:sp>
      <p:sp>
        <p:nvSpPr>
          <p:cNvPr id="25" name="Text 23"/>
          <p:cNvSpPr txBox="1"/>
          <p:nvPr/>
        </p:nvSpPr>
        <p:spPr>
          <a:xfrm>
            <a:off x="347472" y="4279392"/>
            <a:ext cx="4663440" cy="530352"/>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Para el trabajo de clase, deja los paneles en el orden predeterminado para que tu pantalla coincida con las instrucciones de la leccion. Solo personaliza tu propio catalogo personal.</a:t>
            </a:r>
            <a:endParaRPr lang="en-US" sz="1050" dirty="0"/>
          </a:p>
        </p:txBody>
      </p:sp>
      <p:pic>
        <p:nvPicPr>
          <p:cNvPr id="26" name="Image 0" descr="preencoded.png"/>
          <p:cNvPicPr>
            <a:picLocks noChangeAspect="1"/>
          </p:cNvPicPr>
          <p:nvPr/>
        </p:nvPicPr>
        <p:blipFill>
          <a:blip r:embed="rId3"/>
          <a:srcRect l="1091" t="2538" r="12086" b="5330"/>
          <a:stretch>
            <a:fillRect/>
          </a:stretch>
        </p:blipFill>
        <p:spPr>
          <a:xfrm>
            <a:off x="5371109" y="777240"/>
            <a:ext cx="3592526" cy="3931920"/>
          </a:xfrm>
          <a:prstGeom prst="rect">
            <a:avLst/>
          </a:prstGeom>
        </p:spPr>
      </p:pic>
      <p:sp>
        <p:nvSpPr>
          <p:cNvPr id="27" name="Text 24"/>
          <p:cNvSpPr txBox="1"/>
          <p:nvPr/>
        </p:nvSpPr>
        <p:spPr>
          <a:xfrm>
            <a:off x="5125212" y="4800600"/>
            <a:ext cx="4084320"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Cuadro de dialogo Customize Develop Panel: arrastra para reordenar, las casillas controlan la visibilidad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138074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Lens Corrections: Corregir Distorsion y Vineteo</a:t>
            </a:r>
            <a:endParaRPr lang="en-US" sz="2000" dirty="0"/>
          </a:p>
        </p:txBody>
      </p:sp>
      <p:sp>
        <p:nvSpPr>
          <p:cNvPr id="5" name="Shape 3"/>
          <p:cNvSpPr/>
          <p:nvPr/>
        </p:nvSpPr>
        <p:spPr>
          <a:xfrm>
            <a:off x="182880" y="777240"/>
            <a:ext cx="5417820" cy="658368"/>
          </a:xfrm>
          <a:prstGeom prst="roundRect">
            <a:avLst>
              <a:gd name="adj" fmla="val 9722"/>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347471" y="868680"/>
            <a:ext cx="5164651"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Cada lente tiene sus propias fallas: distorsion de barril (curvatura hacia afuera), distorsion de cojin (curvatura hacia adentro) y bordes oscuros (vineteo). Lightroom puede corregir todo esto automaticamente.</a:t>
            </a:r>
            <a:endParaRPr lang="en-US" sz="1050" dirty="0"/>
          </a:p>
        </p:txBody>
      </p:sp>
      <p:sp>
        <p:nvSpPr>
          <p:cNvPr id="8" name="Shape 6"/>
          <p:cNvSpPr/>
          <p:nvPr/>
        </p:nvSpPr>
        <p:spPr>
          <a:xfrm>
            <a:off x="182880" y="1600200"/>
            <a:ext cx="347472" cy="347472"/>
          </a:xfrm>
          <a:prstGeom prst="ellipse">
            <a:avLst/>
          </a:prstGeom>
          <a:solidFill>
            <a:srgbClr val="FF6B1A"/>
          </a:solidFill>
          <a:ln/>
        </p:spPr>
        <p:txBody>
          <a:bodyPr/>
          <a:lstStyle/>
          <a:p>
            <a:endParaRPr lang="en-US"/>
          </a:p>
        </p:txBody>
      </p:sp>
      <p:sp>
        <p:nvSpPr>
          <p:cNvPr id="9" name="Text 7"/>
          <p:cNvSpPr txBox="1"/>
          <p:nvPr/>
        </p:nvSpPr>
        <p:spPr>
          <a:xfrm>
            <a:off x="182880" y="160020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572768"/>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Desplazate hacia abajo en el panel derecho hasta Lens Corrections</a:t>
            </a:r>
            <a:endParaRPr lang="en-US" sz="1100" dirty="0"/>
          </a:p>
        </p:txBody>
      </p:sp>
      <p:sp>
        <p:nvSpPr>
          <p:cNvPr id="11" name="Text 9"/>
          <p:cNvSpPr txBox="1"/>
          <p:nvPr/>
        </p:nvSpPr>
        <p:spPr>
          <a:xfrm>
            <a:off x="640080" y="1801368"/>
            <a:ext cx="496062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Esta debajo de Detail, Transform y Lens Blur en el orden predeterminado del panel.</a:t>
            </a:r>
            <a:endParaRPr lang="en-US" sz="1050" dirty="0"/>
          </a:p>
        </p:txBody>
      </p:sp>
      <p:sp>
        <p:nvSpPr>
          <p:cNvPr id="12" name="Shape 10"/>
          <p:cNvSpPr/>
          <p:nvPr/>
        </p:nvSpPr>
        <p:spPr>
          <a:xfrm>
            <a:off x="182880" y="2313432"/>
            <a:ext cx="347472" cy="347472"/>
          </a:xfrm>
          <a:prstGeom prst="ellipse">
            <a:avLst/>
          </a:prstGeom>
          <a:solidFill>
            <a:srgbClr val="FF6B1A"/>
          </a:solidFill>
          <a:ln/>
        </p:spPr>
        <p:txBody>
          <a:bodyPr/>
          <a:lstStyle/>
          <a:p>
            <a:endParaRPr lang="en-US"/>
          </a:p>
        </p:txBody>
      </p:sp>
      <p:sp>
        <p:nvSpPr>
          <p:cNvPr id="13" name="Text 11"/>
          <p:cNvSpPr txBox="1"/>
          <p:nvPr/>
        </p:nvSpPr>
        <p:spPr>
          <a:xfrm>
            <a:off x="182880" y="231343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28600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Haz clic en Enable Profile Corrections</a:t>
            </a:r>
            <a:endParaRPr lang="en-US" sz="1100" dirty="0"/>
          </a:p>
        </p:txBody>
      </p:sp>
      <p:sp>
        <p:nvSpPr>
          <p:cNvPr id="15" name="Text 13"/>
          <p:cNvSpPr txBox="1"/>
          <p:nvPr/>
        </p:nvSpPr>
        <p:spPr>
          <a:xfrm>
            <a:off x="640080" y="2514600"/>
            <a:ext cx="496062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Lightroom lee los datos EXIF de tu foto para identificar tu lente y aplica automaticamente la correccion correcta de distorsion y vineteo.</a:t>
            </a:r>
            <a:endParaRPr lang="en-US" sz="1050" dirty="0"/>
          </a:p>
        </p:txBody>
      </p:sp>
      <p:sp>
        <p:nvSpPr>
          <p:cNvPr id="16" name="Shape 14"/>
          <p:cNvSpPr/>
          <p:nvPr/>
        </p:nvSpPr>
        <p:spPr>
          <a:xfrm>
            <a:off x="182880" y="3191256"/>
            <a:ext cx="347472" cy="347472"/>
          </a:xfrm>
          <a:prstGeom prst="ellipse">
            <a:avLst/>
          </a:prstGeom>
          <a:solidFill>
            <a:srgbClr val="FF6B1A"/>
          </a:solidFill>
          <a:ln/>
        </p:spPr>
        <p:txBody>
          <a:bodyPr/>
          <a:lstStyle/>
          <a:p>
            <a:endParaRPr lang="en-US"/>
          </a:p>
        </p:txBody>
      </p:sp>
      <p:sp>
        <p:nvSpPr>
          <p:cNvPr id="17" name="Text 15"/>
          <p:cNvSpPr txBox="1"/>
          <p:nvPr/>
        </p:nvSpPr>
        <p:spPr>
          <a:xfrm>
            <a:off x="182880" y="3191256"/>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3163824"/>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Si Lightroom no encuentra tu lente, eligelo manualmente</a:t>
            </a:r>
            <a:endParaRPr lang="en-US" sz="1100" dirty="0"/>
          </a:p>
        </p:txBody>
      </p:sp>
      <p:sp>
        <p:nvSpPr>
          <p:cNvPr id="19" name="Text 17"/>
          <p:cNvSpPr txBox="1"/>
          <p:nvPr/>
        </p:nvSpPr>
        <p:spPr>
          <a:xfrm>
            <a:off x="640080" y="3392424"/>
            <a:ext cx="496062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Usa los menus Make y Model bajo Lens Profile. Elige la coincidencia mas cercana si tu lente exacto no aparece en la lista.</a:t>
            </a:r>
            <a:endParaRPr lang="en-US" sz="1050" dirty="0"/>
          </a:p>
        </p:txBody>
      </p:sp>
      <p:sp>
        <p:nvSpPr>
          <p:cNvPr id="20" name="Shape 18"/>
          <p:cNvSpPr/>
          <p:nvPr/>
        </p:nvSpPr>
        <p:spPr>
          <a:xfrm>
            <a:off x="182880" y="4041648"/>
            <a:ext cx="5417820" cy="859536"/>
          </a:xfrm>
          <a:prstGeom prst="roundRect">
            <a:avLst>
              <a:gd name="adj" fmla="val 7447"/>
            </a:avLst>
          </a:prstGeom>
          <a:solidFill>
            <a:srgbClr val="041414"/>
          </a:solidFill>
          <a:ln w="12700">
            <a:solidFill>
              <a:srgbClr val="007474"/>
            </a:solidFill>
            <a:prstDash val="solid"/>
          </a:ln>
        </p:spPr>
        <p:txBody>
          <a:bodyPr/>
          <a:lstStyle/>
          <a:p>
            <a:endParaRPr lang="en-US"/>
          </a:p>
        </p:txBody>
      </p:sp>
      <p:sp>
        <p:nvSpPr>
          <p:cNvPr id="22" name="Text 20"/>
          <p:cNvSpPr txBox="1"/>
          <p:nvPr/>
        </p:nvSpPr>
        <p:spPr>
          <a:xfrm>
            <a:off x="347471" y="4133088"/>
            <a:ext cx="5164651" cy="67665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Para el Canon EOS R50 con el lente kit: Lightroom generalmente lo encontrara automaticamente. Si no, selecciona Canon como Make y busca RF-S 18-45mm o RF-S 18-150mm segun que lente kit tengas.</a:t>
            </a:r>
            <a:endParaRPr lang="en-US" sz="1050" dirty="0"/>
          </a:p>
        </p:txBody>
      </p:sp>
      <p:pic>
        <p:nvPicPr>
          <p:cNvPr id="23" name="Image 0" descr="preencoded.png"/>
          <p:cNvPicPr>
            <a:picLocks noChangeAspect="1"/>
          </p:cNvPicPr>
          <p:nvPr/>
        </p:nvPicPr>
        <p:blipFill>
          <a:blip r:embed="rId3"/>
          <a:srcRect l="16411" t="16794" r="22676" b="4648"/>
          <a:stretch>
            <a:fillRect/>
          </a:stretch>
        </p:blipFill>
        <p:spPr>
          <a:xfrm>
            <a:off x="5998130" y="777240"/>
            <a:ext cx="2803499" cy="3727337"/>
          </a:xfrm>
          <a:prstGeom prst="rect">
            <a:avLst/>
          </a:prstGeom>
        </p:spPr>
      </p:pic>
      <p:sp>
        <p:nvSpPr>
          <p:cNvPr id="24" name="Text 21"/>
          <p:cNvSpPr txBox="1"/>
          <p:nvPr/>
        </p:nvSpPr>
        <p:spPr>
          <a:xfrm>
            <a:off x="5998129" y="4576947"/>
            <a:ext cx="2803499" cy="201168"/>
          </a:xfrm>
          <a:prstGeom prst="rect">
            <a:avLst/>
          </a:prstGeom>
          <a:noFill/>
          <a:ln/>
        </p:spPr>
        <p:txBody>
          <a:bodyPr wrap="square" lIns="0" tIns="0" rIns="0" bIns="0" rtlCol="0" anchor="ctr"/>
          <a:lstStyle/>
          <a:p>
            <a:pPr marL="0" indent="0" algn="ctr">
              <a:lnSpc>
                <a:spcPct val="100000"/>
              </a:lnSpc>
              <a:buNone/>
            </a:pPr>
            <a:r>
              <a:rPr lang="en-US" sz="900" i="1" dirty="0">
                <a:solidFill>
                  <a:srgbClr val="AAAAAA"/>
                </a:solidFill>
                <a:latin typeface="Calibri" pitchFamily="34" charset="0"/>
                <a:ea typeface="Calibri" pitchFamily="34" charset="-122"/>
                <a:cs typeface="Calibri" pitchFamily="34" charset="-120"/>
              </a:rPr>
              <a:t>Panel Lens Corrections: Enable Profile Corrections activado, Make y Model detectados automaticamente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64592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RECURSO</a:t>
            </a:r>
            <a:endParaRPr lang="en-US" sz="1000" dirty="0"/>
          </a:p>
        </p:txBody>
      </p:sp>
      <p:sp>
        <p:nvSpPr>
          <p:cNvPr id="4" name="Text 2"/>
          <p:cNvSpPr txBox="1"/>
          <p:nvPr/>
        </p:nvSpPr>
        <p:spPr>
          <a:xfrm>
            <a:off x="877824" y="91440"/>
            <a:ext cx="7388352"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Vocabulario Clave</a:t>
            </a:r>
            <a:endParaRPr lang="en-US" sz="2000" dirty="0"/>
          </a:p>
        </p:txBody>
      </p:sp>
      <p:sp>
        <p:nvSpPr>
          <p:cNvPr id="5" name="Shape 3"/>
          <p:cNvSpPr/>
          <p:nvPr/>
        </p:nvSpPr>
        <p:spPr>
          <a:xfrm>
            <a:off x="182880" y="777240"/>
            <a:ext cx="8778240" cy="365760"/>
          </a:xfrm>
          <a:prstGeom prst="roundRect">
            <a:avLst>
              <a:gd name="adj" fmla="val 17500"/>
            </a:avLst>
          </a:prstGeom>
          <a:solidFill>
            <a:srgbClr val="160D28"/>
          </a:solidFill>
          <a:ln w="12700">
            <a:solidFill>
              <a:srgbClr val="8B5CF6"/>
            </a:solidFill>
            <a:prstDash val="solid"/>
          </a:ln>
        </p:spPr>
        <p:txBody>
          <a:bodyPr/>
          <a:lstStyle/>
          <a:p>
            <a:endParaRPr lang="en-US"/>
          </a:p>
        </p:txBody>
      </p:sp>
      <p:sp>
        <p:nvSpPr>
          <p:cNvPr id="7" name="Text 5"/>
          <p:cNvSpPr txBox="1"/>
          <p:nvPr/>
        </p:nvSpPr>
        <p:spPr>
          <a:xfrm>
            <a:off x="347472" y="868680"/>
            <a:ext cx="8549640" cy="182880"/>
          </a:xfrm>
          <a:prstGeom prst="rect">
            <a:avLst/>
          </a:prstGeom>
          <a:noFill/>
          <a:ln/>
        </p:spPr>
        <p:txBody>
          <a:bodyPr wrap="square" lIns="0" tIns="0" rIns="0" bIns="0" rtlCol="0" anchor="ctr"/>
          <a:lstStyle/>
          <a:p>
            <a:pPr marL="0" indent="0" algn="ctr">
              <a:lnSpc>
                <a:spcPct val="100000"/>
              </a:lnSpc>
              <a:buNone/>
            </a:pPr>
            <a:r>
              <a:rPr lang="en-US" sz="1050" dirty="0">
                <a:solidFill>
                  <a:srgbClr val="FFFFFF"/>
                </a:solidFill>
                <a:latin typeface="Calibri" pitchFamily="34" charset="0"/>
                <a:ea typeface="Calibri" pitchFamily="34" charset="-122"/>
                <a:cs typeface="Calibri" pitchFamily="34" charset="-120"/>
              </a:rPr>
              <a:t>Estas palabras apareceran en examenes y en clase. Aprende las ahora.</a:t>
            </a:r>
            <a:endParaRPr lang="en-US" sz="1050" dirty="0"/>
          </a:p>
        </p:txBody>
      </p:sp>
      <p:sp>
        <p:nvSpPr>
          <p:cNvPr id="8" name="Shape 6"/>
          <p:cNvSpPr/>
          <p:nvPr/>
        </p:nvSpPr>
        <p:spPr>
          <a:xfrm>
            <a:off x="182880" y="1243584"/>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9" name="Text 7"/>
          <p:cNvSpPr txBox="1"/>
          <p:nvPr/>
        </p:nvSpPr>
        <p:spPr>
          <a:xfrm>
            <a:off x="292608" y="1298448"/>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Modulo Develop</a:t>
            </a:r>
            <a:endParaRPr lang="en-US" sz="1050" dirty="0"/>
          </a:p>
        </p:txBody>
      </p:sp>
      <p:sp>
        <p:nvSpPr>
          <p:cNvPr id="10" name="Text 8"/>
          <p:cNvSpPr txBox="1"/>
          <p:nvPr/>
        </p:nvSpPr>
        <p:spPr>
          <a:xfrm>
            <a:off x="1664208" y="1280160"/>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El entorno de edicion en Lightroom Classic donde corriges y mejoras las fotos.</a:t>
            </a:r>
            <a:endParaRPr lang="en-US" sz="950" dirty="0"/>
          </a:p>
        </p:txBody>
      </p:sp>
      <p:sp>
        <p:nvSpPr>
          <p:cNvPr id="11" name="Shape 9"/>
          <p:cNvSpPr/>
          <p:nvPr/>
        </p:nvSpPr>
        <p:spPr>
          <a:xfrm>
            <a:off x="182880" y="1956816"/>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12" name="Text 10"/>
          <p:cNvSpPr txBox="1"/>
          <p:nvPr/>
        </p:nvSpPr>
        <p:spPr>
          <a:xfrm>
            <a:off x="292608" y="2011680"/>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No destructivo</a:t>
            </a:r>
            <a:endParaRPr lang="en-US" sz="1050" dirty="0"/>
          </a:p>
        </p:txBody>
      </p:sp>
      <p:sp>
        <p:nvSpPr>
          <p:cNvPr id="13" name="Text 11"/>
          <p:cNvSpPr txBox="1"/>
          <p:nvPr/>
        </p:nvSpPr>
        <p:spPr>
          <a:xfrm>
            <a:off x="1664208" y="1993392"/>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Edicion que nunca modifica el archivo de foto original. Todas las ediciones se guardan en el Catalog.</a:t>
            </a:r>
            <a:endParaRPr lang="en-US" sz="950" dirty="0"/>
          </a:p>
        </p:txBody>
      </p:sp>
      <p:sp>
        <p:nvSpPr>
          <p:cNvPr id="14" name="Shape 12"/>
          <p:cNvSpPr/>
          <p:nvPr/>
        </p:nvSpPr>
        <p:spPr>
          <a:xfrm>
            <a:off x="182880" y="2670048"/>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15" name="Text 13"/>
          <p:cNvSpPr txBox="1"/>
          <p:nvPr/>
        </p:nvSpPr>
        <p:spPr>
          <a:xfrm>
            <a:off x="292608" y="2724912"/>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Histogram</a:t>
            </a:r>
            <a:endParaRPr lang="en-US" sz="1050" dirty="0"/>
          </a:p>
        </p:txBody>
      </p:sp>
      <p:sp>
        <p:nvSpPr>
          <p:cNvPr id="16" name="Text 14"/>
          <p:cNvSpPr txBox="1"/>
          <p:nvPr/>
        </p:nvSpPr>
        <p:spPr>
          <a:xfrm>
            <a:off x="1664208" y="2706624"/>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Un grafico que muestra la distribucion de tonos en tu foto, de negro puro (izquierda) a blanco puro (derecha).</a:t>
            </a:r>
            <a:endParaRPr lang="en-US" sz="950" dirty="0"/>
          </a:p>
        </p:txBody>
      </p:sp>
      <p:sp>
        <p:nvSpPr>
          <p:cNvPr id="17" name="Shape 15"/>
          <p:cNvSpPr/>
          <p:nvPr/>
        </p:nvSpPr>
        <p:spPr>
          <a:xfrm>
            <a:off x="182880" y="3383280"/>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18" name="Text 16"/>
          <p:cNvSpPr txBox="1"/>
          <p:nvPr/>
        </p:nvSpPr>
        <p:spPr>
          <a:xfrm>
            <a:off x="292608" y="3438144"/>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Perfil de Camara</a:t>
            </a:r>
            <a:endParaRPr lang="en-US" sz="1050" dirty="0"/>
          </a:p>
        </p:txBody>
      </p:sp>
      <p:sp>
        <p:nvSpPr>
          <p:cNvPr id="19" name="Text 17"/>
          <p:cNvSpPr txBox="1"/>
          <p:nvPr/>
        </p:nvSpPr>
        <p:spPr>
          <a:xfrm>
            <a:off x="1664208" y="3419856"/>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Una interpretacion de color que se aplica al inicio de la edicion. Adaptive Color usa IA para optimizar cada foto.</a:t>
            </a:r>
            <a:endParaRPr lang="en-US" sz="950" dirty="0"/>
          </a:p>
        </p:txBody>
      </p:sp>
      <p:sp>
        <p:nvSpPr>
          <p:cNvPr id="20" name="Shape 18"/>
          <p:cNvSpPr/>
          <p:nvPr/>
        </p:nvSpPr>
        <p:spPr>
          <a:xfrm>
            <a:off x="182880" y="4096512"/>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21" name="Text 19"/>
          <p:cNvSpPr txBox="1"/>
          <p:nvPr/>
        </p:nvSpPr>
        <p:spPr>
          <a:xfrm>
            <a:off x="292608" y="4151376"/>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Balance de Blancos</a:t>
            </a:r>
            <a:endParaRPr lang="en-US" sz="1050" dirty="0"/>
          </a:p>
        </p:txBody>
      </p:sp>
      <p:sp>
        <p:nvSpPr>
          <p:cNvPr id="22" name="Text 20"/>
          <p:cNvSpPr txBox="1"/>
          <p:nvPr/>
        </p:nvSpPr>
        <p:spPr>
          <a:xfrm>
            <a:off x="1664208" y="4133088"/>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La correccion de temperatura de color y tono que elimina las dominantes de color causadas por diferentes fuentes de luz.</a:t>
            </a:r>
            <a:endParaRPr lang="en-US" sz="950" dirty="0"/>
          </a:p>
        </p:txBody>
      </p:sp>
      <p:sp>
        <p:nvSpPr>
          <p:cNvPr id="23" name="Shape 21"/>
          <p:cNvSpPr/>
          <p:nvPr/>
        </p:nvSpPr>
        <p:spPr>
          <a:xfrm>
            <a:off x="4709160" y="1243584"/>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24" name="Text 22"/>
          <p:cNvSpPr txBox="1"/>
          <p:nvPr/>
        </p:nvSpPr>
        <p:spPr>
          <a:xfrm>
            <a:off x="4818888" y="1298448"/>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Exposure</a:t>
            </a:r>
            <a:endParaRPr lang="en-US" sz="1050" dirty="0"/>
          </a:p>
        </p:txBody>
      </p:sp>
      <p:sp>
        <p:nvSpPr>
          <p:cNvPr id="25" name="Text 23"/>
          <p:cNvSpPr txBox="1"/>
          <p:nvPr/>
        </p:nvSpPr>
        <p:spPr>
          <a:xfrm>
            <a:off x="6190488" y="1280160"/>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El brillo general de una foto, controlado por el control Exposure en la seccion Tone.</a:t>
            </a:r>
            <a:endParaRPr lang="en-US" sz="950" dirty="0"/>
          </a:p>
        </p:txBody>
      </p:sp>
      <p:sp>
        <p:nvSpPr>
          <p:cNvPr id="26" name="Shape 24"/>
          <p:cNvSpPr/>
          <p:nvPr/>
        </p:nvSpPr>
        <p:spPr>
          <a:xfrm>
            <a:off x="4709160" y="1956816"/>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27" name="Text 25"/>
          <p:cNvSpPr txBox="1"/>
          <p:nvPr/>
        </p:nvSpPr>
        <p:spPr>
          <a:xfrm>
            <a:off x="4818888" y="2011680"/>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Highlights</a:t>
            </a:r>
            <a:endParaRPr lang="en-US" sz="1050" dirty="0"/>
          </a:p>
        </p:txBody>
      </p:sp>
      <p:sp>
        <p:nvSpPr>
          <p:cNvPr id="28" name="Text 26"/>
          <p:cNvSpPr txBox="1"/>
          <p:nvPr/>
        </p:nvSpPr>
        <p:spPr>
          <a:xfrm>
            <a:off x="6190488" y="1993392"/>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Las areas brillantes de una foto. El control Highlights afecta solo los tonos brillantes sin tocar las sombras.</a:t>
            </a:r>
            <a:endParaRPr lang="en-US" sz="950" dirty="0"/>
          </a:p>
        </p:txBody>
      </p:sp>
      <p:sp>
        <p:nvSpPr>
          <p:cNvPr id="29" name="Shape 27"/>
          <p:cNvSpPr/>
          <p:nvPr/>
        </p:nvSpPr>
        <p:spPr>
          <a:xfrm>
            <a:off x="4709160" y="2670048"/>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30" name="Text 28"/>
          <p:cNvSpPr txBox="1"/>
          <p:nvPr/>
        </p:nvSpPr>
        <p:spPr>
          <a:xfrm>
            <a:off x="4818888" y="2724912"/>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Shadows</a:t>
            </a:r>
            <a:endParaRPr lang="en-US" sz="1050" dirty="0"/>
          </a:p>
        </p:txBody>
      </p:sp>
      <p:sp>
        <p:nvSpPr>
          <p:cNvPr id="31" name="Text 29"/>
          <p:cNvSpPr txBox="1"/>
          <p:nvPr/>
        </p:nvSpPr>
        <p:spPr>
          <a:xfrm>
            <a:off x="6190488" y="2706624"/>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Las areas oscuras de una foto. El control Shadows abre los tonos oscuros sin afectar las luces.</a:t>
            </a:r>
            <a:endParaRPr lang="en-US" sz="950" dirty="0"/>
          </a:p>
        </p:txBody>
      </p:sp>
      <p:sp>
        <p:nvSpPr>
          <p:cNvPr id="32" name="Shape 30"/>
          <p:cNvSpPr/>
          <p:nvPr/>
        </p:nvSpPr>
        <p:spPr>
          <a:xfrm>
            <a:off x="4709160" y="3383280"/>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33" name="Text 31"/>
          <p:cNvSpPr txBox="1"/>
          <p:nvPr/>
        </p:nvSpPr>
        <p:spPr>
          <a:xfrm>
            <a:off x="4818888" y="3438144"/>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Presence</a:t>
            </a:r>
            <a:endParaRPr lang="en-US" sz="1050" dirty="0"/>
          </a:p>
        </p:txBody>
      </p:sp>
      <p:sp>
        <p:nvSpPr>
          <p:cNvPr id="34" name="Text 32"/>
          <p:cNvSpPr txBox="1"/>
          <p:nvPr/>
        </p:nvSpPr>
        <p:spPr>
          <a:xfrm>
            <a:off x="6190488" y="3419856"/>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Un grupo de controles: Texture, Clarity, Dehaze, Vibrance y Saturation, que agregan detalle y profundidad de color.</a:t>
            </a:r>
            <a:endParaRPr lang="en-US" sz="950" dirty="0"/>
          </a:p>
        </p:txBody>
      </p:sp>
      <p:sp>
        <p:nvSpPr>
          <p:cNvPr id="35" name="Shape 33"/>
          <p:cNvSpPr/>
          <p:nvPr/>
        </p:nvSpPr>
        <p:spPr>
          <a:xfrm>
            <a:off x="4709160" y="4096512"/>
            <a:ext cx="4297680" cy="640080"/>
          </a:xfrm>
          <a:prstGeom prst="roundRect">
            <a:avLst>
              <a:gd name="adj" fmla="val 7143"/>
            </a:avLst>
          </a:prstGeom>
          <a:solidFill>
            <a:srgbClr val="160D28"/>
          </a:solidFill>
          <a:ln w="12700">
            <a:solidFill>
              <a:srgbClr val="8B5CF6"/>
            </a:solidFill>
            <a:prstDash val="solid"/>
          </a:ln>
        </p:spPr>
        <p:txBody>
          <a:bodyPr/>
          <a:lstStyle/>
          <a:p>
            <a:endParaRPr lang="en-US"/>
          </a:p>
        </p:txBody>
      </p:sp>
      <p:sp>
        <p:nvSpPr>
          <p:cNvPr id="36" name="Text 34"/>
          <p:cNvSpPr txBox="1"/>
          <p:nvPr/>
        </p:nvSpPr>
        <p:spPr>
          <a:xfrm>
            <a:off x="4818888" y="4151376"/>
            <a:ext cx="1325880" cy="237744"/>
          </a:xfrm>
          <a:prstGeom prst="rect">
            <a:avLst/>
          </a:prstGeom>
          <a:noFill/>
          <a:ln/>
        </p:spPr>
        <p:txBody>
          <a:bodyPr wrap="square" lIns="0" tIns="0" rIns="0" bIns="0" rtlCol="0" anchor="ctr"/>
          <a:lstStyle/>
          <a:p>
            <a:pPr marL="0" indent="0">
              <a:lnSpc>
                <a:spcPct val="100000"/>
              </a:lnSpc>
              <a:buNone/>
            </a:pPr>
            <a:r>
              <a:rPr lang="en-US" sz="1050" b="1" dirty="0">
                <a:solidFill>
                  <a:srgbClr val="80E0E0"/>
                </a:solidFill>
                <a:latin typeface="Calibri" pitchFamily="34" charset="0"/>
                <a:ea typeface="Calibri" pitchFamily="34" charset="-122"/>
                <a:cs typeface="Calibri" pitchFamily="34" charset="-120"/>
              </a:rPr>
              <a:t>Recorte Tonal</a:t>
            </a:r>
            <a:endParaRPr lang="en-US" sz="1050" dirty="0"/>
          </a:p>
        </p:txBody>
      </p:sp>
      <p:sp>
        <p:nvSpPr>
          <p:cNvPr id="37" name="Text 35"/>
          <p:cNvSpPr txBox="1"/>
          <p:nvPr/>
        </p:nvSpPr>
        <p:spPr>
          <a:xfrm>
            <a:off x="6190488" y="4133088"/>
            <a:ext cx="2706624" cy="566928"/>
          </a:xfrm>
          <a:prstGeom prst="rect">
            <a:avLst/>
          </a:prstGeom>
          <a:noFill/>
          <a:ln/>
        </p:spPr>
        <p:txBody>
          <a:bodyPr wrap="square" lIns="0" tIns="0" rIns="0" bIns="0" rtlCol="0" anchor="ctr"/>
          <a:lstStyle/>
          <a:p>
            <a:pPr marL="0" indent="0">
              <a:lnSpc>
                <a:spcPct val="100000"/>
              </a:lnSpc>
              <a:buNone/>
            </a:pPr>
            <a:r>
              <a:rPr lang="en-US" sz="950" dirty="0">
                <a:solidFill>
                  <a:srgbClr val="FFFFFF"/>
                </a:solidFill>
                <a:latin typeface="Calibri" pitchFamily="34" charset="0"/>
                <a:ea typeface="Calibri" pitchFamily="34" charset="-122"/>
                <a:cs typeface="Calibri" pitchFamily="34" charset="-120"/>
              </a:rPr>
              <a:t>Cuando las areas brillantes se queman hasta el blanco puro o las areas oscuras se aplastan hasta el negro puro, perdiendo todo el detalle.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8778240" cy="457200"/>
          </a:xfrm>
          <a:prstGeom prst="rect">
            <a:avLst/>
          </a:prstGeom>
          <a:noFill/>
          <a:ln/>
        </p:spPr>
        <p:txBody>
          <a:bodyPr wrap="square" lIns="0" tIns="0" rIns="0" bIns="0" rtlCol="0" anchor="ctr"/>
          <a:lstStyle/>
          <a:p>
            <a:pPr marL="0" indent="0" algn="ctr">
              <a:lnSpc>
                <a:spcPct val="100000"/>
              </a:lnSpc>
              <a:buNone/>
            </a:pPr>
            <a:r>
              <a:rPr lang="en-US" sz="2000" b="1" dirty="0">
                <a:solidFill>
                  <a:srgbClr val="FFFFFF"/>
                </a:solidFill>
                <a:latin typeface="Calibri" pitchFamily="34" charset="0"/>
                <a:ea typeface="Calibri" pitchFamily="34" charset="-122"/>
                <a:cs typeface="Calibri" pitchFamily="34" charset="-120"/>
              </a:rPr>
              <a:t>Referencia Rapida: Tu Flujo de Trabajo en el Modulo Develop</a:t>
            </a:r>
            <a:endParaRPr lang="en-US" sz="2000" dirty="0"/>
          </a:p>
        </p:txBody>
      </p:sp>
      <p:sp>
        <p:nvSpPr>
          <p:cNvPr id="4" name="Shape 2"/>
          <p:cNvSpPr/>
          <p:nvPr/>
        </p:nvSpPr>
        <p:spPr>
          <a:xfrm>
            <a:off x="164592" y="749808"/>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5" name="Shape 3"/>
          <p:cNvSpPr/>
          <p:nvPr/>
        </p:nvSpPr>
        <p:spPr>
          <a:xfrm>
            <a:off x="362712" y="950976"/>
            <a:ext cx="329184" cy="329184"/>
          </a:xfrm>
          <a:prstGeom prst="roundRect">
            <a:avLst>
              <a:gd name="adj" fmla="val 11111"/>
            </a:avLst>
          </a:prstGeom>
          <a:solidFill>
            <a:srgbClr val="FF6B1A"/>
          </a:solidFill>
          <a:ln/>
        </p:spPr>
        <p:txBody>
          <a:bodyPr/>
          <a:lstStyle/>
          <a:p>
            <a:endParaRPr lang="en-US"/>
          </a:p>
        </p:txBody>
      </p:sp>
      <p:sp>
        <p:nvSpPr>
          <p:cNvPr id="6" name="Text 4"/>
          <p:cNvSpPr txBox="1"/>
          <p:nvPr/>
        </p:nvSpPr>
        <p:spPr>
          <a:xfrm>
            <a:off x="362712" y="950976"/>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txBox="1"/>
          <p:nvPr/>
        </p:nvSpPr>
        <p:spPr>
          <a:xfrm>
            <a:off x="891540" y="890016"/>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D</a:t>
            </a:r>
            <a:endParaRPr lang="en-US" sz="1100" dirty="0"/>
          </a:p>
        </p:txBody>
      </p:sp>
      <p:sp>
        <p:nvSpPr>
          <p:cNvPr id="8" name="Text 6"/>
          <p:cNvSpPr txBox="1"/>
          <p:nvPr/>
        </p:nvSpPr>
        <p:spPr>
          <a:xfrm>
            <a:off x="891540" y="1036320"/>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Ve al modulo Develop desde el modulo Library.</a:t>
            </a:r>
            <a:endParaRPr lang="en-US" sz="950" dirty="0"/>
          </a:p>
        </p:txBody>
      </p:sp>
      <p:sp>
        <p:nvSpPr>
          <p:cNvPr id="9" name="Shape 7"/>
          <p:cNvSpPr/>
          <p:nvPr/>
        </p:nvSpPr>
        <p:spPr>
          <a:xfrm>
            <a:off x="164592" y="1591056"/>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10" name="Shape 8"/>
          <p:cNvSpPr/>
          <p:nvPr/>
        </p:nvSpPr>
        <p:spPr>
          <a:xfrm>
            <a:off x="362712" y="1792224"/>
            <a:ext cx="329184" cy="329184"/>
          </a:xfrm>
          <a:prstGeom prst="roundRect">
            <a:avLst>
              <a:gd name="adj" fmla="val 11111"/>
            </a:avLst>
          </a:prstGeom>
          <a:solidFill>
            <a:srgbClr val="FF6B1A"/>
          </a:solidFill>
          <a:ln/>
        </p:spPr>
        <p:txBody>
          <a:bodyPr/>
          <a:lstStyle/>
          <a:p>
            <a:endParaRPr lang="en-US"/>
          </a:p>
        </p:txBody>
      </p:sp>
      <p:sp>
        <p:nvSpPr>
          <p:cNvPr id="11" name="Text 9"/>
          <p:cNvSpPr txBox="1"/>
          <p:nvPr/>
        </p:nvSpPr>
        <p:spPr>
          <a:xfrm>
            <a:off x="362712" y="1792224"/>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891540" y="1731264"/>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R</a:t>
            </a:r>
            <a:endParaRPr lang="en-US" sz="1100" dirty="0"/>
          </a:p>
        </p:txBody>
      </p:sp>
      <p:sp>
        <p:nvSpPr>
          <p:cNvPr id="13" name="Text 11"/>
          <p:cNvSpPr txBox="1"/>
          <p:nvPr/>
        </p:nvSpPr>
        <p:spPr>
          <a:xfrm>
            <a:off x="891540" y="1877568"/>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Abre la herramienta Crop Overlay. Presiona Return para confirmar.</a:t>
            </a:r>
            <a:endParaRPr lang="en-US" sz="950" dirty="0"/>
          </a:p>
        </p:txBody>
      </p:sp>
      <p:sp>
        <p:nvSpPr>
          <p:cNvPr id="14" name="Shape 12"/>
          <p:cNvSpPr/>
          <p:nvPr/>
        </p:nvSpPr>
        <p:spPr>
          <a:xfrm>
            <a:off x="164592" y="2432304"/>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15" name="Shape 13"/>
          <p:cNvSpPr/>
          <p:nvPr/>
        </p:nvSpPr>
        <p:spPr>
          <a:xfrm>
            <a:off x="362712" y="2633472"/>
            <a:ext cx="329184" cy="329184"/>
          </a:xfrm>
          <a:prstGeom prst="roundRect">
            <a:avLst>
              <a:gd name="adj" fmla="val 11111"/>
            </a:avLst>
          </a:prstGeom>
          <a:solidFill>
            <a:srgbClr val="FF6B1A"/>
          </a:solidFill>
          <a:ln/>
        </p:spPr>
        <p:txBody>
          <a:bodyPr/>
          <a:lstStyle/>
          <a:p>
            <a:endParaRPr lang="en-US"/>
          </a:p>
        </p:txBody>
      </p:sp>
      <p:sp>
        <p:nvSpPr>
          <p:cNvPr id="16" name="Text 14"/>
          <p:cNvSpPr txBox="1"/>
          <p:nvPr/>
        </p:nvSpPr>
        <p:spPr>
          <a:xfrm>
            <a:off x="362712" y="2633472"/>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txBox="1"/>
          <p:nvPr/>
        </p:nvSpPr>
        <p:spPr>
          <a:xfrm>
            <a:off x="891540" y="2572512"/>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Profile</a:t>
            </a:r>
            <a:endParaRPr lang="en-US" sz="1100" dirty="0"/>
          </a:p>
        </p:txBody>
      </p:sp>
      <p:sp>
        <p:nvSpPr>
          <p:cNvPr id="18" name="Text 16"/>
          <p:cNvSpPr txBox="1"/>
          <p:nvPr/>
        </p:nvSpPr>
        <p:spPr>
          <a:xfrm>
            <a:off x="891540" y="2718816"/>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Configura a Adaptive Color en la parte superior del panel Basic.</a:t>
            </a:r>
            <a:endParaRPr lang="en-US" sz="950" dirty="0"/>
          </a:p>
        </p:txBody>
      </p:sp>
      <p:sp>
        <p:nvSpPr>
          <p:cNvPr id="19" name="Shape 17"/>
          <p:cNvSpPr/>
          <p:nvPr/>
        </p:nvSpPr>
        <p:spPr>
          <a:xfrm>
            <a:off x="164592" y="3273552"/>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20" name="Shape 18"/>
          <p:cNvSpPr/>
          <p:nvPr/>
        </p:nvSpPr>
        <p:spPr>
          <a:xfrm>
            <a:off x="362712" y="3474720"/>
            <a:ext cx="329184" cy="329184"/>
          </a:xfrm>
          <a:prstGeom prst="roundRect">
            <a:avLst>
              <a:gd name="adj" fmla="val 11111"/>
            </a:avLst>
          </a:prstGeom>
          <a:solidFill>
            <a:srgbClr val="FF6B1A"/>
          </a:solidFill>
          <a:ln/>
        </p:spPr>
        <p:txBody>
          <a:bodyPr/>
          <a:lstStyle/>
          <a:p>
            <a:endParaRPr lang="en-US"/>
          </a:p>
        </p:txBody>
      </p:sp>
      <p:sp>
        <p:nvSpPr>
          <p:cNvPr id="21" name="Text 19"/>
          <p:cNvSpPr txBox="1"/>
          <p:nvPr/>
        </p:nvSpPr>
        <p:spPr>
          <a:xfrm>
            <a:off x="362712" y="3474720"/>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txBox="1"/>
          <p:nvPr/>
        </p:nvSpPr>
        <p:spPr>
          <a:xfrm>
            <a:off x="891540" y="3413760"/>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WB</a:t>
            </a:r>
            <a:endParaRPr lang="en-US" sz="1100" dirty="0"/>
          </a:p>
        </p:txBody>
      </p:sp>
      <p:sp>
        <p:nvSpPr>
          <p:cNvPr id="23" name="Text 21"/>
          <p:cNvSpPr txBox="1"/>
          <p:nvPr/>
        </p:nvSpPr>
        <p:spPr>
          <a:xfrm>
            <a:off x="891540" y="3560064"/>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Elige el ajuste WB que corresponde a tu fuente de luz. Ajusta con Temp y Tint.</a:t>
            </a:r>
            <a:endParaRPr lang="en-US" sz="950" dirty="0"/>
          </a:p>
        </p:txBody>
      </p:sp>
      <p:sp>
        <p:nvSpPr>
          <p:cNvPr id="24" name="Shape 22"/>
          <p:cNvSpPr/>
          <p:nvPr/>
        </p:nvSpPr>
        <p:spPr>
          <a:xfrm>
            <a:off x="164592" y="4114800"/>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25" name="Shape 23"/>
          <p:cNvSpPr/>
          <p:nvPr/>
        </p:nvSpPr>
        <p:spPr>
          <a:xfrm>
            <a:off x="362712" y="4315968"/>
            <a:ext cx="329184" cy="329184"/>
          </a:xfrm>
          <a:prstGeom prst="roundRect">
            <a:avLst>
              <a:gd name="adj" fmla="val 11111"/>
            </a:avLst>
          </a:prstGeom>
          <a:solidFill>
            <a:srgbClr val="FF6B1A"/>
          </a:solidFill>
          <a:ln/>
        </p:spPr>
        <p:txBody>
          <a:bodyPr/>
          <a:lstStyle/>
          <a:p>
            <a:endParaRPr lang="en-US"/>
          </a:p>
        </p:txBody>
      </p:sp>
      <p:sp>
        <p:nvSpPr>
          <p:cNvPr id="26" name="Text 24"/>
          <p:cNvSpPr txBox="1"/>
          <p:nvPr/>
        </p:nvSpPr>
        <p:spPr>
          <a:xfrm>
            <a:off x="362712" y="4315968"/>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7" name="Text 25"/>
          <p:cNvSpPr txBox="1"/>
          <p:nvPr/>
        </p:nvSpPr>
        <p:spPr>
          <a:xfrm>
            <a:off x="891540" y="4255008"/>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Exposure</a:t>
            </a:r>
            <a:endParaRPr lang="en-US" sz="1100" dirty="0"/>
          </a:p>
        </p:txBody>
      </p:sp>
      <p:sp>
        <p:nvSpPr>
          <p:cNvPr id="28" name="Text 26"/>
          <p:cNvSpPr txBox="1"/>
          <p:nvPr/>
        </p:nvSpPr>
        <p:spPr>
          <a:xfrm>
            <a:off x="891540" y="4401312"/>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Establece el brillo general primero. Presiona Auto para que Lightroom haga una estimacion.</a:t>
            </a:r>
            <a:endParaRPr lang="en-US" sz="950" dirty="0"/>
          </a:p>
        </p:txBody>
      </p:sp>
      <p:sp>
        <p:nvSpPr>
          <p:cNvPr id="29" name="Shape 27"/>
          <p:cNvSpPr/>
          <p:nvPr/>
        </p:nvSpPr>
        <p:spPr>
          <a:xfrm>
            <a:off x="4663440" y="749808"/>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30" name="Shape 28"/>
          <p:cNvSpPr/>
          <p:nvPr/>
        </p:nvSpPr>
        <p:spPr>
          <a:xfrm>
            <a:off x="4884420" y="950976"/>
            <a:ext cx="329184" cy="329184"/>
          </a:xfrm>
          <a:prstGeom prst="roundRect">
            <a:avLst>
              <a:gd name="adj" fmla="val 11111"/>
            </a:avLst>
          </a:prstGeom>
          <a:solidFill>
            <a:srgbClr val="FF6B1A"/>
          </a:solidFill>
          <a:ln/>
        </p:spPr>
        <p:txBody>
          <a:bodyPr/>
          <a:lstStyle/>
          <a:p>
            <a:endParaRPr lang="en-US"/>
          </a:p>
        </p:txBody>
      </p:sp>
      <p:sp>
        <p:nvSpPr>
          <p:cNvPr id="31" name="Text 29"/>
          <p:cNvSpPr txBox="1"/>
          <p:nvPr/>
        </p:nvSpPr>
        <p:spPr>
          <a:xfrm>
            <a:off x="4884420" y="950976"/>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txBox="1"/>
          <p:nvPr/>
        </p:nvSpPr>
        <p:spPr>
          <a:xfrm>
            <a:off x="5390388" y="890016"/>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Highlights</a:t>
            </a:r>
            <a:endParaRPr lang="en-US" sz="1100" dirty="0"/>
          </a:p>
        </p:txBody>
      </p:sp>
      <p:sp>
        <p:nvSpPr>
          <p:cNvPr id="33" name="Text 31"/>
          <p:cNvSpPr txBox="1"/>
          <p:nvPr/>
        </p:nvSpPr>
        <p:spPr>
          <a:xfrm>
            <a:off x="5390388" y="1036320"/>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Arrastra a la izquierda para recuperar areas brillantes quemadas.</a:t>
            </a:r>
            <a:endParaRPr lang="en-US" sz="950" dirty="0"/>
          </a:p>
        </p:txBody>
      </p:sp>
      <p:sp>
        <p:nvSpPr>
          <p:cNvPr id="34" name="Shape 32"/>
          <p:cNvSpPr/>
          <p:nvPr/>
        </p:nvSpPr>
        <p:spPr>
          <a:xfrm>
            <a:off x="4663440" y="1591056"/>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35" name="Shape 33"/>
          <p:cNvSpPr/>
          <p:nvPr/>
        </p:nvSpPr>
        <p:spPr>
          <a:xfrm>
            <a:off x="4884420" y="1792224"/>
            <a:ext cx="329184" cy="329184"/>
          </a:xfrm>
          <a:prstGeom prst="roundRect">
            <a:avLst>
              <a:gd name="adj" fmla="val 11111"/>
            </a:avLst>
          </a:prstGeom>
          <a:solidFill>
            <a:srgbClr val="FF6B1A"/>
          </a:solidFill>
          <a:ln/>
        </p:spPr>
        <p:txBody>
          <a:bodyPr/>
          <a:lstStyle/>
          <a:p>
            <a:endParaRPr lang="en-US"/>
          </a:p>
        </p:txBody>
      </p:sp>
      <p:sp>
        <p:nvSpPr>
          <p:cNvPr id="36" name="Text 34"/>
          <p:cNvSpPr txBox="1"/>
          <p:nvPr/>
        </p:nvSpPr>
        <p:spPr>
          <a:xfrm>
            <a:off x="4884420" y="1792224"/>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7" name="Text 35"/>
          <p:cNvSpPr txBox="1"/>
          <p:nvPr/>
        </p:nvSpPr>
        <p:spPr>
          <a:xfrm>
            <a:off x="5390388" y="1731264"/>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Shadows</a:t>
            </a:r>
            <a:endParaRPr lang="en-US" sz="1100" dirty="0"/>
          </a:p>
        </p:txBody>
      </p:sp>
      <p:sp>
        <p:nvSpPr>
          <p:cNvPr id="38" name="Text 36"/>
          <p:cNvSpPr txBox="1"/>
          <p:nvPr/>
        </p:nvSpPr>
        <p:spPr>
          <a:xfrm>
            <a:off x="5390388" y="1877568"/>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Arrastra a la derecha para abrir areas oscuras y revelar detalle.</a:t>
            </a:r>
            <a:endParaRPr lang="en-US" sz="950" dirty="0"/>
          </a:p>
        </p:txBody>
      </p:sp>
      <p:sp>
        <p:nvSpPr>
          <p:cNvPr id="39" name="Shape 37"/>
          <p:cNvSpPr/>
          <p:nvPr/>
        </p:nvSpPr>
        <p:spPr>
          <a:xfrm>
            <a:off x="4663440" y="2432304"/>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40" name="Shape 38"/>
          <p:cNvSpPr/>
          <p:nvPr/>
        </p:nvSpPr>
        <p:spPr>
          <a:xfrm>
            <a:off x="4884420" y="2633472"/>
            <a:ext cx="329184" cy="329184"/>
          </a:xfrm>
          <a:prstGeom prst="roundRect">
            <a:avLst>
              <a:gd name="adj" fmla="val 11111"/>
            </a:avLst>
          </a:prstGeom>
          <a:solidFill>
            <a:srgbClr val="FF6B1A"/>
          </a:solidFill>
          <a:ln/>
        </p:spPr>
        <p:txBody>
          <a:bodyPr/>
          <a:lstStyle/>
          <a:p>
            <a:endParaRPr lang="en-US"/>
          </a:p>
        </p:txBody>
      </p:sp>
      <p:sp>
        <p:nvSpPr>
          <p:cNvPr id="41" name="Text 39"/>
          <p:cNvSpPr txBox="1"/>
          <p:nvPr/>
        </p:nvSpPr>
        <p:spPr>
          <a:xfrm>
            <a:off x="4884420" y="2633472"/>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5390388" y="2572512"/>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Whites / Blacks</a:t>
            </a:r>
            <a:endParaRPr lang="en-US" sz="1100" dirty="0"/>
          </a:p>
        </p:txBody>
      </p:sp>
      <p:sp>
        <p:nvSpPr>
          <p:cNvPr id="43" name="Text 41"/>
          <p:cNvSpPr txBox="1"/>
          <p:nvPr/>
        </p:nvSpPr>
        <p:spPr>
          <a:xfrm>
            <a:off x="5390388" y="2718816"/>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Mantiene Option y arrastra para establecer los extremos de brillo y oscuridad.</a:t>
            </a:r>
            <a:endParaRPr lang="en-US" sz="950" dirty="0"/>
          </a:p>
        </p:txBody>
      </p:sp>
      <p:sp>
        <p:nvSpPr>
          <p:cNvPr id="44" name="Shape 42"/>
          <p:cNvSpPr/>
          <p:nvPr/>
        </p:nvSpPr>
        <p:spPr>
          <a:xfrm>
            <a:off x="4663440" y="3273552"/>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45" name="Shape 43"/>
          <p:cNvSpPr/>
          <p:nvPr/>
        </p:nvSpPr>
        <p:spPr>
          <a:xfrm>
            <a:off x="4884420" y="3474720"/>
            <a:ext cx="329184" cy="329184"/>
          </a:xfrm>
          <a:prstGeom prst="roundRect">
            <a:avLst>
              <a:gd name="adj" fmla="val 11111"/>
            </a:avLst>
          </a:prstGeom>
          <a:solidFill>
            <a:srgbClr val="FF6B1A"/>
          </a:solidFill>
          <a:ln/>
        </p:spPr>
        <p:txBody>
          <a:bodyPr/>
          <a:lstStyle/>
          <a:p>
            <a:endParaRPr lang="en-US"/>
          </a:p>
        </p:txBody>
      </p:sp>
      <p:sp>
        <p:nvSpPr>
          <p:cNvPr id="46" name="Text 44"/>
          <p:cNvSpPr txBox="1"/>
          <p:nvPr/>
        </p:nvSpPr>
        <p:spPr>
          <a:xfrm>
            <a:off x="4884420" y="3474720"/>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7" name="Text 45"/>
          <p:cNvSpPr txBox="1"/>
          <p:nvPr/>
        </p:nvSpPr>
        <p:spPr>
          <a:xfrm>
            <a:off x="5390388" y="3413760"/>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Contrast</a:t>
            </a:r>
            <a:endParaRPr lang="en-US" sz="1100" dirty="0"/>
          </a:p>
        </p:txBody>
      </p:sp>
      <p:sp>
        <p:nvSpPr>
          <p:cNvPr id="48" name="Text 46"/>
          <p:cNvSpPr txBox="1"/>
          <p:nvPr/>
        </p:nvSpPr>
        <p:spPr>
          <a:xfrm>
            <a:off x="5390388" y="3560064"/>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Agrega despues de ajustar el Tone. Shift+doble clic para automatico.</a:t>
            </a:r>
            <a:endParaRPr lang="en-US" sz="950" dirty="0"/>
          </a:p>
        </p:txBody>
      </p:sp>
      <p:sp>
        <p:nvSpPr>
          <p:cNvPr id="49" name="Shape 47"/>
          <p:cNvSpPr/>
          <p:nvPr/>
        </p:nvSpPr>
        <p:spPr>
          <a:xfrm>
            <a:off x="4663440" y="4114800"/>
            <a:ext cx="4315968" cy="749808"/>
          </a:xfrm>
          <a:prstGeom prst="roundRect">
            <a:avLst>
              <a:gd name="adj" fmla="val 6098"/>
            </a:avLst>
          </a:prstGeom>
          <a:solidFill>
            <a:srgbClr val="122222"/>
          </a:solidFill>
          <a:ln w="12700">
            <a:solidFill>
              <a:srgbClr val="007474"/>
            </a:solidFill>
            <a:prstDash val="solid"/>
          </a:ln>
        </p:spPr>
        <p:txBody>
          <a:bodyPr/>
          <a:lstStyle/>
          <a:p>
            <a:endParaRPr lang="en-US"/>
          </a:p>
        </p:txBody>
      </p:sp>
      <p:sp>
        <p:nvSpPr>
          <p:cNvPr id="50" name="Shape 48"/>
          <p:cNvSpPr/>
          <p:nvPr/>
        </p:nvSpPr>
        <p:spPr>
          <a:xfrm>
            <a:off x="4884420" y="4315968"/>
            <a:ext cx="329184" cy="329184"/>
          </a:xfrm>
          <a:prstGeom prst="roundRect">
            <a:avLst>
              <a:gd name="adj" fmla="val 11111"/>
            </a:avLst>
          </a:prstGeom>
          <a:solidFill>
            <a:srgbClr val="FF6B1A"/>
          </a:solidFill>
          <a:ln/>
        </p:spPr>
        <p:txBody>
          <a:bodyPr/>
          <a:lstStyle/>
          <a:p>
            <a:endParaRPr lang="en-US"/>
          </a:p>
        </p:txBody>
      </p:sp>
      <p:sp>
        <p:nvSpPr>
          <p:cNvPr id="51" name="Text 49"/>
          <p:cNvSpPr txBox="1"/>
          <p:nvPr/>
        </p:nvSpPr>
        <p:spPr>
          <a:xfrm>
            <a:off x="4884420" y="4315968"/>
            <a:ext cx="329184" cy="329184"/>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2" name="Text 50"/>
          <p:cNvSpPr txBox="1"/>
          <p:nvPr/>
        </p:nvSpPr>
        <p:spPr>
          <a:xfrm>
            <a:off x="5390388" y="4255008"/>
            <a:ext cx="3352800" cy="237744"/>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Texture + Vibrance</a:t>
            </a:r>
            <a:endParaRPr lang="en-US" sz="1100" dirty="0"/>
          </a:p>
        </p:txBody>
      </p:sp>
      <p:sp>
        <p:nvSpPr>
          <p:cNvPr id="53" name="Text 51"/>
          <p:cNvSpPr txBox="1"/>
          <p:nvPr/>
        </p:nvSpPr>
        <p:spPr>
          <a:xfrm>
            <a:off x="5390388" y="4401312"/>
            <a:ext cx="3352800" cy="329184"/>
          </a:xfrm>
          <a:prstGeom prst="rect">
            <a:avLst/>
          </a:prstGeom>
          <a:noFill/>
          <a:ln/>
        </p:spPr>
        <p:txBody>
          <a:bodyPr wrap="square" lIns="0" tIns="0" rIns="0" bIns="0" rtlCol="0" anchor="ctr"/>
          <a:lstStyle/>
          <a:p>
            <a:pPr marL="0" indent="0">
              <a:lnSpc>
                <a:spcPct val="100000"/>
              </a:lnSpc>
              <a:buNone/>
            </a:pPr>
            <a:r>
              <a:rPr lang="en-US" sz="950" dirty="0">
                <a:solidFill>
                  <a:srgbClr val="AAAAAA"/>
                </a:solidFill>
                <a:latin typeface="Calibri" pitchFamily="34" charset="0"/>
                <a:ea typeface="Calibri" pitchFamily="34" charset="-122"/>
                <a:cs typeface="Calibri" pitchFamily="34" charset="-120"/>
              </a:rPr>
              <a:t>Agrega Presence al final. Comienza con Texture +20, Vibrance +20.</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lnSpc>
                <a:spcPct val="100000"/>
              </a:lnSpc>
              <a:buNone/>
            </a:pPr>
            <a:r>
              <a:rPr lang="en-US" sz="1000" b="1" dirty="0">
                <a:solidFill>
                  <a:srgbClr val="80E0E0"/>
                </a:solidFill>
                <a:latin typeface="Calibri" pitchFamily="34" charset="0"/>
                <a:ea typeface="Calibri" pitchFamily="34" charset="-122"/>
                <a:cs typeface="Calibri" pitchFamily="34" charset="-120"/>
              </a:rPr>
              <a:t>PASO 08</a:t>
            </a:r>
            <a:endParaRPr lang="en-US" sz="1000" dirty="0"/>
          </a:p>
        </p:txBody>
      </p:sp>
      <p:sp>
        <p:nvSpPr>
          <p:cNvPr id="4" name="Text 2"/>
          <p:cNvSpPr txBox="1"/>
          <p:nvPr/>
        </p:nvSpPr>
        <p:spPr>
          <a:xfrm>
            <a:off x="1572768" y="91440"/>
            <a:ext cx="7388352" cy="457200"/>
          </a:xfrm>
          <a:prstGeom prst="rect">
            <a:avLst/>
          </a:prstGeom>
          <a:noFill/>
          <a:ln/>
        </p:spPr>
        <p:txBody>
          <a:bodyPr wrap="square" lIns="0" tIns="0" rIns="0" bIns="0" rtlCol="0" anchor="ctr"/>
          <a:lstStyle/>
          <a:p>
            <a:pPr marL="0" indent="0">
              <a:lnSpc>
                <a:spcPct val="100000"/>
              </a:lnSpc>
              <a:buNone/>
            </a:pPr>
            <a:r>
              <a:rPr lang="en-US" sz="2000" b="1" dirty="0">
                <a:solidFill>
                  <a:srgbClr val="FFFFFF"/>
                </a:solidFill>
                <a:latin typeface="Calibri" pitchFamily="34" charset="0"/>
                <a:ea typeface="Calibri" pitchFamily="34" charset="-122"/>
                <a:cs typeface="Calibri" pitchFamily="34" charset="-120"/>
              </a:rPr>
              <a:t>Califica, Selecciona y Exporta tus Mejores Fotos</a:t>
            </a:r>
            <a:endParaRPr lang="en-US" sz="2000" dirty="0"/>
          </a:p>
        </p:txBody>
      </p:sp>
      <p:sp>
        <p:nvSpPr>
          <p:cNvPr id="5" name="Shape 3"/>
          <p:cNvSpPr/>
          <p:nvPr/>
        </p:nvSpPr>
        <p:spPr>
          <a:xfrm>
            <a:off x="182880" y="777240"/>
            <a:ext cx="4892040" cy="658368"/>
          </a:xfrm>
          <a:prstGeom prst="roundRect">
            <a:avLst>
              <a:gd name="adj" fmla="val 9722"/>
            </a:avLst>
          </a:prstGeom>
          <a:solidFill>
            <a:srgbClr val="160D28"/>
          </a:solidFill>
          <a:ln w="12700">
            <a:solidFill>
              <a:srgbClr val="8B5CF6"/>
            </a:solidFill>
            <a:prstDash val="solid"/>
          </a:ln>
        </p:spPr>
        <p:txBody>
          <a:bodyPr/>
          <a:lstStyle/>
          <a:p>
            <a:endParaRPr lang="en-US"/>
          </a:p>
        </p:txBody>
      </p:sp>
      <p:sp>
        <p:nvSpPr>
          <p:cNvPr id="6" name="Shape 4"/>
          <p:cNvSpPr/>
          <p:nvPr/>
        </p:nvSpPr>
        <p:spPr>
          <a:xfrm>
            <a:off x="182880" y="777240"/>
            <a:ext cx="50292" cy="658368"/>
          </a:xfrm>
          <a:prstGeom prst="rect">
            <a:avLst/>
          </a:prstGeom>
          <a:solidFill>
            <a:srgbClr val="8B5CF6"/>
          </a:solidFill>
          <a:ln/>
        </p:spPr>
        <p:txBody>
          <a:bodyPr/>
          <a:lstStyle/>
          <a:p>
            <a:endParaRPr lang="en-US"/>
          </a:p>
        </p:txBody>
      </p:sp>
      <p:sp>
        <p:nvSpPr>
          <p:cNvPr id="7" name="Text 5"/>
          <p:cNvSpPr txBox="1"/>
          <p:nvPr/>
        </p:nvSpPr>
        <p:spPr>
          <a:xfrm>
            <a:off x="347472" y="868680"/>
            <a:ext cx="4709160" cy="47548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La calificacion es como seleccionas en esta clase. Despues de editar una foto en el modulo Develop, presiona 5 en tu teclado para darle una calificacion de 5 estrellas. Solo califica las fotos de las que estes orgulloso y quieras conservar.</a:t>
            </a:r>
            <a:endParaRPr lang="en-US" sz="1050" dirty="0"/>
          </a:p>
        </p:txBody>
      </p:sp>
      <p:sp>
        <p:nvSpPr>
          <p:cNvPr id="8" name="Shape 6"/>
          <p:cNvSpPr/>
          <p:nvPr/>
        </p:nvSpPr>
        <p:spPr>
          <a:xfrm>
            <a:off x="182880" y="1600200"/>
            <a:ext cx="347472" cy="347472"/>
          </a:xfrm>
          <a:prstGeom prst="ellipse">
            <a:avLst/>
          </a:prstGeom>
          <a:solidFill>
            <a:srgbClr val="FF6B1A"/>
          </a:solidFill>
          <a:ln/>
        </p:spPr>
        <p:txBody>
          <a:bodyPr/>
          <a:lstStyle/>
          <a:p>
            <a:endParaRPr lang="en-US"/>
          </a:p>
        </p:txBody>
      </p:sp>
      <p:sp>
        <p:nvSpPr>
          <p:cNvPr id="9" name="Text 7"/>
          <p:cNvSpPr txBox="1"/>
          <p:nvPr/>
        </p:nvSpPr>
        <p:spPr>
          <a:xfrm>
            <a:off x="182880" y="1600200"/>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40080" y="1572768"/>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D para ir al modulo Develop</a:t>
            </a:r>
            <a:endParaRPr lang="en-US" sz="1100" dirty="0"/>
          </a:p>
        </p:txBody>
      </p:sp>
      <p:sp>
        <p:nvSpPr>
          <p:cNvPr id="11" name="Text 9"/>
          <p:cNvSpPr txBox="1"/>
          <p:nvPr/>
        </p:nvSpPr>
        <p:spPr>
          <a:xfrm>
            <a:off x="640080" y="1776205"/>
            <a:ext cx="4434840" cy="310896"/>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Abre la foto que acabas de editar. Asegurate de estar en el modulo Develop.</a:t>
            </a:r>
            <a:endParaRPr lang="en-US" sz="1050" dirty="0"/>
          </a:p>
        </p:txBody>
      </p:sp>
      <p:sp>
        <p:nvSpPr>
          <p:cNvPr id="12" name="Shape 10"/>
          <p:cNvSpPr/>
          <p:nvPr/>
        </p:nvSpPr>
        <p:spPr>
          <a:xfrm>
            <a:off x="182880" y="2313432"/>
            <a:ext cx="347472" cy="347472"/>
          </a:xfrm>
          <a:prstGeom prst="ellipse">
            <a:avLst/>
          </a:prstGeom>
          <a:solidFill>
            <a:srgbClr val="FF6B1A"/>
          </a:solidFill>
          <a:ln/>
        </p:spPr>
        <p:txBody>
          <a:bodyPr/>
          <a:lstStyle/>
          <a:p>
            <a:endParaRPr lang="en-US"/>
          </a:p>
        </p:txBody>
      </p:sp>
      <p:sp>
        <p:nvSpPr>
          <p:cNvPr id="13" name="Text 11"/>
          <p:cNvSpPr txBox="1"/>
          <p:nvPr/>
        </p:nvSpPr>
        <p:spPr>
          <a:xfrm>
            <a:off x="182880" y="2313432"/>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40080" y="2286000"/>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5 en tu teclado para calificarla con 5 estrellas</a:t>
            </a:r>
            <a:endParaRPr lang="en-US" sz="1100" dirty="0"/>
          </a:p>
        </p:txBody>
      </p:sp>
      <p:sp>
        <p:nvSpPr>
          <p:cNvPr id="15" name="Text 13"/>
          <p:cNvSpPr txBox="1"/>
          <p:nvPr/>
        </p:nvSpPr>
        <p:spPr>
          <a:xfrm>
            <a:off x="640080" y="2489437"/>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Veras aparecer cinco estrellas doradas en la parte inferior de la imagen. Esto la marca como una de tus mejores fotos.</a:t>
            </a:r>
            <a:endParaRPr lang="en-US" sz="1050" dirty="0"/>
          </a:p>
        </p:txBody>
      </p:sp>
      <p:sp>
        <p:nvSpPr>
          <p:cNvPr id="16" name="Shape 14"/>
          <p:cNvSpPr/>
          <p:nvPr/>
        </p:nvSpPr>
        <p:spPr>
          <a:xfrm>
            <a:off x="182880" y="3017025"/>
            <a:ext cx="347472" cy="347472"/>
          </a:xfrm>
          <a:prstGeom prst="ellipse">
            <a:avLst/>
          </a:prstGeom>
          <a:solidFill>
            <a:srgbClr val="FF6B1A"/>
          </a:solidFill>
          <a:ln/>
        </p:spPr>
        <p:txBody>
          <a:bodyPr/>
          <a:lstStyle/>
          <a:p>
            <a:endParaRPr lang="en-US"/>
          </a:p>
        </p:txBody>
      </p:sp>
      <p:sp>
        <p:nvSpPr>
          <p:cNvPr id="17" name="Text 15"/>
          <p:cNvSpPr txBox="1"/>
          <p:nvPr/>
        </p:nvSpPr>
        <p:spPr>
          <a:xfrm>
            <a:off x="182880" y="3017025"/>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0080" y="2982505"/>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Repite con cada foto que quieras conservar</a:t>
            </a:r>
            <a:endParaRPr lang="en-US" sz="1100" dirty="0"/>
          </a:p>
        </p:txBody>
      </p:sp>
      <p:sp>
        <p:nvSpPr>
          <p:cNvPr id="19" name="Text 17"/>
          <p:cNvSpPr txBox="1"/>
          <p:nvPr/>
        </p:nvSpPr>
        <p:spPr>
          <a:xfrm>
            <a:off x="640080" y="3185942"/>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Revisa tus fotos editadas. Presiona 5 para tu mejor trabajo. Presiona G para volver a la vista Grid y pasar a la siguiente foto.</a:t>
            </a:r>
            <a:endParaRPr lang="en-US" sz="1050" dirty="0"/>
          </a:p>
        </p:txBody>
      </p:sp>
      <p:sp>
        <p:nvSpPr>
          <p:cNvPr id="20" name="Shape 18"/>
          <p:cNvSpPr/>
          <p:nvPr/>
        </p:nvSpPr>
        <p:spPr>
          <a:xfrm>
            <a:off x="182880" y="3795615"/>
            <a:ext cx="347472" cy="347472"/>
          </a:xfrm>
          <a:prstGeom prst="ellipse">
            <a:avLst/>
          </a:prstGeom>
          <a:solidFill>
            <a:srgbClr val="FF6B1A"/>
          </a:solidFill>
          <a:ln/>
        </p:spPr>
        <p:txBody>
          <a:bodyPr/>
          <a:lstStyle/>
          <a:p>
            <a:endParaRPr lang="en-US"/>
          </a:p>
        </p:txBody>
      </p:sp>
      <p:sp>
        <p:nvSpPr>
          <p:cNvPr id="21" name="Text 19"/>
          <p:cNvSpPr txBox="1"/>
          <p:nvPr/>
        </p:nvSpPr>
        <p:spPr>
          <a:xfrm>
            <a:off x="182880" y="3795615"/>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40080" y="3725652"/>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Presiona la barra invertida (\) para abrir la Library Filter Bar</a:t>
            </a:r>
            <a:endParaRPr lang="en-US" sz="1100" dirty="0"/>
          </a:p>
        </p:txBody>
      </p:sp>
      <p:sp>
        <p:nvSpPr>
          <p:cNvPr id="23" name="Text 21"/>
          <p:cNvSpPr txBox="1"/>
          <p:nvPr/>
        </p:nvSpPr>
        <p:spPr>
          <a:xfrm>
            <a:off x="640080" y="3929089"/>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En la vista Grid, presiona la tecla de barra invertida para mostrar la Library Filter Bar en la parte superior de la cuadricula.</a:t>
            </a:r>
            <a:endParaRPr lang="en-US" sz="1050" dirty="0"/>
          </a:p>
        </p:txBody>
      </p:sp>
      <p:sp>
        <p:nvSpPr>
          <p:cNvPr id="24" name="Shape 22"/>
          <p:cNvSpPr/>
          <p:nvPr/>
        </p:nvSpPr>
        <p:spPr>
          <a:xfrm>
            <a:off x="182880" y="4483044"/>
            <a:ext cx="347472" cy="347472"/>
          </a:xfrm>
          <a:prstGeom prst="ellipse">
            <a:avLst/>
          </a:prstGeom>
          <a:solidFill>
            <a:srgbClr val="FF6B1A"/>
          </a:solidFill>
          <a:ln/>
        </p:spPr>
        <p:txBody>
          <a:bodyPr/>
          <a:lstStyle/>
          <a:p>
            <a:endParaRPr lang="en-US"/>
          </a:p>
        </p:txBody>
      </p:sp>
      <p:sp>
        <p:nvSpPr>
          <p:cNvPr id="25" name="Text 23"/>
          <p:cNvSpPr txBox="1"/>
          <p:nvPr/>
        </p:nvSpPr>
        <p:spPr>
          <a:xfrm>
            <a:off x="182880" y="4483044"/>
            <a:ext cx="347472" cy="347472"/>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640080" y="4441436"/>
            <a:ext cx="4434840" cy="256032"/>
          </a:xfrm>
          <a:prstGeom prst="rect">
            <a:avLst/>
          </a:prstGeom>
          <a:noFill/>
          <a:ln/>
        </p:spPr>
        <p:txBody>
          <a:bodyPr wrap="square" lIns="0" tIns="0" rIns="0" bIns="0" rtlCol="0" anchor="ctr"/>
          <a:lstStyle/>
          <a:p>
            <a:pPr marL="0" indent="0">
              <a:lnSpc>
                <a:spcPct val="100000"/>
              </a:lnSpc>
              <a:buNone/>
            </a:pPr>
            <a:r>
              <a:rPr lang="en-US" sz="1100" b="1" dirty="0">
                <a:solidFill>
                  <a:srgbClr val="FFCC00"/>
                </a:solidFill>
                <a:latin typeface="Calibri" pitchFamily="34" charset="0"/>
                <a:ea typeface="Calibri" pitchFamily="34" charset="-122"/>
                <a:cs typeface="Calibri" pitchFamily="34" charset="-120"/>
              </a:rPr>
              <a:t>Haz clic en Attribute, luego haz clic en la 5a estrella para ver solo las fotos de 5 estrellas</a:t>
            </a:r>
            <a:endParaRPr lang="en-US" sz="1100" dirty="0"/>
          </a:p>
        </p:txBody>
      </p:sp>
      <p:sp>
        <p:nvSpPr>
          <p:cNvPr id="27" name="Text 25"/>
          <p:cNvSpPr txBox="1"/>
          <p:nvPr/>
        </p:nvSpPr>
        <p:spPr>
          <a:xfrm>
            <a:off x="640080" y="4573992"/>
            <a:ext cx="4434840" cy="384048"/>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Ahora solo se ven tus mejores fotos. Presiona Cmd+A para seleccionarlas todas.</a:t>
            </a:r>
            <a:endParaRPr lang="en-US" sz="1050" dirty="0"/>
          </a:p>
        </p:txBody>
      </p:sp>
      <p:sp>
        <p:nvSpPr>
          <p:cNvPr id="29" name="Text 27"/>
          <p:cNvSpPr txBox="1"/>
          <p:nvPr/>
        </p:nvSpPr>
        <p:spPr>
          <a:xfrm>
            <a:off x="5257800" y="822960"/>
            <a:ext cx="3703320" cy="256032"/>
          </a:xfrm>
          <a:prstGeom prst="rect">
            <a:avLst/>
          </a:prstGeom>
          <a:noFill/>
          <a:ln/>
        </p:spPr>
        <p:txBody>
          <a:bodyPr wrap="square" lIns="0" tIns="0" rIns="0" bIns="0" rtlCol="0" anchor="ctr"/>
          <a:lstStyle/>
          <a:p>
            <a:pPr marL="0" indent="0" algn="ctr">
              <a:lnSpc>
                <a:spcPct val="100000"/>
              </a:lnSpc>
              <a:buNone/>
            </a:pPr>
            <a:r>
              <a:rPr lang="en-US" sz="1000" b="1" dirty="0">
                <a:solidFill>
                  <a:srgbClr val="F5B301"/>
                </a:solidFill>
                <a:latin typeface="Calibri" pitchFamily="34" charset="0"/>
                <a:ea typeface="Calibri" pitchFamily="34" charset="-122"/>
                <a:cs typeface="Calibri" pitchFamily="34" charset="-120"/>
              </a:rPr>
              <a:t>CALIFICACION DE 5 ESTRELLAS: TU MEJOR TRABAJO</a:t>
            </a:r>
            <a:endParaRPr lang="en-US" sz="1000" dirty="0"/>
          </a:p>
        </p:txBody>
      </p:sp>
      <p:pic>
        <p:nvPicPr>
          <p:cNvPr id="30" name="Image 0" descr="preencoded.png"/>
          <p:cNvPicPr>
            <a:picLocks noChangeAspect="1"/>
          </p:cNvPicPr>
          <p:nvPr/>
        </p:nvPicPr>
        <p:blipFill>
          <a:blip r:embed="rId3"/>
          <a:stretch>
            <a:fillRect/>
          </a:stretch>
        </p:blipFill>
        <p:spPr>
          <a:xfrm>
            <a:off x="5257800" y="1188720"/>
            <a:ext cx="3703320" cy="772668"/>
          </a:xfrm>
          <a:prstGeom prst="rect">
            <a:avLst/>
          </a:prstGeom>
        </p:spPr>
      </p:pic>
      <p:sp>
        <p:nvSpPr>
          <p:cNvPr id="31" name="Text 28"/>
          <p:cNvSpPr txBox="1"/>
          <p:nvPr/>
        </p:nvSpPr>
        <p:spPr>
          <a:xfrm>
            <a:off x="5999421" y="2046415"/>
            <a:ext cx="2220078" cy="237744"/>
          </a:xfrm>
          <a:prstGeom prst="rect">
            <a:avLst/>
          </a:prstGeom>
          <a:noFill/>
          <a:ln/>
        </p:spPr>
        <p:txBody>
          <a:bodyPr wrap="square" lIns="0" tIns="0" rIns="0" bIns="0" rtlCol="0" anchor="ctr"/>
          <a:lstStyle/>
          <a:p>
            <a:pPr marL="0" indent="0" algn="ctr">
              <a:lnSpc>
                <a:spcPct val="100000"/>
              </a:lnSpc>
              <a:buNone/>
            </a:pPr>
            <a:r>
              <a:rPr lang="en-US" sz="1100" b="1" dirty="0">
                <a:solidFill>
                  <a:srgbClr val="80E0E0"/>
                </a:solidFill>
                <a:latin typeface="Calibri" pitchFamily="34" charset="0"/>
                <a:ea typeface="Calibri" pitchFamily="34" charset="-122"/>
                <a:cs typeface="Calibri" pitchFamily="34" charset="-120"/>
              </a:rPr>
              <a:t>Atajos de Teclado para Calificar</a:t>
            </a:r>
            <a:endParaRPr lang="en-US" sz="1100" dirty="0"/>
          </a:p>
        </p:txBody>
      </p:sp>
      <p:sp>
        <p:nvSpPr>
          <p:cNvPr id="32" name="Shape 29"/>
          <p:cNvSpPr/>
          <p:nvPr/>
        </p:nvSpPr>
        <p:spPr>
          <a:xfrm>
            <a:off x="5791756" y="2339023"/>
            <a:ext cx="2643406" cy="347472"/>
          </a:xfrm>
          <a:prstGeom prst="roundRect">
            <a:avLst>
              <a:gd name="adj" fmla="val 13158"/>
            </a:avLst>
          </a:prstGeom>
          <a:solidFill>
            <a:srgbClr val="1C1C1C"/>
          </a:solidFill>
          <a:ln w="12700">
            <a:solidFill>
              <a:srgbClr val="333333"/>
            </a:solidFill>
            <a:prstDash val="solid"/>
          </a:ln>
        </p:spPr>
        <p:txBody>
          <a:bodyPr/>
          <a:lstStyle/>
          <a:p>
            <a:endParaRPr lang="en-US"/>
          </a:p>
        </p:txBody>
      </p:sp>
      <p:sp>
        <p:nvSpPr>
          <p:cNvPr id="33" name="Shape 30"/>
          <p:cNvSpPr/>
          <p:nvPr/>
        </p:nvSpPr>
        <p:spPr>
          <a:xfrm>
            <a:off x="5893469" y="2384743"/>
            <a:ext cx="480902" cy="256032"/>
          </a:xfrm>
          <a:prstGeom prst="roundRect">
            <a:avLst>
              <a:gd name="adj" fmla="val 14286"/>
            </a:avLst>
          </a:prstGeom>
          <a:solidFill>
            <a:srgbClr val="007474"/>
          </a:solidFill>
          <a:ln/>
        </p:spPr>
        <p:txBody>
          <a:bodyPr/>
          <a:lstStyle/>
          <a:p>
            <a:endParaRPr lang="en-US"/>
          </a:p>
        </p:txBody>
      </p:sp>
      <p:sp>
        <p:nvSpPr>
          <p:cNvPr id="34" name="Text 31"/>
          <p:cNvSpPr txBox="1"/>
          <p:nvPr/>
        </p:nvSpPr>
        <p:spPr>
          <a:xfrm>
            <a:off x="5893469" y="2384743"/>
            <a:ext cx="480902" cy="256032"/>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5" name="Text 32"/>
          <p:cNvSpPr txBox="1"/>
          <p:nvPr/>
        </p:nvSpPr>
        <p:spPr>
          <a:xfrm>
            <a:off x="6644639" y="2403031"/>
            <a:ext cx="1790523" cy="219456"/>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Califica la foto seleccionada con 5 estrellas</a:t>
            </a:r>
            <a:endParaRPr lang="en-US" sz="1000" dirty="0"/>
          </a:p>
        </p:txBody>
      </p:sp>
      <p:sp>
        <p:nvSpPr>
          <p:cNvPr id="36" name="Shape 33"/>
          <p:cNvSpPr/>
          <p:nvPr/>
        </p:nvSpPr>
        <p:spPr>
          <a:xfrm>
            <a:off x="5791756" y="2741359"/>
            <a:ext cx="2643406" cy="347472"/>
          </a:xfrm>
          <a:prstGeom prst="roundRect">
            <a:avLst>
              <a:gd name="adj" fmla="val 13158"/>
            </a:avLst>
          </a:prstGeom>
          <a:solidFill>
            <a:srgbClr val="1C1C1C"/>
          </a:solidFill>
          <a:ln w="12700">
            <a:solidFill>
              <a:srgbClr val="333333"/>
            </a:solidFill>
            <a:prstDash val="solid"/>
          </a:ln>
        </p:spPr>
        <p:txBody>
          <a:bodyPr/>
          <a:lstStyle/>
          <a:p>
            <a:endParaRPr lang="en-US"/>
          </a:p>
        </p:txBody>
      </p:sp>
      <p:sp>
        <p:nvSpPr>
          <p:cNvPr id="37" name="Shape 34"/>
          <p:cNvSpPr/>
          <p:nvPr/>
        </p:nvSpPr>
        <p:spPr>
          <a:xfrm>
            <a:off x="5893469" y="2787079"/>
            <a:ext cx="480902" cy="256032"/>
          </a:xfrm>
          <a:prstGeom prst="roundRect">
            <a:avLst>
              <a:gd name="adj" fmla="val 14286"/>
            </a:avLst>
          </a:prstGeom>
          <a:solidFill>
            <a:srgbClr val="007474"/>
          </a:solidFill>
          <a:ln/>
        </p:spPr>
        <p:txBody>
          <a:bodyPr/>
          <a:lstStyle/>
          <a:p>
            <a:endParaRPr lang="en-US"/>
          </a:p>
        </p:txBody>
      </p:sp>
      <p:sp>
        <p:nvSpPr>
          <p:cNvPr id="38" name="Text 35"/>
          <p:cNvSpPr txBox="1"/>
          <p:nvPr/>
        </p:nvSpPr>
        <p:spPr>
          <a:xfrm>
            <a:off x="5893469" y="2787079"/>
            <a:ext cx="480902" cy="256032"/>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0</a:t>
            </a:r>
            <a:endParaRPr lang="en-US" sz="1050" dirty="0"/>
          </a:p>
        </p:txBody>
      </p:sp>
      <p:sp>
        <p:nvSpPr>
          <p:cNvPr id="39" name="Text 36"/>
          <p:cNvSpPr txBox="1"/>
          <p:nvPr/>
        </p:nvSpPr>
        <p:spPr>
          <a:xfrm>
            <a:off x="6644639" y="2805367"/>
            <a:ext cx="1790523" cy="219456"/>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Quitar la calificacion de una foto</a:t>
            </a:r>
            <a:endParaRPr lang="en-US" sz="1000" dirty="0"/>
          </a:p>
        </p:txBody>
      </p:sp>
      <p:sp>
        <p:nvSpPr>
          <p:cNvPr id="40" name="Shape 37"/>
          <p:cNvSpPr/>
          <p:nvPr/>
        </p:nvSpPr>
        <p:spPr>
          <a:xfrm>
            <a:off x="5791756" y="3143695"/>
            <a:ext cx="2643406" cy="347472"/>
          </a:xfrm>
          <a:prstGeom prst="roundRect">
            <a:avLst>
              <a:gd name="adj" fmla="val 13158"/>
            </a:avLst>
          </a:prstGeom>
          <a:solidFill>
            <a:srgbClr val="1C1C1C"/>
          </a:solidFill>
          <a:ln w="12700">
            <a:solidFill>
              <a:srgbClr val="333333"/>
            </a:solidFill>
            <a:prstDash val="solid"/>
          </a:ln>
        </p:spPr>
        <p:txBody>
          <a:bodyPr/>
          <a:lstStyle/>
          <a:p>
            <a:endParaRPr lang="en-US"/>
          </a:p>
        </p:txBody>
      </p:sp>
      <p:sp>
        <p:nvSpPr>
          <p:cNvPr id="41" name="Shape 38"/>
          <p:cNvSpPr/>
          <p:nvPr/>
        </p:nvSpPr>
        <p:spPr>
          <a:xfrm>
            <a:off x="5893469" y="3189415"/>
            <a:ext cx="480902" cy="256032"/>
          </a:xfrm>
          <a:prstGeom prst="roundRect">
            <a:avLst>
              <a:gd name="adj" fmla="val 14286"/>
            </a:avLst>
          </a:prstGeom>
          <a:solidFill>
            <a:srgbClr val="007474"/>
          </a:solidFill>
          <a:ln/>
        </p:spPr>
        <p:txBody>
          <a:bodyPr/>
          <a:lstStyle/>
          <a:p>
            <a:endParaRPr lang="en-US"/>
          </a:p>
        </p:txBody>
      </p:sp>
      <p:sp>
        <p:nvSpPr>
          <p:cNvPr id="42" name="Text 39"/>
          <p:cNvSpPr txBox="1"/>
          <p:nvPr/>
        </p:nvSpPr>
        <p:spPr>
          <a:xfrm>
            <a:off x="5893469" y="3189415"/>
            <a:ext cx="480902" cy="256032"/>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G</a:t>
            </a:r>
            <a:endParaRPr lang="en-US" sz="1050" dirty="0"/>
          </a:p>
        </p:txBody>
      </p:sp>
      <p:sp>
        <p:nvSpPr>
          <p:cNvPr id="43" name="Text 40"/>
          <p:cNvSpPr txBox="1"/>
          <p:nvPr/>
        </p:nvSpPr>
        <p:spPr>
          <a:xfrm>
            <a:off x="6644639" y="3207703"/>
            <a:ext cx="1790523" cy="219456"/>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Volver a la vista Grid en Library</a:t>
            </a:r>
            <a:endParaRPr lang="en-US" sz="1000" dirty="0"/>
          </a:p>
        </p:txBody>
      </p:sp>
      <p:sp>
        <p:nvSpPr>
          <p:cNvPr id="44" name="Shape 41"/>
          <p:cNvSpPr/>
          <p:nvPr/>
        </p:nvSpPr>
        <p:spPr>
          <a:xfrm>
            <a:off x="5791756" y="3546031"/>
            <a:ext cx="2643406" cy="347472"/>
          </a:xfrm>
          <a:prstGeom prst="roundRect">
            <a:avLst>
              <a:gd name="adj" fmla="val 13158"/>
            </a:avLst>
          </a:prstGeom>
          <a:solidFill>
            <a:srgbClr val="1C1C1C"/>
          </a:solidFill>
          <a:ln w="12700">
            <a:solidFill>
              <a:srgbClr val="333333"/>
            </a:solidFill>
            <a:prstDash val="solid"/>
          </a:ln>
        </p:spPr>
        <p:txBody>
          <a:bodyPr/>
          <a:lstStyle/>
          <a:p>
            <a:endParaRPr lang="en-US"/>
          </a:p>
        </p:txBody>
      </p:sp>
      <p:sp>
        <p:nvSpPr>
          <p:cNvPr id="45" name="Shape 42"/>
          <p:cNvSpPr/>
          <p:nvPr/>
        </p:nvSpPr>
        <p:spPr>
          <a:xfrm>
            <a:off x="5893469" y="3591751"/>
            <a:ext cx="480902" cy="256032"/>
          </a:xfrm>
          <a:prstGeom prst="roundRect">
            <a:avLst>
              <a:gd name="adj" fmla="val 14286"/>
            </a:avLst>
          </a:prstGeom>
          <a:solidFill>
            <a:srgbClr val="007474"/>
          </a:solidFill>
          <a:ln/>
        </p:spPr>
        <p:txBody>
          <a:bodyPr/>
          <a:lstStyle/>
          <a:p>
            <a:endParaRPr lang="en-US"/>
          </a:p>
        </p:txBody>
      </p:sp>
      <p:sp>
        <p:nvSpPr>
          <p:cNvPr id="46" name="Text 43"/>
          <p:cNvSpPr txBox="1"/>
          <p:nvPr/>
        </p:nvSpPr>
        <p:spPr>
          <a:xfrm>
            <a:off x="5893469" y="3591751"/>
            <a:ext cx="480902" cy="256032"/>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47" name="Text 44"/>
          <p:cNvSpPr txBox="1"/>
          <p:nvPr/>
        </p:nvSpPr>
        <p:spPr>
          <a:xfrm>
            <a:off x="6644639" y="3610039"/>
            <a:ext cx="1790523" cy="219456"/>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Mostrar / ocultar la Library Filter Bar</a:t>
            </a:r>
            <a:endParaRPr lang="en-US" sz="1000" dirty="0"/>
          </a:p>
        </p:txBody>
      </p:sp>
      <p:sp>
        <p:nvSpPr>
          <p:cNvPr id="48" name="Shape 45"/>
          <p:cNvSpPr/>
          <p:nvPr/>
        </p:nvSpPr>
        <p:spPr>
          <a:xfrm>
            <a:off x="5791756" y="3948367"/>
            <a:ext cx="2643406" cy="347472"/>
          </a:xfrm>
          <a:prstGeom prst="roundRect">
            <a:avLst>
              <a:gd name="adj" fmla="val 13158"/>
            </a:avLst>
          </a:prstGeom>
          <a:solidFill>
            <a:srgbClr val="1C1C1C"/>
          </a:solidFill>
          <a:ln w="12700">
            <a:solidFill>
              <a:srgbClr val="333333"/>
            </a:solidFill>
            <a:prstDash val="solid"/>
          </a:ln>
        </p:spPr>
        <p:txBody>
          <a:bodyPr/>
          <a:lstStyle/>
          <a:p>
            <a:endParaRPr lang="en-US"/>
          </a:p>
        </p:txBody>
      </p:sp>
      <p:sp>
        <p:nvSpPr>
          <p:cNvPr id="49" name="Shape 46"/>
          <p:cNvSpPr/>
          <p:nvPr/>
        </p:nvSpPr>
        <p:spPr>
          <a:xfrm>
            <a:off x="5893469" y="3994087"/>
            <a:ext cx="480902" cy="256032"/>
          </a:xfrm>
          <a:prstGeom prst="roundRect">
            <a:avLst>
              <a:gd name="adj" fmla="val 14286"/>
            </a:avLst>
          </a:prstGeom>
          <a:solidFill>
            <a:srgbClr val="007474"/>
          </a:solidFill>
          <a:ln/>
        </p:spPr>
        <p:txBody>
          <a:bodyPr/>
          <a:lstStyle/>
          <a:p>
            <a:endParaRPr lang="en-US"/>
          </a:p>
        </p:txBody>
      </p:sp>
      <p:sp>
        <p:nvSpPr>
          <p:cNvPr id="50" name="Text 47"/>
          <p:cNvSpPr txBox="1"/>
          <p:nvPr/>
        </p:nvSpPr>
        <p:spPr>
          <a:xfrm>
            <a:off x="5893469" y="3994087"/>
            <a:ext cx="480902" cy="256032"/>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Cmd+A</a:t>
            </a:r>
            <a:endParaRPr lang="en-US" sz="1050" dirty="0"/>
          </a:p>
        </p:txBody>
      </p:sp>
      <p:sp>
        <p:nvSpPr>
          <p:cNvPr id="51" name="Text 48"/>
          <p:cNvSpPr txBox="1"/>
          <p:nvPr/>
        </p:nvSpPr>
        <p:spPr>
          <a:xfrm>
            <a:off x="6644639" y="4012375"/>
            <a:ext cx="1790523" cy="219456"/>
          </a:xfrm>
          <a:prstGeom prst="rect">
            <a:avLst/>
          </a:prstGeom>
          <a:noFill/>
          <a:ln/>
        </p:spPr>
        <p:txBody>
          <a:bodyPr wrap="square" lIns="0" tIns="0" rIns="0" bIns="0" rtlCol="0" anchor="ctr"/>
          <a:lstStyle/>
          <a:p>
            <a:pPr marL="0" indent="0">
              <a:lnSpc>
                <a:spcPct val="100000"/>
              </a:lnSpc>
              <a:buNone/>
            </a:pPr>
            <a:r>
              <a:rPr lang="en-US" sz="1000" dirty="0">
                <a:solidFill>
                  <a:srgbClr val="FFFFFF"/>
                </a:solidFill>
                <a:latin typeface="Calibri" pitchFamily="34" charset="0"/>
                <a:ea typeface="Calibri" pitchFamily="34" charset="-122"/>
                <a:cs typeface="Calibri" pitchFamily="34" charset="-120"/>
              </a:rPr>
              <a:t>Seleccionar todas las fotos visibles</a:t>
            </a:r>
            <a:endParaRPr lang="en-US" sz="1000" dirty="0"/>
          </a:p>
        </p:txBody>
      </p:sp>
      <p:sp>
        <p:nvSpPr>
          <p:cNvPr id="52" name="Shape 49"/>
          <p:cNvSpPr/>
          <p:nvPr/>
        </p:nvSpPr>
        <p:spPr>
          <a:xfrm>
            <a:off x="5257800" y="4462272"/>
            <a:ext cx="3703320" cy="457200"/>
          </a:xfrm>
          <a:prstGeom prst="roundRect">
            <a:avLst>
              <a:gd name="adj" fmla="val 14000"/>
            </a:avLst>
          </a:prstGeom>
          <a:solidFill>
            <a:srgbClr val="041414"/>
          </a:solidFill>
          <a:ln w="12700">
            <a:solidFill>
              <a:srgbClr val="007474"/>
            </a:solidFill>
            <a:prstDash val="solid"/>
          </a:ln>
        </p:spPr>
        <p:txBody>
          <a:bodyPr/>
          <a:lstStyle/>
          <a:p>
            <a:endParaRPr lang="en-US"/>
          </a:p>
        </p:txBody>
      </p:sp>
      <p:sp>
        <p:nvSpPr>
          <p:cNvPr id="54" name="Text 51"/>
          <p:cNvSpPr txBox="1"/>
          <p:nvPr/>
        </p:nvSpPr>
        <p:spPr>
          <a:xfrm>
            <a:off x="5422392" y="4553712"/>
            <a:ext cx="3474720" cy="274320"/>
          </a:xfrm>
          <a:prstGeom prst="rect">
            <a:avLst/>
          </a:prstGeom>
          <a:noFill/>
          <a:ln/>
        </p:spPr>
        <p:txBody>
          <a:bodyPr wrap="square" lIns="0" tIns="0" rIns="0" bIns="0" rtlCol="0" anchor="ctr"/>
          <a:lstStyle/>
          <a:p>
            <a:pPr marL="0" indent="0">
              <a:lnSpc>
                <a:spcPct val="100000"/>
              </a:lnSpc>
              <a:buNone/>
            </a:pPr>
            <a:r>
              <a:rPr lang="en-US" sz="1050" dirty="0">
                <a:solidFill>
                  <a:srgbClr val="FFFFFF"/>
                </a:solidFill>
                <a:latin typeface="Calibri" pitchFamily="34" charset="0"/>
                <a:ea typeface="Calibri" pitchFamily="34" charset="-122"/>
                <a:cs typeface="Calibri" pitchFamily="34" charset="-120"/>
              </a:rPr>
              <a:t>Para exportar: Filtra a fotos de 5 estrellas. Presiona Cmd+A para seleccionar todas. Ve a File &gt; Export y elige JPEG como formato.</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474"/>
          </a:solidFill>
          <a:ln/>
        </p:spPr>
        <p:txBody>
          <a:bodyPr/>
          <a:lstStyle/>
          <a:p>
            <a:endParaRPr lang="en-US"/>
          </a:p>
        </p:txBody>
      </p:sp>
      <p:sp>
        <p:nvSpPr>
          <p:cNvPr id="3" name="Shape 1"/>
          <p:cNvSpPr/>
          <p:nvPr/>
        </p:nvSpPr>
        <p:spPr>
          <a:xfrm>
            <a:off x="0" y="4498848"/>
            <a:ext cx="9144000" cy="644652"/>
          </a:xfrm>
          <a:prstGeom prst="rect">
            <a:avLst/>
          </a:prstGeom>
          <a:solidFill>
            <a:srgbClr val="8B5CF6"/>
          </a:solidFill>
          <a:ln/>
        </p:spPr>
        <p:txBody>
          <a:bodyPr/>
          <a:lstStyle/>
          <a:p>
            <a:endParaRPr lang="en-US"/>
          </a:p>
        </p:txBody>
      </p:sp>
      <p:sp>
        <p:nvSpPr>
          <p:cNvPr id="4" name="Text 2"/>
          <p:cNvSpPr txBox="1"/>
          <p:nvPr/>
        </p:nvSpPr>
        <p:spPr>
          <a:xfrm>
            <a:off x="457200" y="987552"/>
            <a:ext cx="8229600" cy="658368"/>
          </a:xfrm>
          <a:prstGeom prst="rect">
            <a:avLst/>
          </a:prstGeom>
          <a:noFill/>
          <a:ln/>
        </p:spPr>
        <p:txBody>
          <a:bodyPr wrap="square" lIns="0" tIns="0" rIns="0" bIns="0" rtlCol="0" anchor="ctr"/>
          <a:lstStyle/>
          <a:p>
            <a:pPr marL="0" indent="0" algn="ctr">
              <a:lnSpc>
                <a:spcPct val="100000"/>
              </a:lnSpc>
              <a:buNone/>
            </a:pPr>
            <a:r>
              <a:rPr lang="en-US" sz="3600" b="1" dirty="0">
                <a:solidFill>
                  <a:srgbClr val="FFFFFF"/>
                </a:solidFill>
                <a:latin typeface="Calibri" pitchFamily="34" charset="0"/>
                <a:ea typeface="Calibri" pitchFamily="34" charset="-122"/>
                <a:cs typeface="Calibri" pitchFamily="34" charset="-120"/>
              </a:rPr>
              <a:t>Tu Edicion en Develop esta Completa.</a:t>
            </a:r>
            <a:endParaRPr lang="en-US" sz="3600" dirty="0"/>
          </a:p>
        </p:txBody>
      </p:sp>
      <p:sp>
        <p:nvSpPr>
          <p:cNvPr id="5" name="Text 3"/>
          <p:cNvSpPr txBox="1"/>
          <p:nvPr/>
        </p:nvSpPr>
        <p:spPr>
          <a:xfrm>
            <a:off x="457200" y="1755648"/>
            <a:ext cx="8229600" cy="548640"/>
          </a:xfrm>
          <a:prstGeom prst="rect">
            <a:avLst/>
          </a:prstGeom>
          <a:noFill/>
          <a:ln/>
        </p:spPr>
        <p:txBody>
          <a:bodyPr wrap="square" lIns="0" tIns="0" rIns="0" bIns="0" rtlCol="0" anchor="ctr"/>
          <a:lstStyle/>
          <a:p>
            <a:pPr marL="0" indent="0" algn="ctr">
              <a:lnSpc>
                <a:spcPct val="100000"/>
              </a:lnSpc>
              <a:buNone/>
            </a:pPr>
            <a:r>
              <a:rPr lang="en-US" sz="3800" b="1" dirty="0">
                <a:solidFill>
                  <a:srgbClr val="007474"/>
                </a:solidFill>
                <a:latin typeface="Calibri" pitchFamily="34" charset="0"/>
                <a:ea typeface="Calibri" pitchFamily="34" charset="-122"/>
                <a:cs typeface="Calibri" pitchFamily="34" charset="-120"/>
              </a:rPr>
              <a:t>✓</a:t>
            </a:r>
            <a:endParaRPr lang="en-US" sz="3800" dirty="0"/>
          </a:p>
        </p:txBody>
      </p:sp>
      <p:sp>
        <p:nvSpPr>
          <p:cNvPr id="6" name="Text 4"/>
          <p:cNvSpPr txBox="1"/>
          <p:nvPr/>
        </p:nvSpPr>
        <p:spPr>
          <a:xfrm>
            <a:off x="914400" y="2423160"/>
            <a:ext cx="7315200" cy="457200"/>
          </a:xfrm>
          <a:prstGeom prst="rect">
            <a:avLst/>
          </a:prstGeom>
          <a:noFill/>
          <a:ln/>
        </p:spPr>
        <p:txBody>
          <a:bodyPr wrap="square" lIns="0" tIns="0" rIns="0" bIns="0" rtlCol="0" anchor="ctr"/>
          <a:lstStyle/>
          <a:p>
            <a:pPr marL="0" indent="0" algn="ctr">
              <a:lnSpc>
                <a:spcPct val="100000"/>
              </a:lnSpc>
              <a:buNone/>
            </a:pPr>
            <a:r>
              <a:rPr lang="en-US" sz="1300" dirty="0">
                <a:solidFill>
                  <a:srgbClr val="AAAAAA"/>
                </a:solidFill>
                <a:latin typeface="Calibri" pitchFamily="34" charset="0"/>
                <a:ea typeface="Calibri" pitchFamily="34" charset="-122"/>
                <a:cs typeface="Calibri" pitchFamily="34" charset="-120"/>
              </a:rPr>
              <a:t>Tu foto esta corregida. Tus ediciones estan guardadas en el Catalog. Tu archivo original no fue modificado.</a:t>
            </a:r>
            <a:endParaRPr lang="en-US" sz="1300" dirty="0"/>
          </a:p>
        </p:txBody>
      </p:sp>
      <p:sp>
        <p:nvSpPr>
          <p:cNvPr id="7" name="Shape 5"/>
          <p:cNvSpPr/>
          <p:nvPr/>
        </p:nvSpPr>
        <p:spPr>
          <a:xfrm>
            <a:off x="1371600" y="3108960"/>
            <a:ext cx="6400800" cy="876300"/>
          </a:xfrm>
          <a:prstGeom prst="roundRect">
            <a:avLst>
              <a:gd name="adj" fmla="val 6250"/>
            </a:avLst>
          </a:prstGeom>
          <a:solidFill>
            <a:srgbClr val="1C1C1C"/>
          </a:solidFill>
          <a:ln w="12700">
            <a:solidFill>
              <a:srgbClr val="007474"/>
            </a:solidFill>
            <a:prstDash val="solid"/>
          </a:ln>
        </p:spPr>
        <p:txBody>
          <a:bodyPr/>
          <a:lstStyle/>
          <a:p>
            <a:endParaRPr lang="en-US"/>
          </a:p>
        </p:txBody>
      </p:sp>
      <p:sp>
        <p:nvSpPr>
          <p:cNvPr id="8" name="Text 6"/>
          <p:cNvSpPr txBox="1"/>
          <p:nvPr/>
        </p:nvSpPr>
        <p:spPr>
          <a:xfrm>
            <a:off x="1371600" y="3200400"/>
            <a:ext cx="6400800" cy="237744"/>
          </a:xfrm>
          <a:prstGeom prst="rect">
            <a:avLst/>
          </a:prstGeom>
          <a:noFill/>
          <a:ln/>
        </p:spPr>
        <p:txBody>
          <a:bodyPr wrap="square" lIns="0" tIns="0" rIns="0" bIns="0" rtlCol="0" anchor="ctr"/>
          <a:lstStyle/>
          <a:p>
            <a:pPr marL="0" indent="0" algn="ctr">
              <a:lnSpc>
                <a:spcPct val="100000"/>
              </a:lnSpc>
              <a:buNone/>
            </a:pPr>
            <a:r>
              <a:rPr lang="en-US" sz="1000" b="1" dirty="0">
                <a:solidFill>
                  <a:srgbClr val="80E0E0"/>
                </a:solidFill>
                <a:latin typeface="Calibri" pitchFamily="34" charset="0"/>
                <a:ea typeface="Calibri" pitchFamily="34" charset="-122"/>
                <a:cs typeface="Calibri" pitchFamily="34" charset="-120"/>
              </a:rPr>
              <a:t>TU SIGUIENTE PASO</a:t>
            </a:r>
            <a:endParaRPr lang="en-US" sz="1000" dirty="0"/>
          </a:p>
        </p:txBody>
      </p:sp>
      <p:sp>
        <p:nvSpPr>
          <p:cNvPr id="9" name="Text 7"/>
          <p:cNvSpPr txBox="1"/>
          <p:nvPr/>
        </p:nvSpPr>
        <p:spPr>
          <a:xfrm>
            <a:off x="1371600" y="3493008"/>
            <a:ext cx="6400800" cy="27432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Leccion 04, Edicion Asistida por IA  →</a:t>
            </a:r>
            <a:endParaRPr lang="en-US" sz="1300" dirty="0"/>
          </a:p>
        </p:txBody>
      </p:sp>
      <p:sp>
        <p:nvSpPr>
          <p:cNvPr id="10" name="Text 8"/>
          <p:cNvSpPr txBox="1"/>
          <p:nvPr/>
        </p:nvSpPr>
        <p:spPr>
          <a:xfrm>
            <a:off x="457200" y="4224528"/>
            <a:ext cx="8229600" cy="237744"/>
          </a:xfrm>
          <a:prstGeom prst="rect">
            <a:avLst/>
          </a:prstGeom>
          <a:noFill/>
          <a:ln/>
        </p:spPr>
        <p:txBody>
          <a:bodyPr wrap="square" lIns="0" tIns="0" rIns="0" bIns="0" rtlCol="0" anchor="ctr"/>
          <a:lstStyle/>
          <a:p>
            <a:pPr marL="0" indent="0" algn="ctr">
              <a:lnSpc>
                <a:spcPct val="100000"/>
              </a:lnSpc>
              <a:buNone/>
            </a:pPr>
            <a:r>
              <a:rPr lang="en-US" sz="1000" dirty="0">
                <a:solidFill>
                  <a:srgbClr val="AAAAAA"/>
                </a:solidFill>
                <a:latin typeface="Calibri" pitchFamily="34" charset="0"/>
                <a:ea typeface="Calibri" pitchFamily="34" charset="-122"/>
                <a:cs typeface="Calibri" pitchFamily="34" charset="-120"/>
              </a:rPr>
              <a:t>Presiona D para Develop  |  G para Grid  |  E para Loupe  |  L para Library</a:t>
            </a:r>
            <a:endParaRPr lang="en-US" sz="1000" dirty="0"/>
          </a:p>
        </p:txBody>
      </p:sp>
      <p:sp>
        <p:nvSpPr>
          <p:cNvPr id="11" name="Text 9"/>
          <p:cNvSpPr txBox="1"/>
          <p:nvPr/>
        </p:nvSpPr>
        <p:spPr>
          <a:xfrm>
            <a:off x="0" y="4663440"/>
            <a:ext cx="9144000" cy="329184"/>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Pioneer Valley High School  |  Fotografia 1  |  Mr. Silva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3175</Words>
  <Application>Microsoft Macintosh PowerPoint</Application>
  <PresentationFormat>On-screen Show (16:9)</PresentationFormat>
  <Paragraphs>340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5</cp:revision>
  <dcterms:created xsi:type="dcterms:W3CDTF">2026-09-14T05:34:39Z</dcterms:created>
  <dcterms:modified xsi:type="dcterms:W3CDTF">2026-09-14T07:17:48Z</dcterms:modified>
</cp:coreProperties>
</file>