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726"/>
    <p:restoredTop sz="94610"/>
  </p:normalViewPr>
  <p:slideViewPr>
    <p:cSldViewPr snapToGrid="0" snapToObjects="1">
      <p:cViewPr varScale="1">
        <p:scale>
          <a:sx n="357" d="100"/>
          <a:sy n="357" d="100"/>
        </p:scale>
        <p:origin x="16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025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87782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ARTES DIGITALES 1  |  Photoshop Leccion 1</a:t>
            </a:r>
            <a:endParaRPr lang="en-US" sz="1600" dirty="0"/>
          </a:p>
        </p:txBody>
      </p:sp>
      <p:sp>
        <p:nvSpPr>
          <p:cNvPr id="4" name="Text 2"/>
          <p:cNvSpPr txBox="1"/>
          <p:nvPr/>
        </p:nvSpPr>
        <p:spPr>
          <a:xfrm>
            <a:off x="182880" y="804672"/>
            <a:ext cx="4937760" cy="65836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Crear un Grafico Promocional</a:t>
            </a:r>
            <a:endParaRPr lang="en-US" sz="3000" dirty="0"/>
          </a:p>
        </p:txBody>
      </p:sp>
      <p:sp>
        <p:nvSpPr>
          <p:cNvPr id="5" name="Text 3"/>
          <p:cNvSpPr txBox="1"/>
          <p:nvPr/>
        </p:nvSpPr>
        <p:spPr>
          <a:xfrm>
            <a:off x="182880" y="1572768"/>
            <a:ext cx="4937760" cy="1371600"/>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Vas a crear una imagen promocional profesional de 1920 × 1080 pixeles para una transmision en vivo desde cero.</a:t>
            </a:r>
            <a:endParaRPr lang="en-US" sz="1250" dirty="0"/>
          </a:p>
          <a:p>
            <a:pPr marL="0" indent="0">
              <a:buNone/>
            </a:pPr>
            <a:endParaRPr lang="en-US" sz="1250" dirty="0"/>
          </a:p>
          <a:p>
            <a:pPr marL="0" indent="0">
              <a:buNone/>
            </a:pPr>
            <a:r>
              <a:rPr lang="en-US" sz="1250" dirty="0">
                <a:solidFill>
                  <a:srgbClr val="FFFFFF"/>
                </a:solidFill>
                <a:latin typeface="Calibri" pitchFamily="34" charset="0"/>
                <a:ea typeface="Calibri" pitchFamily="34" charset="-122"/>
                <a:cs typeface="Calibri" pitchFamily="34" charset="-120"/>
              </a:rPr>
              <a:t>Aprenderas a usar Capas, la herramienta Marque Rectangular, la herramienta Texto, Capas de Ajuste, la herramienta Pincel, Relleno Generativo y el comando Exportar Como.</a:t>
            </a:r>
            <a:endParaRPr lang="en-US" sz="1250" dirty="0"/>
          </a:p>
        </p:txBody>
      </p:sp>
      <p:pic>
        <p:nvPicPr>
          <p:cNvPr id="6" name="Image 0" descr="preencoded.png"/>
          <p:cNvPicPr>
            <a:picLocks noChangeAspect="1"/>
          </p:cNvPicPr>
          <p:nvPr/>
        </p:nvPicPr>
        <p:blipFill>
          <a:blip r:embed="rId3"/>
          <a:stretch>
            <a:fillRect/>
          </a:stretch>
        </p:blipFill>
        <p:spPr>
          <a:xfrm>
            <a:off x="5349240" y="749808"/>
            <a:ext cx="3566160" cy="2331720"/>
          </a:xfrm>
          <a:prstGeom prst="rect">
            <a:avLst/>
          </a:prstGeom>
        </p:spPr>
      </p:pic>
      <p:sp>
        <p:nvSpPr>
          <p:cNvPr id="7" name="Text 4"/>
          <p:cNvSpPr txBox="1"/>
          <p:nvPr/>
        </p:nvSpPr>
        <p:spPr>
          <a:xfrm>
            <a:off x="5349240" y="3108960"/>
            <a:ext cx="3566160" cy="256032"/>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El grafico terminado que vas a crear en esta leccion</a:t>
            </a:r>
            <a:endParaRPr lang="en-US" sz="950" dirty="0"/>
          </a:p>
        </p:txBody>
      </p:sp>
      <p:sp>
        <p:nvSpPr>
          <p:cNvPr id="8" name="Shape 5"/>
          <p:cNvSpPr/>
          <p:nvPr/>
        </p:nvSpPr>
        <p:spPr>
          <a:xfrm>
            <a:off x="0" y="3401568"/>
            <a:ext cx="9144000" cy="18288"/>
          </a:xfrm>
          <a:prstGeom prst="rect">
            <a:avLst/>
          </a:prstGeom>
          <a:solidFill>
            <a:srgbClr val="333333"/>
          </a:solidFill>
          <a:ln/>
        </p:spPr>
        <p:txBody>
          <a:bodyPr/>
          <a:lstStyle/>
          <a:p>
            <a:endParaRPr lang="en-US"/>
          </a:p>
        </p:txBody>
      </p:sp>
      <p:sp>
        <p:nvSpPr>
          <p:cNvPr id="9" name="Text 6"/>
          <p:cNvSpPr txBox="1"/>
          <p:nvPr/>
        </p:nvSpPr>
        <p:spPr>
          <a:xfrm>
            <a:off x="164592" y="3419856"/>
            <a:ext cx="8778240" cy="256032"/>
          </a:xfrm>
          <a:prstGeom prst="rect">
            <a:avLst/>
          </a:prstGeom>
          <a:noFill/>
          <a:ln/>
        </p:spPr>
        <p:txBody>
          <a:bodyPr wrap="square" lIns="0" tIns="0" rIns="0" bIns="0" rtlCol="0" anchor="ctr"/>
          <a:lstStyle/>
          <a:p>
            <a:pPr marL="0" indent="0">
              <a:buNone/>
            </a:pPr>
            <a:r>
              <a:rPr lang="en-US" sz="1000" b="1" dirty="0">
                <a:solidFill>
                  <a:srgbClr val="AAAAAA"/>
                </a:solidFill>
                <a:latin typeface="Calibri" pitchFamily="34" charset="0"/>
                <a:ea typeface="Calibri" pitchFamily="34" charset="-122"/>
                <a:cs typeface="Calibri" pitchFamily="34" charset="-120"/>
              </a:rPr>
              <a:t>Pasos en esta leccion:</a:t>
            </a:r>
            <a:endParaRPr lang="en-US" sz="1000" dirty="0"/>
          </a:p>
        </p:txBody>
      </p:sp>
      <p:sp>
        <p:nvSpPr>
          <p:cNvPr id="10" name="Shape 7"/>
          <p:cNvSpPr/>
          <p:nvPr/>
        </p:nvSpPr>
        <p:spPr>
          <a:xfrm>
            <a:off x="137160" y="3665610"/>
            <a:ext cx="2148840" cy="288541"/>
          </a:xfrm>
          <a:prstGeom prst="roundRect">
            <a:avLst>
              <a:gd name="adj" fmla="val 14286"/>
            </a:avLst>
          </a:prstGeom>
          <a:solidFill>
            <a:srgbClr val="2A2A2A"/>
          </a:solidFill>
          <a:ln w="12700">
            <a:solidFill>
              <a:srgbClr val="444444"/>
            </a:solidFill>
            <a:prstDash val="solid"/>
          </a:ln>
        </p:spPr>
        <p:txBody>
          <a:bodyPr/>
          <a:lstStyle/>
          <a:p>
            <a:endParaRPr lang="en-US"/>
          </a:p>
        </p:txBody>
      </p:sp>
      <p:sp>
        <p:nvSpPr>
          <p:cNvPr id="11" name="Text 8"/>
          <p:cNvSpPr txBox="1"/>
          <p:nvPr/>
        </p:nvSpPr>
        <p:spPr>
          <a:xfrm>
            <a:off x="228600" y="3693090"/>
            <a:ext cx="1993392" cy="233581"/>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1. Nuevo Documento</a:t>
            </a:r>
            <a:endParaRPr lang="en-US" sz="1000" dirty="0"/>
          </a:p>
        </p:txBody>
      </p:sp>
      <p:sp>
        <p:nvSpPr>
          <p:cNvPr id="12" name="Shape 9"/>
          <p:cNvSpPr/>
          <p:nvPr/>
        </p:nvSpPr>
        <p:spPr>
          <a:xfrm>
            <a:off x="2377440" y="3665610"/>
            <a:ext cx="2148840" cy="288541"/>
          </a:xfrm>
          <a:prstGeom prst="roundRect">
            <a:avLst>
              <a:gd name="adj" fmla="val 14286"/>
            </a:avLst>
          </a:prstGeom>
          <a:solidFill>
            <a:srgbClr val="2A2A2A"/>
          </a:solidFill>
          <a:ln w="12700">
            <a:solidFill>
              <a:srgbClr val="444444"/>
            </a:solidFill>
            <a:prstDash val="solid"/>
          </a:ln>
        </p:spPr>
        <p:txBody>
          <a:bodyPr/>
          <a:lstStyle/>
          <a:p>
            <a:endParaRPr lang="en-US"/>
          </a:p>
        </p:txBody>
      </p:sp>
      <p:sp>
        <p:nvSpPr>
          <p:cNvPr id="13" name="Text 10"/>
          <p:cNvSpPr txBox="1"/>
          <p:nvPr/>
        </p:nvSpPr>
        <p:spPr>
          <a:xfrm>
            <a:off x="2468880" y="3693090"/>
            <a:ext cx="1993392" cy="233581"/>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2. Colocar Foto</a:t>
            </a:r>
            <a:endParaRPr lang="en-US" sz="1000" dirty="0"/>
          </a:p>
        </p:txBody>
      </p:sp>
      <p:sp>
        <p:nvSpPr>
          <p:cNvPr id="14" name="Shape 11"/>
          <p:cNvSpPr/>
          <p:nvPr/>
        </p:nvSpPr>
        <p:spPr>
          <a:xfrm>
            <a:off x="4617720" y="3665610"/>
            <a:ext cx="2148840" cy="288541"/>
          </a:xfrm>
          <a:prstGeom prst="roundRect">
            <a:avLst>
              <a:gd name="adj" fmla="val 14286"/>
            </a:avLst>
          </a:prstGeom>
          <a:solidFill>
            <a:srgbClr val="2A2A2A"/>
          </a:solidFill>
          <a:ln w="12700">
            <a:solidFill>
              <a:srgbClr val="444444"/>
            </a:solidFill>
            <a:prstDash val="solid"/>
          </a:ln>
        </p:spPr>
        <p:txBody>
          <a:bodyPr/>
          <a:lstStyle/>
          <a:p>
            <a:endParaRPr lang="en-US"/>
          </a:p>
        </p:txBody>
      </p:sp>
      <p:sp>
        <p:nvSpPr>
          <p:cNvPr id="15" name="Text 12"/>
          <p:cNvSpPr txBox="1"/>
          <p:nvPr/>
        </p:nvSpPr>
        <p:spPr>
          <a:xfrm>
            <a:off x="4709160" y="3693090"/>
            <a:ext cx="1993392" cy="233581"/>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3. Establecer Unidades</a:t>
            </a:r>
            <a:endParaRPr lang="en-US" sz="1000" dirty="0"/>
          </a:p>
        </p:txBody>
      </p:sp>
      <p:sp>
        <p:nvSpPr>
          <p:cNvPr id="16" name="Shape 13"/>
          <p:cNvSpPr/>
          <p:nvPr/>
        </p:nvSpPr>
        <p:spPr>
          <a:xfrm>
            <a:off x="6858000" y="3665610"/>
            <a:ext cx="2148840" cy="288541"/>
          </a:xfrm>
          <a:prstGeom prst="roundRect">
            <a:avLst>
              <a:gd name="adj" fmla="val 14286"/>
            </a:avLst>
          </a:prstGeom>
          <a:solidFill>
            <a:srgbClr val="2A2A2A"/>
          </a:solidFill>
          <a:ln w="12700">
            <a:solidFill>
              <a:srgbClr val="444444"/>
            </a:solidFill>
            <a:prstDash val="solid"/>
          </a:ln>
        </p:spPr>
        <p:txBody>
          <a:bodyPr/>
          <a:lstStyle/>
          <a:p>
            <a:endParaRPr lang="en-US"/>
          </a:p>
        </p:txBody>
      </p:sp>
      <p:sp>
        <p:nvSpPr>
          <p:cNvPr id="17" name="Text 14"/>
          <p:cNvSpPr txBox="1"/>
          <p:nvPr/>
        </p:nvSpPr>
        <p:spPr>
          <a:xfrm>
            <a:off x="6949440" y="3693090"/>
            <a:ext cx="1993392" cy="233581"/>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4. Nueva Capa</a:t>
            </a:r>
            <a:endParaRPr lang="en-US" sz="1000" dirty="0"/>
          </a:p>
        </p:txBody>
      </p:sp>
      <p:sp>
        <p:nvSpPr>
          <p:cNvPr id="18" name="Shape 15"/>
          <p:cNvSpPr/>
          <p:nvPr/>
        </p:nvSpPr>
        <p:spPr>
          <a:xfrm>
            <a:off x="137160" y="4044040"/>
            <a:ext cx="2148840" cy="288541"/>
          </a:xfrm>
          <a:prstGeom prst="roundRect">
            <a:avLst>
              <a:gd name="adj" fmla="val 14286"/>
            </a:avLst>
          </a:prstGeom>
          <a:solidFill>
            <a:srgbClr val="2A2A2A"/>
          </a:solidFill>
          <a:ln w="12700">
            <a:solidFill>
              <a:srgbClr val="444444"/>
            </a:solidFill>
            <a:prstDash val="solid"/>
          </a:ln>
        </p:spPr>
        <p:txBody>
          <a:bodyPr/>
          <a:lstStyle/>
          <a:p>
            <a:endParaRPr lang="en-US"/>
          </a:p>
        </p:txBody>
      </p:sp>
      <p:sp>
        <p:nvSpPr>
          <p:cNvPr id="19" name="Text 16"/>
          <p:cNvSpPr txBox="1"/>
          <p:nvPr/>
        </p:nvSpPr>
        <p:spPr>
          <a:xfrm>
            <a:off x="228600" y="4071520"/>
            <a:ext cx="1993392" cy="233581"/>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5. Barra Naranja</a:t>
            </a:r>
            <a:endParaRPr lang="en-US" sz="1000" dirty="0"/>
          </a:p>
        </p:txBody>
      </p:sp>
      <p:sp>
        <p:nvSpPr>
          <p:cNvPr id="20" name="Shape 17"/>
          <p:cNvSpPr/>
          <p:nvPr/>
        </p:nvSpPr>
        <p:spPr>
          <a:xfrm>
            <a:off x="2377440" y="4044040"/>
            <a:ext cx="2148840" cy="288541"/>
          </a:xfrm>
          <a:prstGeom prst="roundRect">
            <a:avLst>
              <a:gd name="adj" fmla="val 14286"/>
            </a:avLst>
          </a:prstGeom>
          <a:solidFill>
            <a:srgbClr val="2A2A2A"/>
          </a:solidFill>
          <a:ln w="12700">
            <a:solidFill>
              <a:srgbClr val="444444"/>
            </a:solidFill>
            <a:prstDash val="solid"/>
          </a:ln>
        </p:spPr>
        <p:txBody>
          <a:bodyPr/>
          <a:lstStyle/>
          <a:p>
            <a:endParaRPr lang="en-US"/>
          </a:p>
        </p:txBody>
      </p:sp>
      <p:sp>
        <p:nvSpPr>
          <p:cNvPr id="21" name="Text 18"/>
          <p:cNvSpPr txBox="1"/>
          <p:nvPr/>
        </p:nvSpPr>
        <p:spPr>
          <a:xfrm>
            <a:off x="2468880" y="4071520"/>
            <a:ext cx="1993392" cy="233581"/>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6. Barra Azul</a:t>
            </a:r>
            <a:endParaRPr lang="en-US" sz="1000" dirty="0"/>
          </a:p>
        </p:txBody>
      </p:sp>
      <p:sp>
        <p:nvSpPr>
          <p:cNvPr id="22" name="Shape 19"/>
          <p:cNvSpPr/>
          <p:nvPr/>
        </p:nvSpPr>
        <p:spPr>
          <a:xfrm>
            <a:off x="4617720" y="4044040"/>
            <a:ext cx="2148840" cy="288541"/>
          </a:xfrm>
          <a:prstGeom prst="roundRect">
            <a:avLst>
              <a:gd name="adj" fmla="val 14286"/>
            </a:avLst>
          </a:prstGeom>
          <a:solidFill>
            <a:srgbClr val="2A2A2A"/>
          </a:solidFill>
          <a:ln w="12700">
            <a:solidFill>
              <a:srgbClr val="444444"/>
            </a:solidFill>
            <a:prstDash val="solid"/>
          </a:ln>
        </p:spPr>
        <p:txBody>
          <a:bodyPr/>
          <a:lstStyle/>
          <a:p>
            <a:endParaRPr lang="en-US"/>
          </a:p>
        </p:txBody>
      </p:sp>
      <p:sp>
        <p:nvSpPr>
          <p:cNvPr id="23" name="Text 20"/>
          <p:cNvSpPr txBox="1"/>
          <p:nvPr/>
        </p:nvSpPr>
        <p:spPr>
          <a:xfrm>
            <a:off x="4709160" y="4071520"/>
            <a:ext cx="1993392" cy="233581"/>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7. Modo de Fusion Color</a:t>
            </a:r>
            <a:endParaRPr lang="en-US" sz="1000" dirty="0"/>
          </a:p>
        </p:txBody>
      </p:sp>
      <p:sp>
        <p:nvSpPr>
          <p:cNvPr id="24" name="Shape 21"/>
          <p:cNvSpPr/>
          <p:nvPr/>
        </p:nvSpPr>
        <p:spPr>
          <a:xfrm>
            <a:off x="6858000" y="4044040"/>
            <a:ext cx="2148840" cy="288541"/>
          </a:xfrm>
          <a:prstGeom prst="roundRect">
            <a:avLst>
              <a:gd name="adj" fmla="val 14286"/>
            </a:avLst>
          </a:prstGeom>
          <a:solidFill>
            <a:srgbClr val="2A2A2A"/>
          </a:solidFill>
          <a:ln w="12700">
            <a:solidFill>
              <a:srgbClr val="444444"/>
            </a:solidFill>
            <a:prstDash val="solid"/>
          </a:ln>
        </p:spPr>
        <p:txBody>
          <a:bodyPr/>
          <a:lstStyle/>
          <a:p>
            <a:endParaRPr lang="en-US"/>
          </a:p>
        </p:txBody>
      </p:sp>
      <p:sp>
        <p:nvSpPr>
          <p:cNvPr id="25" name="Text 22"/>
          <p:cNvSpPr txBox="1"/>
          <p:nvPr/>
        </p:nvSpPr>
        <p:spPr>
          <a:xfrm>
            <a:off x="6949440" y="4071520"/>
            <a:ext cx="1993392" cy="233581"/>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8. Texto del Titulo</a:t>
            </a:r>
            <a:endParaRPr lang="en-US" sz="1000" dirty="0"/>
          </a:p>
        </p:txBody>
      </p:sp>
      <p:sp>
        <p:nvSpPr>
          <p:cNvPr id="26" name="Shape 23"/>
          <p:cNvSpPr/>
          <p:nvPr/>
        </p:nvSpPr>
        <p:spPr>
          <a:xfrm>
            <a:off x="137160" y="4417360"/>
            <a:ext cx="2148840" cy="288541"/>
          </a:xfrm>
          <a:prstGeom prst="roundRect">
            <a:avLst>
              <a:gd name="adj" fmla="val 14286"/>
            </a:avLst>
          </a:prstGeom>
          <a:solidFill>
            <a:srgbClr val="2A2A2A"/>
          </a:solidFill>
          <a:ln w="12700">
            <a:solidFill>
              <a:srgbClr val="444444"/>
            </a:solidFill>
            <a:prstDash val="solid"/>
          </a:ln>
        </p:spPr>
        <p:txBody>
          <a:bodyPr/>
          <a:lstStyle/>
          <a:p>
            <a:endParaRPr lang="en-US"/>
          </a:p>
        </p:txBody>
      </p:sp>
      <p:sp>
        <p:nvSpPr>
          <p:cNvPr id="27" name="Text 24"/>
          <p:cNvSpPr txBox="1"/>
          <p:nvPr/>
        </p:nvSpPr>
        <p:spPr>
          <a:xfrm>
            <a:off x="228600" y="4444840"/>
            <a:ext cx="1993392" cy="233581"/>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9. Texto del Subtitulo</a:t>
            </a:r>
            <a:endParaRPr lang="en-US" sz="1000" dirty="0"/>
          </a:p>
        </p:txBody>
      </p:sp>
      <p:sp>
        <p:nvSpPr>
          <p:cNvPr id="28" name="Shape 25"/>
          <p:cNvSpPr/>
          <p:nvPr/>
        </p:nvSpPr>
        <p:spPr>
          <a:xfrm>
            <a:off x="2377440" y="4417360"/>
            <a:ext cx="2148840" cy="288541"/>
          </a:xfrm>
          <a:prstGeom prst="roundRect">
            <a:avLst>
              <a:gd name="adj" fmla="val 14286"/>
            </a:avLst>
          </a:prstGeom>
          <a:solidFill>
            <a:srgbClr val="2A2A2A"/>
          </a:solidFill>
          <a:ln w="12700">
            <a:solidFill>
              <a:srgbClr val="444444"/>
            </a:solidFill>
            <a:prstDash val="solid"/>
          </a:ln>
        </p:spPr>
        <p:txBody>
          <a:bodyPr/>
          <a:lstStyle/>
          <a:p>
            <a:endParaRPr lang="en-US"/>
          </a:p>
        </p:txBody>
      </p:sp>
      <p:sp>
        <p:nvSpPr>
          <p:cNvPr id="29" name="Text 26"/>
          <p:cNvSpPr txBox="1"/>
          <p:nvPr/>
        </p:nvSpPr>
        <p:spPr>
          <a:xfrm>
            <a:off x="2468880" y="4444840"/>
            <a:ext cx="1993392" cy="233581"/>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10. Capa Color Solido</a:t>
            </a:r>
            <a:endParaRPr lang="en-US" sz="1000" dirty="0"/>
          </a:p>
        </p:txBody>
      </p:sp>
      <p:sp>
        <p:nvSpPr>
          <p:cNvPr id="30" name="Shape 27"/>
          <p:cNvSpPr/>
          <p:nvPr/>
        </p:nvSpPr>
        <p:spPr>
          <a:xfrm>
            <a:off x="4617720" y="4417360"/>
            <a:ext cx="2148840" cy="288541"/>
          </a:xfrm>
          <a:prstGeom prst="roundRect">
            <a:avLst>
              <a:gd name="adj" fmla="val 14286"/>
            </a:avLst>
          </a:prstGeom>
          <a:solidFill>
            <a:srgbClr val="2A2A2A"/>
          </a:solidFill>
          <a:ln w="12700">
            <a:solidFill>
              <a:srgbClr val="444444"/>
            </a:solidFill>
            <a:prstDash val="solid"/>
          </a:ln>
        </p:spPr>
        <p:txBody>
          <a:bodyPr/>
          <a:lstStyle/>
          <a:p>
            <a:endParaRPr lang="en-US"/>
          </a:p>
        </p:txBody>
      </p:sp>
      <p:sp>
        <p:nvSpPr>
          <p:cNvPr id="31" name="Text 28"/>
          <p:cNvSpPr txBox="1"/>
          <p:nvPr/>
        </p:nvSpPr>
        <p:spPr>
          <a:xfrm>
            <a:off x="4709160" y="4444840"/>
            <a:ext cx="1993392" cy="233581"/>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11. Muestrear + Pintar</a:t>
            </a:r>
            <a:endParaRPr lang="en-US" sz="1000" dirty="0"/>
          </a:p>
        </p:txBody>
      </p:sp>
      <p:sp>
        <p:nvSpPr>
          <p:cNvPr id="32" name="Shape 29"/>
          <p:cNvSpPr/>
          <p:nvPr/>
        </p:nvSpPr>
        <p:spPr>
          <a:xfrm>
            <a:off x="6858000" y="4417360"/>
            <a:ext cx="2148840" cy="288541"/>
          </a:xfrm>
          <a:prstGeom prst="roundRect">
            <a:avLst>
              <a:gd name="adj" fmla="val 14286"/>
            </a:avLst>
          </a:prstGeom>
          <a:solidFill>
            <a:srgbClr val="2A2A2A"/>
          </a:solidFill>
          <a:ln w="12700">
            <a:solidFill>
              <a:srgbClr val="444444"/>
            </a:solidFill>
            <a:prstDash val="solid"/>
          </a:ln>
        </p:spPr>
        <p:txBody>
          <a:bodyPr/>
          <a:lstStyle/>
          <a:p>
            <a:endParaRPr lang="en-US"/>
          </a:p>
        </p:txBody>
      </p:sp>
      <p:sp>
        <p:nvSpPr>
          <p:cNvPr id="33" name="Text 30"/>
          <p:cNvSpPr txBox="1"/>
          <p:nvPr/>
        </p:nvSpPr>
        <p:spPr>
          <a:xfrm>
            <a:off x="6949440" y="4444840"/>
            <a:ext cx="1993392" cy="233581"/>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12. Mover + Relleno Gen.</a:t>
            </a:r>
            <a:endParaRPr lang="en-US" sz="1000" dirty="0"/>
          </a:p>
        </p:txBody>
      </p:sp>
      <p:sp>
        <p:nvSpPr>
          <p:cNvPr id="34" name="Shape 31"/>
          <p:cNvSpPr/>
          <p:nvPr/>
        </p:nvSpPr>
        <p:spPr>
          <a:xfrm>
            <a:off x="137160" y="4790683"/>
            <a:ext cx="2148840" cy="288541"/>
          </a:xfrm>
          <a:prstGeom prst="roundRect">
            <a:avLst>
              <a:gd name="adj" fmla="val 14286"/>
            </a:avLst>
          </a:prstGeom>
          <a:solidFill>
            <a:srgbClr val="2A2A2A"/>
          </a:solidFill>
          <a:ln w="12700">
            <a:solidFill>
              <a:srgbClr val="444444"/>
            </a:solidFill>
            <a:prstDash val="solid"/>
          </a:ln>
        </p:spPr>
        <p:txBody>
          <a:bodyPr/>
          <a:lstStyle/>
          <a:p>
            <a:endParaRPr lang="en-US"/>
          </a:p>
        </p:txBody>
      </p:sp>
      <p:sp>
        <p:nvSpPr>
          <p:cNvPr id="35" name="Text 32"/>
          <p:cNvSpPr txBox="1"/>
          <p:nvPr/>
        </p:nvSpPr>
        <p:spPr>
          <a:xfrm>
            <a:off x="228600" y="4818163"/>
            <a:ext cx="1993392" cy="233581"/>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13. Exportar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PASO 01</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Crear un Nuevo Documento</a:t>
            </a:r>
            <a:endParaRPr lang="en-US" sz="2000" dirty="0"/>
          </a:p>
        </p:txBody>
      </p:sp>
      <p:sp>
        <p:nvSpPr>
          <p:cNvPr id="5" name="Shape 3"/>
          <p:cNvSpPr/>
          <p:nvPr/>
        </p:nvSpPr>
        <p:spPr>
          <a:xfrm>
            <a:off x="182880" y="777240"/>
            <a:ext cx="8778240" cy="685800"/>
          </a:xfrm>
          <a:prstGeom prst="roundRect">
            <a:avLst>
              <a:gd name="adj" fmla="val 10667"/>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868680"/>
            <a:ext cx="8503920"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Un documento de Photoshop se llama archivo PSD. Guarda cada capa, mascara y ajuste en un solo archivo. Tu entregable final es un lienzo de 1920 × 1080 pixeles, el tamano estandar para video HD y graficos de transmision en vivo.</a:t>
            </a:r>
            <a:endParaRPr lang="en-US" sz="1200" dirty="0"/>
          </a:p>
        </p:txBody>
      </p:sp>
      <p:sp>
        <p:nvSpPr>
          <p:cNvPr id="7" name="Shape 5"/>
          <p:cNvSpPr/>
          <p:nvPr/>
        </p:nvSpPr>
        <p:spPr>
          <a:xfrm>
            <a:off x="182880" y="1600200"/>
            <a:ext cx="365760" cy="365760"/>
          </a:xfrm>
          <a:prstGeom prst="ellipse">
            <a:avLst/>
          </a:prstGeom>
          <a:solidFill>
            <a:srgbClr val="FF6B1A"/>
          </a:solidFill>
          <a:ln/>
        </p:spPr>
        <p:txBody>
          <a:bodyPr/>
          <a:lstStyle/>
          <a:p>
            <a:endParaRPr lang="en-US"/>
          </a:p>
        </p:txBody>
      </p:sp>
      <p:sp>
        <p:nvSpPr>
          <p:cNvPr id="8" name="Text 6"/>
          <p:cNvSpPr txBox="1"/>
          <p:nvPr/>
        </p:nvSpPr>
        <p:spPr>
          <a:xfrm>
            <a:off x="182880" y="16002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8368" y="1508724"/>
            <a:ext cx="437083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Elige Archivo &gt; Nuevo</a:t>
            </a:r>
            <a:endParaRPr lang="en-US" sz="1300" dirty="0"/>
          </a:p>
        </p:txBody>
      </p:sp>
      <p:sp>
        <p:nvSpPr>
          <p:cNvPr id="10" name="Text 8"/>
          <p:cNvSpPr txBox="1"/>
          <p:nvPr/>
        </p:nvSpPr>
        <p:spPr>
          <a:xfrm>
            <a:off x="658368" y="1746468"/>
            <a:ext cx="43708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Esto abre el cuadro de dialogo Nuevo Documento. Tambien puedes hacer clic en Nuevo Archivo en la pantalla de inicio.</a:t>
            </a:r>
            <a:endParaRPr lang="en-US" sz="1150" dirty="0"/>
          </a:p>
        </p:txBody>
      </p:sp>
      <p:sp>
        <p:nvSpPr>
          <p:cNvPr id="11" name="Shape 9"/>
          <p:cNvSpPr/>
          <p:nvPr/>
        </p:nvSpPr>
        <p:spPr>
          <a:xfrm>
            <a:off x="178308" y="2257776"/>
            <a:ext cx="365760" cy="365760"/>
          </a:xfrm>
          <a:prstGeom prst="ellipse">
            <a:avLst/>
          </a:prstGeom>
          <a:solidFill>
            <a:srgbClr val="FF6B1A"/>
          </a:solidFill>
          <a:ln/>
        </p:spPr>
        <p:txBody>
          <a:bodyPr/>
          <a:lstStyle/>
          <a:p>
            <a:endParaRPr lang="en-US"/>
          </a:p>
        </p:txBody>
      </p:sp>
      <p:sp>
        <p:nvSpPr>
          <p:cNvPr id="12" name="Text 10"/>
          <p:cNvSpPr txBox="1"/>
          <p:nvPr/>
        </p:nvSpPr>
        <p:spPr>
          <a:xfrm>
            <a:off x="178308" y="225777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58368" y="2166831"/>
            <a:ext cx="437083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Haz clic en la categoria Pelicula y Video</a:t>
            </a:r>
            <a:endParaRPr lang="en-US" sz="1300" dirty="0"/>
          </a:p>
        </p:txBody>
      </p:sp>
      <p:sp>
        <p:nvSpPr>
          <p:cNvPr id="14" name="Text 12"/>
          <p:cNvSpPr txBox="1"/>
          <p:nvPr/>
        </p:nvSpPr>
        <p:spPr>
          <a:xfrm>
            <a:off x="658368" y="2441412"/>
            <a:ext cx="43708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Busca la fila de pestanas en la parte superior del cuadro de dialogo: Foto, Impresion, Arte e Ilustracion, Pelicula y Video, etc. Haz clic en Pelicula y Video.</a:t>
            </a:r>
            <a:endParaRPr lang="en-US" sz="1150" dirty="0"/>
          </a:p>
        </p:txBody>
      </p:sp>
      <p:sp>
        <p:nvSpPr>
          <p:cNvPr id="15" name="Shape 13"/>
          <p:cNvSpPr/>
          <p:nvPr/>
        </p:nvSpPr>
        <p:spPr>
          <a:xfrm>
            <a:off x="178308" y="2945151"/>
            <a:ext cx="365760" cy="365760"/>
          </a:xfrm>
          <a:prstGeom prst="ellipse">
            <a:avLst/>
          </a:prstGeom>
          <a:solidFill>
            <a:srgbClr val="FF6B1A"/>
          </a:solidFill>
          <a:ln/>
        </p:spPr>
        <p:txBody>
          <a:bodyPr/>
          <a:lstStyle/>
          <a:p>
            <a:endParaRPr lang="en-US"/>
          </a:p>
        </p:txBody>
      </p:sp>
      <p:sp>
        <p:nvSpPr>
          <p:cNvPr id="16" name="Text 14"/>
          <p:cNvSpPr txBox="1"/>
          <p:nvPr/>
        </p:nvSpPr>
        <p:spPr>
          <a:xfrm>
            <a:off x="178308" y="2945151"/>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58368" y="2884932"/>
            <a:ext cx="437083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Haz clic en el preajuste HDTV 1080p</a:t>
            </a:r>
            <a:endParaRPr lang="en-US" sz="1300" dirty="0"/>
          </a:p>
        </p:txBody>
      </p:sp>
      <p:sp>
        <p:nvSpPr>
          <p:cNvPr id="18" name="Text 16"/>
          <p:cNvSpPr txBox="1"/>
          <p:nvPr/>
        </p:nvSpPr>
        <p:spPr>
          <a:xfrm>
            <a:off x="658368" y="3195828"/>
            <a:ext cx="43708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Esto configura el lienzo a exactamente 1920 px de ancho y 1080 px de alto a 72 pixeles por pulgada. HDTV 1080p es el estandar de transmision y streaming.</a:t>
            </a:r>
            <a:endParaRPr lang="en-US" sz="1150" dirty="0"/>
          </a:p>
        </p:txBody>
      </p:sp>
      <p:sp>
        <p:nvSpPr>
          <p:cNvPr id="19" name="Shape 17"/>
          <p:cNvSpPr/>
          <p:nvPr/>
        </p:nvSpPr>
        <p:spPr>
          <a:xfrm>
            <a:off x="178308" y="3713247"/>
            <a:ext cx="365760" cy="365760"/>
          </a:xfrm>
          <a:prstGeom prst="ellipse">
            <a:avLst/>
          </a:prstGeom>
          <a:solidFill>
            <a:srgbClr val="FF6B1A"/>
          </a:solidFill>
          <a:ln/>
        </p:spPr>
        <p:txBody>
          <a:bodyPr/>
          <a:lstStyle/>
          <a:p>
            <a:endParaRPr lang="en-US"/>
          </a:p>
        </p:txBody>
      </p:sp>
      <p:sp>
        <p:nvSpPr>
          <p:cNvPr id="20" name="Text 18"/>
          <p:cNvSpPr txBox="1"/>
          <p:nvPr/>
        </p:nvSpPr>
        <p:spPr>
          <a:xfrm>
            <a:off x="178308" y="3713247"/>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658368" y="3645572"/>
            <a:ext cx="437083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Haz clic en Crear</a:t>
            </a:r>
            <a:endParaRPr lang="en-US" sz="1300" dirty="0"/>
          </a:p>
        </p:txBody>
      </p:sp>
      <p:sp>
        <p:nvSpPr>
          <p:cNvPr id="22" name="Text 20"/>
          <p:cNvSpPr txBox="1"/>
          <p:nvPr/>
        </p:nvSpPr>
        <p:spPr>
          <a:xfrm>
            <a:off x="658368" y="3956468"/>
            <a:ext cx="43708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Se abre un lienzo nuevo en blanco. Photoshop agrega lineas guia en cian automaticamente. Estas marcan la zona segura donde debe permanecer el contenido importante.</a:t>
            </a:r>
            <a:endParaRPr lang="en-US" sz="1150" dirty="0"/>
          </a:p>
        </p:txBody>
      </p:sp>
      <p:sp>
        <p:nvSpPr>
          <p:cNvPr id="23" name="Shape 21"/>
          <p:cNvSpPr/>
          <p:nvPr/>
        </p:nvSpPr>
        <p:spPr>
          <a:xfrm>
            <a:off x="178308" y="4517919"/>
            <a:ext cx="365760" cy="365760"/>
          </a:xfrm>
          <a:prstGeom prst="ellipse">
            <a:avLst/>
          </a:prstGeom>
          <a:solidFill>
            <a:srgbClr val="FF6B1A"/>
          </a:solidFill>
          <a:ln/>
        </p:spPr>
        <p:txBody>
          <a:bodyPr/>
          <a:lstStyle/>
          <a:p>
            <a:endParaRPr lang="en-US"/>
          </a:p>
        </p:txBody>
      </p:sp>
      <p:sp>
        <p:nvSpPr>
          <p:cNvPr id="24" name="Text 22"/>
          <p:cNvSpPr txBox="1"/>
          <p:nvPr/>
        </p:nvSpPr>
        <p:spPr>
          <a:xfrm>
            <a:off x="178308" y="4517919"/>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3"/>
          <p:cNvSpPr txBox="1"/>
          <p:nvPr/>
        </p:nvSpPr>
        <p:spPr>
          <a:xfrm>
            <a:off x="658368" y="4411980"/>
            <a:ext cx="437083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Archivo &gt; Guardar como: nombralo 01Trabajo.psd</a:t>
            </a:r>
            <a:endParaRPr lang="en-US" sz="1300" dirty="0"/>
          </a:p>
        </p:txBody>
      </p:sp>
      <p:sp>
        <p:nvSpPr>
          <p:cNvPr id="26" name="Text 24"/>
          <p:cNvSpPr txBox="1"/>
          <p:nvPr/>
        </p:nvSpPr>
        <p:spPr>
          <a:xfrm>
            <a:off x="658368" y="4660556"/>
            <a:ext cx="43708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Guarda inmediatamente como archivo PSD para tener una copia de trabajo. Haz clic en OK o Guardar cuando aparezca el cuadro de dialogo.</a:t>
            </a:r>
            <a:endParaRPr lang="en-US" sz="1150" dirty="0"/>
          </a:p>
        </p:txBody>
      </p:sp>
      <p:pic>
        <p:nvPicPr>
          <p:cNvPr id="27" name="Image 0" descr="preencoded.png"/>
          <p:cNvPicPr>
            <a:picLocks noChangeAspect="1"/>
          </p:cNvPicPr>
          <p:nvPr/>
        </p:nvPicPr>
        <p:blipFill>
          <a:blip r:embed="rId3"/>
          <a:stretch>
            <a:fillRect/>
          </a:stretch>
        </p:blipFill>
        <p:spPr>
          <a:xfrm>
            <a:off x="5257800" y="1600200"/>
            <a:ext cx="3703320" cy="2811780"/>
          </a:xfrm>
          <a:prstGeom prst="rect">
            <a:avLst/>
          </a:prstGeom>
        </p:spPr>
      </p:pic>
      <p:sp>
        <p:nvSpPr>
          <p:cNvPr id="28" name="Text 25"/>
          <p:cNvSpPr txBox="1"/>
          <p:nvPr/>
        </p:nvSpPr>
        <p:spPr>
          <a:xfrm>
            <a:off x="5092103" y="4444767"/>
            <a:ext cx="4051897" cy="256032"/>
          </a:xfrm>
          <a:prstGeom prst="rect">
            <a:avLst/>
          </a:prstGeom>
          <a:noFill/>
          <a:ln/>
        </p:spPr>
        <p:txBody>
          <a:bodyPr wrap="square" lIns="0" tIns="0" rIns="0" bIns="0" rtlCol="0" anchor="ctr"/>
          <a:lstStyle/>
          <a:p>
            <a:pPr marL="0" indent="0" algn="ctr">
              <a:buNone/>
            </a:pPr>
            <a:r>
              <a:rPr lang="en-US" sz="950" i="1" dirty="0">
                <a:solidFill>
                  <a:srgbClr val="AAAAAA"/>
                </a:solidFill>
                <a:latin typeface="Calibri" pitchFamily="34" charset="0"/>
                <a:ea typeface="Calibri" pitchFamily="34" charset="-122"/>
                <a:cs typeface="Calibri" pitchFamily="34" charset="-120"/>
              </a:rPr>
              <a:t>Cuadro de dialogo Nuevo Documento: pestana Pelicula y Video, HDTV 1080p resaltado</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PASO 02</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Colocar la Foto: Archivo &gt; Colocar Incrustado</a:t>
            </a:r>
            <a:endParaRPr lang="en-US" sz="2000" dirty="0"/>
          </a:p>
        </p:txBody>
      </p:sp>
      <p:sp>
        <p:nvSpPr>
          <p:cNvPr id="5" name="Shape 3"/>
          <p:cNvSpPr/>
          <p:nvPr/>
        </p:nvSpPr>
        <p:spPr>
          <a:xfrm>
            <a:off x="182880" y="777240"/>
            <a:ext cx="8778240" cy="566928"/>
          </a:xfrm>
          <a:prstGeom prst="roundRect">
            <a:avLst>
              <a:gd name="adj" fmla="val 12903"/>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868680"/>
            <a:ext cx="850392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Colocar Incrustado copia el archivo de foto en tu documento PSD como Objeto Inteligente. Un Objeto Inteligente preserva los datos originales para que puedas cambiar su tamano, rotar o transformarla sin perder calidad.</a:t>
            </a:r>
            <a:endParaRPr lang="en-US" sz="1200" dirty="0"/>
          </a:p>
        </p:txBody>
      </p:sp>
      <p:sp>
        <p:nvSpPr>
          <p:cNvPr id="7" name="Shape 5"/>
          <p:cNvSpPr/>
          <p:nvPr/>
        </p:nvSpPr>
        <p:spPr>
          <a:xfrm>
            <a:off x="178308" y="1561338"/>
            <a:ext cx="365760" cy="365760"/>
          </a:xfrm>
          <a:prstGeom prst="ellipse">
            <a:avLst/>
          </a:prstGeom>
          <a:solidFill>
            <a:srgbClr val="FF6B1A"/>
          </a:solidFill>
          <a:ln/>
        </p:spPr>
        <p:txBody>
          <a:bodyPr/>
          <a:lstStyle/>
          <a:p>
            <a:endParaRPr lang="en-US"/>
          </a:p>
        </p:txBody>
      </p:sp>
      <p:sp>
        <p:nvSpPr>
          <p:cNvPr id="8" name="Text 6"/>
          <p:cNvSpPr txBox="1"/>
          <p:nvPr/>
        </p:nvSpPr>
        <p:spPr>
          <a:xfrm>
            <a:off x="178308" y="156133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8368" y="1481328"/>
            <a:ext cx="437083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Elige Archivo &gt; Colocar Incrustado</a:t>
            </a:r>
            <a:endParaRPr lang="en-US" sz="1300" dirty="0"/>
          </a:p>
        </p:txBody>
      </p:sp>
      <p:sp>
        <p:nvSpPr>
          <p:cNvPr id="10" name="Text 8"/>
          <p:cNvSpPr txBox="1"/>
          <p:nvPr/>
        </p:nvSpPr>
        <p:spPr>
          <a:xfrm>
            <a:off x="658368" y="1645920"/>
            <a:ext cx="43708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Navega a tu carpeta Leccion01. Selecciona Arch.jpg. Haz clic en Colocar.</a:t>
            </a:r>
            <a:endParaRPr lang="en-US" sz="1150" dirty="0"/>
          </a:p>
        </p:txBody>
      </p:sp>
      <p:sp>
        <p:nvSpPr>
          <p:cNvPr id="11" name="Shape 9"/>
          <p:cNvSpPr/>
          <p:nvPr/>
        </p:nvSpPr>
        <p:spPr>
          <a:xfrm>
            <a:off x="182880" y="2144268"/>
            <a:ext cx="365760" cy="365760"/>
          </a:xfrm>
          <a:prstGeom prst="ellipse">
            <a:avLst/>
          </a:prstGeom>
          <a:solidFill>
            <a:srgbClr val="FF6B1A"/>
          </a:solidFill>
          <a:ln/>
        </p:spPr>
        <p:txBody>
          <a:bodyPr/>
          <a:lstStyle/>
          <a:p>
            <a:endParaRPr lang="en-US"/>
          </a:p>
        </p:txBody>
      </p:sp>
      <p:sp>
        <p:nvSpPr>
          <p:cNvPr id="12" name="Text 10"/>
          <p:cNvSpPr txBox="1"/>
          <p:nvPr/>
        </p:nvSpPr>
        <p:spPr>
          <a:xfrm>
            <a:off x="182880" y="214426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33462" y="2144268"/>
            <a:ext cx="437083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Aparece un cuadro delimitador con controladores alrededor de la foto</a:t>
            </a:r>
            <a:endParaRPr lang="en-US" sz="1300" dirty="0"/>
          </a:p>
        </p:txBody>
      </p:sp>
      <p:sp>
        <p:nvSpPr>
          <p:cNvPr id="14" name="Text 12"/>
          <p:cNvSpPr txBox="1"/>
          <p:nvPr/>
        </p:nvSpPr>
        <p:spPr>
          <a:xfrm>
            <a:off x="633462" y="2569624"/>
            <a:ext cx="43708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La foto esta colocada pero no confirmada. Puedes ver los controladores de transformacion en cada esquina y en los puntos medios de cada borde. Una X diagonal muestra el borde de la capa.</a:t>
            </a:r>
            <a:endParaRPr lang="en-US" sz="1150" dirty="0"/>
          </a:p>
        </p:txBody>
      </p:sp>
      <p:sp>
        <p:nvSpPr>
          <p:cNvPr id="15" name="Shape 13"/>
          <p:cNvSpPr/>
          <p:nvPr/>
        </p:nvSpPr>
        <p:spPr>
          <a:xfrm>
            <a:off x="178308" y="3200578"/>
            <a:ext cx="365760" cy="365760"/>
          </a:xfrm>
          <a:prstGeom prst="ellipse">
            <a:avLst/>
          </a:prstGeom>
          <a:solidFill>
            <a:srgbClr val="FF6B1A"/>
          </a:solidFill>
          <a:ln/>
        </p:spPr>
        <p:txBody>
          <a:bodyPr/>
          <a:lstStyle/>
          <a:p>
            <a:endParaRPr lang="en-US"/>
          </a:p>
        </p:txBody>
      </p:sp>
      <p:sp>
        <p:nvSpPr>
          <p:cNvPr id="16" name="Text 14"/>
          <p:cNvSpPr txBox="1"/>
          <p:nvPr/>
        </p:nvSpPr>
        <p:spPr>
          <a:xfrm>
            <a:off x="178308" y="320057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33462" y="3124296"/>
            <a:ext cx="437083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Arrastra un controlador de esquina para cambiar el tamano</a:t>
            </a:r>
            <a:endParaRPr lang="en-US" sz="1300" dirty="0"/>
          </a:p>
        </p:txBody>
      </p:sp>
      <p:sp>
        <p:nvSpPr>
          <p:cNvPr id="18" name="Text 16"/>
          <p:cNvSpPr txBox="1"/>
          <p:nvPr/>
        </p:nvSpPr>
        <p:spPr>
          <a:xfrm>
            <a:off x="633462" y="3435192"/>
            <a:ext cx="43708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Haz clic y arrastra cualquier controlador de esquina hacia afuera para que la foto cubra todo el ancho del lienzo. Para reposicionar, haz clic y arrastra dentro del cuadro delimitador.</a:t>
            </a:r>
            <a:endParaRPr lang="en-US" sz="1150" dirty="0"/>
          </a:p>
        </p:txBody>
      </p:sp>
      <p:sp>
        <p:nvSpPr>
          <p:cNvPr id="19" name="Shape 17"/>
          <p:cNvSpPr/>
          <p:nvPr/>
        </p:nvSpPr>
        <p:spPr>
          <a:xfrm>
            <a:off x="178308" y="3952877"/>
            <a:ext cx="365760" cy="365760"/>
          </a:xfrm>
          <a:prstGeom prst="ellipse">
            <a:avLst/>
          </a:prstGeom>
          <a:solidFill>
            <a:srgbClr val="FF6B1A"/>
          </a:solidFill>
          <a:ln/>
        </p:spPr>
        <p:txBody>
          <a:bodyPr/>
          <a:lstStyle/>
          <a:p>
            <a:endParaRPr lang="en-US"/>
          </a:p>
        </p:txBody>
      </p:sp>
      <p:sp>
        <p:nvSpPr>
          <p:cNvPr id="20" name="Text 18"/>
          <p:cNvSpPr txBox="1"/>
          <p:nvPr/>
        </p:nvSpPr>
        <p:spPr>
          <a:xfrm>
            <a:off x="178308" y="3952877"/>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658368" y="3989453"/>
            <a:ext cx="437083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Haz clic en la marca ✓ en la barra de opciones para confirmar</a:t>
            </a:r>
            <a:endParaRPr lang="en-US" sz="1300" dirty="0"/>
          </a:p>
        </p:txBody>
      </p:sp>
      <p:sp>
        <p:nvSpPr>
          <p:cNvPr id="22" name="Text 20"/>
          <p:cNvSpPr txBox="1"/>
          <p:nvPr/>
        </p:nvSpPr>
        <p:spPr>
          <a:xfrm>
            <a:off x="658368" y="4300349"/>
            <a:ext cx="43708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La marca ✓ esta en el extremo derecho de la barra de opciones. Tambien puedes presionar Enter. El cuadro delimitador desaparece y la capa Arch aparece en el panel Capas.</a:t>
            </a:r>
            <a:endParaRPr lang="en-US" sz="1150" dirty="0"/>
          </a:p>
        </p:txBody>
      </p:sp>
      <p:pic>
        <p:nvPicPr>
          <p:cNvPr id="23" name="Image 0" descr="preencoded.png"/>
          <p:cNvPicPr>
            <a:picLocks noChangeAspect="1"/>
          </p:cNvPicPr>
          <p:nvPr/>
        </p:nvPicPr>
        <p:blipFill>
          <a:blip r:embed="rId3"/>
          <a:stretch>
            <a:fillRect/>
          </a:stretch>
        </p:blipFill>
        <p:spPr>
          <a:xfrm>
            <a:off x="5257800" y="1463040"/>
            <a:ext cx="3703320" cy="2926080"/>
          </a:xfrm>
          <a:prstGeom prst="rect">
            <a:avLst/>
          </a:prstGeom>
        </p:spPr>
      </p:pic>
      <p:sp>
        <p:nvSpPr>
          <p:cNvPr id="24" name="Text 21"/>
          <p:cNvSpPr txBox="1"/>
          <p:nvPr/>
        </p:nvSpPr>
        <p:spPr>
          <a:xfrm>
            <a:off x="5257800" y="4416552"/>
            <a:ext cx="3703320" cy="256032"/>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Arch.jpg colocado en el lienzo, controladores del cuadro delimitador visibles en las esquinas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PASO 03</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Establecer Unidades en Pixeles: Configuracion Unica</a:t>
            </a:r>
            <a:endParaRPr lang="en-US" sz="2000" dirty="0"/>
          </a:p>
        </p:txBody>
      </p:sp>
      <p:sp>
        <p:nvSpPr>
          <p:cNvPr id="5" name="Shape 3"/>
          <p:cNvSpPr/>
          <p:nvPr/>
        </p:nvSpPr>
        <p:spPr>
          <a:xfrm>
            <a:off x="182880" y="777240"/>
            <a:ext cx="8778240" cy="658368"/>
          </a:xfrm>
          <a:prstGeom prst="roundRect">
            <a:avLst>
              <a:gd name="adj" fmla="val 11111"/>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868680"/>
            <a:ext cx="8503920" cy="47548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Photoshop mide distancias en la unidad configurada actualmente. Para trabajo en pantalla y video siempre quieres Pixeles. Si tu regla muestra pulgadas o centimetros, no obtendras medidas precisas al dibujar tu seleccion.</a:t>
            </a:r>
            <a:endParaRPr lang="en-US" sz="1200" dirty="0"/>
          </a:p>
        </p:txBody>
      </p:sp>
      <p:sp>
        <p:nvSpPr>
          <p:cNvPr id="7" name="Shape 5"/>
          <p:cNvSpPr/>
          <p:nvPr/>
        </p:nvSpPr>
        <p:spPr>
          <a:xfrm>
            <a:off x="182880" y="1600200"/>
            <a:ext cx="365760" cy="365760"/>
          </a:xfrm>
          <a:prstGeom prst="ellipse">
            <a:avLst/>
          </a:prstGeom>
          <a:solidFill>
            <a:srgbClr val="FF6B1A"/>
          </a:solidFill>
          <a:ln/>
        </p:spPr>
        <p:txBody>
          <a:bodyPr/>
          <a:lstStyle/>
          <a:p>
            <a:endParaRPr lang="en-US"/>
          </a:p>
        </p:txBody>
      </p:sp>
      <p:sp>
        <p:nvSpPr>
          <p:cNvPr id="8" name="Text 6"/>
          <p:cNvSpPr txBox="1"/>
          <p:nvPr/>
        </p:nvSpPr>
        <p:spPr>
          <a:xfrm>
            <a:off x="182880" y="16002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8368" y="1669057"/>
            <a:ext cx="3205595" cy="292608"/>
          </a:xfrm>
          <a:prstGeom prst="rect">
            <a:avLst/>
          </a:prstGeom>
          <a:noFill/>
          <a:ln/>
        </p:spPr>
        <p:txBody>
          <a:bodyPr wrap="square" lIns="0" tIns="0" rIns="0" bIns="0" rtlCol="0" anchor="ctr"/>
          <a:lstStyle/>
          <a:p>
            <a:pPr marL="0" indent="0">
              <a:buNone/>
            </a:pPr>
            <a:endParaRPr lang="en-US" sz="1300" dirty="0"/>
          </a:p>
          <a:p>
            <a:pPr marL="0" indent="0">
              <a:buNone/>
            </a:pPr>
            <a:r>
              <a:rPr lang="en-US" sz="1300" b="1" dirty="0">
                <a:solidFill>
                  <a:srgbClr val="FFCC00"/>
                </a:solidFill>
                <a:latin typeface="Calibri" pitchFamily="34" charset="0"/>
                <a:ea typeface="Calibri" pitchFamily="34" charset="-122"/>
                <a:cs typeface="Calibri" pitchFamily="34" charset="-120"/>
              </a:rPr>
              <a:t>macOS: Photoshop &gt; Configuracion &gt; Unidades y Reglas</a:t>
            </a:r>
            <a:endParaRPr lang="en-US" sz="1300" dirty="0"/>
          </a:p>
        </p:txBody>
      </p:sp>
      <p:sp>
        <p:nvSpPr>
          <p:cNvPr id="10" name="Text 8"/>
          <p:cNvSpPr txBox="1"/>
          <p:nvPr/>
        </p:nvSpPr>
        <p:spPr>
          <a:xfrm>
            <a:off x="658368" y="2211897"/>
            <a:ext cx="3205595"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Esto abre el cuadro de dialogo de Preferencias.</a:t>
            </a:r>
            <a:endParaRPr lang="en-US" sz="1150" dirty="0"/>
          </a:p>
        </p:txBody>
      </p:sp>
      <p:sp>
        <p:nvSpPr>
          <p:cNvPr id="11" name="Shape 9"/>
          <p:cNvSpPr/>
          <p:nvPr/>
        </p:nvSpPr>
        <p:spPr>
          <a:xfrm>
            <a:off x="182880" y="2325103"/>
            <a:ext cx="365760" cy="365760"/>
          </a:xfrm>
          <a:prstGeom prst="ellipse">
            <a:avLst/>
          </a:prstGeom>
          <a:solidFill>
            <a:srgbClr val="FF6B1A"/>
          </a:solidFill>
          <a:ln/>
        </p:spPr>
        <p:txBody>
          <a:bodyPr/>
          <a:lstStyle/>
          <a:p>
            <a:endParaRPr lang="en-US"/>
          </a:p>
        </p:txBody>
      </p:sp>
      <p:sp>
        <p:nvSpPr>
          <p:cNvPr id="12" name="Text 10"/>
          <p:cNvSpPr txBox="1"/>
          <p:nvPr/>
        </p:nvSpPr>
        <p:spPr>
          <a:xfrm>
            <a:off x="182880" y="2325103"/>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58368" y="2636816"/>
            <a:ext cx="333368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En la seccion Unidades, establece Reglas en Pixeles</a:t>
            </a:r>
            <a:endParaRPr lang="en-US" sz="1300" dirty="0"/>
          </a:p>
        </p:txBody>
      </p:sp>
      <p:sp>
        <p:nvSpPr>
          <p:cNvPr id="14" name="Text 12"/>
          <p:cNvSpPr txBox="1"/>
          <p:nvPr/>
        </p:nvSpPr>
        <p:spPr>
          <a:xfrm>
            <a:off x="658368" y="3068294"/>
            <a:ext cx="3164929"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Busca la seccion Unidades en la parte superior del panel. Haz clic en el menu desplegable Reglas y elige Pixeles.</a:t>
            </a:r>
            <a:endParaRPr lang="en-US" sz="1150" dirty="0"/>
          </a:p>
        </p:txBody>
      </p:sp>
      <p:sp>
        <p:nvSpPr>
          <p:cNvPr id="15" name="Shape 13"/>
          <p:cNvSpPr/>
          <p:nvPr/>
        </p:nvSpPr>
        <p:spPr>
          <a:xfrm>
            <a:off x="182880" y="3050006"/>
            <a:ext cx="365760" cy="365760"/>
          </a:xfrm>
          <a:prstGeom prst="ellipse">
            <a:avLst/>
          </a:prstGeom>
          <a:solidFill>
            <a:srgbClr val="FF6B1A"/>
          </a:solidFill>
          <a:ln/>
        </p:spPr>
        <p:txBody>
          <a:bodyPr/>
          <a:lstStyle/>
          <a:p>
            <a:endParaRPr lang="en-US"/>
          </a:p>
        </p:txBody>
      </p:sp>
      <p:sp>
        <p:nvSpPr>
          <p:cNvPr id="16" name="Text 14"/>
          <p:cNvSpPr txBox="1"/>
          <p:nvPr/>
        </p:nvSpPr>
        <p:spPr>
          <a:xfrm>
            <a:off x="182880" y="305000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58368" y="3546786"/>
            <a:ext cx="307039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Haz clic en OK</a:t>
            </a:r>
            <a:endParaRPr lang="en-US" sz="1300" dirty="0"/>
          </a:p>
        </p:txBody>
      </p:sp>
      <p:sp>
        <p:nvSpPr>
          <p:cNvPr id="18" name="Text 16"/>
          <p:cNvSpPr txBox="1"/>
          <p:nvPr/>
        </p:nvSpPr>
        <p:spPr>
          <a:xfrm>
            <a:off x="658368" y="3853141"/>
            <a:ext cx="2944000"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Esta configuracion permanece hasta que la cambies. Solo necesitas hacerlo una vez en esta computadora.</a:t>
            </a:r>
            <a:endParaRPr lang="en-US" sz="1150" dirty="0"/>
          </a:p>
        </p:txBody>
      </p:sp>
      <p:sp>
        <p:nvSpPr>
          <p:cNvPr id="19" name="Shape 17"/>
          <p:cNvSpPr/>
          <p:nvPr/>
        </p:nvSpPr>
        <p:spPr>
          <a:xfrm>
            <a:off x="182879" y="4470330"/>
            <a:ext cx="8778239" cy="499638"/>
          </a:xfrm>
          <a:prstGeom prst="roundRect">
            <a:avLst>
              <a:gd name="adj" fmla="val 9091"/>
            </a:avLst>
          </a:prstGeom>
          <a:solidFill>
            <a:srgbClr val="1A0A0A"/>
          </a:solidFill>
          <a:ln w="12700">
            <a:solidFill>
              <a:srgbClr val="444444"/>
            </a:solidFill>
            <a:prstDash val="solid"/>
          </a:ln>
        </p:spPr>
        <p:txBody>
          <a:bodyPr/>
          <a:lstStyle/>
          <a:p>
            <a:endParaRPr lang="en-US"/>
          </a:p>
        </p:txBody>
      </p:sp>
      <p:sp>
        <p:nvSpPr>
          <p:cNvPr id="20" name="Text 18"/>
          <p:cNvSpPr txBox="1"/>
          <p:nvPr/>
        </p:nvSpPr>
        <p:spPr>
          <a:xfrm>
            <a:off x="320040" y="4409253"/>
            <a:ext cx="8503920" cy="621792"/>
          </a:xfrm>
          <a:prstGeom prst="rect">
            <a:avLst/>
          </a:prstGeom>
          <a:noFill/>
          <a:ln/>
        </p:spPr>
        <p:txBody>
          <a:bodyPr wrap="square" lIns="0" tIns="0" rIns="0" bIns="0" rtlCol="0" anchor="ctr"/>
          <a:lstStyle/>
          <a:p>
            <a:pPr marL="0" indent="0">
              <a:buNone/>
            </a:pPr>
            <a:r>
              <a:rPr lang="en-US" sz="1200" dirty="0">
                <a:solidFill>
                  <a:srgbClr val="FF8844"/>
                </a:solidFill>
                <a:latin typeface="Calibri" pitchFamily="34" charset="0"/>
                <a:ea typeface="Calibri" pitchFamily="34" charset="-122"/>
                <a:cs typeface="Calibri" pitchFamily="34" charset="-120"/>
              </a:rPr>
              <a:t>⚠️  Por que importa: En el proximo paso dibujara un rectangulo que necesita tener exactamente 96 pixeles de ancho. Si tus unidades estan en pulgadas, el indicador mostrara pulgadas y no sabras cuando alcanzas el tamano correcto.</a:t>
            </a:r>
            <a:endParaRPr lang="en-US" sz="1200" dirty="0"/>
          </a:p>
        </p:txBody>
      </p:sp>
      <p:pic>
        <p:nvPicPr>
          <p:cNvPr id="24" name="Picture 23">
            <a:extLst>
              <a:ext uri="{FF2B5EF4-FFF2-40B4-BE49-F238E27FC236}">
                <a16:creationId xmlns:a16="http://schemas.microsoft.com/office/drawing/2014/main" id="{B795D9D4-4F3B-7270-D77B-C38CEC3F1D85}"/>
              </a:ext>
            </a:extLst>
          </p:cNvPr>
          <p:cNvPicPr>
            <a:picLocks noChangeAspect="1"/>
          </p:cNvPicPr>
          <p:nvPr/>
        </p:nvPicPr>
        <p:blipFill>
          <a:blip r:embed="rId3"/>
          <a:stretch>
            <a:fillRect/>
          </a:stretch>
        </p:blipFill>
        <p:spPr>
          <a:xfrm>
            <a:off x="4102347" y="1508760"/>
            <a:ext cx="4858774" cy="271957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PASO 04</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Crear una Nueva Capa: Nombrarla Rectangulos</a:t>
            </a:r>
            <a:endParaRPr lang="en-US" sz="2000" dirty="0"/>
          </a:p>
        </p:txBody>
      </p:sp>
      <p:sp>
        <p:nvSpPr>
          <p:cNvPr id="5" name="Shape 3"/>
          <p:cNvSpPr/>
          <p:nvPr/>
        </p:nvSpPr>
        <p:spPr>
          <a:xfrm>
            <a:off x="182880" y="777240"/>
            <a:ext cx="8778240" cy="658368"/>
          </a:xfrm>
          <a:prstGeom prst="roundRect">
            <a:avLst>
              <a:gd name="adj" fmla="val 11111"/>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868680"/>
            <a:ext cx="8503920" cy="47548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Las Capas son la base de Photoshop. Piensa en cada capa como una hoja de pelicula transparente apilada. Dibuja las barras de color en una capa separada para editarlas independientemente sin tocar la foto original.</a:t>
            </a:r>
            <a:endParaRPr lang="en-US" sz="1200" dirty="0"/>
          </a:p>
        </p:txBody>
      </p:sp>
      <p:sp>
        <p:nvSpPr>
          <p:cNvPr id="7" name="Shape 5"/>
          <p:cNvSpPr/>
          <p:nvPr/>
        </p:nvSpPr>
        <p:spPr>
          <a:xfrm>
            <a:off x="182880" y="1600200"/>
            <a:ext cx="365760" cy="365760"/>
          </a:xfrm>
          <a:prstGeom prst="ellipse">
            <a:avLst/>
          </a:prstGeom>
          <a:solidFill>
            <a:srgbClr val="FF6B1A"/>
          </a:solidFill>
          <a:ln/>
        </p:spPr>
        <p:txBody>
          <a:bodyPr/>
          <a:lstStyle/>
          <a:p>
            <a:endParaRPr lang="en-US"/>
          </a:p>
        </p:txBody>
      </p:sp>
      <p:sp>
        <p:nvSpPr>
          <p:cNvPr id="8" name="Text 6"/>
          <p:cNvSpPr txBox="1"/>
          <p:nvPr/>
        </p:nvSpPr>
        <p:spPr>
          <a:xfrm>
            <a:off x="182880" y="16002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8368" y="1572768"/>
            <a:ext cx="437083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En el panel Capas, haz clic en la capa Arch para seleccionarla</a:t>
            </a:r>
            <a:endParaRPr lang="en-US" sz="1300" dirty="0"/>
          </a:p>
        </p:txBody>
      </p:sp>
      <p:sp>
        <p:nvSpPr>
          <p:cNvPr id="10" name="Text 8"/>
          <p:cNvSpPr txBox="1"/>
          <p:nvPr/>
        </p:nvSpPr>
        <p:spPr>
          <a:xfrm>
            <a:off x="658368" y="1883664"/>
            <a:ext cx="43708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Las nuevas capas siempre se crean encima de la capa actualmente seleccionada. Hacer clic en Arch primero asegura que la capa Rectangulos quede en la posicion correcta.</a:t>
            </a:r>
            <a:endParaRPr lang="en-US" sz="1150" dirty="0"/>
          </a:p>
        </p:txBody>
      </p:sp>
      <p:sp>
        <p:nvSpPr>
          <p:cNvPr id="11" name="Shape 9"/>
          <p:cNvSpPr/>
          <p:nvPr/>
        </p:nvSpPr>
        <p:spPr>
          <a:xfrm>
            <a:off x="182880" y="2496312"/>
            <a:ext cx="365760" cy="365760"/>
          </a:xfrm>
          <a:prstGeom prst="ellipse">
            <a:avLst/>
          </a:prstGeom>
          <a:solidFill>
            <a:srgbClr val="FF6B1A"/>
          </a:solidFill>
          <a:ln/>
        </p:spPr>
        <p:txBody>
          <a:bodyPr/>
          <a:lstStyle/>
          <a:p>
            <a:endParaRPr lang="en-US"/>
          </a:p>
        </p:txBody>
      </p:sp>
      <p:sp>
        <p:nvSpPr>
          <p:cNvPr id="12" name="Text 10"/>
          <p:cNvSpPr txBox="1"/>
          <p:nvPr/>
        </p:nvSpPr>
        <p:spPr>
          <a:xfrm>
            <a:off x="182880" y="249631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58368" y="2395728"/>
            <a:ext cx="437083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Haz clic en el boton Crear Nueva Capa</a:t>
            </a:r>
            <a:endParaRPr lang="en-US" sz="1300" dirty="0"/>
          </a:p>
        </p:txBody>
      </p:sp>
      <p:sp>
        <p:nvSpPr>
          <p:cNvPr id="14" name="Text 12"/>
          <p:cNvSpPr txBox="1"/>
          <p:nvPr/>
        </p:nvSpPr>
        <p:spPr>
          <a:xfrm>
            <a:off x="658368" y="2706624"/>
            <a:ext cx="43708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El boton esta en la parte inferior del panel Capas, parece un cuadrado con una esquina doblada. Aparece una nueva capa vacia y transparente sobre Arch.</a:t>
            </a:r>
            <a:endParaRPr lang="en-US" sz="1150" dirty="0"/>
          </a:p>
        </p:txBody>
      </p:sp>
      <p:sp>
        <p:nvSpPr>
          <p:cNvPr id="15" name="Shape 13"/>
          <p:cNvSpPr/>
          <p:nvPr/>
        </p:nvSpPr>
        <p:spPr>
          <a:xfrm>
            <a:off x="182880" y="3282696"/>
            <a:ext cx="365760" cy="365760"/>
          </a:xfrm>
          <a:prstGeom prst="ellipse">
            <a:avLst/>
          </a:prstGeom>
          <a:solidFill>
            <a:srgbClr val="FF6B1A"/>
          </a:solidFill>
          <a:ln/>
        </p:spPr>
        <p:txBody>
          <a:bodyPr/>
          <a:lstStyle/>
          <a:p>
            <a:endParaRPr lang="en-US"/>
          </a:p>
        </p:txBody>
      </p:sp>
      <p:sp>
        <p:nvSpPr>
          <p:cNvPr id="16" name="Text 14"/>
          <p:cNvSpPr txBox="1"/>
          <p:nvPr/>
        </p:nvSpPr>
        <p:spPr>
          <a:xfrm>
            <a:off x="182880" y="328269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58368" y="3182112"/>
            <a:ext cx="437083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Haz doble clic en el nombre de la nueva capa en el panel Capas</a:t>
            </a:r>
            <a:endParaRPr lang="en-US" sz="1300" dirty="0"/>
          </a:p>
        </p:txBody>
      </p:sp>
      <p:sp>
        <p:nvSpPr>
          <p:cNvPr id="18" name="Text 16"/>
          <p:cNvSpPr txBox="1"/>
          <p:nvPr/>
        </p:nvSpPr>
        <p:spPr>
          <a:xfrm>
            <a:off x="658368" y="3493008"/>
            <a:ext cx="43708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Dira Capa 1 de forma predeterminada. Haz doble clic directamente en el texto del nombre. Escribe Rectangulos y presiona Enter. Nombrar bien las capas es un habito profesional.</a:t>
            </a:r>
            <a:endParaRPr lang="en-US" sz="1150" dirty="0"/>
          </a:p>
        </p:txBody>
      </p:sp>
      <p:sp>
        <p:nvSpPr>
          <p:cNvPr id="19" name="Shape 17"/>
          <p:cNvSpPr/>
          <p:nvPr/>
        </p:nvSpPr>
        <p:spPr>
          <a:xfrm>
            <a:off x="182880" y="4069080"/>
            <a:ext cx="4846320" cy="841248"/>
          </a:xfrm>
          <a:prstGeom prst="roundRect">
            <a:avLst>
              <a:gd name="adj" fmla="val 8696"/>
            </a:avLst>
          </a:prstGeom>
          <a:solidFill>
            <a:srgbClr val="2A2A2A"/>
          </a:solidFill>
          <a:ln w="12700">
            <a:solidFill>
              <a:srgbClr val="444444"/>
            </a:solidFill>
            <a:prstDash val="solid"/>
          </a:ln>
        </p:spPr>
        <p:txBody>
          <a:bodyPr/>
          <a:lstStyle/>
          <a:p>
            <a:endParaRPr lang="en-US"/>
          </a:p>
        </p:txBody>
      </p:sp>
      <p:sp>
        <p:nvSpPr>
          <p:cNvPr id="20" name="Text 18"/>
          <p:cNvSpPr txBox="1"/>
          <p:nvPr/>
        </p:nvSpPr>
        <p:spPr>
          <a:xfrm>
            <a:off x="320040" y="4160520"/>
            <a:ext cx="4572000" cy="658368"/>
          </a:xfrm>
          <a:prstGeom prst="rect">
            <a:avLst/>
          </a:prstGeom>
          <a:noFill/>
          <a:ln/>
        </p:spPr>
        <p:txBody>
          <a:bodyPr wrap="square" lIns="0" tIns="0" rIns="0" bIns="0" rtlCol="0" anchor="ctr"/>
          <a:lstStyle/>
          <a:p>
            <a:pPr marL="0" indent="0">
              <a:buNone/>
            </a:pPr>
            <a:r>
              <a:rPr lang="en-US" sz="1200" dirty="0">
                <a:solidFill>
                  <a:srgbClr val="A0E0E0"/>
                </a:solidFill>
                <a:latin typeface="Calibri" pitchFamily="34" charset="0"/>
                <a:ea typeface="Calibri" pitchFamily="34" charset="-122"/>
                <a:cs typeface="Calibri" pitchFamily="34" charset="-120"/>
              </a:rPr>
              <a:t>💡 Habito Profesional: Nombra cada capa al crearla. En proyectos reales un documento puede tener mas de 50 capas. Los nombres claros te ahorran horas de busqueda.</a:t>
            </a:r>
            <a:endParaRPr lang="en-US" sz="1200" dirty="0"/>
          </a:p>
        </p:txBody>
      </p:sp>
      <p:pic>
        <p:nvPicPr>
          <p:cNvPr id="24" name="Picture 23">
            <a:extLst>
              <a:ext uri="{FF2B5EF4-FFF2-40B4-BE49-F238E27FC236}">
                <a16:creationId xmlns:a16="http://schemas.microsoft.com/office/drawing/2014/main" id="{77811225-6E9D-54AE-6092-C5BD765B3EAC}"/>
              </a:ext>
            </a:extLst>
          </p:cNvPr>
          <p:cNvPicPr>
            <a:picLocks noChangeAspect="1"/>
          </p:cNvPicPr>
          <p:nvPr/>
        </p:nvPicPr>
        <p:blipFill>
          <a:blip r:embed="rId3"/>
          <a:stretch>
            <a:fillRect/>
          </a:stretch>
        </p:blipFill>
        <p:spPr>
          <a:xfrm>
            <a:off x="5133923" y="1600201"/>
            <a:ext cx="3827197" cy="27660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PASO 05a</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Dibujar la Barra Naranja: Herramienta Marque Rectangular</a:t>
            </a:r>
            <a:endParaRPr lang="en-US" sz="2000" dirty="0"/>
          </a:p>
        </p:txBody>
      </p:sp>
      <p:sp>
        <p:nvSpPr>
          <p:cNvPr id="5" name="Shape 3"/>
          <p:cNvSpPr/>
          <p:nvPr/>
        </p:nvSpPr>
        <p:spPr>
          <a:xfrm>
            <a:off x="182880" y="777240"/>
            <a:ext cx="8778240" cy="658368"/>
          </a:xfrm>
          <a:prstGeom prst="roundRect">
            <a:avLst>
              <a:gd name="adj" fmla="val 11111"/>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868680"/>
            <a:ext cx="8503920" cy="47548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La herramienta Marque Rectangular crea una seleccion, un area de pixeles marcada por un borde punteado llamado "hormigas marchantes." Cualquier edicion que hagas solo afectara los pixeles dentro de la seleccion.</a:t>
            </a:r>
            <a:endParaRPr lang="en-US" sz="1200" dirty="0"/>
          </a:p>
        </p:txBody>
      </p:sp>
      <p:sp>
        <p:nvSpPr>
          <p:cNvPr id="7" name="Shape 5"/>
          <p:cNvSpPr/>
          <p:nvPr/>
        </p:nvSpPr>
        <p:spPr>
          <a:xfrm>
            <a:off x="182880" y="1600200"/>
            <a:ext cx="365760" cy="365760"/>
          </a:xfrm>
          <a:prstGeom prst="ellipse">
            <a:avLst/>
          </a:prstGeom>
          <a:solidFill>
            <a:srgbClr val="FF6B1A"/>
          </a:solidFill>
          <a:ln/>
        </p:spPr>
        <p:txBody>
          <a:bodyPr/>
          <a:lstStyle/>
          <a:p>
            <a:endParaRPr lang="en-US"/>
          </a:p>
        </p:txBody>
      </p:sp>
      <p:sp>
        <p:nvSpPr>
          <p:cNvPr id="8" name="Text 6"/>
          <p:cNvSpPr txBox="1"/>
          <p:nvPr/>
        </p:nvSpPr>
        <p:spPr>
          <a:xfrm>
            <a:off x="182880" y="16002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8368" y="1572768"/>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Asegurate de que la capa Rectangulos este seleccionada</a:t>
            </a:r>
            <a:endParaRPr lang="en-US" sz="1300" dirty="0"/>
          </a:p>
        </p:txBody>
      </p:sp>
      <p:sp>
        <p:nvSpPr>
          <p:cNvPr id="10" name="Text 8"/>
          <p:cNvSpPr txBox="1"/>
          <p:nvPr/>
        </p:nvSpPr>
        <p:spPr>
          <a:xfrm>
            <a:off x="658367" y="1852076"/>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La capa resaltada en el panel Capas es en la que vas a dibujar. Confirma que Rectangulos este seleccionada antes de dibujar.</a:t>
            </a:r>
            <a:endParaRPr lang="en-US" sz="1150" dirty="0"/>
          </a:p>
        </p:txBody>
      </p:sp>
      <p:sp>
        <p:nvSpPr>
          <p:cNvPr id="11" name="Shape 9"/>
          <p:cNvSpPr/>
          <p:nvPr/>
        </p:nvSpPr>
        <p:spPr>
          <a:xfrm>
            <a:off x="182880" y="2372922"/>
            <a:ext cx="365760" cy="365760"/>
          </a:xfrm>
          <a:prstGeom prst="ellipse">
            <a:avLst/>
          </a:prstGeom>
          <a:solidFill>
            <a:srgbClr val="FF6B1A"/>
          </a:solidFill>
          <a:ln/>
        </p:spPr>
        <p:txBody>
          <a:bodyPr/>
          <a:lstStyle/>
          <a:p>
            <a:endParaRPr lang="en-US"/>
          </a:p>
        </p:txBody>
      </p:sp>
      <p:sp>
        <p:nvSpPr>
          <p:cNvPr id="12" name="Text 10"/>
          <p:cNvSpPr txBox="1"/>
          <p:nvPr/>
        </p:nvSpPr>
        <p:spPr>
          <a:xfrm>
            <a:off x="182880" y="237292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58364" y="2292090"/>
            <a:ext cx="5343533"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Selecciona la herramienta Marque Rectangular, presiona M</a:t>
            </a:r>
            <a:endParaRPr lang="en-US" sz="1300" dirty="0"/>
          </a:p>
        </p:txBody>
      </p:sp>
      <p:sp>
        <p:nvSpPr>
          <p:cNvPr id="14" name="Text 12"/>
          <p:cNvSpPr txBox="1"/>
          <p:nvPr/>
        </p:nvSpPr>
        <p:spPr>
          <a:xfrm>
            <a:off x="658364" y="2527802"/>
            <a:ext cx="5124317"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El panel Herramientas corre a lo largo del borde izquierdo. La herramienta Marque Rectangular parece un rectangulo punteado. Presiona M para obtenerla al instante.</a:t>
            </a:r>
            <a:endParaRPr lang="en-US" sz="1150" dirty="0"/>
          </a:p>
        </p:txBody>
      </p:sp>
      <p:sp>
        <p:nvSpPr>
          <p:cNvPr id="15" name="Shape 13"/>
          <p:cNvSpPr/>
          <p:nvPr/>
        </p:nvSpPr>
        <p:spPr>
          <a:xfrm>
            <a:off x="182878" y="3050589"/>
            <a:ext cx="365760" cy="365760"/>
          </a:xfrm>
          <a:prstGeom prst="ellipse">
            <a:avLst/>
          </a:prstGeom>
          <a:solidFill>
            <a:srgbClr val="FF6B1A"/>
          </a:solidFill>
          <a:ln/>
        </p:spPr>
        <p:txBody>
          <a:bodyPr/>
          <a:lstStyle/>
          <a:p>
            <a:endParaRPr lang="en-US"/>
          </a:p>
        </p:txBody>
      </p:sp>
      <p:sp>
        <p:nvSpPr>
          <p:cNvPr id="16" name="Text 14"/>
          <p:cNvSpPr txBox="1"/>
          <p:nvPr/>
        </p:nvSpPr>
        <p:spPr>
          <a:xfrm>
            <a:off x="182878" y="3050589"/>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58364" y="2979426"/>
            <a:ext cx="5124317"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Arrastra desde la esquina superior izquierda del lienzo hacia abajo</a:t>
            </a:r>
            <a:endParaRPr lang="en-US" sz="1300" dirty="0"/>
          </a:p>
        </p:txBody>
      </p:sp>
      <p:sp>
        <p:nvSpPr>
          <p:cNvPr id="18" name="Text 16"/>
          <p:cNvSpPr txBox="1"/>
          <p:nvPr/>
        </p:nvSpPr>
        <p:spPr>
          <a:xfrm>
            <a:off x="658363" y="3344818"/>
            <a:ext cx="5343533"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Comienza tu arrastre ligeramente fuera del borde del lienzo. Arrastra hacia abajo y a la derecha. Observa el indicador de informacion: muestra el Ancho y la Altura de tu seleccion mientras arrastras.</a:t>
            </a:r>
            <a:endParaRPr lang="en-US" sz="1150" dirty="0"/>
          </a:p>
        </p:txBody>
      </p:sp>
      <p:sp>
        <p:nvSpPr>
          <p:cNvPr id="19" name="Shape 17"/>
          <p:cNvSpPr/>
          <p:nvPr/>
        </p:nvSpPr>
        <p:spPr>
          <a:xfrm>
            <a:off x="182876" y="3960805"/>
            <a:ext cx="365760" cy="365760"/>
          </a:xfrm>
          <a:prstGeom prst="ellipse">
            <a:avLst/>
          </a:prstGeom>
          <a:solidFill>
            <a:srgbClr val="FF6B1A"/>
          </a:solidFill>
          <a:ln/>
        </p:spPr>
        <p:txBody>
          <a:bodyPr/>
          <a:lstStyle/>
          <a:p>
            <a:endParaRPr lang="en-US"/>
          </a:p>
        </p:txBody>
      </p:sp>
      <p:sp>
        <p:nvSpPr>
          <p:cNvPr id="20" name="Text 18"/>
          <p:cNvSpPr txBox="1"/>
          <p:nvPr/>
        </p:nvSpPr>
        <p:spPr>
          <a:xfrm>
            <a:off x="182876" y="3960805"/>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658363" y="3869226"/>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Suelta cuando el indicador muestre A: 96px y H: 1080px</a:t>
            </a:r>
            <a:endParaRPr lang="en-US" sz="1300" dirty="0"/>
          </a:p>
        </p:txBody>
      </p:sp>
      <p:sp>
        <p:nvSpPr>
          <p:cNvPr id="22" name="Text 20"/>
          <p:cNvSpPr txBox="1"/>
          <p:nvPr/>
        </p:nvSpPr>
        <p:spPr>
          <a:xfrm>
            <a:off x="658362" y="4211155"/>
            <a:ext cx="5124318"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La seleccion debe ajustarse al borde del lienzo y correr su altura total. Aparece un borde punteado de marque. Si no logras el tamano, presiona Cmd+D para deseleccionar e intentarlo de nuevo.</a:t>
            </a:r>
            <a:endParaRPr lang="en-US" sz="1150" dirty="0"/>
          </a:p>
        </p:txBody>
      </p:sp>
      <p:pic>
        <p:nvPicPr>
          <p:cNvPr id="26" name="Picture 25">
            <a:extLst>
              <a:ext uri="{FF2B5EF4-FFF2-40B4-BE49-F238E27FC236}">
                <a16:creationId xmlns:a16="http://schemas.microsoft.com/office/drawing/2014/main" id="{5807F7F1-913D-DE40-65DD-FC03DBF361AB}"/>
              </a:ext>
            </a:extLst>
          </p:cNvPr>
          <p:cNvPicPr>
            <a:picLocks noChangeAspect="1"/>
          </p:cNvPicPr>
          <p:nvPr/>
        </p:nvPicPr>
        <p:blipFill>
          <a:blip r:embed="rId3"/>
          <a:stretch>
            <a:fillRect/>
          </a:stretch>
        </p:blipFill>
        <p:spPr>
          <a:xfrm>
            <a:off x="6165815" y="1506347"/>
            <a:ext cx="2795305" cy="330864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PASO 05b</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Rellenar la Barra Naranja con Color</a:t>
            </a:r>
            <a:endParaRPr lang="en-US" sz="2000" dirty="0"/>
          </a:p>
        </p:txBody>
      </p:sp>
      <p:sp>
        <p:nvSpPr>
          <p:cNvPr id="5" name="Shape 3"/>
          <p:cNvSpPr/>
          <p:nvPr/>
        </p:nvSpPr>
        <p:spPr>
          <a:xfrm>
            <a:off x="182880" y="832104"/>
            <a:ext cx="365760" cy="365760"/>
          </a:xfrm>
          <a:prstGeom prst="ellipse">
            <a:avLst/>
          </a:prstGeom>
          <a:solidFill>
            <a:srgbClr val="FF6B1A"/>
          </a:solidFill>
          <a:ln/>
        </p:spPr>
        <p:txBody>
          <a:bodyPr/>
          <a:lstStyle/>
          <a:p>
            <a:endParaRPr lang="en-US"/>
          </a:p>
        </p:txBody>
      </p:sp>
      <p:sp>
        <p:nvSpPr>
          <p:cNvPr id="6" name="Text 4"/>
          <p:cNvSpPr txBox="1"/>
          <p:nvPr/>
        </p:nvSpPr>
        <p:spPr>
          <a:xfrm>
            <a:off x="182880" y="83210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658368" y="804672"/>
            <a:ext cx="446227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En la Barra de Tareas Contextual, haz clic en Rellenar Seleccion</a:t>
            </a:r>
            <a:endParaRPr lang="en-US" sz="1300" dirty="0"/>
          </a:p>
        </p:txBody>
      </p:sp>
      <p:sp>
        <p:nvSpPr>
          <p:cNvPr id="8" name="Text 6"/>
          <p:cNvSpPr txBox="1"/>
          <p:nvPr/>
        </p:nvSpPr>
        <p:spPr>
          <a:xfrm>
            <a:off x="658368" y="1141108"/>
            <a:ext cx="4812707"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La Barra de Tareas Contextual es la barra flotante que aparece cerca de tu seleccion. Haz clic en Rellenar Seleccion, luego elige Rellenar con Color en el menu desplegable.</a:t>
            </a:r>
            <a:endParaRPr lang="en-US" sz="1150" dirty="0"/>
          </a:p>
        </p:txBody>
      </p:sp>
      <p:sp>
        <p:nvSpPr>
          <p:cNvPr id="9" name="Shape 7"/>
          <p:cNvSpPr/>
          <p:nvPr/>
        </p:nvSpPr>
        <p:spPr>
          <a:xfrm>
            <a:off x="182880" y="1813419"/>
            <a:ext cx="365760" cy="365760"/>
          </a:xfrm>
          <a:prstGeom prst="ellipse">
            <a:avLst/>
          </a:prstGeom>
          <a:solidFill>
            <a:srgbClr val="FF6B1A"/>
          </a:solidFill>
          <a:ln/>
        </p:spPr>
        <p:txBody>
          <a:bodyPr/>
          <a:lstStyle/>
          <a:p>
            <a:endParaRPr lang="en-US"/>
          </a:p>
        </p:txBody>
      </p:sp>
      <p:sp>
        <p:nvSpPr>
          <p:cNvPr id="10" name="Text 8"/>
          <p:cNvSpPr txBox="1"/>
          <p:nvPr/>
        </p:nvSpPr>
        <p:spPr>
          <a:xfrm>
            <a:off x="182880" y="1813419"/>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658368" y="1724690"/>
            <a:ext cx="446227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Se abre el Selector de Color. Escribe ff7f00 en el campo #</a:t>
            </a:r>
            <a:endParaRPr lang="en-US" sz="1300" dirty="0"/>
          </a:p>
        </p:txBody>
      </p:sp>
      <p:sp>
        <p:nvSpPr>
          <p:cNvPr id="12" name="Text 10"/>
          <p:cNvSpPr txBox="1"/>
          <p:nvPr/>
        </p:nvSpPr>
        <p:spPr>
          <a:xfrm>
            <a:off x="657142" y="2087121"/>
            <a:ext cx="4853574"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Busca el simbolo # cerca de la parte inferior del Selector de Color. Haz clic en ese campo y escribe ff7f00. Este es un codigo de color hexadecimal, un codigo de 6 digitos para definir colores exactos. ff7f00 es el naranja que necesitas.</a:t>
            </a:r>
            <a:endParaRPr lang="en-US" sz="1150" dirty="0"/>
          </a:p>
        </p:txBody>
      </p:sp>
      <p:sp>
        <p:nvSpPr>
          <p:cNvPr id="13" name="Shape 11"/>
          <p:cNvSpPr/>
          <p:nvPr/>
        </p:nvSpPr>
        <p:spPr>
          <a:xfrm>
            <a:off x="182880" y="2800669"/>
            <a:ext cx="365760" cy="365760"/>
          </a:xfrm>
          <a:prstGeom prst="ellipse">
            <a:avLst/>
          </a:prstGeom>
          <a:solidFill>
            <a:srgbClr val="FF6B1A"/>
          </a:solidFill>
          <a:ln/>
        </p:spPr>
        <p:txBody>
          <a:bodyPr/>
          <a:lstStyle/>
          <a:p>
            <a:endParaRPr lang="en-US"/>
          </a:p>
        </p:txBody>
      </p:sp>
      <p:sp>
        <p:nvSpPr>
          <p:cNvPr id="14" name="Text 12"/>
          <p:cNvSpPr txBox="1"/>
          <p:nvPr/>
        </p:nvSpPr>
        <p:spPr>
          <a:xfrm>
            <a:off x="182880" y="2800669"/>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658368" y="2819212"/>
            <a:ext cx="446227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Haz clic en OK para cerrar el Selector de Color, luego OK de nuevo para cerrar el cuadro Rellenar</a:t>
            </a:r>
            <a:endParaRPr lang="en-US" sz="1300" dirty="0"/>
          </a:p>
        </p:txBody>
      </p:sp>
      <p:sp>
        <p:nvSpPr>
          <p:cNvPr id="16" name="Text 14"/>
          <p:cNvSpPr txBox="1"/>
          <p:nvPr/>
        </p:nvSpPr>
        <p:spPr>
          <a:xfrm>
            <a:off x="658368" y="3097515"/>
            <a:ext cx="446227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El color naranja rellena tu seleccion de 96px en la capa Rectangulos.</a:t>
            </a:r>
            <a:endParaRPr lang="en-US" sz="1150" dirty="0"/>
          </a:p>
        </p:txBody>
      </p:sp>
      <p:sp>
        <p:nvSpPr>
          <p:cNvPr id="17" name="Shape 15"/>
          <p:cNvSpPr/>
          <p:nvPr/>
        </p:nvSpPr>
        <p:spPr>
          <a:xfrm>
            <a:off x="182880" y="3633028"/>
            <a:ext cx="365760" cy="365760"/>
          </a:xfrm>
          <a:prstGeom prst="ellipse">
            <a:avLst/>
          </a:prstGeom>
          <a:solidFill>
            <a:srgbClr val="FF6B1A"/>
          </a:solidFill>
          <a:ln/>
        </p:spPr>
        <p:txBody>
          <a:bodyPr/>
          <a:lstStyle/>
          <a:p>
            <a:endParaRPr lang="en-US"/>
          </a:p>
        </p:txBody>
      </p:sp>
      <p:sp>
        <p:nvSpPr>
          <p:cNvPr id="18" name="Text 16"/>
          <p:cNvSpPr txBox="1"/>
          <p:nvPr/>
        </p:nvSpPr>
        <p:spPr>
          <a:xfrm>
            <a:off x="182880" y="363302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658368" y="3605596"/>
            <a:ext cx="446227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Elige Seleccion &gt; Deseleccionar, o presiona Cmd+D</a:t>
            </a:r>
            <a:endParaRPr lang="en-US" sz="1300" dirty="0"/>
          </a:p>
        </p:txBody>
      </p:sp>
      <p:sp>
        <p:nvSpPr>
          <p:cNvPr id="20" name="Text 18"/>
          <p:cNvSpPr txBox="1"/>
          <p:nvPr/>
        </p:nvSpPr>
        <p:spPr>
          <a:xfrm>
            <a:off x="658368" y="3881058"/>
            <a:ext cx="4812707"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Esto elimina el borde de seleccion de hormigas marchantes. La barra naranja permanece. Tu lienzo ahora debe mostrar una franja naranja vertical a lo largo del borde izquierdo.</a:t>
            </a:r>
            <a:endParaRPr lang="en-US" sz="1150" dirty="0"/>
          </a:p>
        </p:txBody>
      </p:sp>
      <p:pic>
        <p:nvPicPr>
          <p:cNvPr id="21" name="Image 0" descr="preencoded.png"/>
          <p:cNvPicPr>
            <a:picLocks noChangeAspect="1"/>
          </p:cNvPicPr>
          <p:nvPr/>
        </p:nvPicPr>
        <p:blipFill>
          <a:blip r:embed="rId3"/>
          <a:stretch>
            <a:fillRect/>
          </a:stretch>
        </p:blipFill>
        <p:spPr>
          <a:xfrm>
            <a:off x="5619218" y="749808"/>
            <a:ext cx="3341902" cy="1417320"/>
          </a:xfrm>
          <a:prstGeom prst="rect">
            <a:avLst/>
          </a:prstGeom>
        </p:spPr>
      </p:pic>
      <p:sp>
        <p:nvSpPr>
          <p:cNvPr id="22" name="Text 19"/>
          <p:cNvSpPr txBox="1"/>
          <p:nvPr/>
        </p:nvSpPr>
        <p:spPr>
          <a:xfrm>
            <a:off x="5619218" y="2194560"/>
            <a:ext cx="3703320" cy="256032"/>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Barra de Tareas Contextual: Rellenar Seleccion &gt; Rellenar con Color</a:t>
            </a:r>
            <a:endParaRPr lang="en-US" sz="950" dirty="0"/>
          </a:p>
        </p:txBody>
      </p:sp>
      <p:pic>
        <p:nvPicPr>
          <p:cNvPr id="23" name="Image 1" descr="preencoded.png"/>
          <p:cNvPicPr>
            <a:picLocks noChangeAspect="1"/>
          </p:cNvPicPr>
          <p:nvPr/>
        </p:nvPicPr>
        <p:blipFill>
          <a:blip r:embed="rId4"/>
          <a:stretch>
            <a:fillRect/>
          </a:stretch>
        </p:blipFill>
        <p:spPr>
          <a:xfrm>
            <a:off x="5619218" y="2487168"/>
            <a:ext cx="3341902" cy="2331720"/>
          </a:xfrm>
          <a:prstGeom prst="rect">
            <a:avLst/>
          </a:prstGeom>
        </p:spPr>
      </p:pic>
      <p:sp>
        <p:nvSpPr>
          <p:cNvPr id="24" name="Text 20"/>
          <p:cNvSpPr txBox="1"/>
          <p:nvPr/>
        </p:nvSpPr>
        <p:spPr>
          <a:xfrm>
            <a:off x="5619218" y="4820574"/>
            <a:ext cx="3703320" cy="256032"/>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Selector de Color: escribe ff7f00 en el campo #</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PASO 06a</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Dibujar la Barra Azul: Hacer la Seleccion</a:t>
            </a:r>
            <a:endParaRPr lang="en-US" sz="2000" dirty="0"/>
          </a:p>
        </p:txBody>
      </p:sp>
      <p:sp>
        <p:nvSpPr>
          <p:cNvPr id="5" name="Shape 3"/>
          <p:cNvSpPr/>
          <p:nvPr/>
        </p:nvSpPr>
        <p:spPr>
          <a:xfrm>
            <a:off x="182880" y="777240"/>
            <a:ext cx="8778240" cy="548640"/>
          </a:xfrm>
          <a:prstGeom prst="roundRect">
            <a:avLst>
              <a:gd name="adj" fmla="val 13333"/>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868680"/>
            <a:ext cx="850392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Todavia estas trabajando en la capa Rectangulos con la herramienta Marque Rectangular. Este segundo rectangulo usa Edicion &gt; Rellenar en lugar de la Barra de Tareas Contextual. Ambos metodos rellenan con color desde menus diferentes.</a:t>
            </a:r>
            <a:endParaRPr lang="en-US" sz="1200" dirty="0"/>
          </a:p>
        </p:txBody>
      </p:sp>
      <p:sp>
        <p:nvSpPr>
          <p:cNvPr id="7" name="Shape 5"/>
          <p:cNvSpPr/>
          <p:nvPr/>
        </p:nvSpPr>
        <p:spPr>
          <a:xfrm>
            <a:off x="182880" y="1464240"/>
            <a:ext cx="365760" cy="365760"/>
          </a:xfrm>
          <a:prstGeom prst="ellipse">
            <a:avLst/>
          </a:prstGeom>
          <a:solidFill>
            <a:srgbClr val="FF6B1A"/>
          </a:solidFill>
          <a:ln/>
        </p:spPr>
        <p:txBody>
          <a:bodyPr/>
          <a:lstStyle/>
          <a:p>
            <a:endParaRPr lang="en-US"/>
          </a:p>
        </p:txBody>
      </p:sp>
      <p:sp>
        <p:nvSpPr>
          <p:cNvPr id="8" name="Text 6"/>
          <p:cNvSpPr txBox="1"/>
          <p:nvPr/>
        </p:nvSpPr>
        <p:spPr>
          <a:xfrm>
            <a:off x="182880" y="14642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8368" y="1481328"/>
            <a:ext cx="3850033"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Confirma que la capa Rectangulos todavia este seleccionada</a:t>
            </a:r>
            <a:endParaRPr lang="en-US" sz="1300" dirty="0"/>
          </a:p>
        </p:txBody>
      </p:sp>
      <p:sp>
        <p:nvSpPr>
          <p:cNvPr id="10" name="Text 8"/>
          <p:cNvSpPr txBox="1"/>
          <p:nvPr/>
        </p:nvSpPr>
        <p:spPr>
          <a:xfrm>
            <a:off x="658367" y="1825693"/>
            <a:ext cx="3850034"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Mira el panel Capas. Rectangulos debe seguir resaltada. Si no, haz clic para seleccionarla.</a:t>
            </a:r>
            <a:endParaRPr lang="en-US" sz="1150" dirty="0"/>
          </a:p>
        </p:txBody>
      </p:sp>
      <p:sp>
        <p:nvSpPr>
          <p:cNvPr id="11" name="Shape 9"/>
          <p:cNvSpPr/>
          <p:nvPr/>
        </p:nvSpPr>
        <p:spPr>
          <a:xfrm>
            <a:off x="182880" y="2240433"/>
            <a:ext cx="365760" cy="365760"/>
          </a:xfrm>
          <a:prstGeom prst="ellipse">
            <a:avLst/>
          </a:prstGeom>
          <a:solidFill>
            <a:srgbClr val="FF6B1A"/>
          </a:solidFill>
          <a:ln/>
        </p:spPr>
        <p:txBody>
          <a:bodyPr/>
          <a:lstStyle/>
          <a:p>
            <a:endParaRPr lang="en-US"/>
          </a:p>
        </p:txBody>
      </p:sp>
      <p:sp>
        <p:nvSpPr>
          <p:cNvPr id="12" name="Text 10"/>
          <p:cNvSpPr txBox="1"/>
          <p:nvPr/>
        </p:nvSpPr>
        <p:spPr>
          <a:xfrm>
            <a:off x="182880" y="2240433"/>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58367" y="2266927"/>
            <a:ext cx="3977231"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Arrastra desde la esquina superior derecha del lienzo hacia abajo y a la izquierda</a:t>
            </a:r>
            <a:endParaRPr lang="en-US" sz="1300" dirty="0"/>
          </a:p>
        </p:txBody>
      </p:sp>
      <p:sp>
        <p:nvSpPr>
          <p:cNvPr id="14" name="Text 12"/>
          <p:cNvSpPr txBox="1"/>
          <p:nvPr/>
        </p:nvSpPr>
        <p:spPr>
          <a:xfrm>
            <a:off x="667435" y="2680550"/>
            <a:ext cx="4036233"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Comienza tu arrastre ligeramente fuera del borde en la esquina superior derecha. Arrastra hacia abajo y a la izquierda hacia el centro del lienzo.</a:t>
            </a:r>
            <a:endParaRPr lang="en-US" sz="1150" dirty="0"/>
          </a:p>
        </p:txBody>
      </p:sp>
      <p:sp>
        <p:nvSpPr>
          <p:cNvPr id="15" name="Shape 13"/>
          <p:cNvSpPr/>
          <p:nvPr/>
        </p:nvSpPr>
        <p:spPr>
          <a:xfrm>
            <a:off x="182880" y="3263534"/>
            <a:ext cx="365760" cy="365760"/>
          </a:xfrm>
          <a:prstGeom prst="ellipse">
            <a:avLst/>
          </a:prstGeom>
          <a:solidFill>
            <a:srgbClr val="FF6B1A"/>
          </a:solidFill>
          <a:ln/>
        </p:spPr>
        <p:txBody>
          <a:bodyPr/>
          <a:lstStyle/>
          <a:p>
            <a:endParaRPr lang="en-US"/>
          </a:p>
        </p:txBody>
      </p:sp>
      <p:sp>
        <p:nvSpPr>
          <p:cNvPr id="16" name="Text 14"/>
          <p:cNvSpPr txBox="1"/>
          <p:nvPr/>
        </p:nvSpPr>
        <p:spPr>
          <a:xfrm>
            <a:off x="182880" y="326353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67435" y="3153806"/>
            <a:ext cx="4089580"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Suelta cuando el indicador muestre A: 660px y H: 1080px</a:t>
            </a:r>
            <a:endParaRPr lang="en-US" sz="1300" dirty="0"/>
          </a:p>
        </p:txBody>
      </p:sp>
      <p:sp>
        <p:nvSpPr>
          <p:cNvPr id="18" name="Text 16"/>
          <p:cNvSpPr txBox="1"/>
          <p:nvPr/>
        </p:nvSpPr>
        <p:spPr>
          <a:xfrm>
            <a:off x="667435" y="3505298"/>
            <a:ext cx="3977231"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La seleccion corre la altura total del lienzo en el lado derecho. Si no lograste el tamano, presiona Cmd+D para deseleccionar y volver a dibujar.</a:t>
            </a:r>
            <a:endParaRPr lang="en-US" sz="1150" dirty="0"/>
          </a:p>
        </p:txBody>
      </p:sp>
      <p:sp>
        <p:nvSpPr>
          <p:cNvPr id="19" name="Shape 17"/>
          <p:cNvSpPr/>
          <p:nvPr/>
        </p:nvSpPr>
        <p:spPr>
          <a:xfrm>
            <a:off x="182880" y="4113366"/>
            <a:ext cx="365760" cy="365760"/>
          </a:xfrm>
          <a:prstGeom prst="ellipse">
            <a:avLst/>
          </a:prstGeom>
          <a:solidFill>
            <a:srgbClr val="FF6B1A"/>
          </a:solidFill>
          <a:ln/>
        </p:spPr>
        <p:txBody>
          <a:bodyPr/>
          <a:lstStyle/>
          <a:p>
            <a:endParaRPr lang="en-US"/>
          </a:p>
        </p:txBody>
      </p:sp>
      <p:sp>
        <p:nvSpPr>
          <p:cNvPr id="20" name="Text 18"/>
          <p:cNvSpPr txBox="1"/>
          <p:nvPr/>
        </p:nvSpPr>
        <p:spPr>
          <a:xfrm>
            <a:off x="182880" y="411336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658368" y="4028544"/>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Elige Edicion &gt; Rellenar</a:t>
            </a:r>
            <a:endParaRPr lang="en-US" sz="1300" dirty="0"/>
          </a:p>
        </p:txBody>
      </p:sp>
      <p:sp>
        <p:nvSpPr>
          <p:cNvPr id="22" name="Text 20"/>
          <p:cNvSpPr txBox="1"/>
          <p:nvPr/>
        </p:nvSpPr>
        <p:spPr>
          <a:xfrm>
            <a:off x="658368" y="4256682"/>
            <a:ext cx="6866276"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Esto abre el cuadro de dialogo Rellenar. Haz clic en el menu desplegable Contenido y elige Color. Se abre el Selector de Color.</a:t>
            </a:r>
            <a:endParaRPr lang="en-US" sz="1150" dirty="0"/>
          </a:p>
        </p:txBody>
      </p:sp>
      <p:sp>
        <p:nvSpPr>
          <p:cNvPr id="23" name="Shape 21"/>
          <p:cNvSpPr/>
          <p:nvPr/>
        </p:nvSpPr>
        <p:spPr>
          <a:xfrm>
            <a:off x="182880" y="4645152"/>
            <a:ext cx="365760" cy="365760"/>
          </a:xfrm>
          <a:prstGeom prst="ellipse">
            <a:avLst/>
          </a:prstGeom>
          <a:solidFill>
            <a:srgbClr val="FF6B1A"/>
          </a:solidFill>
          <a:ln/>
        </p:spPr>
        <p:txBody>
          <a:bodyPr/>
          <a:lstStyle/>
          <a:p>
            <a:endParaRPr lang="en-US"/>
          </a:p>
        </p:txBody>
      </p:sp>
      <p:sp>
        <p:nvSpPr>
          <p:cNvPr id="24" name="Text 22"/>
          <p:cNvSpPr txBox="1"/>
          <p:nvPr/>
        </p:nvSpPr>
        <p:spPr>
          <a:xfrm>
            <a:off x="182880" y="464515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3"/>
          <p:cNvSpPr txBox="1"/>
          <p:nvPr/>
        </p:nvSpPr>
        <p:spPr>
          <a:xfrm>
            <a:off x="658368" y="4617720"/>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Escribe 0053b2 en el campo # y haz clic en OK dos veces</a:t>
            </a:r>
            <a:endParaRPr lang="en-US" sz="1300" dirty="0"/>
          </a:p>
        </p:txBody>
      </p:sp>
      <p:sp>
        <p:nvSpPr>
          <p:cNvPr id="26" name="Text 24"/>
          <p:cNvSpPr txBox="1"/>
          <p:nvPr/>
        </p:nvSpPr>
        <p:spPr>
          <a:xfrm>
            <a:off x="658368" y="4764024"/>
            <a:ext cx="72545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0053b2 es un codigo hexadecimal azul vivo. El azul rellena la seleccion rectangular en el lado derecho de tu lienzo.</a:t>
            </a:r>
            <a:endParaRPr lang="en-US" sz="1150" dirty="0"/>
          </a:p>
        </p:txBody>
      </p:sp>
      <p:pic>
        <p:nvPicPr>
          <p:cNvPr id="30" name="Picture 29">
            <a:extLst>
              <a:ext uri="{FF2B5EF4-FFF2-40B4-BE49-F238E27FC236}">
                <a16:creationId xmlns:a16="http://schemas.microsoft.com/office/drawing/2014/main" id="{FC01CF31-756F-AD7A-CD57-62CEB6FF091C}"/>
              </a:ext>
            </a:extLst>
          </p:cNvPr>
          <p:cNvPicPr>
            <a:picLocks noChangeAspect="1"/>
          </p:cNvPicPr>
          <p:nvPr/>
        </p:nvPicPr>
        <p:blipFill>
          <a:blip r:embed="rId3"/>
          <a:stretch>
            <a:fillRect/>
          </a:stretch>
        </p:blipFill>
        <p:spPr>
          <a:xfrm>
            <a:off x="4718615" y="1445303"/>
            <a:ext cx="4242505" cy="264934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PASO 06b</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Aplicar el Modo de Fusion Color a la Capa Rectangulos</a:t>
            </a:r>
            <a:endParaRPr lang="en-US" sz="2000" dirty="0"/>
          </a:p>
        </p:txBody>
      </p:sp>
      <p:sp>
        <p:nvSpPr>
          <p:cNvPr id="5" name="Shape 3"/>
          <p:cNvSpPr/>
          <p:nvPr/>
        </p:nvSpPr>
        <p:spPr>
          <a:xfrm>
            <a:off x="182880" y="843792"/>
            <a:ext cx="365760" cy="365760"/>
          </a:xfrm>
          <a:prstGeom prst="ellipse">
            <a:avLst/>
          </a:prstGeom>
          <a:solidFill>
            <a:srgbClr val="FF6B1A"/>
          </a:solidFill>
          <a:ln/>
        </p:spPr>
        <p:txBody>
          <a:bodyPr/>
          <a:lstStyle/>
          <a:p>
            <a:endParaRPr lang="en-US"/>
          </a:p>
        </p:txBody>
      </p:sp>
      <p:sp>
        <p:nvSpPr>
          <p:cNvPr id="6" name="Text 4"/>
          <p:cNvSpPr txBox="1"/>
          <p:nvPr/>
        </p:nvSpPr>
        <p:spPr>
          <a:xfrm>
            <a:off x="182880" y="84379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658368" y="747358"/>
            <a:ext cx="446227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Elige Seleccion &gt; Deseleccionar, o presiona Cmd+D</a:t>
            </a:r>
            <a:endParaRPr lang="en-US" sz="1300" dirty="0"/>
          </a:p>
        </p:txBody>
      </p:sp>
      <p:sp>
        <p:nvSpPr>
          <p:cNvPr id="8" name="Text 6"/>
          <p:cNvSpPr txBox="1"/>
          <p:nvPr/>
        </p:nvSpPr>
        <p:spPr>
          <a:xfrm>
            <a:off x="658368" y="1069848"/>
            <a:ext cx="446227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Las hormigas marchantes de seleccion desaparecen. Ahora deberias ver una barra naranja solida a la izquierda y una barra azul solida a la derecha sobre la foto.</a:t>
            </a:r>
            <a:endParaRPr lang="en-US" sz="1150" dirty="0"/>
          </a:p>
        </p:txBody>
      </p:sp>
      <p:sp>
        <p:nvSpPr>
          <p:cNvPr id="9" name="Shape 7"/>
          <p:cNvSpPr/>
          <p:nvPr/>
        </p:nvSpPr>
        <p:spPr>
          <a:xfrm>
            <a:off x="182880" y="1600200"/>
            <a:ext cx="365760" cy="365760"/>
          </a:xfrm>
          <a:prstGeom prst="ellipse">
            <a:avLst/>
          </a:prstGeom>
          <a:solidFill>
            <a:srgbClr val="FF6B1A"/>
          </a:solidFill>
          <a:ln/>
        </p:spPr>
        <p:txBody>
          <a:bodyPr/>
          <a:lstStyle/>
          <a:p>
            <a:endParaRPr lang="en-US"/>
          </a:p>
        </p:txBody>
      </p:sp>
      <p:sp>
        <p:nvSpPr>
          <p:cNvPr id="10" name="Text 8"/>
          <p:cNvSpPr txBox="1"/>
          <p:nvPr/>
        </p:nvSpPr>
        <p:spPr>
          <a:xfrm>
            <a:off x="182880" y="16002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658368" y="1639465"/>
            <a:ext cx="446227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En el panel Capas, encuentra el menu desplegable de modo de fusion (actualmente dice Normal)</a:t>
            </a:r>
            <a:endParaRPr lang="en-US" sz="1300" dirty="0"/>
          </a:p>
        </p:txBody>
      </p:sp>
      <p:sp>
        <p:nvSpPr>
          <p:cNvPr id="12" name="Text 10"/>
          <p:cNvSpPr txBox="1"/>
          <p:nvPr/>
        </p:nvSpPr>
        <p:spPr>
          <a:xfrm>
            <a:off x="658368" y="2103540"/>
            <a:ext cx="446227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Este menu desplegable esta en la parte superior izquierda del panel Capas, justo sobre tu lista de capas. Controla como los colores de esta capa interactuan con las capas de abajo.</a:t>
            </a:r>
            <a:endParaRPr lang="en-US" sz="1150" dirty="0"/>
          </a:p>
        </p:txBody>
      </p:sp>
      <p:sp>
        <p:nvSpPr>
          <p:cNvPr id="13" name="Shape 11"/>
          <p:cNvSpPr/>
          <p:nvPr/>
        </p:nvSpPr>
        <p:spPr>
          <a:xfrm>
            <a:off x="182880" y="2710272"/>
            <a:ext cx="365760" cy="365760"/>
          </a:xfrm>
          <a:prstGeom prst="ellipse">
            <a:avLst/>
          </a:prstGeom>
          <a:solidFill>
            <a:srgbClr val="FF6B1A"/>
          </a:solidFill>
          <a:ln/>
        </p:spPr>
        <p:txBody>
          <a:bodyPr/>
          <a:lstStyle/>
          <a:p>
            <a:endParaRPr lang="en-US"/>
          </a:p>
        </p:txBody>
      </p:sp>
      <p:sp>
        <p:nvSpPr>
          <p:cNvPr id="14" name="Text 12"/>
          <p:cNvSpPr txBox="1"/>
          <p:nvPr/>
        </p:nvSpPr>
        <p:spPr>
          <a:xfrm>
            <a:off x="182880" y="271027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658368" y="2630068"/>
            <a:ext cx="446227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Haz clic en el menu desplegable y elige Color</a:t>
            </a:r>
            <a:endParaRPr lang="en-US" sz="1300" dirty="0"/>
          </a:p>
        </p:txBody>
      </p:sp>
      <p:sp>
        <p:nvSpPr>
          <p:cNvPr id="16" name="Text 14"/>
          <p:cNvSpPr txBox="1"/>
          <p:nvPr/>
        </p:nvSpPr>
        <p:spPr>
          <a:xfrm>
            <a:off x="658368" y="3085887"/>
            <a:ext cx="446227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El modo de fusion cambia a Color. La foto (capa Arch) ahora se ve a traves de ambas barras. El modo Color mantiene la luminosidad de la capa inferior y aplica solo el tono y saturacion de la capa Rectangulos. Esto crea un aspecto tintado en lugar de un bloque solido de color.</a:t>
            </a:r>
            <a:endParaRPr lang="en-US" sz="1150" dirty="0"/>
          </a:p>
        </p:txBody>
      </p:sp>
      <p:sp>
        <p:nvSpPr>
          <p:cNvPr id="17" name="Shape 15"/>
          <p:cNvSpPr/>
          <p:nvPr/>
        </p:nvSpPr>
        <p:spPr>
          <a:xfrm>
            <a:off x="182880" y="3765238"/>
            <a:ext cx="365760" cy="365760"/>
          </a:xfrm>
          <a:prstGeom prst="ellipse">
            <a:avLst/>
          </a:prstGeom>
          <a:solidFill>
            <a:srgbClr val="FF6B1A"/>
          </a:solidFill>
          <a:ln/>
        </p:spPr>
        <p:txBody>
          <a:bodyPr/>
          <a:lstStyle/>
          <a:p>
            <a:endParaRPr lang="en-US"/>
          </a:p>
        </p:txBody>
      </p:sp>
      <p:sp>
        <p:nvSpPr>
          <p:cNvPr id="18" name="Text 16"/>
          <p:cNvSpPr txBox="1"/>
          <p:nvPr/>
        </p:nvSpPr>
        <p:spPr>
          <a:xfrm>
            <a:off x="182880" y="376523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658368" y="3685704"/>
            <a:ext cx="446227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Elige Archivo &gt; Guardar, o presiona Cmd+S</a:t>
            </a:r>
            <a:endParaRPr lang="en-US" sz="1300" dirty="0"/>
          </a:p>
        </p:txBody>
      </p:sp>
      <p:sp>
        <p:nvSpPr>
          <p:cNvPr id="20" name="Text 18"/>
          <p:cNvSpPr txBox="1"/>
          <p:nvPr/>
        </p:nvSpPr>
        <p:spPr>
          <a:xfrm>
            <a:off x="658368" y="3874115"/>
            <a:ext cx="446227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Guarda tu progreso. Siempre guarda despues de completar un paso importante.</a:t>
            </a:r>
            <a:endParaRPr lang="en-US" sz="1150" dirty="0"/>
          </a:p>
        </p:txBody>
      </p:sp>
      <p:sp>
        <p:nvSpPr>
          <p:cNvPr id="21" name="Shape 19"/>
          <p:cNvSpPr/>
          <p:nvPr/>
        </p:nvSpPr>
        <p:spPr>
          <a:xfrm>
            <a:off x="182880" y="4464961"/>
            <a:ext cx="8778240" cy="465572"/>
          </a:xfrm>
          <a:prstGeom prst="roundRect">
            <a:avLst>
              <a:gd name="adj" fmla="val 9756"/>
            </a:avLst>
          </a:prstGeom>
          <a:solidFill>
            <a:srgbClr val="2A2A2A"/>
          </a:solidFill>
          <a:ln w="12700">
            <a:solidFill>
              <a:srgbClr val="444444"/>
            </a:solidFill>
            <a:prstDash val="solid"/>
          </a:ln>
        </p:spPr>
        <p:txBody>
          <a:bodyPr/>
          <a:lstStyle/>
          <a:p>
            <a:endParaRPr lang="en-US"/>
          </a:p>
        </p:txBody>
      </p:sp>
      <p:sp>
        <p:nvSpPr>
          <p:cNvPr id="22" name="Text 20"/>
          <p:cNvSpPr txBox="1"/>
          <p:nvPr/>
        </p:nvSpPr>
        <p:spPr>
          <a:xfrm>
            <a:off x="320040" y="4414283"/>
            <a:ext cx="8486430" cy="566928"/>
          </a:xfrm>
          <a:prstGeom prst="rect">
            <a:avLst/>
          </a:prstGeom>
          <a:noFill/>
          <a:ln/>
        </p:spPr>
        <p:txBody>
          <a:bodyPr wrap="square" lIns="0" tIns="0" rIns="0" bIns="0" rtlCol="0" anchor="ctr"/>
          <a:lstStyle/>
          <a:p>
            <a:pPr marL="0" indent="0">
              <a:buNone/>
            </a:pPr>
            <a:r>
              <a:rPr lang="en-US" sz="1200" dirty="0">
                <a:solidFill>
                  <a:srgbClr val="A0D8D8"/>
                </a:solidFill>
                <a:latin typeface="Calibri" pitchFamily="34" charset="0"/>
                <a:ea typeface="Calibri" pitchFamily="34" charset="-122"/>
                <a:cs typeface="Calibri" pitchFamily="34" charset="-120"/>
              </a:rPr>
              <a:t>📖 Modos de Fusion: Un modo de fusion le dice a Photoshop una formula matematica sobre como los pixeles de una capa se mezclan con los de la capa inferior. El modo Color es uno de mas de 27 modos de fusion disponibles.</a:t>
            </a:r>
            <a:endParaRPr lang="en-US" sz="1200" dirty="0"/>
          </a:p>
        </p:txBody>
      </p:sp>
      <p:pic>
        <p:nvPicPr>
          <p:cNvPr id="23" name="Image 0" descr="preencoded.png"/>
          <p:cNvPicPr>
            <a:picLocks noChangeAspect="1"/>
          </p:cNvPicPr>
          <p:nvPr/>
        </p:nvPicPr>
        <p:blipFill>
          <a:blip r:embed="rId3"/>
          <a:stretch>
            <a:fillRect/>
          </a:stretch>
        </p:blipFill>
        <p:spPr>
          <a:xfrm>
            <a:off x="5257800" y="749808"/>
            <a:ext cx="3703320" cy="2743200"/>
          </a:xfrm>
          <a:prstGeom prst="rect">
            <a:avLst/>
          </a:prstGeom>
        </p:spPr>
      </p:pic>
      <p:sp>
        <p:nvSpPr>
          <p:cNvPr id="24" name="Text 21"/>
          <p:cNvSpPr txBox="1"/>
          <p:nvPr/>
        </p:nvSpPr>
        <p:spPr>
          <a:xfrm>
            <a:off x="5257800" y="3520440"/>
            <a:ext cx="3703320" cy="256032"/>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Lienzo mostrando barras naranja y azul con modo de fusion Color sobre la foto Arch</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PASO 07a</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Agregar el Texto del Titulo: Configurar la Herramienta Texto</a:t>
            </a:r>
            <a:endParaRPr lang="en-US" sz="2000" dirty="0"/>
          </a:p>
        </p:txBody>
      </p:sp>
      <p:sp>
        <p:nvSpPr>
          <p:cNvPr id="5" name="Shape 3"/>
          <p:cNvSpPr/>
          <p:nvPr/>
        </p:nvSpPr>
        <p:spPr>
          <a:xfrm>
            <a:off x="182880" y="777240"/>
            <a:ext cx="8778240" cy="566928"/>
          </a:xfrm>
          <a:prstGeom prst="roundRect">
            <a:avLst>
              <a:gd name="adj" fmla="val 12903"/>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868680"/>
            <a:ext cx="850392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El texto en Photoshop vive en su propia capa de Texto. Al hacer clic en el lienzo con la herramienta Texto, Photoshop crea automaticamente una nueva capa. Configuras tu fuente, tamano, alineacion y color en la barra de opciones antes de hacer clic y escribir.</a:t>
            </a:r>
            <a:endParaRPr lang="en-US" sz="1200" dirty="0"/>
          </a:p>
        </p:txBody>
      </p:sp>
      <p:sp>
        <p:nvSpPr>
          <p:cNvPr id="7" name="Shape 5"/>
          <p:cNvSpPr/>
          <p:nvPr/>
        </p:nvSpPr>
        <p:spPr>
          <a:xfrm>
            <a:off x="182880" y="1547914"/>
            <a:ext cx="365760" cy="365760"/>
          </a:xfrm>
          <a:prstGeom prst="ellipse">
            <a:avLst/>
          </a:prstGeom>
          <a:solidFill>
            <a:srgbClr val="FF6B1A"/>
          </a:solidFill>
          <a:ln/>
        </p:spPr>
        <p:txBody>
          <a:bodyPr/>
          <a:lstStyle/>
          <a:p>
            <a:endParaRPr lang="en-US"/>
          </a:p>
        </p:txBody>
      </p:sp>
      <p:sp>
        <p:nvSpPr>
          <p:cNvPr id="8" name="Text 6"/>
          <p:cNvSpPr txBox="1"/>
          <p:nvPr/>
        </p:nvSpPr>
        <p:spPr>
          <a:xfrm>
            <a:off x="182880" y="154791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8368" y="1561109"/>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Selecciona la herramienta Texto Horizontal, presiona T</a:t>
            </a:r>
            <a:endParaRPr lang="en-US" sz="1300" dirty="0"/>
          </a:p>
        </p:txBody>
      </p:sp>
      <p:sp>
        <p:nvSpPr>
          <p:cNvPr id="10" name="Text 8"/>
          <p:cNvSpPr txBox="1"/>
          <p:nvPr/>
        </p:nvSpPr>
        <p:spPr>
          <a:xfrm>
            <a:off x="658368" y="1872005"/>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La barra de opciones en la parte superior de Photoshop ahora muestra opciones de texto: familia de fuente, estilo, tamano, botones de alineacion y una muestra de color.</a:t>
            </a:r>
            <a:endParaRPr lang="en-US" sz="1150" dirty="0"/>
          </a:p>
        </p:txBody>
      </p:sp>
      <p:sp>
        <p:nvSpPr>
          <p:cNvPr id="11" name="Shape 9"/>
          <p:cNvSpPr/>
          <p:nvPr/>
        </p:nvSpPr>
        <p:spPr>
          <a:xfrm>
            <a:off x="182880" y="2363724"/>
            <a:ext cx="365760" cy="365760"/>
          </a:xfrm>
          <a:prstGeom prst="ellipse">
            <a:avLst/>
          </a:prstGeom>
          <a:solidFill>
            <a:srgbClr val="FF6B1A"/>
          </a:solidFill>
          <a:ln/>
        </p:spPr>
        <p:txBody>
          <a:bodyPr/>
          <a:lstStyle/>
          <a:p>
            <a:endParaRPr lang="en-US"/>
          </a:p>
        </p:txBody>
      </p:sp>
      <p:sp>
        <p:nvSpPr>
          <p:cNvPr id="12" name="Text 10"/>
          <p:cNvSpPr txBox="1"/>
          <p:nvPr/>
        </p:nvSpPr>
        <p:spPr>
          <a:xfrm>
            <a:off x="182880" y="236372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58368" y="2304241"/>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Elige una fuente: el libro usa Abril Fatface (Adobe Fonts)</a:t>
            </a:r>
            <a:endParaRPr lang="en-US" sz="1300" dirty="0"/>
          </a:p>
        </p:txBody>
      </p:sp>
      <p:sp>
        <p:nvSpPr>
          <p:cNvPr id="14" name="Text 12"/>
          <p:cNvSpPr txBox="1"/>
          <p:nvPr/>
        </p:nvSpPr>
        <p:spPr>
          <a:xfrm>
            <a:off x="658368" y="2678240"/>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Haz clic en el campo del nombre de fuente en la barra de opciones y escribe Abril Fatface, luego presiona Enter. Si no tienes esta fuente, cualquier fuente de visualizacion en negrita con serifa funciona.</a:t>
            </a:r>
            <a:endParaRPr lang="en-US" sz="1150" dirty="0"/>
          </a:p>
        </p:txBody>
      </p:sp>
      <p:sp>
        <p:nvSpPr>
          <p:cNvPr id="15" name="Shape 13"/>
          <p:cNvSpPr/>
          <p:nvPr/>
        </p:nvSpPr>
        <p:spPr>
          <a:xfrm>
            <a:off x="182880" y="3293343"/>
            <a:ext cx="365760" cy="365760"/>
          </a:xfrm>
          <a:prstGeom prst="ellipse">
            <a:avLst/>
          </a:prstGeom>
          <a:solidFill>
            <a:srgbClr val="FF6B1A"/>
          </a:solidFill>
          <a:ln/>
        </p:spPr>
        <p:txBody>
          <a:bodyPr/>
          <a:lstStyle/>
          <a:p>
            <a:endParaRPr lang="en-US"/>
          </a:p>
        </p:txBody>
      </p:sp>
      <p:sp>
        <p:nvSpPr>
          <p:cNvPr id="16" name="Text 14"/>
          <p:cNvSpPr txBox="1"/>
          <p:nvPr/>
        </p:nvSpPr>
        <p:spPr>
          <a:xfrm>
            <a:off x="182880" y="3293343"/>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58368" y="3208163"/>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Establece el tamano de fuente en 210 pt</a:t>
            </a:r>
            <a:endParaRPr lang="en-US" sz="1300" dirty="0"/>
          </a:p>
        </p:txBody>
      </p:sp>
      <p:sp>
        <p:nvSpPr>
          <p:cNvPr id="18" name="Text 16"/>
          <p:cNvSpPr txBox="1"/>
          <p:nvPr/>
        </p:nvSpPr>
        <p:spPr>
          <a:xfrm>
            <a:off x="658368" y="3409331"/>
            <a:ext cx="830275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Haz clic en el campo de tamano en la barra de opciones y escribe 210, luego presiona Enter. Los puntos (pt) son la unidad estandar para medir el tamano de tipo.</a:t>
            </a:r>
            <a:endParaRPr lang="en-US" sz="1150" dirty="0"/>
          </a:p>
        </p:txBody>
      </p:sp>
      <p:sp>
        <p:nvSpPr>
          <p:cNvPr id="19" name="Shape 17"/>
          <p:cNvSpPr/>
          <p:nvPr/>
        </p:nvSpPr>
        <p:spPr>
          <a:xfrm>
            <a:off x="182880" y="3906298"/>
            <a:ext cx="365760" cy="365760"/>
          </a:xfrm>
          <a:prstGeom prst="ellipse">
            <a:avLst/>
          </a:prstGeom>
          <a:solidFill>
            <a:srgbClr val="FF6B1A"/>
          </a:solidFill>
          <a:ln/>
        </p:spPr>
        <p:txBody>
          <a:bodyPr/>
          <a:lstStyle/>
          <a:p>
            <a:endParaRPr lang="en-US"/>
          </a:p>
        </p:txBody>
      </p:sp>
      <p:sp>
        <p:nvSpPr>
          <p:cNvPr id="20" name="Text 18"/>
          <p:cNvSpPr txBox="1"/>
          <p:nvPr/>
        </p:nvSpPr>
        <p:spPr>
          <a:xfrm>
            <a:off x="182880" y="390629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658368" y="3858062"/>
            <a:ext cx="830275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Haz clic en el boton Centrar Texto en la barra de opciones</a:t>
            </a:r>
            <a:endParaRPr lang="en-US" sz="1300" dirty="0"/>
          </a:p>
        </p:txBody>
      </p:sp>
      <p:sp>
        <p:nvSpPr>
          <p:cNvPr id="22" name="Text 20"/>
          <p:cNvSpPr txBox="1"/>
          <p:nvPr/>
        </p:nvSpPr>
        <p:spPr>
          <a:xfrm>
            <a:off x="658368" y="4051007"/>
            <a:ext cx="830275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Los tres botones de alineacion estan en la barra de opciones: alinear a la izquierda, centrar y alinear a la derecha. Elige Centrar Texto.</a:t>
            </a:r>
            <a:endParaRPr lang="en-US" sz="1150" dirty="0"/>
          </a:p>
        </p:txBody>
      </p:sp>
      <p:sp>
        <p:nvSpPr>
          <p:cNvPr id="23" name="Shape 21"/>
          <p:cNvSpPr/>
          <p:nvPr/>
        </p:nvSpPr>
        <p:spPr>
          <a:xfrm>
            <a:off x="182880" y="4434840"/>
            <a:ext cx="365760" cy="365760"/>
          </a:xfrm>
          <a:prstGeom prst="ellipse">
            <a:avLst/>
          </a:prstGeom>
          <a:solidFill>
            <a:srgbClr val="FF6B1A"/>
          </a:solidFill>
          <a:ln/>
        </p:spPr>
        <p:txBody>
          <a:bodyPr/>
          <a:lstStyle/>
          <a:p>
            <a:endParaRPr lang="en-US"/>
          </a:p>
        </p:txBody>
      </p:sp>
      <p:sp>
        <p:nvSpPr>
          <p:cNvPr id="24" name="Text 22"/>
          <p:cNvSpPr txBox="1"/>
          <p:nvPr/>
        </p:nvSpPr>
        <p:spPr>
          <a:xfrm>
            <a:off x="182880" y="443484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3"/>
          <p:cNvSpPr txBox="1"/>
          <p:nvPr/>
        </p:nvSpPr>
        <p:spPr>
          <a:xfrm>
            <a:off x="658368" y="4407408"/>
            <a:ext cx="830275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Haz clic en la muestra de color en la barra de opciones y establece el color en blanco: escribe ffffff</a:t>
            </a:r>
            <a:endParaRPr lang="en-US" sz="1300" dirty="0"/>
          </a:p>
        </p:txBody>
      </p:sp>
      <p:sp>
        <p:nvSpPr>
          <p:cNvPr id="26" name="Text 24"/>
          <p:cNvSpPr txBox="1"/>
          <p:nvPr/>
        </p:nvSpPr>
        <p:spPr>
          <a:xfrm>
            <a:off x="658368" y="4671725"/>
            <a:ext cx="830275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Escribe ffffff en el campo # del Selector de Color y haz clic en OK. El texto blanco se leera claramente sobre el fondo de foto con color y tinte.</a:t>
            </a:r>
            <a:endParaRPr lang="en-US" sz="1150" dirty="0"/>
          </a:p>
        </p:txBody>
      </p:sp>
      <p:pic>
        <p:nvPicPr>
          <p:cNvPr id="27" name="Image 0" descr="preencoded.png"/>
          <p:cNvPicPr>
            <a:picLocks noChangeAspect="1"/>
          </p:cNvPicPr>
          <p:nvPr/>
        </p:nvPicPr>
        <p:blipFill>
          <a:blip r:embed="rId3"/>
          <a:stretch>
            <a:fillRect/>
          </a:stretch>
        </p:blipFill>
        <p:spPr>
          <a:xfrm>
            <a:off x="5321808" y="1504009"/>
            <a:ext cx="3703320" cy="841248"/>
          </a:xfrm>
          <a:prstGeom prst="rect">
            <a:avLst/>
          </a:prstGeom>
        </p:spPr>
      </p:pic>
      <p:sp>
        <p:nvSpPr>
          <p:cNvPr id="28" name="Text 25"/>
          <p:cNvSpPr txBox="1"/>
          <p:nvPr/>
        </p:nvSpPr>
        <p:spPr>
          <a:xfrm>
            <a:off x="5321808" y="2345257"/>
            <a:ext cx="3703320" cy="256032"/>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Barra de opciones de la herramienta Texto: fuente, tamano, botones de alineacion, muestra de color</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PASO 07b</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Activar Mayusculas y Escribir el Texto del Titulo</a:t>
            </a:r>
            <a:endParaRPr lang="en-US" sz="2000" dirty="0"/>
          </a:p>
        </p:txBody>
      </p:sp>
      <p:sp>
        <p:nvSpPr>
          <p:cNvPr id="5" name="Shape 3"/>
          <p:cNvSpPr/>
          <p:nvPr/>
        </p:nvSpPr>
        <p:spPr>
          <a:xfrm>
            <a:off x="182880" y="832104"/>
            <a:ext cx="365760" cy="365760"/>
          </a:xfrm>
          <a:prstGeom prst="ellipse">
            <a:avLst/>
          </a:prstGeom>
          <a:solidFill>
            <a:srgbClr val="FF6B1A"/>
          </a:solidFill>
          <a:ln/>
        </p:spPr>
        <p:txBody>
          <a:bodyPr/>
          <a:lstStyle/>
          <a:p>
            <a:endParaRPr lang="en-US"/>
          </a:p>
        </p:txBody>
      </p:sp>
      <p:sp>
        <p:nvSpPr>
          <p:cNvPr id="6" name="Text 4"/>
          <p:cNvSpPr txBox="1"/>
          <p:nvPr/>
        </p:nvSpPr>
        <p:spPr>
          <a:xfrm>
            <a:off x="182880" y="83210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7" name="Text 5"/>
          <p:cNvSpPr txBox="1"/>
          <p:nvPr/>
        </p:nvSpPr>
        <p:spPr>
          <a:xfrm>
            <a:off x="658368" y="804672"/>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Activa la opcion Todas en Mayusculas en el panel Propiedades</a:t>
            </a:r>
            <a:endParaRPr lang="en-US" sz="1300" dirty="0"/>
          </a:p>
        </p:txBody>
      </p:sp>
      <p:sp>
        <p:nvSpPr>
          <p:cNvPr id="8" name="Text 6"/>
          <p:cNvSpPr txBox="1"/>
          <p:nvPr/>
        </p:nvSpPr>
        <p:spPr>
          <a:xfrm>
            <a:off x="658366" y="1147910"/>
            <a:ext cx="5211160"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Con la herramienta Texto seleccionada, desplazate hacia abajo en el panel Propiedades hasta que veas la seccion Opciones de Tipo. Haz clic en el boton TT (Todas en Mayusculas). Esto convierte automaticamente cada letra en mayuscula.</a:t>
            </a:r>
            <a:endParaRPr lang="en-US" sz="1150" dirty="0"/>
          </a:p>
        </p:txBody>
      </p:sp>
      <p:sp>
        <p:nvSpPr>
          <p:cNvPr id="9" name="Shape 7"/>
          <p:cNvSpPr/>
          <p:nvPr/>
        </p:nvSpPr>
        <p:spPr>
          <a:xfrm>
            <a:off x="182880" y="1725252"/>
            <a:ext cx="365760" cy="365760"/>
          </a:xfrm>
          <a:prstGeom prst="ellipse">
            <a:avLst/>
          </a:prstGeom>
          <a:solidFill>
            <a:srgbClr val="FF6B1A"/>
          </a:solidFill>
          <a:ln/>
        </p:spPr>
        <p:txBody>
          <a:bodyPr/>
          <a:lstStyle/>
          <a:p>
            <a:endParaRPr lang="en-US"/>
          </a:p>
        </p:txBody>
      </p:sp>
      <p:sp>
        <p:nvSpPr>
          <p:cNvPr id="10" name="Text 8"/>
          <p:cNvSpPr txBox="1"/>
          <p:nvPr/>
        </p:nvSpPr>
        <p:spPr>
          <a:xfrm>
            <a:off x="182880" y="172525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11" name="Text 9"/>
          <p:cNvSpPr txBox="1"/>
          <p:nvPr/>
        </p:nvSpPr>
        <p:spPr>
          <a:xfrm>
            <a:off x="658368" y="1664208"/>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Haz clic aproximadamente en el centro inferior del lienzo</a:t>
            </a:r>
            <a:endParaRPr lang="en-US" sz="1300" dirty="0"/>
          </a:p>
        </p:txBody>
      </p:sp>
      <p:sp>
        <p:nvSpPr>
          <p:cNvPr id="12" name="Text 10"/>
          <p:cNvSpPr txBox="1"/>
          <p:nvPr/>
        </p:nvSpPr>
        <p:spPr>
          <a:xfrm>
            <a:off x="658368" y="2004653"/>
            <a:ext cx="51014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Se crea automaticamente una nueva capa de Texto. Veras aparecer texto de marcador de posicion Lorem Ipsum seleccionado en azul. Esto es normal: muestra tu configuracion de tipo actual como vista previa.</a:t>
            </a:r>
            <a:endParaRPr lang="en-US" sz="1150" dirty="0"/>
          </a:p>
        </p:txBody>
      </p:sp>
      <p:sp>
        <p:nvSpPr>
          <p:cNvPr id="13" name="Shape 11"/>
          <p:cNvSpPr/>
          <p:nvPr/>
        </p:nvSpPr>
        <p:spPr>
          <a:xfrm>
            <a:off x="182880" y="2534215"/>
            <a:ext cx="365760" cy="365760"/>
          </a:xfrm>
          <a:prstGeom prst="ellipse">
            <a:avLst/>
          </a:prstGeom>
          <a:solidFill>
            <a:srgbClr val="FF6B1A"/>
          </a:solidFill>
          <a:ln/>
        </p:spPr>
        <p:txBody>
          <a:bodyPr/>
          <a:lstStyle/>
          <a:p>
            <a:endParaRPr lang="en-US"/>
          </a:p>
        </p:txBody>
      </p:sp>
      <p:sp>
        <p:nvSpPr>
          <p:cNvPr id="14" name="Text 12"/>
          <p:cNvSpPr txBox="1"/>
          <p:nvPr/>
        </p:nvSpPr>
        <p:spPr>
          <a:xfrm>
            <a:off x="182880" y="2534215"/>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15" name="Text 13"/>
          <p:cNvSpPr txBox="1"/>
          <p:nvPr/>
        </p:nvSpPr>
        <p:spPr>
          <a:xfrm>
            <a:off x="658368" y="2450592"/>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Escribe:  History 301</a:t>
            </a:r>
            <a:endParaRPr lang="en-US" sz="1300" dirty="0"/>
          </a:p>
        </p:txBody>
      </p:sp>
      <p:sp>
        <p:nvSpPr>
          <p:cNvPr id="16" name="Text 14"/>
          <p:cNvSpPr txBox="1"/>
          <p:nvPr/>
        </p:nvSpPr>
        <p:spPr>
          <a:xfrm>
            <a:off x="658369" y="2816663"/>
            <a:ext cx="5101431"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Debido a que Todas en Mayusculas esta activo, el texto aparece como HISTORY 301 aunque escribas en minusculas. El texto reemplaza automaticamente el marcador Lorem Ipsum a medida que comienzas a escribir.</a:t>
            </a:r>
            <a:endParaRPr lang="en-US" sz="1150" dirty="0"/>
          </a:p>
        </p:txBody>
      </p:sp>
      <p:sp>
        <p:nvSpPr>
          <p:cNvPr id="17" name="Shape 15"/>
          <p:cNvSpPr/>
          <p:nvPr/>
        </p:nvSpPr>
        <p:spPr>
          <a:xfrm>
            <a:off x="182880" y="3343178"/>
            <a:ext cx="365760" cy="365760"/>
          </a:xfrm>
          <a:prstGeom prst="ellipse">
            <a:avLst/>
          </a:prstGeom>
          <a:solidFill>
            <a:srgbClr val="FF6B1A"/>
          </a:solidFill>
          <a:ln/>
        </p:spPr>
        <p:txBody>
          <a:bodyPr/>
          <a:lstStyle/>
          <a:p>
            <a:endParaRPr lang="en-US"/>
          </a:p>
        </p:txBody>
      </p:sp>
      <p:sp>
        <p:nvSpPr>
          <p:cNvPr id="18" name="Text 16"/>
          <p:cNvSpPr txBox="1"/>
          <p:nvPr/>
        </p:nvSpPr>
        <p:spPr>
          <a:xfrm>
            <a:off x="182880" y="334317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19" name="Text 17"/>
          <p:cNvSpPr txBox="1"/>
          <p:nvPr/>
        </p:nvSpPr>
        <p:spPr>
          <a:xfrm>
            <a:off x="658368" y="3308914"/>
            <a:ext cx="7255266"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Haz clic en la marca ✓ en la barra de opciones para confirmar</a:t>
            </a:r>
            <a:endParaRPr lang="en-US" sz="1300" dirty="0"/>
          </a:p>
        </p:txBody>
      </p:sp>
      <p:sp>
        <p:nvSpPr>
          <p:cNvPr id="20" name="Text 18"/>
          <p:cNvSpPr txBox="1"/>
          <p:nvPr/>
        </p:nvSpPr>
        <p:spPr>
          <a:xfrm>
            <a:off x="658367" y="3619810"/>
            <a:ext cx="8302751"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Confirmar sale del modo de edicion de texto. Tambien puedes presionar Cmd+Retorno. No presiones solo Enter/Retorno, eso agrega un salto de linea en el texto.</a:t>
            </a:r>
            <a:endParaRPr lang="en-US" sz="1150" dirty="0"/>
          </a:p>
        </p:txBody>
      </p:sp>
      <p:sp>
        <p:nvSpPr>
          <p:cNvPr id="21" name="Shape 19"/>
          <p:cNvSpPr/>
          <p:nvPr/>
        </p:nvSpPr>
        <p:spPr>
          <a:xfrm>
            <a:off x="182880" y="4077010"/>
            <a:ext cx="365760" cy="365760"/>
          </a:xfrm>
          <a:prstGeom prst="ellipse">
            <a:avLst/>
          </a:prstGeom>
          <a:solidFill>
            <a:srgbClr val="FF6B1A"/>
          </a:solidFill>
          <a:ln/>
        </p:spPr>
        <p:txBody>
          <a:bodyPr/>
          <a:lstStyle/>
          <a:p>
            <a:endParaRPr lang="en-US"/>
          </a:p>
        </p:txBody>
      </p:sp>
      <p:sp>
        <p:nvSpPr>
          <p:cNvPr id="22" name="Text 20"/>
          <p:cNvSpPr txBox="1"/>
          <p:nvPr/>
        </p:nvSpPr>
        <p:spPr>
          <a:xfrm>
            <a:off x="182880" y="407701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23" name="Text 21"/>
          <p:cNvSpPr txBox="1"/>
          <p:nvPr/>
        </p:nvSpPr>
        <p:spPr>
          <a:xfrm>
            <a:off x="658368" y="4005072"/>
            <a:ext cx="7255266"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Si el texto no esta centrado, selecciona la herramienta Mover (V) y arrastralo</a:t>
            </a:r>
            <a:endParaRPr lang="en-US" sz="1300" dirty="0"/>
          </a:p>
        </p:txBody>
      </p:sp>
      <p:sp>
        <p:nvSpPr>
          <p:cNvPr id="24" name="Text 22"/>
          <p:cNvSpPr txBox="1"/>
          <p:nvPr/>
        </p:nvSpPr>
        <p:spPr>
          <a:xfrm>
            <a:off x="658367" y="4259890"/>
            <a:ext cx="8302751"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Presiona V para cambiar a la herramienta Mover. Haz clic y arrastra la capa de texto en el lienzo para centrarlo horizontalmente. Las Guias Inteligentes, las lineas magenta que aparecen, se ajustaran al centro del lienzo para ayudarte a alinearlo.</a:t>
            </a:r>
            <a:endParaRPr lang="en-US" sz="1150" dirty="0"/>
          </a:p>
        </p:txBody>
      </p:sp>
      <p:pic>
        <p:nvPicPr>
          <p:cNvPr id="28" name="Picture 27">
            <a:extLst>
              <a:ext uri="{FF2B5EF4-FFF2-40B4-BE49-F238E27FC236}">
                <a16:creationId xmlns:a16="http://schemas.microsoft.com/office/drawing/2014/main" id="{390B587E-F483-D81E-4311-4955D05D6F05}"/>
              </a:ext>
            </a:extLst>
          </p:cNvPr>
          <p:cNvPicPr>
            <a:picLocks noChangeAspect="1"/>
          </p:cNvPicPr>
          <p:nvPr/>
        </p:nvPicPr>
        <p:blipFill>
          <a:blip r:embed="rId3"/>
          <a:stretch>
            <a:fillRect/>
          </a:stretch>
        </p:blipFill>
        <p:spPr>
          <a:xfrm>
            <a:off x="5869528" y="907968"/>
            <a:ext cx="3091592" cy="1933103"/>
          </a:xfrm>
          <a:prstGeom prst="rect">
            <a:avLst/>
          </a:prstGeom>
        </p:spPr>
      </p:pic>
      <p:pic>
        <p:nvPicPr>
          <p:cNvPr id="29" name="Picture 28">
            <a:extLst>
              <a:ext uri="{FF2B5EF4-FFF2-40B4-BE49-F238E27FC236}">
                <a16:creationId xmlns:a16="http://schemas.microsoft.com/office/drawing/2014/main" id="{F75059E8-A8A9-998A-E6A5-D4D798664432}"/>
              </a:ext>
            </a:extLst>
          </p:cNvPr>
          <p:cNvPicPr>
            <a:picLocks noChangeAspect="1"/>
          </p:cNvPicPr>
          <p:nvPr/>
        </p:nvPicPr>
        <p:blipFill>
          <a:blip r:embed="rId4"/>
          <a:stretch>
            <a:fillRect/>
          </a:stretch>
        </p:blipFill>
        <p:spPr>
          <a:xfrm>
            <a:off x="5869526" y="2961442"/>
            <a:ext cx="3091593" cy="23743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PASO 08</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Agregar el Texto del Subtitulo: Live Stream</a:t>
            </a:r>
            <a:endParaRPr lang="en-US" sz="2000" dirty="0"/>
          </a:p>
        </p:txBody>
      </p:sp>
      <p:sp>
        <p:nvSpPr>
          <p:cNvPr id="5" name="Shape 3"/>
          <p:cNvSpPr/>
          <p:nvPr/>
        </p:nvSpPr>
        <p:spPr>
          <a:xfrm>
            <a:off x="182880" y="777240"/>
            <a:ext cx="8778240" cy="548640"/>
          </a:xfrm>
          <a:prstGeom prst="roundRect">
            <a:avLst>
              <a:gd name="adj" fmla="val 13333"/>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868680"/>
            <a:ext cx="850392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Esta segunda linea de texto obtiene su propia capa de Texto con diferentes configuraciones: una fuente diferente, tamano mas pequeno y alineado a la derecha. Primero debes deseleccionar la capa de texto existente para que Photoshop cree una nueva.</a:t>
            </a:r>
            <a:endParaRPr lang="en-US" sz="1200" dirty="0"/>
          </a:p>
        </p:txBody>
      </p:sp>
      <p:sp>
        <p:nvSpPr>
          <p:cNvPr id="7" name="Shape 5"/>
          <p:cNvSpPr/>
          <p:nvPr/>
        </p:nvSpPr>
        <p:spPr>
          <a:xfrm>
            <a:off x="182880" y="1521996"/>
            <a:ext cx="365760" cy="365760"/>
          </a:xfrm>
          <a:prstGeom prst="ellipse">
            <a:avLst/>
          </a:prstGeom>
          <a:solidFill>
            <a:srgbClr val="FF6B1A"/>
          </a:solidFill>
          <a:ln/>
        </p:spPr>
        <p:txBody>
          <a:bodyPr/>
          <a:lstStyle/>
          <a:p>
            <a:endParaRPr lang="en-US"/>
          </a:p>
        </p:txBody>
      </p:sp>
      <p:sp>
        <p:nvSpPr>
          <p:cNvPr id="8" name="Text 6"/>
          <p:cNvSpPr txBox="1"/>
          <p:nvPr/>
        </p:nvSpPr>
        <p:spPr>
          <a:xfrm>
            <a:off x="182880" y="152199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8368" y="1444752"/>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Elige Seleccion &gt; Deseleccionar Capas</a:t>
            </a:r>
            <a:endParaRPr lang="en-US" sz="1300" dirty="0"/>
          </a:p>
        </p:txBody>
      </p:sp>
      <p:sp>
        <p:nvSpPr>
          <p:cNvPr id="10" name="Text 8"/>
          <p:cNvSpPr txBox="1"/>
          <p:nvPr/>
        </p:nvSpPr>
        <p:spPr>
          <a:xfrm>
            <a:off x="658368" y="1755648"/>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Esto deselecciona la capa de texto History 301. Si omites este paso y haces clic en el lienzo, Photoshop puede agregar a la capa existente en lugar de crear una nueva.</a:t>
            </a:r>
            <a:endParaRPr lang="en-US" sz="1150" dirty="0"/>
          </a:p>
        </p:txBody>
      </p:sp>
      <p:sp>
        <p:nvSpPr>
          <p:cNvPr id="11" name="Shape 9"/>
          <p:cNvSpPr/>
          <p:nvPr/>
        </p:nvSpPr>
        <p:spPr>
          <a:xfrm>
            <a:off x="182880" y="2279317"/>
            <a:ext cx="365760" cy="365760"/>
          </a:xfrm>
          <a:prstGeom prst="ellipse">
            <a:avLst/>
          </a:prstGeom>
          <a:solidFill>
            <a:srgbClr val="FF6B1A"/>
          </a:solidFill>
          <a:ln/>
        </p:spPr>
        <p:txBody>
          <a:bodyPr/>
          <a:lstStyle/>
          <a:p>
            <a:endParaRPr lang="en-US"/>
          </a:p>
        </p:txBody>
      </p:sp>
      <p:sp>
        <p:nvSpPr>
          <p:cNvPr id="12" name="Text 10"/>
          <p:cNvSpPr txBox="1"/>
          <p:nvPr/>
        </p:nvSpPr>
        <p:spPr>
          <a:xfrm>
            <a:off x="182880" y="2279317"/>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58367" y="2301425"/>
            <a:ext cx="4674781"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Con la herramienta Texto todavia activa, cambia la fuente a un estilo condensado</a:t>
            </a:r>
            <a:endParaRPr lang="en-US" sz="1300" dirty="0"/>
          </a:p>
        </p:txBody>
      </p:sp>
      <p:sp>
        <p:nvSpPr>
          <p:cNvPr id="14" name="Text 12"/>
          <p:cNvSpPr txBox="1"/>
          <p:nvPr/>
        </p:nvSpPr>
        <p:spPr>
          <a:xfrm>
            <a:off x="658367" y="2716170"/>
            <a:ext cx="4553711"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El libro usa Acumin Pro Condensed Black Italic (Adobe Fonts). Cualquier fuente condensada en negrita cursiva funciona. Cambia la fuente en el campo de fuente de la barra de opciones.</a:t>
            </a:r>
            <a:endParaRPr lang="en-US" sz="1150" dirty="0"/>
          </a:p>
        </p:txBody>
      </p:sp>
      <p:sp>
        <p:nvSpPr>
          <p:cNvPr id="15" name="Shape 13"/>
          <p:cNvSpPr/>
          <p:nvPr/>
        </p:nvSpPr>
        <p:spPr>
          <a:xfrm>
            <a:off x="182880" y="3245665"/>
            <a:ext cx="365760" cy="365760"/>
          </a:xfrm>
          <a:prstGeom prst="ellipse">
            <a:avLst/>
          </a:prstGeom>
          <a:solidFill>
            <a:srgbClr val="FF6B1A"/>
          </a:solidFill>
          <a:ln/>
        </p:spPr>
        <p:txBody>
          <a:bodyPr/>
          <a:lstStyle/>
          <a:p>
            <a:endParaRPr lang="en-US"/>
          </a:p>
        </p:txBody>
      </p:sp>
      <p:sp>
        <p:nvSpPr>
          <p:cNvPr id="16" name="Text 14"/>
          <p:cNvSpPr txBox="1"/>
          <p:nvPr/>
        </p:nvSpPr>
        <p:spPr>
          <a:xfrm>
            <a:off x="182880" y="3245665"/>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58367" y="3159067"/>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Cambia el tamano a 165 pt y haz clic en Alinear Texto a la Derecha</a:t>
            </a:r>
            <a:endParaRPr lang="en-US" sz="1300" dirty="0"/>
          </a:p>
        </p:txBody>
      </p:sp>
      <p:sp>
        <p:nvSpPr>
          <p:cNvPr id="18" name="Text 16"/>
          <p:cNvSpPr txBox="1"/>
          <p:nvPr/>
        </p:nvSpPr>
        <p:spPr>
          <a:xfrm>
            <a:off x="658367" y="3392424"/>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Este texto se anclara al lado derecho del lienzo. La alineacion a la derecha hace que se lea naturalmente junto a la guia del borde derecho.</a:t>
            </a:r>
            <a:endParaRPr lang="en-US" sz="1150" dirty="0"/>
          </a:p>
        </p:txBody>
      </p:sp>
      <p:sp>
        <p:nvSpPr>
          <p:cNvPr id="19" name="Shape 17"/>
          <p:cNvSpPr/>
          <p:nvPr/>
        </p:nvSpPr>
        <p:spPr>
          <a:xfrm>
            <a:off x="182880" y="3882136"/>
            <a:ext cx="365760" cy="365760"/>
          </a:xfrm>
          <a:prstGeom prst="ellipse">
            <a:avLst/>
          </a:prstGeom>
          <a:solidFill>
            <a:srgbClr val="FF6B1A"/>
          </a:solidFill>
          <a:ln/>
        </p:spPr>
        <p:txBody>
          <a:bodyPr/>
          <a:lstStyle/>
          <a:p>
            <a:endParaRPr lang="en-US"/>
          </a:p>
        </p:txBody>
      </p:sp>
      <p:sp>
        <p:nvSpPr>
          <p:cNvPr id="20" name="Text 18"/>
          <p:cNvSpPr txBox="1"/>
          <p:nvPr/>
        </p:nvSpPr>
        <p:spPr>
          <a:xfrm>
            <a:off x="182880" y="388213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658367" y="3880935"/>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Haz clic cerca de la guia derecha, dos tercios hacia abajo, y escribe:  Live Stream</a:t>
            </a:r>
            <a:endParaRPr lang="en-US" sz="1300" dirty="0"/>
          </a:p>
        </p:txBody>
      </p:sp>
      <p:sp>
        <p:nvSpPr>
          <p:cNvPr id="22" name="Text 20"/>
          <p:cNvSpPr txBox="1"/>
          <p:nvPr/>
        </p:nvSpPr>
        <p:spPr>
          <a:xfrm>
            <a:off x="658368" y="4219771"/>
            <a:ext cx="830275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Debido a que Todas en Mayusculas sigue activo del paso anterior, aparecera LIVE STREAM.</a:t>
            </a:r>
          </a:p>
          <a:p>
            <a:pPr marL="0" indent="0">
              <a:buNone/>
            </a:pPr>
            <a:r>
              <a:rPr lang="en-US" sz="1150" dirty="0">
                <a:solidFill>
                  <a:srgbClr val="FFFFFF"/>
                </a:solidFill>
                <a:latin typeface="Calibri" pitchFamily="34" charset="0"/>
                <a:ea typeface="Calibri" pitchFamily="34" charset="-122"/>
                <a:cs typeface="Calibri" pitchFamily="34" charset="-120"/>
              </a:rPr>
              <a:t> Posiciona el punto de clic aproximadamente entre el texto History 301 y la parte inferior del lienzo, cerca de la linea guia interior derecha.</a:t>
            </a:r>
            <a:endParaRPr lang="en-US" sz="1150" dirty="0"/>
          </a:p>
        </p:txBody>
      </p:sp>
      <p:sp>
        <p:nvSpPr>
          <p:cNvPr id="23" name="Shape 21"/>
          <p:cNvSpPr/>
          <p:nvPr/>
        </p:nvSpPr>
        <p:spPr>
          <a:xfrm>
            <a:off x="182880" y="4534493"/>
            <a:ext cx="365760" cy="365760"/>
          </a:xfrm>
          <a:prstGeom prst="ellipse">
            <a:avLst/>
          </a:prstGeom>
          <a:solidFill>
            <a:srgbClr val="FF6B1A"/>
          </a:solidFill>
          <a:ln/>
        </p:spPr>
        <p:txBody>
          <a:bodyPr/>
          <a:lstStyle/>
          <a:p>
            <a:endParaRPr lang="en-US"/>
          </a:p>
        </p:txBody>
      </p:sp>
      <p:sp>
        <p:nvSpPr>
          <p:cNvPr id="24" name="Text 22"/>
          <p:cNvSpPr txBox="1"/>
          <p:nvPr/>
        </p:nvSpPr>
        <p:spPr>
          <a:xfrm>
            <a:off x="182880" y="4534493"/>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3"/>
          <p:cNvSpPr txBox="1"/>
          <p:nvPr/>
        </p:nvSpPr>
        <p:spPr>
          <a:xfrm>
            <a:off x="658367" y="4615180"/>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Haz clic en la marca ✓ para confirmar</a:t>
            </a:r>
            <a:endParaRPr lang="en-US" sz="1300" dirty="0"/>
          </a:p>
        </p:txBody>
      </p:sp>
      <p:sp>
        <p:nvSpPr>
          <p:cNvPr id="26" name="Text 24"/>
          <p:cNvSpPr txBox="1"/>
          <p:nvPr/>
        </p:nvSpPr>
        <p:spPr>
          <a:xfrm>
            <a:off x="658368" y="4777957"/>
            <a:ext cx="830275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Ahora aparece una segunda capa de Texto llamada Live Stream (o LIVE STREAM) en el panel Capas encima de la capa History 301.</a:t>
            </a:r>
            <a:endParaRPr lang="en-US" sz="1150" dirty="0"/>
          </a:p>
        </p:txBody>
      </p:sp>
      <p:pic>
        <p:nvPicPr>
          <p:cNvPr id="27" name="Image 0" descr="preencoded.png"/>
          <p:cNvPicPr>
            <a:picLocks noChangeAspect="1"/>
          </p:cNvPicPr>
          <p:nvPr/>
        </p:nvPicPr>
        <p:blipFill>
          <a:blip r:embed="rId3"/>
          <a:stretch>
            <a:fillRect/>
          </a:stretch>
        </p:blipFill>
        <p:spPr>
          <a:xfrm>
            <a:off x="5407115" y="1468046"/>
            <a:ext cx="3518245" cy="2214842"/>
          </a:xfrm>
          <a:prstGeom prst="rect">
            <a:avLst/>
          </a:prstGeom>
        </p:spPr>
      </p:pic>
      <p:sp>
        <p:nvSpPr>
          <p:cNvPr id="28" name="Text 25"/>
          <p:cNvSpPr txBox="1"/>
          <p:nvPr/>
        </p:nvSpPr>
        <p:spPr>
          <a:xfrm>
            <a:off x="5407115" y="3729763"/>
            <a:ext cx="3518246" cy="256032"/>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Lienzo con ambas capas de texto: HISTORY 301 centrado, LIVE STREAM alineado a la derecha</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PASO 09a</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Agregar una Capa de Color Solido: Verde Oscuro</a:t>
            </a:r>
            <a:endParaRPr lang="en-US" sz="2000" dirty="0"/>
          </a:p>
        </p:txBody>
      </p:sp>
      <p:sp>
        <p:nvSpPr>
          <p:cNvPr id="5" name="Shape 3"/>
          <p:cNvSpPr/>
          <p:nvPr/>
        </p:nvSpPr>
        <p:spPr>
          <a:xfrm>
            <a:off x="182880" y="777240"/>
            <a:ext cx="8778240" cy="749808"/>
          </a:xfrm>
          <a:prstGeom prst="roundRect">
            <a:avLst>
              <a:gd name="adj" fmla="val 9756"/>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868680"/>
            <a:ext cx="8503920" cy="56692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El texto blanco actualmente es dificil de leer contra las partes mas claras de la foto Arch. Necesitas agregar una capa oscura y semitransparente de verde sobre la foto para mejorar el contraste. Una Capa de Relleno de Color Solido es mas inteligente: su color se puede editar en cualquier momento haciendo doble clic en su miniatura en el panel Capas.</a:t>
            </a:r>
            <a:endParaRPr lang="en-US" sz="1200" dirty="0"/>
          </a:p>
        </p:txBody>
      </p:sp>
      <p:sp>
        <p:nvSpPr>
          <p:cNvPr id="7" name="Shape 5"/>
          <p:cNvSpPr/>
          <p:nvPr/>
        </p:nvSpPr>
        <p:spPr>
          <a:xfrm>
            <a:off x="182880" y="1744218"/>
            <a:ext cx="365760" cy="365760"/>
          </a:xfrm>
          <a:prstGeom prst="ellipse">
            <a:avLst/>
          </a:prstGeom>
          <a:solidFill>
            <a:srgbClr val="FF6B1A"/>
          </a:solidFill>
          <a:ln/>
        </p:spPr>
        <p:txBody>
          <a:bodyPr/>
          <a:lstStyle/>
          <a:p>
            <a:endParaRPr lang="en-US"/>
          </a:p>
        </p:txBody>
      </p:sp>
      <p:sp>
        <p:nvSpPr>
          <p:cNvPr id="8" name="Text 6"/>
          <p:cNvSpPr txBox="1"/>
          <p:nvPr/>
        </p:nvSpPr>
        <p:spPr>
          <a:xfrm>
            <a:off x="182880" y="174421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8368" y="1664208"/>
            <a:ext cx="5083450"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En el panel Capas, haz clic en la capa Arch para seleccionarla</a:t>
            </a:r>
            <a:endParaRPr lang="en-US" sz="1300" dirty="0"/>
          </a:p>
        </p:txBody>
      </p:sp>
      <p:sp>
        <p:nvSpPr>
          <p:cNvPr id="10" name="Text 8"/>
          <p:cNvSpPr txBox="1"/>
          <p:nvPr/>
        </p:nvSpPr>
        <p:spPr>
          <a:xfrm>
            <a:off x="658367" y="1975104"/>
            <a:ext cx="5083451"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La capa de Color Solido debe crearse sobre Arch pero debajo de las capas de Rectangulos y texto. Seleccionar Arch primero pone la nueva capa exactamente en la posicion correcta.</a:t>
            </a:r>
            <a:endParaRPr lang="en-US" sz="1150" dirty="0"/>
          </a:p>
        </p:txBody>
      </p:sp>
      <p:sp>
        <p:nvSpPr>
          <p:cNvPr id="11" name="Shape 9"/>
          <p:cNvSpPr/>
          <p:nvPr/>
        </p:nvSpPr>
        <p:spPr>
          <a:xfrm>
            <a:off x="182880" y="2512006"/>
            <a:ext cx="365760" cy="365760"/>
          </a:xfrm>
          <a:prstGeom prst="ellipse">
            <a:avLst/>
          </a:prstGeom>
          <a:solidFill>
            <a:srgbClr val="FF6B1A"/>
          </a:solidFill>
          <a:ln/>
        </p:spPr>
        <p:txBody>
          <a:bodyPr/>
          <a:lstStyle/>
          <a:p>
            <a:endParaRPr lang="en-US"/>
          </a:p>
        </p:txBody>
      </p:sp>
      <p:sp>
        <p:nvSpPr>
          <p:cNvPr id="12" name="Text 10"/>
          <p:cNvSpPr txBox="1"/>
          <p:nvPr/>
        </p:nvSpPr>
        <p:spPr>
          <a:xfrm>
            <a:off x="182880" y="251200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58362" y="2520720"/>
            <a:ext cx="5083450"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Haz clic en el boton Crear Nueva Capa de Relleno o Ajuste en la parte inferior del panel Capas</a:t>
            </a:r>
            <a:endParaRPr lang="en-US" sz="1300" dirty="0"/>
          </a:p>
        </p:txBody>
      </p:sp>
      <p:sp>
        <p:nvSpPr>
          <p:cNvPr id="14" name="Text 12"/>
          <p:cNvSpPr txBox="1"/>
          <p:nvPr/>
        </p:nvSpPr>
        <p:spPr>
          <a:xfrm>
            <a:off x="658356" y="2881939"/>
            <a:ext cx="5083451"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Este es el icono de circulo mitad relleno en la parte inferior del panel Capas. Aparece un menu con multiples opciones. Elige Color Solido de la parte superior de la lista.</a:t>
            </a:r>
            <a:endParaRPr lang="en-US" sz="1150" dirty="0"/>
          </a:p>
        </p:txBody>
      </p:sp>
      <p:sp>
        <p:nvSpPr>
          <p:cNvPr id="15" name="Shape 13"/>
          <p:cNvSpPr/>
          <p:nvPr/>
        </p:nvSpPr>
        <p:spPr>
          <a:xfrm>
            <a:off x="182880" y="3315886"/>
            <a:ext cx="365760" cy="365760"/>
          </a:xfrm>
          <a:prstGeom prst="ellipse">
            <a:avLst/>
          </a:prstGeom>
          <a:solidFill>
            <a:srgbClr val="FF6B1A"/>
          </a:solidFill>
          <a:ln/>
        </p:spPr>
        <p:txBody>
          <a:bodyPr/>
          <a:lstStyle/>
          <a:p>
            <a:endParaRPr lang="en-US"/>
          </a:p>
        </p:txBody>
      </p:sp>
      <p:sp>
        <p:nvSpPr>
          <p:cNvPr id="16" name="Text 14"/>
          <p:cNvSpPr txBox="1"/>
          <p:nvPr/>
        </p:nvSpPr>
        <p:spPr>
          <a:xfrm>
            <a:off x="182880" y="331588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58356" y="3345404"/>
            <a:ext cx="5083450"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En el Selector de Color que se abre, escribe 0c3303 en el campo # y haz clic en OK</a:t>
            </a:r>
            <a:endParaRPr lang="en-US" sz="1300" dirty="0"/>
          </a:p>
        </p:txBody>
      </p:sp>
      <p:sp>
        <p:nvSpPr>
          <p:cNvPr id="18" name="Text 16"/>
          <p:cNvSpPr txBox="1"/>
          <p:nvPr/>
        </p:nvSpPr>
        <p:spPr>
          <a:xfrm>
            <a:off x="658362" y="3761487"/>
            <a:ext cx="5083451"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0c3303 es un verde bosque muy oscuro. Aparece una nueva capa llamada Color Fill 1 en el panel Capas sobre Arch. El lienzo se vuelve verde solido. No te preocupes, el siguiente paso corrige esto.</a:t>
            </a:r>
            <a:endParaRPr lang="en-US" sz="1150" dirty="0"/>
          </a:p>
        </p:txBody>
      </p:sp>
      <p:sp>
        <p:nvSpPr>
          <p:cNvPr id="19" name="Shape 17"/>
          <p:cNvSpPr/>
          <p:nvPr/>
        </p:nvSpPr>
        <p:spPr>
          <a:xfrm>
            <a:off x="182880" y="4324165"/>
            <a:ext cx="365760" cy="365760"/>
          </a:xfrm>
          <a:prstGeom prst="ellipse">
            <a:avLst/>
          </a:prstGeom>
          <a:solidFill>
            <a:srgbClr val="FF6B1A"/>
          </a:solidFill>
          <a:ln/>
        </p:spPr>
        <p:txBody>
          <a:bodyPr/>
          <a:lstStyle/>
          <a:p>
            <a:endParaRPr lang="en-US"/>
          </a:p>
        </p:txBody>
      </p:sp>
      <p:sp>
        <p:nvSpPr>
          <p:cNvPr id="20" name="Text 18"/>
          <p:cNvSpPr txBox="1"/>
          <p:nvPr/>
        </p:nvSpPr>
        <p:spPr>
          <a:xfrm>
            <a:off x="182880" y="4324165"/>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658367" y="4328706"/>
            <a:ext cx="5083450"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Mira tu panel Capas: deberias ver la capa Color Fill 1 con una miniatura de cuadrado de color y una miniatura de mascara blanca</a:t>
            </a:r>
            <a:endParaRPr lang="en-US" sz="1300" dirty="0"/>
          </a:p>
        </p:txBody>
      </p:sp>
      <p:sp>
        <p:nvSpPr>
          <p:cNvPr id="22" name="Text 20"/>
          <p:cNvSpPr txBox="1"/>
          <p:nvPr/>
        </p:nvSpPr>
        <p:spPr>
          <a:xfrm>
            <a:off x="658365" y="4689925"/>
            <a:ext cx="5083451"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El cuadrado blanco es una mascara de capa que controla donde el color es visible. No editaras la mascara en esta leccion, pero esta ahi de forma predeterminada.</a:t>
            </a:r>
            <a:endParaRPr lang="en-US" sz="1150" dirty="0"/>
          </a:p>
        </p:txBody>
      </p:sp>
      <p:pic>
        <p:nvPicPr>
          <p:cNvPr id="23" name="Image 0" descr="preencoded.png"/>
          <p:cNvPicPr>
            <a:picLocks noChangeAspect="1"/>
          </p:cNvPicPr>
          <p:nvPr/>
        </p:nvPicPr>
        <p:blipFill>
          <a:blip r:embed="rId3"/>
          <a:stretch>
            <a:fillRect/>
          </a:stretch>
        </p:blipFill>
        <p:spPr>
          <a:xfrm>
            <a:off x="5864420" y="1556767"/>
            <a:ext cx="3050979" cy="3143250"/>
          </a:xfrm>
          <a:prstGeom prst="rect">
            <a:avLst/>
          </a:prstGeom>
        </p:spPr>
      </p:pic>
      <p:sp>
        <p:nvSpPr>
          <p:cNvPr id="24" name="Text 21"/>
          <p:cNvSpPr txBox="1"/>
          <p:nvPr/>
        </p:nvSpPr>
        <p:spPr>
          <a:xfrm>
            <a:off x="5864420" y="4796028"/>
            <a:ext cx="3091847" cy="256032"/>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Panel Capas: clic en el boton Crear Nueva Capa de Relleno, eligiendo Color Solido</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PASO 09b</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Modo Luz Dura, 90% de Opacidad: Ocultar Guias</a:t>
            </a:r>
            <a:endParaRPr lang="en-US" sz="2000" dirty="0"/>
          </a:p>
        </p:txBody>
      </p:sp>
      <p:sp>
        <p:nvSpPr>
          <p:cNvPr id="5" name="Shape 3"/>
          <p:cNvSpPr/>
          <p:nvPr/>
        </p:nvSpPr>
        <p:spPr>
          <a:xfrm>
            <a:off x="182880" y="884445"/>
            <a:ext cx="365760" cy="365760"/>
          </a:xfrm>
          <a:prstGeom prst="ellipse">
            <a:avLst/>
          </a:prstGeom>
          <a:solidFill>
            <a:srgbClr val="FF6B1A"/>
          </a:solidFill>
          <a:ln/>
        </p:spPr>
        <p:txBody>
          <a:bodyPr/>
          <a:lstStyle/>
          <a:p>
            <a:endParaRPr lang="en-US"/>
          </a:p>
        </p:txBody>
      </p:sp>
      <p:sp>
        <p:nvSpPr>
          <p:cNvPr id="6" name="Text 4"/>
          <p:cNvSpPr txBox="1"/>
          <p:nvPr/>
        </p:nvSpPr>
        <p:spPr>
          <a:xfrm>
            <a:off x="182880" y="884445"/>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7" name="Text 5"/>
          <p:cNvSpPr txBox="1"/>
          <p:nvPr/>
        </p:nvSpPr>
        <p:spPr>
          <a:xfrm>
            <a:off x="658368" y="804672"/>
            <a:ext cx="4552086"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Con Color Fill 1 todavia seleccionada, cambia el modo de fusion a Luz Dura</a:t>
            </a:r>
            <a:endParaRPr lang="en-US" sz="1300" dirty="0"/>
          </a:p>
        </p:txBody>
      </p:sp>
      <p:sp>
        <p:nvSpPr>
          <p:cNvPr id="8" name="Text 6"/>
          <p:cNvSpPr txBox="1"/>
          <p:nvPr/>
        </p:nvSpPr>
        <p:spPr>
          <a:xfrm>
            <a:off x="658368" y="1477649"/>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Haz clic en el menu desplegable de modo de fusion en la parte superior izquierda del panel Capas (actualmente dice Normal). Elige Luz Dura. El verde ya no cubre todo. La foto se ve a traves con un tinte verde y mayor contraste. El modo Luz Dura multiplica los tonos oscuros y aclara los tonos claros, aumentando el contraste general mientras deja que la imagen se vea a traves.</a:t>
            </a:r>
            <a:endParaRPr lang="en-US" sz="1150" dirty="0"/>
          </a:p>
        </p:txBody>
      </p:sp>
      <p:sp>
        <p:nvSpPr>
          <p:cNvPr id="9" name="Shape 7"/>
          <p:cNvSpPr/>
          <p:nvPr/>
        </p:nvSpPr>
        <p:spPr>
          <a:xfrm>
            <a:off x="182880" y="2254886"/>
            <a:ext cx="365760" cy="365760"/>
          </a:xfrm>
          <a:prstGeom prst="ellipse">
            <a:avLst/>
          </a:prstGeom>
          <a:solidFill>
            <a:srgbClr val="FF6B1A"/>
          </a:solidFill>
          <a:ln/>
        </p:spPr>
        <p:txBody>
          <a:bodyPr/>
          <a:lstStyle/>
          <a:p>
            <a:endParaRPr lang="en-US"/>
          </a:p>
        </p:txBody>
      </p:sp>
      <p:sp>
        <p:nvSpPr>
          <p:cNvPr id="10" name="Text 8"/>
          <p:cNvSpPr txBox="1"/>
          <p:nvPr/>
        </p:nvSpPr>
        <p:spPr>
          <a:xfrm>
            <a:off x="182880" y="225488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11" name="Text 9"/>
          <p:cNvSpPr txBox="1"/>
          <p:nvPr/>
        </p:nvSpPr>
        <p:spPr>
          <a:xfrm>
            <a:off x="656742" y="2170936"/>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Cambia el valor de Opacidad a 90%</a:t>
            </a:r>
            <a:endParaRPr lang="en-US" sz="1300" dirty="0"/>
          </a:p>
        </p:txBody>
      </p:sp>
      <p:sp>
        <p:nvSpPr>
          <p:cNvPr id="12" name="Text 10"/>
          <p:cNvSpPr txBox="1"/>
          <p:nvPr/>
        </p:nvSpPr>
        <p:spPr>
          <a:xfrm>
            <a:off x="656742" y="2615184"/>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El campo de Opacidad esta en la parte superior derecha del panel Capas, justo junto al modo de fusion. Haz clic en el y escribe 90, luego presiona Enter. Bajar al 90% deja que un ligero toque del tono de la foto original se vea a traves del verde, haciendo que el resultado se sienta mas natural.</a:t>
            </a:r>
            <a:endParaRPr lang="en-US" sz="1150" dirty="0"/>
          </a:p>
        </p:txBody>
      </p:sp>
      <p:sp>
        <p:nvSpPr>
          <p:cNvPr id="13" name="Shape 11"/>
          <p:cNvSpPr/>
          <p:nvPr/>
        </p:nvSpPr>
        <p:spPr>
          <a:xfrm>
            <a:off x="182880" y="3202180"/>
            <a:ext cx="365760" cy="365760"/>
          </a:xfrm>
          <a:prstGeom prst="ellipse">
            <a:avLst/>
          </a:prstGeom>
          <a:solidFill>
            <a:srgbClr val="FF6B1A"/>
          </a:solidFill>
          <a:ln/>
        </p:spPr>
        <p:txBody>
          <a:bodyPr/>
          <a:lstStyle/>
          <a:p>
            <a:endParaRPr lang="en-US"/>
          </a:p>
        </p:txBody>
      </p:sp>
      <p:sp>
        <p:nvSpPr>
          <p:cNvPr id="14" name="Text 12"/>
          <p:cNvSpPr txBox="1"/>
          <p:nvPr/>
        </p:nvSpPr>
        <p:spPr>
          <a:xfrm>
            <a:off x="182880" y="320218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15" name="Text 13"/>
          <p:cNvSpPr txBox="1"/>
          <p:nvPr/>
        </p:nvSpPr>
        <p:spPr>
          <a:xfrm>
            <a:off x="656742" y="3144926"/>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Elige Ver &gt; Mostrar &gt; Guias para ocultar las lineas guia de cian</a:t>
            </a:r>
            <a:endParaRPr lang="en-US" sz="1300" dirty="0"/>
          </a:p>
        </p:txBody>
      </p:sp>
      <p:sp>
        <p:nvSpPr>
          <p:cNvPr id="16" name="Text 14"/>
          <p:cNvSpPr txBox="1"/>
          <p:nvPr/>
        </p:nvSpPr>
        <p:spPr>
          <a:xfrm>
            <a:off x="658368" y="3576846"/>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Las lineas guia de cian estaban ahi para ayudarte a colocar elementos dentro de la zona segura. Ahora que tu diseno esta tomando forma, ocultarlas te permite ver la composicion con mayor claridad. Las guias son no destructivas y no se imprimen ni exportan.</a:t>
            </a:r>
            <a:endParaRPr lang="en-US" sz="1150" dirty="0"/>
          </a:p>
        </p:txBody>
      </p:sp>
      <p:sp>
        <p:nvSpPr>
          <p:cNvPr id="17" name="Shape 15"/>
          <p:cNvSpPr/>
          <p:nvPr/>
        </p:nvSpPr>
        <p:spPr>
          <a:xfrm>
            <a:off x="182880" y="4217164"/>
            <a:ext cx="5029200" cy="804672"/>
          </a:xfrm>
          <a:prstGeom prst="roundRect">
            <a:avLst>
              <a:gd name="adj" fmla="val 9091"/>
            </a:avLst>
          </a:prstGeom>
          <a:solidFill>
            <a:srgbClr val="2A2A2A"/>
          </a:solidFill>
          <a:ln w="12700">
            <a:solidFill>
              <a:srgbClr val="444444"/>
            </a:solidFill>
            <a:prstDash val="solid"/>
          </a:ln>
        </p:spPr>
        <p:txBody>
          <a:bodyPr/>
          <a:lstStyle/>
          <a:p>
            <a:endParaRPr lang="en-US"/>
          </a:p>
        </p:txBody>
      </p:sp>
      <p:sp>
        <p:nvSpPr>
          <p:cNvPr id="18" name="Text 16"/>
          <p:cNvSpPr txBox="1"/>
          <p:nvPr/>
        </p:nvSpPr>
        <p:spPr>
          <a:xfrm>
            <a:off x="320040" y="4308604"/>
            <a:ext cx="4754880" cy="621792"/>
          </a:xfrm>
          <a:prstGeom prst="rect">
            <a:avLst/>
          </a:prstGeom>
          <a:noFill/>
          <a:ln/>
        </p:spPr>
        <p:txBody>
          <a:bodyPr wrap="square" lIns="0" tIns="0" rIns="0" bIns="0" rtlCol="0" anchor="ctr"/>
          <a:lstStyle/>
          <a:p>
            <a:pPr marL="0" indent="0">
              <a:buNone/>
            </a:pPr>
            <a:r>
              <a:rPr lang="en-US" sz="1200" dirty="0">
                <a:solidFill>
                  <a:srgbClr val="A0D8D8"/>
                </a:solidFill>
                <a:latin typeface="Calibri" pitchFamily="34" charset="0"/>
                <a:ea typeface="Calibri" pitchFamily="34" charset="-122"/>
                <a:cs typeface="Calibri" pitchFamily="34" charset="-120"/>
              </a:rPr>
              <a:t>📌 En este punto tu panel Capas (de arriba a abajo) debe decir:</a:t>
            </a:r>
            <a:endParaRPr lang="en-US" sz="1200" dirty="0"/>
          </a:p>
          <a:p>
            <a:pPr marL="0" indent="0">
              <a:buNone/>
            </a:pPr>
            <a:r>
              <a:rPr lang="en-US" sz="1200" dirty="0">
                <a:solidFill>
                  <a:srgbClr val="A0D8D8"/>
                </a:solidFill>
                <a:latin typeface="Calibri" pitchFamily="34" charset="0"/>
                <a:ea typeface="Calibri" pitchFamily="34" charset="-122"/>
                <a:cs typeface="Calibri" pitchFamily="34" charset="-120"/>
              </a:rPr>
              <a:t>Live Stream  |  History 301  |  Rectangulos  |  Color Fill 1  |  Arch  |  Fondo</a:t>
            </a:r>
            <a:endParaRPr lang="en-US" sz="1200" dirty="0"/>
          </a:p>
        </p:txBody>
      </p:sp>
      <p:pic>
        <p:nvPicPr>
          <p:cNvPr id="19" name="Image 0" descr="preencoded.png"/>
          <p:cNvPicPr>
            <a:picLocks noChangeAspect="1"/>
          </p:cNvPicPr>
          <p:nvPr/>
        </p:nvPicPr>
        <p:blipFill>
          <a:blip r:embed="rId3"/>
          <a:stretch>
            <a:fillRect/>
          </a:stretch>
        </p:blipFill>
        <p:spPr>
          <a:xfrm>
            <a:off x="5318556" y="749808"/>
            <a:ext cx="3642564" cy="3977640"/>
          </a:xfrm>
          <a:prstGeom prst="rect">
            <a:avLst/>
          </a:prstGeom>
        </p:spPr>
      </p:pic>
      <p:sp>
        <p:nvSpPr>
          <p:cNvPr id="20" name="Text 17"/>
          <p:cNvSpPr txBox="1"/>
          <p:nvPr/>
        </p:nvSpPr>
        <p:spPr>
          <a:xfrm>
            <a:off x="5606990" y="4755555"/>
            <a:ext cx="3216970" cy="256032"/>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Lienzo y panel Capas: fusion Luz Dura, 90% de opacidad, pila completa de capas visible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PASO 10a</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Muestrear un Color para Pintar: Herramienta Cuentagotas</a:t>
            </a:r>
            <a:endParaRPr lang="en-US" sz="2000" dirty="0"/>
          </a:p>
        </p:txBody>
      </p:sp>
      <p:sp>
        <p:nvSpPr>
          <p:cNvPr id="5" name="Shape 3"/>
          <p:cNvSpPr/>
          <p:nvPr/>
        </p:nvSpPr>
        <p:spPr>
          <a:xfrm>
            <a:off x="182880" y="777240"/>
            <a:ext cx="8778240" cy="658368"/>
          </a:xfrm>
          <a:prstGeom prst="roundRect">
            <a:avLst>
              <a:gd name="adj" fmla="val 11111"/>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868680"/>
            <a:ext cx="8503920" cy="47548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Antes de pintar el efecto de salpicadura de pincel, necesitas establecer el color de primer plano al azul que coincide con el lado derecho de tu lienzo. Puedes escribir un codigo hexadecimal, pero un metodo mas rapido y preciso es muestrear un color directamente del lienzo usando la herramienta Cuentagotas. Muestrear lee el color exacto del pixel en el punto donde haces clic.</a:t>
            </a:r>
            <a:endParaRPr lang="en-US" sz="1200" dirty="0"/>
          </a:p>
        </p:txBody>
      </p:sp>
      <p:sp>
        <p:nvSpPr>
          <p:cNvPr id="7" name="Shape 5"/>
          <p:cNvSpPr/>
          <p:nvPr/>
        </p:nvSpPr>
        <p:spPr>
          <a:xfrm>
            <a:off x="182880" y="1679981"/>
            <a:ext cx="365760" cy="365760"/>
          </a:xfrm>
          <a:prstGeom prst="ellipse">
            <a:avLst/>
          </a:prstGeom>
          <a:solidFill>
            <a:srgbClr val="FF6B1A"/>
          </a:solidFill>
          <a:ln/>
        </p:spPr>
        <p:txBody>
          <a:bodyPr/>
          <a:lstStyle/>
          <a:p>
            <a:endParaRPr lang="en-US"/>
          </a:p>
        </p:txBody>
      </p:sp>
      <p:sp>
        <p:nvSpPr>
          <p:cNvPr id="8" name="Text 6"/>
          <p:cNvSpPr txBox="1"/>
          <p:nvPr/>
        </p:nvSpPr>
        <p:spPr>
          <a:xfrm>
            <a:off x="182880" y="1679981"/>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8368" y="1572768"/>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Selecciona la herramienta Cuentagotas, presiona I</a:t>
            </a:r>
            <a:endParaRPr lang="en-US" sz="1300" dirty="0"/>
          </a:p>
        </p:txBody>
      </p:sp>
      <p:sp>
        <p:nvSpPr>
          <p:cNvPr id="10" name="Text 8"/>
          <p:cNvSpPr txBox="1"/>
          <p:nvPr/>
        </p:nvSpPr>
        <p:spPr>
          <a:xfrm>
            <a:off x="681228" y="1755648"/>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El icono del Cuentagotas parece un gotero/pipeta.</a:t>
            </a:r>
            <a:endParaRPr lang="en-US" sz="1150" dirty="0"/>
          </a:p>
        </p:txBody>
      </p:sp>
      <p:sp>
        <p:nvSpPr>
          <p:cNvPr id="11" name="Shape 9"/>
          <p:cNvSpPr/>
          <p:nvPr/>
        </p:nvSpPr>
        <p:spPr>
          <a:xfrm>
            <a:off x="182880" y="2245802"/>
            <a:ext cx="365760" cy="365760"/>
          </a:xfrm>
          <a:prstGeom prst="ellipse">
            <a:avLst/>
          </a:prstGeom>
          <a:solidFill>
            <a:srgbClr val="FF6B1A"/>
          </a:solidFill>
          <a:ln/>
        </p:spPr>
        <p:txBody>
          <a:bodyPr/>
          <a:lstStyle/>
          <a:p>
            <a:endParaRPr lang="en-US"/>
          </a:p>
        </p:txBody>
      </p:sp>
      <p:sp>
        <p:nvSpPr>
          <p:cNvPr id="12" name="Text 10"/>
          <p:cNvSpPr txBox="1"/>
          <p:nvPr/>
        </p:nvSpPr>
        <p:spPr>
          <a:xfrm>
            <a:off x="182880" y="224580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81228" y="2139635"/>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Haz clic en un area azul mas clara en el lado derecho de tu lienzo</a:t>
            </a:r>
            <a:endParaRPr lang="en-US" sz="1300" dirty="0"/>
          </a:p>
        </p:txBody>
      </p:sp>
      <p:sp>
        <p:nvSpPr>
          <p:cNvPr id="14" name="Text 12"/>
          <p:cNvSpPr txBox="1"/>
          <p:nvPr/>
        </p:nvSpPr>
        <p:spPr>
          <a:xfrm>
            <a:off x="681228" y="2450531"/>
            <a:ext cx="459943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En cuanto hagas clic, ese color se carga como color de primer plano. Puedes verlo actualizarse en la muestra de color de primer plano en la parte inferior del panel Herramientas.</a:t>
            </a:r>
            <a:endParaRPr lang="en-US" sz="1150" dirty="0"/>
          </a:p>
        </p:txBody>
      </p:sp>
      <p:sp>
        <p:nvSpPr>
          <p:cNvPr id="15" name="Shape 13"/>
          <p:cNvSpPr/>
          <p:nvPr/>
        </p:nvSpPr>
        <p:spPr>
          <a:xfrm>
            <a:off x="182880" y="3170453"/>
            <a:ext cx="365760" cy="365760"/>
          </a:xfrm>
          <a:prstGeom prst="ellipse">
            <a:avLst/>
          </a:prstGeom>
          <a:solidFill>
            <a:srgbClr val="FF6B1A"/>
          </a:solidFill>
          <a:ln/>
        </p:spPr>
        <p:txBody>
          <a:bodyPr/>
          <a:lstStyle/>
          <a:p>
            <a:endParaRPr lang="en-US"/>
          </a:p>
        </p:txBody>
      </p:sp>
      <p:sp>
        <p:nvSpPr>
          <p:cNvPr id="16" name="Text 14"/>
          <p:cNvSpPr txBox="1"/>
          <p:nvPr/>
        </p:nvSpPr>
        <p:spPr>
          <a:xfrm>
            <a:off x="182880" y="3170453"/>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58368" y="3063240"/>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Abre el panel Color: Ventana &gt; Color</a:t>
            </a:r>
            <a:endParaRPr lang="en-US" sz="1300" dirty="0"/>
          </a:p>
        </p:txBody>
      </p:sp>
      <p:sp>
        <p:nvSpPr>
          <p:cNvPr id="18" name="Text 16"/>
          <p:cNvSpPr txBox="1"/>
          <p:nvPr/>
        </p:nvSpPr>
        <p:spPr>
          <a:xfrm>
            <a:off x="658368" y="3374136"/>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Esto abre el panel Color, que muestra los valores RGB del color de primer plano actual. Necesitas aclarar ligeramente el azul muestreado para obtener mejor contraste contra la imagen con tinte verde.</a:t>
            </a:r>
            <a:endParaRPr lang="en-US" sz="1150" dirty="0"/>
          </a:p>
        </p:txBody>
      </p:sp>
      <p:sp>
        <p:nvSpPr>
          <p:cNvPr id="19" name="Shape 17"/>
          <p:cNvSpPr/>
          <p:nvPr/>
        </p:nvSpPr>
        <p:spPr>
          <a:xfrm>
            <a:off x="182880" y="3982212"/>
            <a:ext cx="365760" cy="365760"/>
          </a:xfrm>
          <a:prstGeom prst="ellipse">
            <a:avLst/>
          </a:prstGeom>
          <a:solidFill>
            <a:srgbClr val="FF6B1A"/>
          </a:solidFill>
          <a:ln/>
        </p:spPr>
        <p:txBody>
          <a:bodyPr/>
          <a:lstStyle/>
          <a:p>
            <a:endParaRPr lang="en-US"/>
          </a:p>
        </p:txBody>
      </p:sp>
      <p:sp>
        <p:nvSpPr>
          <p:cNvPr id="20" name="Text 18"/>
          <p:cNvSpPr txBox="1"/>
          <p:nvPr/>
        </p:nvSpPr>
        <p:spPr>
          <a:xfrm>
            <a:off x="182880" y="398221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658368" y="3982212"/>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En el menu del panel Color (icono ≡), elige Controles deslizantes de Color Web</a:t>
            </a:r>
            <a:endParaRPr lang="en-US" sz="1300" dirty="0"/>
          </a:p>
        </p:txBody>
      </p:sp>
      <p:sp>
        <p:nvSpPr>
          <p:cNvPr id="22" name="Text 20"/>
          <p:cNvSpPr txBox="1"/>
          <p:nvPr/>
        </p:nvSpPr>
        <p:spPr>
          <a:xfrm>
            <a:off x="658366" y="4412931"/>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El panel cambia a mostrar un campo de codigo hexadecimal. Escribe 4099ff y presiona Enter. Esto establece el color de primer plano en el azul brillante exacto que usaras para pintar.</a:t>
            </a:r>
            <a:endParaRPr lang="en-US" sz="1150" dirty="0"/>
          </a:p>
        </p:txBody>
      </p:sp>
      <p:pic>
        <p:nvPicPr>
          <p:cNvPr id="23" name="Image 0" descr="preencoded.png"/>
          <p:cNvPicPr>
            <a:picLocks noChangeAspect="1"/>
          </p:cNvPicPr>
          <p:nvPr/>
        </p:nvPicPr>
        <p:blipFill>
          <a:blip r:embed="rId3"/>
          <a:stretch>
            <a:fillRect/>
          </a:stretch>
        </p:blipFill>
        <p:spPr>
          <a:xfrm>
            <a:off x="5321808" y="1578291"/>
            <a:ext cx="3639312" cy="2637911"/>
          </a:xfrm>
          <a:prstGeom prst="rect">
            <a:avLst/>
          </a:prstGeom>
        </p:spPr>
      </p:pic>
      <p:sp>
        <p:nvSpPr>
          <p:cNvPr id="24" name="Text 21"/>
          <p:cNvSpPr txBox="1"/>
          <p:nvPr/>
        </p:nvSpPr>
        <p:spPr>
          <a:xfrm>
            <a:off x="5321806" y="4274820"/>
            <a:ext cx="3639313" cy="256032"/>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Panel Color mostrando Controles deslizantes de Color Web con el valor azul 4099ff ingresado</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PASO 10b</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Crear la Capa de Pintura y Elegir el Pincel</a:t>
            </a:r>
            <a:endParaRPr lang="en-US" sz="2000" dirty="0"/>
          </a:p>
        </p:txBody>
      </p:sp>
      <p:sp>
        <p:nvSpPr>
          <p:cNvPr id="5" name="Shape 3"/>
          <p:cNvSpPr/>
          <p:nvPr/>
        </p:nvSpPr>
        <p:spPr>
          <a:xfrm>
            <a:off x="182880" y="777240"/>
            <a:ext cx="8778240" cy="566928"/>
          </a:xfrm>
          <a:prstGeom prst="roundRect">
            <a:avLst>
              <a:gd name="adj" fmla="val 12903"/>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868680"/>
            <a:ext cx="850392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El efecto de pintura necesita su propia capa, colocada debajo del texto Live Stream pero sobre la capa Rectangulos. Usaras un pincel especifico de salpicadura del grupo Pinceles de Efectos Especiales.</a:t>
            </a:r>
            <a:endParaRPr lang="en-US" sz="1200" dirty="0"/>
          </a:p>
        </p:txBody>
      </p:sp>
      <p:sp>
        <p:nvSpPr>
          <p:cNvPr id="7" name="Shape 5"/>
          <p:cNvSpPr/>
          <p:nvPr/>
        </p:nvSpPr>
        <p:spPr>
          <a:xfrm>
            <a:off x="182880" y="1508760"/>
            <a:ext cx="365760" cy="365760"/>
          </a:xfrm>
          <a:prstGeom prst="ellipse">
            <a:avLst/>
          </a:prstGeom>
          <a:solidFill>
            <a:srgbClr val="FF6B1A"/>
          </a:solidFill>
          <a:ln/>
        </p:spPr>
        <p:txBody>
          <a:bodyPr/>
          <a:lstStyle/>
          <a:p>
            <a:endParaRPr lang="en-US"/>
          </a:p>
        </p:txBody>
      </p:sp>
      <p:sp>
        <p:nvSpPr>
          <p:cNvPr id="8" name="Text 6"/>
          <p:cNvSpPr txBox="1"/>
          <p:nvPr/>
        </p:nvSpPr>
        <p:spPr>
          <a:xfrm>
            <a:off x="182880" y="15087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8368" y="1481328"/>
            <a:ext cx="5269890"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En el panel Capas, haz clic en la capa Rectangulos para seleccionarla</a:t>
            </a:r>
            <a:endParaRPr lang="en-US" sz="1300" dirty="0"/>
          </a:p>
        </p:txBody>
      </p:sp>
      <p:sp>
        <p:nvSpPr>
          <p:cNvPr id="10" name="Text 8"/>
          <p:cNvSpPr txBox="1"/>
          <p:nvPr/>
        </p:nvSpPr>
        <p:spPr>
          <a:xfrm>
            <a:off x="658368" y="1792224"/>
            <a:ext cx="5269890"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La nueva capa Pintura se creara directamente sobre Rectangulos, que es la posicion que necesitas.</a:t>
            </a:r>
            <a:endParaRPr lang="en-US" sz="1150" dirty="0"/>
          </a:p>
        </p:txBody>
      </p:sp>
      <p:sp>
        <p:nvSpPr>
          <p:cNvPr id="11" name="Shape 9"/>
          <p:cNvSpPr/>
          <p:nvPr/>
        </p:nvSpPr>
        <p:spPr>
          <a:xfrm>
            <a:off x="182880" y="2267712"/>
            <a:ext cx="365760" cy="365760"/>
          </a:xfrm>
          <a:prstGeom prst="ellipse">
            <a:avLst/>
          </a:prstGeom>
          <a:solidFill>
            <a:srgbClr val="FF6B1A"/>
          </a:solidFill>
          <a:ln/>
        </p:spPr>
        <p:txBody>
          <a:bodyPr/>
          <a:lstStyle/>
          <a:p>
            <a:endParaRPr lang="en-US"/>
          </a:p>
        </p:txBody>
      </p:sp>
      <p:sp>
        <p:nvSpPr>
          <p:cNvPr id="12" name="Text 10"/>
          <p:cNvSpPr txBox="1"/>
          <p:nvPr/>
        </p:nvSpPr>
        <p:spPr>
          <a:xfrm>
            <a:off x="182880" y="226771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58368" y="2240280"/>
            <a:ext cx="5269890"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Mantiene presionado Option y haz clic en el boton Crear Nueva Capa</a:t>
            </a:r>
            <a:endParaRPr lang="en-US" sz="1300" dirty="0"/>
          </a:p>
        </p:txBody>
      </p:sp>
      <p:sp>
        <p:nvSpPr>
          <p:cNvPr id="14" name="Text 12"/>
          <p:cNvSpPr txBox="1"/>
          <p:nvPr/>
        </p:nvSpPr>
        <p:spPr>
          <a:xfrm>
            <a:off x="658368" y="2551176"/>
            <a:ext cx="5269890"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Mantener Option mientras haces clic en el boton de nueva capa abre primero el cuadro de dialogo Nueva Capa, para que puedas nombrar la capa antes de crearla. Escribe Pintura y haz clic en OK.</a:t>
            </a:r>
            <a:endParaRPr lang="en-US" sz="1150" dirty="0"/>
          </a:p>
        </p:txBody>
      </p:sp>
      <p:sp>
        <p:nvSpPr>
          <p:cNvPr id="15" name="Shape 13"/>
          <p:cNvSpPr/>
          <p:nvPr/>
        </p:nvSpPr>
        <p:spPr>
          <a:xfrm>
            <a:off x="182880" y="3026664"/>
            <a:ext cx="365760" cy="365760"/>
          </a:xfrm>
          <a:prstGeom prst="ellipse">
            <a:avLst/>
          </a:prstGeom>
          <a:solidFill>
            <a:srgbClr val="FF6B1A"/>
          </a:solidFill>
          <a:ln/>
        </p:spPr>
        <p:txBody>
          <a:bodyPr/>
          <a:lstStyle/>
          <a:p>
            <a:endParaRPr lang="en-US"/>
          </a:p>
        </p:txBody>
      </p:sp>
      <p:sp>
        <p:nvSpPr>
          <p:cNvPr id="16" name="Text 14"/>
          <p:cNvSpPr txBox="1"/>
          <p:nvPr/>
        </p:nvSpPr>
        <p:spPr>
          <a:xfrm>
            <a:off x="182880" y="302666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58368" y="2999232"/>
            <a:ext cx="5269890"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Selecciona la herramienta Pincel, presiona B</a:t>
            </a:r>
            <a:endParaRPr lang="en-US" sz="1300" dirty="0"/>
          </a:p>
        </p:txBody>
      </p:sp>
      <p:sp>
        <p:nvSpPr>
          <p:cNvPr id="18" name="Shape 16"/>
          <p:cNvSpPr/>
          <p:nvPr/>
        </p:nvSpPr>
        <p:spPr>
          <a:xfrm>
            <a:off x="182880" y="3512335"/>
            <a:ext cx="365760" cy="365760"/>
          </a:xfrm>
          <a:prstGeom prst="ellipse">
            <a:avLst/>
          </a:prstGeom>
          <a:solidFill>
            <a:srgbClr val="FF6B1A"/>
          </a:solidFill>
          <a:ln/>
        </p:spPr>
        <p:txBody>
          <a:bodyPr/>
          <a:lstStyle/>
          <a:p>
            <a:endParaRPr lang="en-US"/>
          </a:p>
        </p:txBody>
      </p:sp>
      <p:sp>
        <p:nvSpPr>
          <p:cNvPr id="19" name="Text 17"/>
          <p:cNvSpPr txBox="1"/>
          <p:nvPr/>
        </p:nvSpPr>
        <p:spPr>
          <a:xfrm>
            <a:off x="182880" y="3512335"/>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658368" y="3402607"/>
            <a:ext cx="5269890"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Abre el panel Pinceles: Ventana &gt; Pinceles</a:t>
            </a:r>
            <a:endParaRPr lang="en-US" sz="1300" dirty="0"/>
          </a:p>
        </p:txBody>
      </p:sp>
      <p:sp>
        <p:nvSpPr>
          <p:cNvPr id="21" name="Text 19"/>
          <p:cNvSpPr txBox="1"/>
          <p:nvPr/>
        </p:nvSpPr>
        <p:spPr>
          <a:xfrm>
            <a:off x="658368" y="3596531"/>
            <a:ext cx="5269890"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El panel Pinceles muestra todos los ajustes preestablecidos de pincel disponibles organizados en grupos.</a:t>
            </a:r>
            <a:endParaRPr lang="en-US" sz="1150" dirty="0"/>
          </a:p>
        </p:txBody>
      </p:sp>
      <p:sp>
        <p:nvSpPr>
          <p:cNvPr id="22" name="Shape 20"/>
          <p:cNvSpPr/>
          <p:nvPr/>
        </p:nvSpPr>
        <p:spPr>
          <a:xfrm>
            <a:off x="182880" y="4103442"/>
            <a:ext cx="365760" cy="365760"/>
          </a:xfrm>
          <a:prstGeom prst="ellipse">
            <a:avLst/>
          </a:prstGeom>
          <a:solidFill>
            <a:srgbClr val="FF6B1A"/>
          </a:solidFill>
          <a:ln/>
        </p:spPr>
        <p:txBody>
          <a:bodyPr/>
          <a:lstStyle/>
          <a:p>
            <a:endParaRPr lang="en-US"/>
          </a:p>
        </p:txBody>
      </p:sp>
      <p:sp>
        <p:nvSpPr>
          <p:cNvPr id="23" name="Text 21"/>
          <p:cNvSpPr txBox="1"/>
          <p:nvPr/>
        </p:nvSpPr>
        <p:spPr>
          <a:xfrm>
            <a:off x="182880" y="410344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txBox="1"/>
          <p:nvPr/>
        </p:nvSpPr>
        <p:spPr>
          <a:xfrm>
            <a:off x="658368" y="4103442"/>
            <a:ext cx="5269890"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Expande el grupo Pinceles de Efectos Especiales: selecciona Pinceles de Salpicadura Kyle, Spatter Bot Tilt</a:t>
            </a:r>
            <a:endParaRPr lang="en-US" sz="1300" dirty="0"/>
          </a:p>
        </p:txBody>
      </p:sp>
      <p:sp>
        <p:nvSpPr>
          <p:cNvPr id="25" name="Text 23"/>
          <p:cNvSpPr txBox="1"/>
          <p:nvPr/>
        </p:nvSpPr>
        <p:spPr>
          <a:xfrm>
            <a:off x="658368" y="4555489"/>
            <a:ext cx="5269890"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Haz clic en la flecha junto a Pinceles de Efectos Especiales para expandir el grupo. Haz clic en el primer pincel, Pinceles de Salpicadura Kyle Spatter Bot Tilt, para seleccionarlo. Crea un trazo de salpicadura de pintura texturizado.</a:t>
            </a:r>
            <a:endParaRPr lang="en-US" sz="1150" dirty="0"/>
          </a:p>
        </p:txBody>
      </p:sp>
      <p:pic>
        <p:nvPicPr>
          <p:cNvPr id="26" name="Image 0" descr="preencoded.png"/>
          <p:cNvPicPr>
            <a:picLocks noChangeAspect="1"/>
          </p:cNvPicPr>
          <p:nvPr/>
        </p:nvPicPr>
        <p:blipFill>
          <a:blip r:embed="rId3"/>
          <a:stretch>
            <a:fillRect/>
          </a:stretch>
        </p:blipFill>
        <p:spPr>
          <a:xfrm>
            <a:off x="6008038" y="1508760"/>
            <a:ext cx="2953082" cy="2880360"/>
          </a:xfrm>
          <a:prstGeom prst="rect">
            <a:avLst/>
          </a:prstGeom>
        </p:spPr>
      </p:pic>
      <p:sp>
        <p:nvSpPr>
          <p:cNvPr id="27" name="Text 24"/>
          <p:cNvSpPr txBox="1"/>
          <p:nvPr/>
        </p:nvSpPr>
        <p:spPr>
          <a:xfrm>
            <a:off x="6008036" y="4416552"/>
            <a:ext cx="2953083" cy="256032"/>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Panel Capas mostrando la capa Pintura sobre Rectangulos, boton Crear Nueva Capa encerrado en circulo</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PASO 10c</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Establecer Tamano del Pincel y Pintar el Efecto de Salpicadura</a:t>
            </a:r>
            <a:endParaRPr lang="en-US" sz="2000" dirty="0"/>
          </a:p>
        </p:txBody>
      </p:sp>
      <p:sp>
        <p:nvSpPr>
          <p:cNvPr id="5" name="Shape 3"/>
          <p:cNvSpPr/>
          <p:nvPr/>
        </p:nvSpPr>
        <p:spPr>
          <a:xfrm>
            <a:off x="182880" y="888901"/>
            <a:ext cx="365760" cy="365760"/>
          </a:xfrm>
          <a:prstGeom prst="ellipse">
            <a:avLst/>
          </a:prstGeom>
          <a:solidFill>
            <a:srgbClr val="FF6B1A"/>
          </a:solidFill>
          <a:ln/>
        </p:spPr>
        <p:txBody>
          <a:bodyPr/>
          <a:lstStyle/>
          <a:p>
            <a:endParaRPr lang="en-US"/>
          </a:p>
        </p:txBody>
      </p:sp>
      <p:sp>
        <p:nvSpPr>
          <p:cNvPr id="6" name="Text 4"/>
          <p:cNvSpPr txBox="1"/>
          <p:nvPr/>
        </p:nvSpPr>
        <p:spPr>
          <a:xfrm>
            <a:off x="182880" y="888901"/>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7" name="Text 5"/>
          <p:cNvSpPr txBox="1"/>
          <p:nvPr/>
        </p:nvSpPr>
        <p:spPr>
          <a:xfrm>
            <a:off x="658367" y="804672"/>
            <a:ext cx="5029199"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Establece el tamano del pincel en 80px en la barra de opciones</a:t>
            </a:r>
            <a:endParaRPr lang="en-US" sz="1300" dirty="0"/>
          </a:p>
        </p:txBody>
      </p:sp>
      <p:sp>
        <p:nvSpPr>
          <p:cNvPr id="8" name="Text 6"/>
          <p:cNvSpPr txBox="1"/>
          <p:nvPr/>
        </p:nvSpPr>
        <p:spPr>
          <a:xfrm>
            <a:off x="652751" y="1287624"/>
            <a:ext cx="5029199" cy="347472"/>
          </a:xfrm>
          <a:prstGeom prst="rect">
            <a:avLst/>
          </a:prstGeom>
          <a:noFill/>
          <a:ln/>
        </p:spPr>
        <p:txBody>
          <a:bodyPr wrap="square" lIns="0" tIns="0" rIns="0" bIns="0" rtlCol="0" anchor="ctr"/>
          <a:lstStyle/>
          <a:p>
            <a:pPr marL="0" indent="0">
              <a:lnSpc>
                <a:spcPct val="125000"/>
              </a:lnSpc>
              <a:buNone/>
            </a:pPr>
            <a:r>
              <a:rPr lang="en-US" sz="1150" dirty="0">
                <a:solidFill>
                  <a:srgbClr val="FFFFFF"/>
                </a:solidFill>
                <a:latin typeface="Calibri" pitchFamily="34" charset="0"/>
                <a:ea typeface="Calibri" pitchFamily="34" charset="-122"/>
                <a:cs typeface="Calibri" pitchFamily="34" charset="-120"/>
              </a:rPr>
              <a:t>En la barra de opciones en la parte superior, haz clic en la flecha junto al selector de Ajustes Preestablecidos de Pincel. Establece el valor de Tamano en 80 px. Haz clic fuera del selector para cerrarlo. 80px da una extension de salpicadura mediana, lo suficientemente grande para ser visible pero controlada para verse intencional.</a:t>
            </a:r>
            <a:endParaRPr lang="en-US" sz="1150" dirty="0"/>
          </a:p>
        </p:txBody>
      </p:sp>
      <p:sp>
        <p:nvSpPr>
          <p:cNvPr id="9" name="Shape 7"/>
          <p:cNvSpPr/>
          <p:nvPr/>
        </p:nvSpPr>
        <p:spPr>
          <a:xfrm>
            <a:off x="182880" y="2021369"/>
            <a:ext cx="365760" cy="365760"/>
          </a:xfrm>
          <a:prstGeom prst="ellipse">
            <a:avLst/>
          </a:prstGeom>
          <a:solidFill>
            <a:srgbClr val="FF6B1A"/>
          </a:solidFill>
          <a:ln/>
        </p:spPr>
        <p:txBody>
          <a:bodyPr/>
          <a:lstStyle/>
          <a:p>
            <a:endParaRPr lang="en-US"/>
          </a:p>
        </p:txBody>
      </p:sp>
      <p:sp>
        <p:nvSpPr>
          <p:cNvPr id="10" name="Text 8"/>
          <p:cNvSpPr txBox="1"/>
          <p:nvPr/>
        </p:nvSpPr>
        <p:spPr>
          <a:xfrm>
            <a:off x="182880" y="2021369"/>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11" name="Text 9"/>
          <p:cNvSpPr txBox="1"/>
          <p:nvPr/>
        </p:nvSpPr>
        <p:spPr>
          <a:xfrm>
            <a:off x="658367" y="1924275"/>
            <a:ext cx="5029199"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Posiciona el pincel sobre la palabra "Live" en el lienzo</a:t>
            </a:r>
            <a:endParaRPr lang="en-US" sz="1300" dirty="0"/>
          </a:p>
        </p:txBody>
      </p:sp>
      <p:sp>
        <p:nvSpPr>
          <p:cNvPr id="12" name="Text 10"/>
          <p:cNvSpPr txBox="1"/>
          <p:nvPr/>
        </p:nvSpPr>
        <p:spPr>
          <a:xfrm>
            <a:off x="658367" y="2235171"/>
            <a:ext cx="5029199" cy="347472"/>
          </a:xfrm>
          <a:prstGeom prst="rect">
            <a:avLst/>
          </a:prstGeom>
          <a:noFill/>
          <a:ln/>
        </p:spPr>
        <p:txBody>
          <a:bodyPr wrap="square" lIns="0" tIns="0" rIns="0" bIns="0" rtlCol="0" anchor="ctr"/>
          <a:lstStyle/>
          <a:p>
            <a:pPr marL="0" indent="0">
              <a:lnSpc>
                <a:spcPct val="125000"/>
              </a:lnSpc>
              <a:buNone/>
            </a:pPr>
            <a:r>
              <a:rPr lang="en-US" sz="1150" dirty="0">
                <a:solidFill>
                  <a:srgbClr val="FFFFFF"/>
                </a:solidFill>
                <a:latin typeface="Calibri" pitchFamily="34" charset="0"/>
                <a:ea typeface="Calibri" pitchFamily="34" charset="-122"/>
                <a:cs typeface="Calibri" pitchFamily="34" charset="-120"/>
              </a:rPr>
              <a:t>Asegurate de que la capa Pintura todavia este seleccionada en el panel Capas. La pintura se aplicara a la capa Pintura, no al texto ni a ninguna otra capa.</a:t>
            </a:r>
            <a:endParaRPr lang="en-US" sz="1150" dirty="0"/>
          </a:p>
        </p:txBody>
      </p:sp>
      <p:sp>
        <p:nvSpPr>
          <p:cNvPr id="13" name="Shape 11"/>
          <p:cNvSpPr/>
          <p:nvPr/>
        </p:nvSpPr>
        <p:spPr>
          <a:xfrm>
            <a:off x="182880" y="2728947"/>
            <a:ext cx="365760" cy="365760"/>
          </a:xfrm>
          <a:prstGeom prst="ellipse">
            <a:avLst/>
          </a:prstGeom>
          <a:solidFill>
            <a:srgbClr val="FF6B1A"/>
          </a:solidFill>
          <a:ln/>
        </p:spPr>
        <p:txBody>
          <a:bodyPr/>
          <a:lstStyle/>
          <a:p>
            <a:endParaRPr lang="en-US"/>
          </a:p>
        </p:txBody>
      </p:sp>
      <p:sp>
        <p:nvSpPr>
          <p:cNvPr id="14" name="Text 12"/>
          <p:cNvSpPr txBox="1"/>
          <p:nvPr/>
        </p:nvSpPr>
        <p:spPr>
          <a:xfrm>
            <a:off x="182880" y="2728947"/>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15" name="Text 13"/>
          <p:cNvSpPr txBox="1"/>
          <p:nvPr/>
        </p:nvSpPr>
        <p:spPr>
          <a:xfrm>
            <a:off x="652752" y="2728947"/>
            <a:ext cx="5029199"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Haz clic y arrastra en trazos circulares sobre "Live" para acumular la salpicadura</a:t>
            </a:r>
            <a:endParaRPr lang="en-US" sz="1300" dirty="0"/>
          </a:p>
        </p:txBody>
      </p:sp>
      <p:sp>
        <p:nvSpPr>
          <p:cNvPr id="16" name="Text 14"/>
          <p:cNvSpPr txBox="1"/>
          <p:nvPr/>
        </p:nvSpPr>
        <p:spPr>
          <a:xfrm>
            <a:off x="652752" y="3227172"/>
            <a:ext cx="5029199" cy="347472"/>
          </a:xfrm>
          <a:prstGeom prst="rect">
            <a:avLst/>
          </a:prstGeom>
          <a:noFill/>
          <a:ln/>
        </p:spPr>
        <p:txBody>
          <a:bodyPr wrap="square" lIns="0" tIns="0" rIns="0" bIns="0" rtlCol="0" anchor="ctr"/>
          <a:lstStyle/>
          <a:p>
            <a:pPr marL="0" indent="0">
              <a:lnSpc>
                <a:spcPct val="125000"/>
              </a:lnSpc>
              <a:buNone/>
            </a:pPr>
            <a:r>
              <a:rPr lang="en-US" sz="1150" dirty="0">
                <a:solidFill>
                  <a:srgbClr val="FFFFFF"/>
                </a:solidFill>
                <a:latin typeface="Calibri" pitchFamily="34" charset="0"/>
                <a:ea typeface="Calibri" pitchFamily="34" charset="-122"/>
                <a:cs typeface="Calibri" pitchFamily="34" charset="-120"/>
              </a:rPr>
              <a:t>No hagas un solo clic. Arrastra en un patron circular y superpuesto para acumular un area concentrada de pintura de salpicadura. El objetivo es una mancha azul texturizada que quede detras de la palabra LIVE y agregue enfasis visual.</a:t>
            </a:r>
            <a:endParaRPr lang="en-US" sz="1150" dirty="0"/>
          </a:p>
        </p:txBody>
      </p:sp>
      <p:sp>
        <p:nvSpPr>
          <p:cNvPr id="17" name="Shape 15"/>
          <p:cNvSpPr/>
          <p:nvPr/>
        </p:nvSpPr>
        <p:spPr>
          <a:xfrm>
            <a:off x="182879" y="3798136"/>
            <a:ext cx="365760" cy="365760"/>
          </a:xfrm>
          <a:prstGeom prst="ellipse">
            <a:avLst/>
          </a:prstGeom>
          <a:solidFill>
            <a:srgbClr val="FF6B1A"/>
          </a:solidFill>
          <a:ln/>
        </p:spPr>
        <p:txBody>
          <a:bodyPr/>
          <a:lstStyle/>
          <a:p>
            <a:endParaRPr lang="en-US"/>
          </a:p>
        </p:txBody>
      </p:sp>
      <p:sp>
        <p:nvSpPr>
          <p:cNvPr id="18" name="Text 16"/>
          <p:cNvSpPr txBox="1"/>
          <p:nvPr/>
        </p:nvSpPr>
        <p:spPr>
          <a:xfrm>
            <a:off x="182879" y="379813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19" name="Text 17"/>
          <p:cNvSpPr txBox="1"/>
          <p:nvPr/>
        </p:nvSpPr>
        <p:spPr>
          <a:xfrm>
            <a:off x="652752" y="3750130"/>
            <a:ext cx="5029199"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Archivo &gt; Guardar: Cmd+S</a:t>
            </a:r>
            <a:endParaRPr lang="en-US" sz="1300" dirty="0"/>
          </a:p>
        </p:txBody>
      </p:sp>
      <p:sp>
        <p:nvSpPr>
          <p:cNvPr id="20" name="Text 18"/>
          <p:cNvSpPr txBox="1"/>
          <p:nvPr/>
        </p:nvSpPr>
        <p:spPr>
          <a:xfrm>
            <a:off x="641523" y="3926152"/>
            <a:ext cx="5029199" cy="347472"/>
          </a:xfrm>
          <a:prstGeom prst="rect">
            <a:avLst/>
          </a:prstGeom>
          <a:noFill/>
          <a:ln/>
        </p:spPr>
        <p:txBody>
          <a:bodyPr wrap="square" lIns="0" tIns="0" rIns="0" bIns="0" rtlCol="0" anchor="ctr"/>
          <a:lstStyle/>
          <a:p>
            <a:pPr marL="0" indent="0">
              <a:lnSpc>
                <a:spcPct val="125000"/>
              </a:lnSpc>
              <a:buNone/>
            </a:pPr>
            <a:r>
              <a:rPr lang="en-US" sz="1150" dirty="0">
                <a:solidFill>
                  <a:srgbClr val="FFFFFF"/>
                </a:solidFill>
                <a:latin typeface="Calibri" pitchFamily="34" charset="0"/>
                <a:ea typeface="Calibri" pitchFamily="34" charset="-122"/>
                <a:cs typeface="Calibri" pitchFamily="34" charset="-120"/>
              </a:rPr>
              <a:t>Guarda tu progreso.</a:t>
            </a:r>
            <a:endParaRPr lang="en-US" sz="1150" dirty="0"/>
          </a:p>
        </p:txBody>
      </p:sp>
      <p:sp>
        <p:nvSpPr>
          <p:cNvPr id="21" name="Shape 19"/>
          <p:cNvSpPr/>
          <p:nvPr/>
        </p:nvSpPr>
        <p:spPr>
          <a:xfrm>
            <a:off x="182879" y="4315516"/>
            <a:ext cx="8778239" cy="574584"/>
          </a:xfrm>
          <a:prstGeom prst="roundRect">
            <a:avLst>
              <a:gd name="adj" fmla="val 8696"/>
            </a:avLst>
          </a:prstGeom>
          <a:solidFill>
            <a:srgbClr val="2A2A2A"/>
          </a:solidFill>
          <a:ln w="12700">
            <a:solidFill>
              <a:srgbClr val="444444"/>
            </a:solidFill>
            <a:prstDash val="solid"/>
          </a:ln>
        </p:spPr>
        <p:txBody>
          <a:bodyPr/>
          <a:lstStyle/>
          <a:p>
            <a:endParaRPr lang="en-US"/>
          </a:p>
        </p:txBody>
      </p:sp>
      <p:sp>
        <p:nvSpPr>
          <p:cNvPr id="22" name="Text 20"/>
          <p:cNvSpPr txBox="1"/>
          <p:nvPr/>
        </p:nvSpPr>
        <p:spPr>
          <a:xfrm>
            <a:off x="320040" y="4273624"/>
            <a:ext cx="8553936" cy="658368"/>
          </a:xfrm>
          <a:prstGeom prst="rect">
            <a:avLst/>
          </a:prstGeom>
          <a:noFill/>
          <a:ln/>
        </p:spPr>
        <p:txBody>
          <a:bodyPr wrap="square" lIns="0" tIns="0" rIns="0" bIns="0" rtlCol="0" anchor="ctr"/>
          <a:lstStyle/>
          <a:p>
            <a:pPr marL="0" indent="0">
              <a:lnSpc>
                <a:spcPct val="135000"/>
              </a:lnSpc>
              <a:buNone/>
            </a:pPr>
            <a:r>
              <a:rPr lang="en-US" sz="1200" dirty="0">
                <a:solidFill>
                  <a:srgbClr val="FFCC00"/>
                </a:solidFill>
                <a:latin typeface="Calibri" pitchFamily="34" charset="0"/>
                <a:ea typeface="Calibri" pitchFamily="34" charset="-122"/>
                <a:cs typeface="Calibri" pitchFamily="34" charset="-120"/>
              </a:rPr>
              <a:t>🔄 Consejo para Deshacer: Si tus trazos no se ven bien, usa Cmd+Z para deshacer un paso a la vez. O usa Edicion &gt; Alternar Ultimo Estado (Cmd+Opcion+Z) para comparar rapidamente antes y despues de tu ultimo trazo.</a:t>
            </a:r>
            <a:endParaRPr lang="en-US" sz="1200" dirty="0"/>
          </a:p>
        </p:txBody>
      </p:sp>
      <p:pic>
        <p:nvPicPr>
          <p:cNvPr id="23" name="Image 0" descr="preencoded.png"/>
          <p:cNvPicPr>
            <a:picLocks noChangeAspect="1"/>
          </p:cNvPicPr>
          <p:nvPr/>
        </p:nvPicPr>
        <p:blipFill>
          <a:blip r:embed="rId3"/>
          <a:stretch>
            <a:fillRect/>
          </a:stretch>
        </p:blipFill>
        <p:spPr>
          <a:xfrm>
            <a:off x="5774834" y="749808"/>
            <a:ext cx="3186285" cy="2880360"/>
          </a:xfrm>
          <a:prstGeom prst="rect">
            <a:avLst/>
          </a:prstGeom>
        </p:spPr>
      </p:pic>
      <p:sp>
        <p:nvSpPr>
          <p:cNvPr id="24" name="Text 21"/>
          <p:cNvSpPr txBox="1"/>
          <p:nvPr/>
        </p:nvSpPr>
        <p:spPr>
          <a:xfrm>
            <a:off x="5774834" y="3657600"/>
            <a:ext cx="3186285" cy="256032"/>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Panel Pinceles: Pinceles de Efectos Especiales expandido, Pinceles de Salpicadura Kyle Spatter Bot Tilt seleccionado</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PASO 11a</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Reposicionar la Foto Arch: Herramienta Mover</a:t>
            </a:r>
            <a:endParaRPr lang="en-US" sz="2000" dirty="0"/>
          </a:p>
        </p:txBody>
      </p:sp>
      <p:sp>
        <p:nvSpPr>
          <p:cNvPr id="5" name="Shape 3"/>
          <p:cNvSpPr/>
          <p:nvPr/>
        </p:nvSpPr>
        <p:spPr>
          <a:xfrm>
            <a:off x="182880" y="777240"/>
            <a:ext cx="8778240" cy="658368"/>
          </a:xfrm>
          <a:prstGeom prst="roundRect">
            <a:avLst>
              <a:gd name="adj" fmla="val 11111"/>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868680"/>
            <a:ext cx="8503920" cy="47548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La composicion ahora tiene el edificio Arch sentado ligeramente demasiado a la izquierda. Moverlo al centro crea un diseno mas equilibrado, pero moverlo revelara un espacio transparente en el borde izquierdo del lienzo. Lo arreglara con Relleno Generativo en el siguiente paso.</a:t>
            </a:r>
            <a:endParaRPr lang="en-US" sz="1200" dirty="0"/>
          </a:p>
        </p:txBody>
      </p:sp>
      <p:sp>
        <p:nvSpPr>
          <p:cNvPr id="7" name="Shape 5"/>
          <p:cNvSpPr/>
          <p:nvPr/>
        </p:nvSpPr>
        <p:spPr>
          <a:xfrm>
            <a:off x="182880" y="1600200"/>
            <a:ext cx="365760" cy="365760"/>
          </a:xfrm>
          <a:prstGeom prst="ellipse">
            <a:avLst/>
          </a:prstGeom>
          <a:solidFill>
            <a:srgbClr val="FF6B1A"/>
          </a:solidFill>
          <a:ln/>
        </p:spPr>
        <p:txBody>
          <a:bodyPr/>
          <a:lstStyle/>
          <a:p>
            <a:endParaRPr lang="en-US"/>
          </a:p>
        </p:txBody>
      </p:sp>
      <p:sp>
        <p:nvSpPr>
          <p:cNvPr id="8" name="Text 6"/>
          <p:cNvSpPr txBox="1"/>
          <p:nvPr/>
        </p:nvSpPr>
        <p:spPr>
          <a:xfrm>
            <a:off x="182880" y="16002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8368" y="1572768"/>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Selecciona la herramienta Mover, presiona V</a:t>
            </a:r>
            <a:endParaRPr lang="en-US" sz="1300" dirty="0"/>
          </a:p>
        </p:txBody>
      </p:sp>
      <p:sp>
        <p:nvSpPr>
          <p:cNvPr id="10" name="Shape 8"/>
          <p:cNvSpPr/>
          <p:nvPr/>
        </p:nvSpPr>
        <p:spPr>
          <a:xfrm>
            <a:off x="186562" y="2032360"/>
            <a:ext cx="365760" cy="365760"/>
          </a:xfrm>
          <a:prstGeom prst="ellipse">
            <a:avLst/>
          </a:prstGeom>
          <a:solidFill>
            <a:srgbClr val="FF6B1A"/>
          </a:solidFill>
          <a:ln/>
        </p:spPr>
        <p:txBody>
          <a:bodyPr/>
          <a:lstStyle/>
          <a:p>
            <a:endParaRPr lang="en-US"/>
          </a:p>
        </p:txBody>
      </p:sp>
      <p:sp>
        <p:nvSpPr>
          <p:cNvPr id="11" name="Text 9"/>
          <p:cNvSpPr txBox="1"/>
          <p:nvPr/>
        </p:nvSpPr>
        <p:spPr>
          <a:xfrm>
            <a:off x="186562" y="20323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635508" y="1936906"/>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En la barra de opciones, desmarca Seleccion Automatica</a:t>
            </a:r>
            <a:endParaRPr lang="en-US" sz="1300" dirty="0"/>
          </a:p>
        </p:txBody>
      </p:sp>
      <p:sp>
        <p:nvSpPr>
          <p:cNvPr id="13" name="Text 11"/>
          <p:cNvSpPr txBox="1"/>
          <p:nvPr/>
        </p:nvSpPr>
        <p:spPr>
          <a:xfrm>
            <a:off x="635508" y="2515924"/>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La Seleccion Automatica hace que la herramienta Mover seleccione automaticamente la capa en la que haces clic en el lienzo. Necesitas desactivarla porque la capa Arch esta detras de otras capas. Si esta activada, seleccionaras accidentalmente la capa incorrecta. Con ella desactivada, controlas que capa se mueve seleccionandola manualmente en el panel Capas.</a:t>
            </a:r>
            <a:endParaRPr lang="en-US" sz="1150" dirty="0"/>
          </a:p>
        </p:txBody>
      </p:sp>
      <p:sp>
        <p:nvSpPr>
          <p:cNvPr id="14" name="Shape 12"/>
          <p:cNvSpPr/>
          <p:nvPr/>
        </p:nvSpPr>
        <p:spPr>
          <a:xfrm>
            <a:off x="182880" y="3360962"/>
            <a:ext cx="365760" cy="365760"/>
          </a:xfrm>
          <a:prstGeom prst="ellipse">
            <a:avLst/>
          </a:prstGeom>
          <a:solidFill>
            <a:srgbClr val="FF6B1A"/>
          </a:solidFill>
          <a:ln/>
        </p:spPr>
        <p:txBody>
          <a:bodyPr/>
          <a:lstStyle/>
          <a:p>
            <a:endParaRPr lang="en-US"/>
          </a:p>
        </p:txBody>
      </p:sp>
      <p:sp>
        <p:nvSpPr>
          <p:cNvPr id="15" name="Text 13"/>
          <p:cNvSpPr txBox="1"/>
          <p:nvPr/>
        </p:nvSpPr>
        <p:spPr>
          <a:xfrm>
            <a:off x="182880" y="336096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635508" y="3259716"/>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En el panel Capas, haz clic en la capa Arch para seleccionarla</a:t>
            </a:r>
            <a:endParaRPr lang="en-US" sz="1300" dirty="0"/>
          </a:p>
        </p:txBody>
      </p:sp>
      <p:sp>
        <p:nvSpPr>
          <p:cNvPr id="17" name="Text 15"/>
          <p:cNvSpPr txBox="1"/>
          <p:nvPr/>
        </p:nvSpPr>
        <p:spPr>
          <a:xfrm>
            <a:off x="635508" y="3543842"/>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Incluso con la Seleccion Automatica desactivada, todavia puedes hacer clic manualmente en cualquier capa en el panel Capas para activarla.</a:t>
            </a:r>
            <a:endParaRPr lang="en-US" sz="1150" dirty="0"/>
          </a:p>
        </p:txBody>
      </p:sp>
      <p:sp>
        <p:nvSpPr>
          <p:cNvPr id="18" name="Shape 16"/>
          <p:cNvSpPr/>
          <p:nvPr/>
        </p:nvSpPr>
        <p:spPr>
          <a:xfrm>
            <a:off x="182880" y="4000500"/>
            <a:ext cx="365760" cy="365760"/>
          </a:xfrm>
          <a:prstGeom prst="ellipse">
            <a:avLst/>
          </a:prstGeom>
          <a:solidFill>
            <a:srgbClr val="FF6B1A"/>
          </a:solidFill>
          <a:ln/>
        </p:spPr>
        <p:txBody>
          <a:bodyPr/>
          <a:lstStyle/>
          <a:p>
            <a:endParaRPr lang="en-US"/>
          </a:p>
        </p:txBody>
      </p:sp>
      <p:sp>
        <p:nvSpPr>
          <p:cNvPr id="19" name="Text 17"/>
          <p:cNvSpPr txBox="1"/>
          <p:nvPr/>
        </p:nvSpPr>
        <p:spPr>
          <a:xfrm>
            <a:off x="182880" y="40005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635508" y="4020732"/>
            <a:ext cx="455371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Arrastra la capa Arch en el lienzo hasta que el edificio quede centrado en el area verde</a:t>
            </a:r>
            <a:endParaRPr lang="en-US" sz="1300" dirty="0"/>
          </a:p>
        </p:txBody>
      </p:sp>
      <p:sp>
        <p:nvSpPr>
          <p:cNvPr id="21" name="Text 19"/>
          <p:cNvSpPr txBox="1"/>
          <p:nvPr/>
        </p:nvSpPr>
        <p:spPr>
          <a:xfrm>
            <a:off x="635508" y="4515244"/>
            <a:ext cx="455371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Haz clic y arrastra en cualquier parte del lienzo. El edificio se mueve. Deslizalo hasta que el arco quede aproximadamente en el centro del lienzo horizontalmente. Pueden aparecer Guias Inteligentes como lineas magenta para ayudar a alinearlo.</a:t>
            </a:r>
            <a:endParaRPr lang="en-US" sz="1150" dirty="0"/>
          </a:p>
        </p:txBody>
      </p:sp>
      <p:pic>
        <p:nvPicPr>
          <p:cNvPr id="22" name="Image 0" descr="preencoded.png"/>
          <p:cNvPicPr>
            <a:picLocks noChangeAspect="1"/>
          </p:cNvPicPr>
          <p:nvPr/>
        </p:nvPicPr>
        <p:blipFill>
          <a:blip r:embed="rId3"/>
          <a:stretch>
            <a:fillRect/>
          </a:stretch>
        </p:blipFill>
        <p:spPr>
          <a:xfrm>
            <a:off x="5357524" y="1527048"/>
            <a:ext cx="3603595" cy="3203196"/>
          </a:xfrm>
          <a:prstGeom prst="rect">
            <a:avLst/>
          </a:prstGeom>
        </p:spPr>
      </p:pic>
      <p:sp>
        <p:nvSpPr>
          <p:cNvPr id="23" name="Text 20"/>
          <p:cNvSpPr txBox="1"/>
          <p:nvPr/>
        </p:nvSpPr>
        <p:spPr>
          <a:xfrm>
            <a:off x="5357524" y="4821684"/>
            <a:ext cx="3603595" cy="205740"/>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Lienzo despues de mover la capa Arch: edificio centrado, espacio transparente visible en el borde izquierdo</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PASO 11b</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Rellenar el Espacio: Relleno Generativo con IA</a:t>
            </a:r>
            <a:endParaRPr lang="en-US" sz="2000" dirty="0"/>
          </a:p>
        </p:txBody>
      </p:sp>
      <p:sp>
        <p:nvSpPr>
          <p:cNvPr id="5" name="Shape 3"/>
          <p:cNvSpPr/>
          <p:nvPr/>
        </p:nvSpPr>
        <p:spPr>
          <a:xfrm>
            <a:off x="182880" y="740664"/>
            <a:ext cx="8778240" cy="603504"/>
          </a:xfrm>
          <a:prstGeom prst="roundRect">
            <a:avLst>
              <a:gd name="adj" fmla="val 12903"/>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251460" y="841248"/>
            <a:ext cx="8641079"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El Relleno Generativo es una funcion de Photoshop con inteligencia artificial que analiza la imagen existente y genera nuevo contenido para rellenar un area seleccionada, coincidiendo con el estilo, color y detalle de los pixeles circundantes. Crea el contenido en su propia capa de Relleno Generativo, preservando tu capa Arch original intacta.</a:t>
            </a:r>
            <a:endParaRPr lang="en-US" sz="1200" dirty="0"/>
          </a:p>
        </p:txBody>
      </p:sp>
      <p:sp>
        <p:nvSpPr>
          <p:cNvPr id="7" name="Shape 5"/>
          <p:cNvSpPr/>
          <p:nvPr/>
        </p:nvSpPr>
        <p:spPr>
          <a:xfrm>
            <a:off x="182880" y="1481328"/>
            <a:ext cx="365760" cy="365760"/>
          </a:xfrm>
          <a:prstGeom prst="ellipse">
            <a:avLst/>
          </a:prstGeom>
          <a:solidFill>
            <a:srgbClr val="FF6B1A"/>
          </a:solidFill>
          <a:ln/>
        </p:spPr>
        <p:txBody>
          <a:bodyPr/>
          <a:lstStyle/>
          <a:p>
            <a:endParaRPr lang="en-US"/>
          </a:p>
        </p:txBody>
      </p:sp>
      <p:sp>
        <p:nvSpPr>
          <p:cNvPr id="8" name="Text 6"/>
          <p:cNvSpPr txBox="1"/>
          <p:nvPr/>
        </p:nvSpPr>
        <p:spPr>
          <a:xfrm>
            <a:off x="182880" y="148132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8367" y="1481328"/>
            <a:ext cx="5116467" cy="292608"/>
          </a:xfrm>
          <a:prstGeom prst="rect">
            <a:avLst/>
          </a:prstGeom>
          <a:noFill/>
          <a:ln/>
        </p:spPr>
        <p:txBody>
          <a:bodyPr wrap="square" lIns="0" tIns="0" rIns="0" bIns="0" rtlCol="0" anchor="ctr"/>
          <a:lstStyle/>
          <a:p>
            <a:pPr marL="0" indent="0">
              <a:buNone/>
            </a:pPr>
            <a:r>
              <a:rPr lang="en-US" sz="1200" b="1" dirty="0">
                <a:solidFill>
                  <a:srgbClr val="FFCC00"/>
                </a:solidFill>
                <a:latin typeface="Calibri" pitchFamily="34" charset="0"/>
                <a:ea typeface="Calibri" pitchFamily="34" charset="-122"/>
                <a:cs typeface="Calibri" pitchFamily="34" charset="-120"/>
              </a:rPr>
              <a:t>Mantiene presionado Option y haz clic en el icono de ojo de la capa Arch en el panel Capas</a:t>
            </a:r>
            <a:endParaRPr lang="en-US" sz="1200" dirty="0"/>
          </a:p>
        </p:txBody>
      </p:sp>
      <p:sp>
        <p:nvSpPr>
          <p:cNvPr id="10" name="Text 8"/>
          <p:cNvSpPr txBox="1"/>
          <p:nvPr/>
        </p:nvSpPr>
        <p:spPr>
          <a:xfrm>
            <a:off x="658367" y="1792224"/>
            <a:ext cx="5116467" cy="34747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Esto oculta todas las demas capas a la vez, dejando solo la capa Arch visible. Ahora puedes ver claramente el area transparente (a cuadros) en el lado izquierdo del lienzo que necesita rellenarse.</a:t>
            </a:r>
            <a:endParaRPr lang="en-US" sz="1000" dirty="0"/>
          </a:p>
        </p:txBody>
      </p:sp>
      <p:sp>
        <p:nvSpPr>
          <p:cNvPr id="11" name="Shape 9"/>
          <p:cNvSpPr/>
          <p:nvPr/>
        </p:nvSpPr>
        <p:spPr>
          <a:xfrm>
            <a:off x="182880" y="2212021"/>
            <a:ext cx="365760" cy="365760"/>
          </a:xfrm>
          <a:prstGeom prst="ellipse">
            <a:avLst/>
          </a:prstGeom>
          <a:solidFill>
            <a:srgbClr val="FF6B1A"/>
          </a:solidFill>
          <a:ln/>
        </p:spPr>
        <p:txBody>
          <a:bodyPr/>
          <a:lstStyle/>
          <a:p>
            <a:endParaRPr lang="en-US"/>
          </a:p>
        </p:txBody>
      </p:sp>
      <p:sp>
        <p:nvSpPr>
          <p:cNvPr id="12" name="Text 10"/>
          <p:cNvSpPr txBox="1"/>
          <p:nvPr/>
        </p:nvSpPr>
        <p:spPr>
          <a:xfrm>
            <a:off x="182880" y="2212021"/>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58365" y="2244029"/>
            <a:ext cx="5116467" cy="292608"/>
          </a:xfrm>
          <a:prstGeom prst="rect">
            <a:avLst/>
          </a:prstGeom>
          <a:noFill/>
          <a:ln/>
        </p:spPr>
        <p:txBody>
          <a:bodyPr wrap="square" lIns="0" tIns="0" rIns="0" bIns="0" rtlCol="0" anchor="ctr"/>
          <a:lstStyle/>
          <a:p>
            <a:pPr marL="0" indent="0">
              <a:buNone/>
            </a:pPr>
            <a:r>
              <a:rPr lang="en-US" sz="1200" b="1" dirty="0">
                <a:solidFill>
                  <a:srgbClr val="FFCC00"/>
                </a:solidFill>
                <a:latin typeface="Calibri" pitchFamily="34" charset="0"/>
                <a:ea typeface="Calibri" pitchFamily="34" charset="-122"/>
                <a:cs typeface="Calibri" pitchFamily="34" charset="-120"/>
              </a:rPr>
              <a:t>Selecciona la herramienta Marque Rectangular (M) y arrastra para seleccionar el espacio transparente</a:t>
            </a:r>
            <a:endParaRPr lang="en-US" sz="1200" dirty="0"/>
          </a:p>
        </p:txBody>
      </p:sp>
      <p:sp>
        <p:nvSpPr>
          <p:cNvPr id="14" name="Text 12"/>
          <p:cNvSpPr txBox="1"/>
          <p:nvPr/>
        </p:nvSpPr>
        <p:spPr>
          <a:xfrm>
            <a:off x="658363" y="2640334"/>
            <a:ext cx="5116467" cy="34747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Arrastra desde el borde izquierdo del lienzo hasta superponer ligeramente el borde izquierdo de la capa de foto Arch. Superpone el Arch ligeramente, unos pocos pixeles, para asegurarte de que no haya espacio ni costura entre el contenido generado y la foto existente.</a:t>
            </a:r>
            <a:endParaRPr lang="en-US" sz="1000" dirty="0"/>
          </a:p>
        </p:txBody>
      </p:sp>
      <p:sp>
        <p:nvSpPr>
          <p:cNvPr id="15" name="Shape 13"/>
          <p:cNvSpPr/>
          <p:nvPr/>
        </p:nvSpPr>
        <p:spPr>
          <a:xfrm>
            <a:off x="182880" y="3157602"/>
            <a:ext cx="365760" cy="365760"/>
          </a:xfrm>
          <a:prstGeom prst="ellipse">
            <a:avLst/>
          </a:prstGeom>
          <a:solidFill>
            <a:srgbClr val="FF6B1A"/>
          </a:solidFill>
          <a:ln/>
        </p:spPr>
        <p:txBody>
          <a:bodyPr/>
          <a:lstStyle/>
          <a:p>
            <a:endParaRPr lang="en-US"/>
          </a:p>
        </p:txBody>
      </p:sp>
      <p:sp>
        <p:nvSpPr>
          <p:cNvPr id="16" name="Text 14"/>
          <p:cNvSpPr txBox="1"/>
          <p:nvPr/>
        </p:nvSpPr>
        <p:spPr>
          <a:xfrm>
            <a:off x="182880" y="315760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58365" y="3064588"/>
            <a:ext cx="5116467" cy="292608"/>
          </a:xfrm>
          <a:prstGeom prst="rect">
            <a:avLst/>
          </a:prstGeom>
          <a:noFill/>
          <a:ln/>
        </p:spPr>
        <p:txBody>
          <a:bodyPr wrap="square" lIns="0" tIns="0" rIns="0" bIns="0" rtlCol="0" anchor="ctr"/>
          <a:lstStyle/>
          <a:p>
            <a:pPr marL="0" indent="0">
              <a:buNone/>
            </a:pPr>
            <a:r>
              <a:rPr lang="en-US" sz="1200" b="1" dirty="0">
                <a:solidFill>
                  <a:srgbClr val="FFCC00"/>
                </a:solidFill>
                <a:latin typeface="Calibri" pitchFamily="34" charset="0"/>
                <a:ea typeface="Calibri" pitchFamily="34" charset="-122"/>
                <a:cs typeface="Calibri" pitchFamily="34" charset="-120"/>
              </a:rPr>
              <a:t>Asegurate de que la capa Arch este seleccionada en el panel Capas</a:t>
            </a:r>
            <a:endParaRPr lang="en-US" sz="1200" dirty="0"/>
          </a:p>
        </p:txBody>
      </p:sp>
      <p:sp>
        <p:nvSpPr>
          <p:cNvPr id="18" name="Text 16"/>
          <p:cNvSpPr txBox="1"/>
          <p:nvPr/>
        </p:nvSpPr>
        <p:spPr>
          <a:xfrm>
            <a:off x="658365" y="3293188"/>
            <a:ext cx="5116467" cy="34747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El Relleno Generativo agregara su contenido generado directamente encima de la capa que este activa. La capa Arch ya debe estar seleccionada.</a:t>
            </a:r>
            <a:endParaRPr lang="en-US" sz="1000" dirty="0"/>
          </a:p>
        </p:txBody>
      </p:sp>
      <p:sp>
        <p:nvSpPr>
          <p:cNvPr id="19" name="Shape 17"/>
          <p:cNvSpPr/>
          <p:nvPr/>
        </p:nvSpPr>
        <p:spPr>
          <a:xfrm>
            <a:off x="182880" y="3662172"/>
            <a:ext cx="365760" cy="365760"/>
          </a:xfrm>
          <a:prstGeom prst="ellipse">
            <a:avLst/>
          </a:prstGeom>
          <a:solidFill>
            <a:srgbClr val="FF6B1A"/>
          </a:solidFill>
          <a:ln/>
        </p:spPr>
        <p:txBody>
          <a:bodyPr/>
          <a:lstStyle/>
          <a:p>
            <a:endParaRPr lang="en-US"/>
          </a:p>
        </p:txBody>
      </p:sp>
      <p:sp>
        <p:nvSpPr>
          <p:cNvPr id="20" name="Text 18"/>
          <p:cNvSpPr txBox="1"/>
          <p:nvPr/>
        </p:nvSpPr>
        <p:spPr>
          <a:xfrm>
            <a:off x="182880" y="366217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658365" y="3677761"/>
            <a:ext cx="5116467" cy="292608"/>
          </a:xfrm>
          <a:prstGeom prst="rect">
            <a:avLst/>
          </a:prstGeom>
          <a:noFill/>
          <a:ln/>
        </p:spPr>
        <p:txBody>
          <a:bodyPr wrap="square" lIns="0" tIns="0" rIns="0" bIns="0" rtlCol="0" anchor="ctr"/>
          <a:lstStyle/>
          <a:p>
            <a:pPr marL="0" indent="0">
              <a:buNone/>
            </a:pPr>
            <a:r>
              <a:rPr lang="en-US" sz="1200" b="1" dirty="0">
                <a:solidFill>
                  <a:srgbClr val="FFCC00"/>
                </a:solidFill>
                <a:latin typeface="Calibri" pitchFamily="34" charset="0"/>
                <a:ea typeface="Calibri" pitchFamily="34" charset="-122"/>
                <a:cs typeface="Calibri" pitchFamily="34" charset="-120"/>
              </a:rPr>
              <a:t>En la Barra de Tareas Contextual, haz clic en Relleno Generativo, deja el mensaje en blanco, haz clic en Generar</a:t>
            </a:r>
            <a:endParaRPr lang="en-US" sz="1200" dirty="0"/>
          </a:p>
        </p:txBody>
      </p:sp>
      <p:sp>
        <p:nvSpPr>
          <p:cNvPr id="22" name="Text 20"/>
          <p:cNvSpPr txBox="1"/>
          <p:nvPr/>
        </p:nvSpPr>
        <p:spPr>
          <a:xfrm>
            <a:off x="658366" y="4055364"/>
            <a:ext cx="5024416" cy="34747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Cuando aparezca el mensaje, dejalo vacio. Un mensaje vacio le dice a Photoshop que rellene la seleccion con contenido que coincida con la imagen existente. Photoshop genera tres Variaciones. Si aparece un mensaje sobre aceptar las Pautas del Usuario, haz clic en Aceptar.</a:t>
            </a:r>
            <a:endParaRPr lang="en-US" sz="1000" dirty="0"/>
          </a:p>
        </p:txBody>
      </p:sp>
      <p:sp>
        <p:nvSpPr>
          <p:cNvPr id="23" name="Shape 21"/>
          <p:cNvSpPr/>
          <p:nvPr/>
        </p:nvSpPr>
        <p:spPr>
          <a:xfrm>
            <a:off x="182880" y="4550190"/>
            <a:ext cx="365760" cy="365760"/>
          </a:xfrm>
          <a:prstGeom prst="ellipse">
            <a:avLst/>
          </a:prstGeom>
          <a:solidFill>
            <a:srgbClr val="FF6B1A"/>
          </a:solidFill>
          <a:ln/>
        </p:spPr>
        <p:txBody>
          <a:bodyPr/>
          <a:lstStyle/>
          <a:p>
            <a:endParaRPr lang="en-US"/>
          </a:p>
        </p:txBody>
      </p:sp>
      <p:sp>
        <p:nvSpPr>
          <p:cNvPr id="24" name="Text 22"/>
          <p:cNvSpPr txBox="1"/>
          <p:nvPr/>
        </p:nvSpPr>
        <p:spPr>
          <a:xfrm>
            <a:off x="182880" y="455019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3"/>
          <p:cNvSpPr txBox="1"/>
          <p:nvPr/>
        </p:nvSpPr>
        <p:spPr>
          <a:xfrm>
            <a:off x="658366" y="4440462"/>
            <a:ext cx="5116467" cy="292608"/>
          </a:xfrm>
          <a:prstGeom prst="rect">
            <a:avLst/>
          </a:prstGeom>
          <a:noFill/>
          <a:ln/>
        </p:spPr>
        <p:txBody>
          <a:bodyPr wrap="square" lIns="0" tIns="0" rIns="0" bIns="0" rtlCol="0" anchor="ctr"/>
          <a:lstStyle/>
          <a:p>
            <a:pPr marL="0" indent="0">
              <a:buNone/>
            </a:pPr>
            <a:r>
              <a:rPr lang="en-US" sz="1200" b="1" dirty="0">
                <a:solidFill>
                  <a:srgbClr val="FFCC00"/>
                </a:solidFill>
                <a:latin typeface="Calibri" pitchFamily="34" charset="0"/>
                <a:ea typeface="Calibri" pitchFamily="34" charset="-122"/>
                <a:cs typeface="Calibri" pitchFamily="34" charset="-120"/>
              </a:rPr>
              <a:t>En el panel Propiedades, haz clic en cada variacion y elige la mejor</a:t>
            </a:r>
            <a:endParaRPr lang="en-US" sz="1200" dirty="0"/>
          </a:p>
        </p:txBody>
      </p:sp>
      <p:sp>
        <p:nvSpPr>
          <p:cNvPr id="26" name="Text 24"/>
          <p:cNvSpPr txBox="1"/>
          <p:nvPr/>
        </p:nvSpPr>
        <p:spPr>
          <a:xfrm>
            <a:off x="658368" y="4660566"/>
            <a:ext cx="5024414" cy="34747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Tres opciones de miniatura aparecen en la seccion Variaciones del panel Propiedades. Haz clic en cada una para previsualizarla en el lienzo. Elige la que se vea mas natural y sin costuras.</a:t>
            </a:r>
            <a:endParaRPr lang="en-US" sz="1000" dirty="0"/>
          </a:p>
        </p:txBody>
      </p:sp>
      <p:pic>
        <p:nvPicPr>
          <p:cNvPr id="27" name="Image 0" descr="preencoded.png"/>
          <p:cNvPicPr>
            <a:picLocks noChangeAspect="1"/>
          </p:cNvPicPr>
          <p:nvPr/>
        </p:nvPicPr>
        <p:blipFill>
          <a:blip r:embed="rId3"/>
          <a:stretch>
            <a:fillRect/>
          </a:stretch>
        </p:blipFill>
        <p:spPr>
          <a:xfrm>
            <a:off x="5830066" y="1385640"/>
            <a:ext cx="3131053" cy="3362983"/>
          </a:xfrm>
          <a:prstGeom prst="rect">
            <a:avLst/>
          </a:prstGeom>
        </p:spPr>
      </p:pic>
      <p:sp>
        <p:nvSpPr>
          <p:cNvPr id="28" name="Text 25"/>
          <p:cNvSpPr txBox="1"/>
          <p:nvPr/>
        </p:nvSpPr>
        <p:spPr>
          <a:xfrm>
            <a:off x="5830066" y="4817234"/>
            <a:ext cx="3131053" cy="193678"/>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Resultado del Relleno Generativo: panel Capas con la capa de Relleno Generativo y panel Propiedades con Variaciones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PASO 11c</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Revelar Todas las Capas: Revisar la Composicion Final</a:t>
            </a:r>
            <a:endParaRPr lang="en-US" sz="2000" dirty="0"/>
          </a:p>
        </p:txBody>
      </p:sp>
      <p:sp>
        <p:nvSpPr>
          <p:cNvPr id="5" name="Shape 3"/>
          <p:cNvSpPr/>
          <p:nvPr/>
        </p:nvSpPr>
        <p:spPr>
          <a:xfrm>
            <a:off x="182880" y="789337"/>
            <a:ext cx="365760" cy="365760"/>
          </a:xfrm>
          <a:prstGeom prst="ellipse">
            <a:avLst/>
          </a:prstGeom>
          <a:solidFill>
            <a:srgbClr val="FF6B1A"/>
          </a:solidFill>
          <a:ln/>
        </p:spPr>
        <p:txBody>
          <a:bodyPr/>
          <a:lstStyle/>
          <a:p>
            <a:endParaRPr lang="en-US"/>
          </a:p>
        </p:txBody>
      </p:sp>
      <p:sp>
        <p:nvSpPr>
          <p:cNvPr id="6" name="Text 4"/>
          <p:cNvSpPr txBox="1"/>
          <p:nvPr/>
        </p:nvSpPr>
        <p:spPr>
          <a:xfrm>
            <a:off x="182880" y="789337"/>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7" name="Text 5"/>
          <p:cNvSpPr txBox="1"/>
          <p:nvPr/>
        </p:nvSpPr>
        <p:spPr>
          <a:xfrm>
            <a:off x="658368" y="804672"/>
            <a:ext cx="8165592"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Control+clic en el icono de ojo de la capa Relleno Generativo en el panel Capas, elige Mostrar/Ocultar Todas las Demas Capas</a:t>
            </a:r>
            <a:endParaRPr lang="en-US" sz="1300" dirty="0"/>
          </a:p>
        </p:txBody>
      </p:sp>
      <p:sp>
        <p:nvSpPr>
          <p:cNvPr id="8" name="Text 6"/>
          <p:cNvSpPr txBox="1"/>
          <p:nvPr/>
        </p:nvSpPr>
        <p:spPr>
          <a:xfrm>
            <a:off x="658368" y="1243584"/>
            <a:ext cx="8302752"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Esto activa todas tus demas capas a la vez. Ahora puedes ver la composicion completa: la foto Arch centrada, el contenido extendido a la izquierda, las barras de color naranja y azul, la superposicion de verde oscuro, ambas capas de texto y el efecto de salpicadura de pintura detras de LIVE STREAM.</a:t>
            </a:r>
            <a:endParaRPr lang="en-US" sz="1150" dirty="0"/>
          </a:p>
        </p:txBody>
      </p:sp>
      <p:sp>
        <p:nvSpPr>
          <p:cNvPr id="9" name="Shape 7"/>
          <p:cNvSpPr/>
          <p:nvPr/>
        </p:nvSpPr>
        <p:spPr>
          <a:xfrm>
            <a:off x="182880" y="1874520"/>
            <a:ext cx="8778240" cy="804672"/>
          </a:xfrm>
          <a:prstGeom prst="roundRect">
            <a:avLst>
              <a:gd name="adj" fmla="val 9091"/>
            </a:avLst>
          </a:prstGeom>
          <a:solidFill>
            <a:srgbClr val="2A2A2A"/>
          </a:solidFill>
          <a:ln w="12700">
            <a:solidFill>
              <a:srgbClr val="444444"/>
            </a:solidFill>
            <a:prstDash val="solid"/>
          </a:ln>
        </p:spPr>
        <p:txBody>
          <a:bodyPr/>
          <a:lstStyle/>
          <a:p>
            <a:endParaRPr lang="en-US"/>
          </a:p>
        </p:txBody>
      </p:sp>
      <p:sp>
        <p:nvSpPr>
          <p:cNvPr id="10" name="Text 8"/>
          <p:cNvSpPr txBox="1"/>
          <p:nvPr/>
        </p:nvSpPr>
        <p:spPr>
          <a:xfrm>
            <a:off x="320040" y="1965960"/>
            <a:ext cx="8503920" cy="621792"/>
          </a:xfrm>
          <a:prstGeom prst="rect">
            <a:avLst/>
          </a:prstGeom>
          <a:noFill/>
          <a:ln/>
        </p:spPr>
        <p:txBody>
          <a:bodyPr wrap="square" lIns="0" tIns="0" rIns="0" bIns="0" rtlCol="0" anchor="ctr"/>
          <a:lstStyle/>
          <a:p>
            <a:pPr marL="0" indent="0">
              <a:buNone/>
            </a:pPr>
            <a:r>
              <a:rPr lang="en-US" sz="1200" dirty="0">
                <a:solidFill>
                  <a:srgbClr val="A0D8D8"/>
                </a:solidFill>
                <a:latin typeface="Calibri" pitchFamily="34" charset="0"/>
                <a:ea typeface="Calibri" pitchFamily="34" charset="-122"/>
                <a:cs typeface="Calibri" pitchFamily="34" charset="-120"/>
              </a:rPr>
              <a:t>📌 El orden final de tu panel Capas (de arriba a abajo) debe ser ahora:</a:t>
            </a:r>
            <a:endParaRPr lang="en-US" sz="1200" dirty="0"/>
          </a:p>
          <a:p>
            <a:pPr marL="0" indent="0">
              <a:buNone/>
            </a:pPr>
            <a:r>
              <a:rPr lang="en-US" sz="1200" dirty="0">
                <a:solidFill>
                  <a:srgbClr val="A0D8D8"/>
                </a:solidFill>
                <a:latin typeface="Calibri" pitchFamily="34" charset="0"/>
                <a:ea typeface="Calibri" pitchFamily="34" charset="-122"/>
                <a:cs typeface="Calibri" pitchFamily="34" charset="-120"/>
              </a:rPr>
              <a:t>Live Stream  |  History 301  |  Pintura  |  Rectangulos  |  Color Fill 1  |  Relleno Generativo  |  Arch  |  Fondo</a:t>
            </a:r>
            <a:endParaRPr lang="en-US" sz="1200" dirty="0"/>
          </a:p>
        </p:txBody>
      </p:sp>
      <p:sp>
        <p:nvSpPr>
          <p:cNvPr id="11" name="Shape 9"/>
          <p:cNvSpPr/>
          <p:nvPr/>
        </p:nvSpPr>
        <p:spPr>
          <a:xfrm>
            <a:off x="182880" y="2912364"/>
            <a:ext cx="365760" cy="365760"/>
          </a:xfrm>
          <a:prstGeom prst="ellipse">
            <a:avLst/>
          </a:prstGeom>
          <a:solidFill>
            <a:srgbClr val="FF6B1A"/>
          </a:solidFill>
          <a:ln/>
        </p:spPr>
        <p:txBody>
          <a:bodyPr/>
          <a:lstStyle/>
          <a:p>
            <a:endParaRPr lang="en-US"/>
          </a:p>
        </p:txBody>
      </p:sp>
      <p:sp>
        <p:nvSpPr>
          <p:cNvPr id="12" name="Text 10"/>
          <p:cNvSpPr txBox="1"/>
          <p:nvPr/>
        </p:nvSpPr>
        <p:spPr>
          <a:xfrm>
            <a:off x="182880" y="291236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13" name="Text 11"/>
          <p:cNvSpPr txBox="1"/>
          <p:nvPr/>
        </p:nvSpPr>
        <p:spPr>
          <a:xfrm>
            <a:off x="658368" y="2852928"/>
            <a:ext cx="4472091"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Revisa tu composicion: ¿hay algo que necesite ajuste?</a:t>
            </a:r>
            <a:endParaRPr lang="en-US" sz="1300" dirty="0"/>
          </a:p>
        </p:txBody>
      </p:sp>
      <p:sp>
        <p:nvSpPr>
          <p:cNvPr id="14" name="Text 12"/>
          <p:cNvSpPr txBox="1"/>
          <p:nvPr/>
        </p:nvSpPr>
        <p:spPr>
          <a:xfrm>
            <a:off x="658367" y="3282696"/>
            <a:ext cx="4564608"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Mira el lienzo con cuidado. Verifica que el texto sea legible, que las barras de color enmarquen el diseno y que el contenido de Relleno Generativo se mezcle de forma natural. Si algo no se ve bien, ahora es el momento de arreglarlo antes de exportar.</a:t>
            </a:r>
            <a:endParaRPr lang="en-US" sz="1150" dirty="0"/>
          </a:p>
        </p:txBody>
      </p:sp>
      <p:sp>
        <p:nvSpPr>
          <p:cNvPr id="15" name="Shape 13"/>
          <p:cNvSpPr/>
          <p:nvPr/>
        </p:nvSpPr>
        <p:spPr>
          <a:xfrm>
            <a:off x="182880" y="3950208"/>
            <a:ext cx="365760" cy="365760"/>
          </a:xfrm>
          <a:prstGeom prst="ellipse">
            <a:avLst/>
          </a:prstGeom>
          <a:solidFill>
            <a:srgbClr val="FF6B1A"/>
          </a:solidFill>
          <a:ln/>
        </p:spPr>
        <p:txBody>
          <a:bodyPr/>
          <a:lstStyle/>
          <a:p>
            <a:endParaRPr lang="en-US"/>
          </a:p>
        </p:txBody>
      </p:sp>
      <p:sp>
        <p:nvSpPr>
          <p:cNvPr id="16" name="Text 14"/>
          <p:cNvSpPr txBox="1"/>
          <p:nvPr/>
        </p:nvSpPr>
        <p:spPr>
          <a:xfrm>
            <a:off x="182880" y="39502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17" name="Text 15"/>
          <p:cNvSpPr txBox="1"/>
          <p:nvPr/>
        </p:nvSpPr>
        <p:spPr>
          <a:xfrm>
            <a:off x="658367" y="3888716"/>
            <a:ext cx="4472091" cy="292608"/>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Archivo &gt; Guardar: Cmd+S</a:t>
            </a:r>
            <a:endParaRPr lang="en-US" sz="1300" dirty="0"/>
          </a:p>
        </p:txBody>
      </p:sp>
      <p:sp>
        <p:nvSpPr>
          <p:cNvPr id="18" name="Text 16"/>
          <p:cNvSpPr txBox="1"/>
          <p:nvPr/>
        </p:nvSpPr>
        <p:spPr>
          <a:xfrm>
            <a:off x="658368" y="4133088"/>
            <a:ext cx="4564608" cy="347472"/>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Guarda tu archivo .psd. Este es tu archivo de trabajo principal. Guardalo de forma segura, contiene todas tus capas editables.</a:t>
            </a:r>
            <a:endParaRPr lang="en-US" sz="1150" dirty="0"/>
          </a:p>
        </p:txBody>
      </p:sp>
      <p:pic>
        <p:nvPicPr>
          <p:cNvPr id="22" name="Picture 21">
            <a:extLst>
              <a:ext uri="{FF2B5EF4-FFF2-40B4-BE49-F238E27FC236}">
                <a16:creationId xmlns:a16="http://schemas.microsoft.com/office/drawing/2014/main" id="{D9641D52-83D8-2E3C-BC8D-3E5FF9147A6A}"/>
              </a:ext>
            </a:extLst>
          </p:cNvPr>
          <p:cNvPicPr>
            <a:picLocks noChangeAspect="1"/>
          </p:cNvPicPr>
          <p:nvPr/>
        </p:nvPicPr>
        <p:blipFill>
          <a:blip r:embed="rId3"/>
          <a:stretch>
            <a:fillRect/>
          </a:stretch>
        </p:blipFill>
        <p:spPr>
          <a:xfrm>
            <a:off x="5332704" y="2886075"/>
            <a:ext cx="3588512" cy="201853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1371600" cy="457200"/>
          </a:xfrm>
          <a:prstGeom prst="rect">
            <a:avLst/>
          </a:prstGeom>
          <a:noFill/>
          <a:ln/>
        </p:spPr>
        <p:txBody>
          <a:bodyPr wrap="square" lIns="0" tIns="0" rIns="0" bIns="0" rtlCol="0" anchor="ctr"/>
          <a:lstStyle/>
          <a:p>
            <a:pPr marL="0" indent="0">
              <a:buNone/>
            </a:pPr>
            <a:r>
              <a:rPr lang="en-US" sz="1000" b="1" dirty="0">
                <a:solidFill>
                  <a:srgbClr val="A0D8D8"/>
                </a:solidFill>
                <a:latin typeface="Calibri" pitchFamily="34" charset="0"/>
                <a:ea typeface="Calibri" pitchFamily="34" charset="-122"/>
                <a:cs typeface="Calibri" pitchFamily="34" charset="-120"/>
              </a:rPr>
              <a:t>PASO 12</a:t>
            </a:r>
            <a:endParaRPr lang="en-US" sz="1000" dirty="0"/>
          </a:p>
        </p:txBody>
      </p:sp>
      <p:sp>
        <p:nvSpPr>
          <p:cNvPr id="4" name="Text 2"/>
          <p:cNvSpPr txBox="1"/>
          <p:nvPr/>
        </p:nvSpPr>
        <p:spPr>
          <a:xfrm>
            <a:off x="1417320" y="91440"/>
            <a:ext cx="75438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Exportar una Copia para Entrega: Archivo &gt; Exportar Como</a:t>
            </a:r>
            <a:endParaRPr lang="en-US" sz="2000" dirty="0"/>
          </a:p>
        </p:txBody>
      </p:sp>
      <p:sp>
        <p:nvSpPr>
          <p:cNvPr id="5" name="Shape 3"/>
          <p:cNvSpPr/>
          <p:nvPr/>
        </p:nvSpPr>
        <p:spPr>
          <a:xfrm>
            <a:off x="182880" y="777240"/>
            <a:ext cx="8778240" cy="658368"/>
          </a:xfrm>
          <a:prstGeom prst="roundRect">
            <a:avLst>
              <a:gd name="adj" fmla="val 11111"/>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868680"/>
            <a:ext cx="8503920" cy="47548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Tu archivo .psd es tu archivo principal. Nunca lo entregas a un cliente ni lo subes a un servicio de streaming. Necesitas exportar una copia aplanada en un formato listo para la web. Para esta leccion, el objetivo es un servicio de streaming que requiere: al menos 1280 × 720 pixeles, formato JPEG o PNG y menos de 2 MB de tamano de archivo.</a:t>
            </a:r>
            <a:endParaRPr lang="en-US" sz="1200" dirty="0"/>
          </a:p>
        </p:txBody>
      </p:sp>
      <p:sp>
        <p:nvSpPr>
          <p:cNvPr id="7" name="Shape 5"/>
          <p:cNvSpPr/>
          <p:nvPr/>
        </p:nvSpPr>
        <p:spPr>
          <a:xfrm>
            <a:off x="182880" y="1600200"/>
            <a:ext cx="365760" cy="365760"/>
          </a:xfrm>
          <a:prstGeom prst="ellipse">
            <a:avLst/>
          </a:prstGeom>
          <a:solidFill>
            <a:srgbClr val="FF6B1A"/>
          </a:solidFill>
          <a:ln/>
        </p:spPr>
        <p:txBody>
          <a:bodyPr/>
          <a:lstStyle/>
          <a:p>
            <a:endParaRPr lang="en-US"/>
          </a:p>
        </p:txBody>
      </p:sp>
      <p:sp>
        <p:nvSpPr>
          <p:cNvPr id="8" name="Text 6"/>
          <p:cNvSpPr txBox="1"/>
          <p:nvPr/>
        </p:nvSpPr>
        <p:spPr>
          <a:xfrm>
            <a:off x="182880" y="16002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655666" y="1520074"/>
            <a:ext cx="5251479" cy="292608"/>
          </a:xfrm>
          <a:prstGeom prst="rect">
            <a:avLst/>
          </a:prstGeom>
          <a:noFill/>
          <a:ln/>
        </p:spPr>
        <p:txBody>
          <a:bodyPr wrap="square" lIns="0" tIns="0" rIns="0" bIns="0" rtlCol="0" anchor="ctr"/>
          <a:lstStyle/>
          <a:p>
            <a:pPr marL="0" indent="0">
              <a:buNone/>
            </a:pPr>
            <a:r>
              <a:rPr lang="en-US" sz="1200" b="1" dirty="0">
                <a:solidFill>
                  <a:srgbClr val="FFCC00"/>
                </a:solidFill>
                <a:latin typeface="Calibri" pitchFamily="34" charset="0"/>
                <a:ea typeface="Calibri" pitchFamily="34" charset="-122"/>
                <a:cs typeface="Calibri" pitchFamily="34" charset="-120"/>
              </a:rPr>
              <a:t>Elige Archivo &gt; Exportar &gt; Exportar Como</a:t>
            </a:r>
            <a:endParaRPr lang="en-US" sz="1200" dirty="0"/>
          </a:p>
        </p:txBody>
      </p:sp>
      <p:sp>
        <p:nvSpPr>
          <p:cNvPr id="10" name="Text 8"/>
          <p:cNvSpPr txBox="1"/>
          <p:nvPr/>
        </p:nvSpPr>
        <p:spPr>
          <a:xfrm>
            <a:off x="650267" y="1761501"/>
            <a:ext cx="5251479" cy="34747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Se abre el cuadro de dialogo Exportar Como. Tiene tres paneles: izquierdo (nombre de archivo, escala, lista de formato), centro (vista previa de la imagen exportada) y derecho (todas las configuraciones de exportacion).</a:t>
            </a:r>
            <a:endParaRPr lang="en-US" sz="1000" dirty="0"/>
          </a:p>
        </p:txBody>
      </p:sp>
      <p:sp>
        <p:nvSpPr>
          <p:cNvPr id="11" name="Shape 9"/>
          <p:cNvSpPr/>
          <p:nvPr/>
        </p:nvSpPr>
        <p:spPr>
          <a:xfrm>
            <a:off x="182880" y="2238944"/>
            <a:ext cx="365760" cy="365760"/>
          </a:xfrm>
          <a:prstGeom prst="ellipse">
            <a:avLst/>
          </a:prstGeom>
          <a:solidFill>
            <a:srgbClr val="FF6B1A"/>
          </a:solidFill>
          <a:ln/>
        </p:spPr>
        <p:txBody>
          <a:bodyPr/>
          <a:lstStyle/>
          <a:p>
            <a:endParaRPr lang="en-US"/>
          </a:p>
        </p:txBody>
      </p:sp>
      <p:sp>
        <p:nvSpPr>
          <p:cNvPr id="12" name="Text 10"/>
          <p:cNvSpPr txBox="1"/>
          <p:nvPr/>
        </p:nvSpPr>
        <p:spPr>
          <a:xfrm>
            <a:off x="182880" y="223894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50267" y="2145633"/>
            <a:ext cx="5251479" cy="292608"/>
          </a:xfrm>
          <a:prstGeom prst="rect">
            <a:avLst/>
          </a:prstGeom>
          <a:noFill/>
          <a:ln/>
        </p:spPr>
        <p:txBody>
          <a:bodyPr wrap="square" lIns="0" tIns="0" rIns="0" bIns="0" rtlCol="0" anchor="ctr"/>
          <a:lstStyle/>
          <a:p>
            <a:pPr marL="0" indent="0">
              <a:buNone/>
            </a:pPr>
            <a:r>
              <a:rPr lang="en-US" sz="1200" b="1" dirty="0">
                <a:solidFill>
                  <a:srgbClr val="FFCC00"/>
                </a:solidFill>
                <a:latin typeface="Calibri" pitchFamily="34" charset="0"/>
                <a:ea typeface="Calibri" pitchFamily="34" charset="-122"/>
                <a:cs typeface="Calibri" pitchFamily="34" charset="-120"/>
              </a:rPr>
              <a:t>Panel derecho, Configuracion de Archivo: establece Formato en JPG, Calidad en 6</a:t>
            </a:r>
            <a:endParaRPr lang="en-US" sz="1200" dirty="0"/>
          </a:p>
        </p:txBody>
      </p:sp>
      <p:sp>
        <p:nvSpPr>
          <p:cNvPr id="14" name="Text 12"/>
          <p:cNvSpPr txBox="1"/>
          <p:nvPr/>
        </p:nvSpPr>
        <p:spPr>
          <a:xfrm>
            <a:off x="650267" y="2411286"/>
            <a:ext cx="5251479" cy="34747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JPEG (JPG) es el formato estandar para imagenes fotograficas entregadas a la web, video y plataformas de streaming. Calidad 6 de 12 ofrece un buen equilibrio entre calidad de imagen y tamano de archivo pequeno.</a:t>
            </a:r>
            <a:endParaRPr lang="en-US" sz="1000" dirty="0"/>
          </a:p>
        </p:txBody>
      </p:sp>
      <p:sp>
        <p:nvSpPr>
          <p:cNvPr id="15" name="Shape 13"/>
          <p:cNvSpPr/>
          <p:nvPr/>
        </p:nvSpPr>
        <p:spPr>
          <a:xfrm>
            <a:off x="177477" y="2948419"/>
            <a:ext cx="365760" cy="365760"/>
          </a:xfrm>
          <a:prstGeom prst="ellipse">
            <a:avLst/>
          </a:prstGeom>
          <a:solidFill>
            <a:srgbClr val="FF6B1A"/>
          </a:solidFill>
          <a:ln/>
        </p:spPr>
        <p:txBody>
          <a:bodyPr/>
          <a:lstStyle/>
          <a:p>
            <a:endParaRPr lang="en-US"/>
          </a:p>
        </p:txBody>
      </p:sp>
      <p:sp>
        <p:nvSpPr>
          <p:cNvPr id="16" name="Text 14"/>
          <p:cNvSpPr txBox="1"/>
          <p:nvPr/>
        </p:nvSpPr>
        <p:spPr>
          <a:xfrm>
            <a:off x="177477" y="2948419"/>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50267" y="2849551"/>
            <a:ext cx="5251479" cy="292608"/>
          </a:xfrm>
          <a:prstGeom prst="rect">
            <a:avLst/>
          </a:prstGeom>
          <a:noFill/>
          <a:ln/>
        </p:spPr>
        <p:txBody>
          <a:bodyPr wrap="square" lIns="0" tIns="0" rIns="0" bIns="0" rtlCol="0" anchor="ctr"/>
          <a:lstStyle/>
          <a:p>
            <a:pPr marL="0" indent="0">
              <a:buNone/>
            </a:pPr>
            <a:r>
              <a:rPr lang="en-US" sz="1200" b="1" dirty="0">
                <a:solidFill>
                  <a:srgbClr val="FFCC00"/>
                </a:solidFill>
                <a:latin typeface="Calibri" pitchFamily="34" charset="0"/>
                <a:ea typeface="Calibri" pitchFamily="34" charset="-122"/>
                <a:cs typeface="Calibri" pitchFamily="34" charset="-120"/>
              </a:rPr>
              <a:t>Panel derecho, Tamano de Imagen: establece Ancho en 1280 y presiona Tab</a:t>
            </a:r>
            <a:endParaRPr lang="en-US" sz="1200" dirty="0"/>
          </a:p>
        </p:txBody>
      </p:sp>
      <p:sp>
        <p:nvSpPr>
          <p:cNvPr id="18" name="Text 16"/>
          <p:cNvSpPr txBox="1"/>
          <p:nvPr/>
        </p:nvSpPr>
        <p:spPr>
          <a:xfrm>
            <a:off x="650266" y="3142159"/>
            <a:ext cx="5251479" cy="34747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Al presionar Tab se aplica el valor y se calcula automaticamente la Altura. Dado que la imagen es de 1920 × 1080, escalar al ancho de 1280 da exactamente 720 pixeles de altura. Este es el estandar de video HD 720p.</a:t>
            </a:r>
            <a:endParaRPr lang="en-US" sz="1000" dirty="0"/>
          </a:p>
        </p:txBody>
      </p:sp>
      <p:sp>
        <p:nvSpPr>
          <p:cNvPr id="19" name="Shape 17"/>
          <p:cNvSpPr/>
          <p:nvPr/>
        </p:nvSpPr>
        <p:spPr>
          <a:xfrm>
            <a:off x="177477" y="3635849"/>
            <a:ext cx="365760" cy="365760"/>
          </a:xfrm>
          <a:prstGeom prst="ellipse">
            <a:avLst/>
          </a:prstGeom>
          <a:solidFill>
            <a:srgbClr val="FF6B1A"/>
          </a:solidFill>
          <a:ln/>
        </p:spPr>
        <p:txBody>
          <a:bodyPr/>
          <a:lstStyle/>
          <a:p>
            <a:endParaRPr lang="en-US"/>
          </a:p>
        </p:txBody>
      </p:sp>
      <p:sp>
        <p:nvSpPr>
          <p:cNvPr id="20" name="Text 18"/>
          <p:cNvSpPr txBox="1"/>
          <p:nvPr/>
        </p:nvSpPr>
        <p:spPr>
          <a:xfrm>
            <a:off x="177477" y="3635849"/>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650266" y="3635545"/>
            <a:ext cx="5251479" cy="292608"/>
          </a:xfrm>
          <a:prstGeom prst="rect">
            <a:avLst/>
          </a:prstGeom>
          <a:noFill/>
          <a:ln/>
        </p:spPr>
        <p:txBody>
          <a:bodyPr wrap="square" lIns="0" tIns="0" rIns="0" bIns="0" rtlCol="0" anchor="ctr"/>
          <a:lstStyle/>
          <a:p>
            <a:pPr marL="0" indent="0">
              <a:buNone/>
            </a:pPr>
            <a:r>
              <a:rPr lang="en-US" sz="1200" b="1" dirty="0">
                <a:solidFill>
                  <a:srgbClr val="FFCC00"/>
                </a:solidFill>
                <a:latin typeface="Calibri" pitchFamily="34" charset="0"/>
                <a:ea typeface="Calibri" pitchFamily="34" charset="-122"/>
                <a:cs typeface="Calibri" pitchFamily="34" charset="-120"/>
              </a:rPr>
              <a:t>Panel derecho, Espacio de Color: confirma que Convertir a sRGB e Incrustar Perfil de Color esten marcados</a:t>
            </a:r>
            <a:endParaRPr lang="en-US" sz="1200" dirty="0"/>
          </a:p>
        </p:txBody>
      </p:sp>
      <p:sp>
        <p:nvSpPr>
          <p:cNvPr id="22" name="Text 20"/>
          <p:cNvSpPr txBox="1"/>
          <p:nvPr/>
        </p:nvSpPr>
        <p:spPr>
          <a:xfrm>
            <a:off x="650264" y="4001609"/>
            <a:ext cx="5251479" cy="34747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sRGB es el espacio de color estandar para pantallas, web y video. Incrustar el perfil de color garantiza que los colores se vean consistentes en diferentes monitores y dispositivos incluso si estan calibrados de forma diferente.</a:t>
            </a:r>
            <a:endParaRPr lang="en-US" sz="1000" dirty="0"/>
          </a:p>
        </p:txBody>
      </p:sp>
      <p:sp>
        <p:nvSpPr>
          <p:cNvPr id="23" name="Shape 21"/>
          <p:cNvSpPr/>
          <p:nvPr/>
        </p:nvSpPr>
        <p:spPr>
          <a:xfrm>
            <a:off x="177477" y="4474793"/>
            <a:ext cx="365760" cy="365760"/>
          </a:xfrm>
          <a:prstGeom prst="ellipse">
            <a:avLst/>
          </a:prstGeom>
          <a:solidFill>
            <a:srgbClr val="FF6B1A"/>
          </a:solidFill>
          <a:ln/>
        </p:spPr>
        <p:txBody>
          <a:bodyPr/>
          <a:lstStyle/>
          <a:p>
            <a:endParaRPr lang="en-US"/>
          </a:p>
        </p:txBody>
      </p:sp>
      <p:sp>
        <p:nvSpPr>
          <p:cNvPr id="24" name="Text 22"/>
          <p:cNvSpPr txBox="1"/>
          <p:nvPr/>
        </p:nvSpPr>
        <p:spPr>
          <a:xfrm>
            <a:off x="177477" y="4474793"/>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3"/>
          <p:cNvSpPr txBox="1"/>
          <p:nvPr/>
        </p:nvSpPr>
        <p:spPr>
          <a:xfrm>
            <a:off x="650265" y="4366260"/>
            <a:ext cx="5251479" cy="292608"/>
          </a:xfrm>
          <a:prstGeom prst="rect">
            <a:avLst/>
          </a:prstGeom>
          <a:noFill/>
          <a:ln/>
        </p:spPr>
        <p:txBody>
          <a:bodyPr wrap="square" lIns="0" tIns="0" rIns="0" bIns="0" rtlCol="0" anchor="ctr"/>
          <a:lstStyle/>
          <a:p>
            <a:pPr marL="0" indent="0">
              <a:buNone/>
            </a:pPr>
            <a:r>
              <a:rPr lang="en-US" sz="1200" b="1" dirty="0">
                <a:solidFill>
                  <a:srgbClr val="FFCC00"/>
                </a:solidFill>
                <a:latin typeface="Calibri" pitchFamily="34" charset="0"/>
                <a:ea typeface="Calibri" pitchFamily="34" charset="-122"/>
                <a:cs typeface="Calibri" pitchFamily="34" charset="-120"/>
              </a:rPr>
              <a:t>Haz clic en Exportar, navega a tu carpeta Leccion01 y haz clic en Guardar</a:t>
            </a:r>
            <a:endParaRPr lang="en-US" sz="1200" dirty="0"/>
          </a:p>
        </p:txBody>
      </p:sp>
      <p:sp>
        <p:nvSpPr>
          <p:cNvPr id="26" name="Text 24"/>
          <p:cNvSpPr txBox="1"/>
          <p:nvPr/>
        </p:nvSpPr>
        <p:spPr>
          <a:xfrm>
            <a:off x="652966" y="4657673"/>
            <a:ext cx="5251479" cy="34747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El archivo exportado se llama 01Trabajo.jpg automaticamente. Verifica el panel izquierdo antes de hacer clic en Exportar: debe confirmar 1280 × 720, JPG y un tamano de archivo bien por debajo de 2 MB (tipicamente alrededor de 300-400 KB).</a:t>
            </a:r>
            <a:endParaRPr lang="en-US" sz="1000" dirty="0"/>
          </a:p>
        </p:txBody>
      </p:sp>
      <p:pic>
        <p:nvPicPr>
          <p:cNvPr id="27" name="Image 0" descr="preencoded.png"/>
          <p:cNvPicPr>
            <a:picLocks noChangeAspect="1"/>
          </p:cNvPicPr>
          <p:nvPr/>
        </p:nvPicPr>
        <p:blipFill>
          <a:blip r:embed="rId3"/>
          <a:stretch>
            <a:fillRect/>
          </a:stretch>
        </p:blipFill>
        <p:spPr>
          <a:xfrm>
            <a:off x="6014174" y="1572768"/>
            <a:ext cx="2946946" cy="3165238"/>
          </a:xfrm>
          <a:prstGeom prst="rect">
            <a:avLst/>
          </a:prstGeom>
        </p:spPr>
      </p:pic>
      <p:sp>
        <p:nvSpPr>
          <p:cNvPr id="28" name="Text 25"/>
          <p:cNvSpPr txBox="1"/>
          <p:nvPr/>
        </p:nvSpPr>
        <p:spPr>
          <a:xfrm>
            <a:off x="6014174" y="4826990"/>
            <a:ext cx="2946946" cy="194480"/>
          </a:xfrm>
          <a:prstGeom prst="rect">
            <a:avLst/>
          </a:prstGeom>
          <a:noFill/>
          <a:ln/>
        </p:spPr>
        <p:txBody>
          <a:bodyPr wrap="square" lIns="0" tIns="0" rIns="0" bIns="0" rtlCol="0" anchor="ctr"/>
          <a:lstStyle/>
          <a:p>
            <a:pPr marL="0" indent="0">
              <a:buNone/>
            </a:pPr>
            <a:r>
              <a:rPr lang="en-US" sz="950" i="1" dirty="0">
                <a:solidFill>
                  <a:srgbClr val="AAAAAA"/>
                </a:solidFill>
                <a:latin typeface="Calibri" pitchFamily="34" charset="0"/>
                <a:ea typeface="Calibri" pitchFamily="34" charset="-122"/>
                <a:cs typeface="Calibri" pitchFamily="34" charset="-120"/>
              </a:rPr>
              <a:t>Cuadro de dialogo Exportar Como: formato JPG, Ancho 1280, Alto 720, Convertir a sRGB marcado</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474"/>
          </a:solidFill>
          <a:ln/>
        </p:spPr>
        <p:txBody>
          <a:bodyPr/>
          <a:lstStyle/>
          <a:p>
            <a:endParaRPr lang="en-US"/>
          </a:p>
        </p:txBody>
      </p:sp>
      <p:sp>
        <p:nvSpPr>
          <p:cNvPr id="3" name="Text 1"/>
          <p:cNvSpPr txBox="1"/>
          <p:nvPr/>
        </p:nvSpPr>
        <p:spPr>
          <a:xfrm>
            <a:off x="182880" y="91440"/>
            <a:ext cx="877824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Referencia Rapida: Deshacer, Atajos, Orden Final de Capas</a:t>
            </a:r>
            <a:endParaRPr lang="en-US" sz="2000" dirty="0"/>
          </a:p>
        </p:txBody>
      </p:sp>
      <p:sp>
        <p:nvSpPr>
          <p:cNvPr id="4" name="Text 2"/>
          <p:cNvSpPr txBox="1"/>
          <p:nvPr/>
        </p:nvSpPr>
        <p:spPr>
          <a:xfrm>
            <a:off x="182880" y="804672"/>
            <a:ext cx="4297680" cy="274320"/>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Comandos de Deshacer</a:t>
            </a:r>
            <a:endParaRPr lang="en-US" sz="1300" dirty="0"/>
          </a:p>
        </p:txBody>
      </p:sp>
      <p:sp>
        <p:nvSpPr>
          <p:cNvPr id="5" name="Shape 3"/>
          <p:cNvSpPr/>
          <p:nvPr/>
        </p:nvSpPr>
        <p:spPr>
          <a:xfrm>
            <a:off x="182880" y="1133856"/>
            <a:ext cx="4297680" cy="475488"/>
          </a:xfrm>
          <a:prstGeom prst="roundRect">
            <a:avLst>
              <a:gd name="adj" fmla="val 11538"/>
            </a:avLst>
          </a:prstGeom>
          <a:solidFill>
            <a:srgbClr val="2A2A2A"/>
          </a:solidFill>
          <a:ln w="12700">
            <a:solidFill>
              <a:srgbClr val="444444"/>
            </a:solidFill>
            <a:prstDash val="solid"/>
          </a:ln>
        </p:spPr>
        <p:txBody>
          <a:bodyPr/>
          <a:lstStyle/>
          <a:p>
            <a:endParaRPr lang="en-US"/>
          </a:p>
        </p:txBody>
      </p:sp>
      <p:sp>
        <p:nvSpPr>
          <p:cNvPr id="6" name="Text 4"/>
          <p:cNvSpPr txBox="1"/>
          <p:nvPr/>
        </p:nvSpPr>
        <p:spPr>
          <a:xfrm>
            <a:off x="320040" y="1170432"/>
            <a:ext cx="4005072" cy="201168"/>
          </a:xfrm>
          <a:prstGeom prst="rect">
            <a:avLst/>
          </a:prstGeom>
          <a:noFill/>
          <a:ln/>
        </p:spPr>
        <p:txBody>
          <a:bodyPr wrap="square" lIns="0" tIns="0" rIns="0" bIns="0" rtlCol="0" anchor="ctr"/>
          <a:lstStyle/>
          <a:p>
            <a:pPr marL="0" indent="0">
              <a:buNone/>
            </a:pPr>
            <a:r>
              <a:rPr lang="en-US" sz="1150" b="1" dirty="0">
                <a:solidFill>
                  <a:srgbClr val="A0D8D8"/>
                </a:solidFill>
                <a:latin typeface="Calibri" pitchFamily="34" charset="0"/>
                <a:ea typeface="Calibri" pitchFamily="34" charset="-122"/>
                <a:cs typeface="Calibri" pitchFamily="34" charset="-120"/>
              </a:rPr>
              <a:t>Cmd + Z</a:t>
            </a:r>
            <a:endParaRPr lang="en-US" sz="1150" dirty="0"/>
          </a:p>
        </p:txBody>
      </p:sp>
      <p:sp>
        <p:nvSpPr>
          <p:cNvPr id="7" name="Text 5"/>
          <p:cNvSpPr txBox="1"/>
          <p:nvPr/>
        </p:nvSpPr>
        <p:spPr>
          <a:xfrm>
            <a:off x="320040" y="1380744"/>
            <a:ext cx="4005072" cy="2011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Deshacer un paso a la vez</a:t>
            </a:r>
            <a:endParaRPr lang="en-US" sz="1100" dirty="0"/>
          </a:p>
        </p:txBody>
      </p:sp>
      <p:sp>
        <p:nvSpPr>
          <p:cNvPr id="8" name="Shape 6"/>
          <p:cNvSpPr/>
          <p:nvPr/>
        </p:nvSpPr>
        <p:spPr>
          <a:xfrm>
            <a:off x="182880" y="1700784"/>
            <a:ext cx="4297680" cy="475488"/>
          </a:xfrm>
          <a:prstGeom prst="roundRect">
            <a:avLst>
              <a:gd name="adj" fmla="val 11538"/>
            </a:avLst>
          </a:prstGeom>
          <a:solidFill>
            <a:srgbClr val="2A2A2A"/>
          </a:solidFill>
          <a:ln w="12700">
            <a:solidFill>
              <a:srgbClr val="444444"/>
            </a:solidFill>
            <a:prstDash val="solid"/>
          </a:ln>
        </p:spPr>
        <p:txBody>
          <a:bodyPr/>
          <a:lstStyle/>
          <a:p>
            <a:endParaRPr lang="en-US"/>
          </a:p>
        </p:txBody>
      </p:sp>
      <p:sp>
        <p:nvSpPr>
          <p:cNvPr id="9" name="Text 7"/>
          <p:cNvSpPr txBox="1"/>
          <p:nvPr/>
        </p:nvSpPr>
        <p:spPr>
          <a:xfrm>
            <a:off x="320040" y="1737360"/>
            <a:ext cx="4005072" cy="201168"/>
          </a:xfrm>
          <a:prstGeom prst="rect">
            <a:avLst/>
          </a:prstGeom>
          <a:noFill/>
          <a:ln/>
        </p:spPr>
        <p:txBody>
          <a:bodyPr wrap="square" lIns="0" tIns="0" rIns="0" bIns="0" rtlCol="0" anchor="ctr"/>
          <a:lstStyle/>
          <a:p>
            <a:pPr marL="0" indent="0">
              <a:buNone/>
            </a:pPr>
            <a:r>
              <a:rPr lang="en-US" sz="1150" b="1" dirty="0">
                <a:solidFill>
                  <a:srgbClr val="A0D8D8"/>
                </a:solidFill>
                <a:latin typeface="Calibri" pitchFamily="34" charset="0"/>
                <a:ea typeface="Calibri" pitchFamily="34" charset="-122"/>
                <a:cs typeface="Calibri" pitchFamily="34" charset="-120"/>
              </a:rPr>
              <a:t>Cmd + Shift + Z</a:t>
            </a:r>
            <a:endParaRPr lang="en-US" sz="1150" dirty="0"/>
          </a:p>
        </p:txBody>
      </p:sp>
      <p:sp>
        <p:nvSpPr>
          <p:cNvPr id="10" name="Text 8"/>
          <p:cNvSpPr txBox="1"/>
          <p:nvPr/>
        </p:nvSpPr>
        <p:spPr>
          <a:xfrm>
            <a:off x="320040" y="1947672"/>
            <a:ext cx="4005072" cy="2011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Rehacer: restaurar un paso deshecho</a:t>
            </a:r>
            <a:endParaRPr lang="en-US" sz="1100" dirty="0"/>
          </a:p>
        </p:txBody>
      </p:sp>
      <p:sp>
        <p:nvSpPr>
          <p:cNvPr id="11" name="Shape 9"/>
          <p:cNvSpPr/>
          <p:nvPr/>
        </p:nvSpPr>
        <p:spPr>
          <a:xfrm>
            <a:off x="182880" y="2267712"/>
            <a:ext cx="4297680" cy="475488"/>
          </a:xfrm>
          <a:prstGeom prst="roundRect">
            <a:avLst>
              <a:gd name="adj" fmla="val 11538"/>
            </a:avLst>
          </a:prstGeom>
          <a:solidFill>
            <a:srgbClr val="2A2A2A"/>
          </a:solidFill>
          <a:ln w="12700">
            <a:solidFill>
              <a:srgbClr val="444444"/>
            </a:solidFill>
            <a:prstDash val="solid"/>
          </a:ln>
        </p:spPr>
        <p:txBody>
          <a:bodyPr/>
          <a:lstStyle/>
          <a:p>
            <a:endParaRPr lang="en-US"/>
          </a:p>
        </p:txBody>
      </p:sp>
      <p:sp>
        <p:nvSpPr>
          <p:cNvPr id="12" name="Text 10"/>
          <p:cNvSpPr txBox="1"/>
          <p:nvPr/>
        </p:nvSpPr>
        <p:spPr>
          <a:xfrm>
            <a:off x="320040" y="2304288"/>
            <a:ext cx="4005072" cy="201168"/>
          </a:xfrm>
          <a:prstGeom prst="rect">
            <a:avLst/>
          </a:prstGeom>
          <a:noFill/>
          <a:ln/>
        </p:spPr>
        <p:txBody>
          <a:bodyPr wrap="square" lIns="0" tIns="0" rIns="0" bIns="0" rtlCol="0" anchor="ctr"/>
          <a:lstStyle/>
          <a:p>
            <a:pPr marL="0" indent="0">
              <a:buNone/>
            </a:pPr>
            <a:r>
              <a:rPr lang="en-US" sz="1150" b="1" dirty="0">
                <a:solidFill>
                  <a:srgbClr val="A0D8D8"/>
                </a:solidFill>
                <a:latin typeface="Calibri" pitchFamily="34" charset="0"/>
                <a:ea typeface="Calibri" pitchFamily="34" charset="-122"/>
                <a:cs typeface="Calibri" pitchFamily="34" charset="-120"/>
              </a:rPr>
              <a:t>Cmd + Option + Z</a:t>
            </a:r>
            <a:endParaRPr lang="en-US" sz="1150" dirty="0"/>
          </a:p>
        </p:txBody>
      </p:sp>
      <p:sp>
        <p:nvSpPr>
          <p:cNvPr id="13" name="Text 11"/>
          <p:cNvSpPr txBox="1"/>
          <p:nvPr/>
        </p:nvSpPr>
        <p:spPr>
          <a:xfrm>
            <a:off x="320040" y="2514600"/>
            <a:ext cx="4005072" cy="2011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Alternar Ultimo Estado: comparar rapidamente antes y despues</a:t>
            </a:r>
            <a:endParaRPr lang="en-US" sz="1100" dirty="0"/>
          </a:p>
        </p:txBody>
      </p:sp>
      <p:sp>
        <p:nvSpPr>
          <p:cNvPr id="14" name="Shape 12"/>
          <p:cNvSpPr/>
          <p:nvPr/>
        </p:nvSpPr>
        <p:spPr>
          <a:xfrm>
            <a:off x="182880" y="2834640"/>
            <a:ext cx="4297680" cy="475488"/>
          </a:xfrm>
          <a:prstGeom prst="roundRect">
            <a:avLst>
              <a:gd name="adj" fmla="val 11538"/>
            </a:avLst>
          </a:prstGeom>
          <a:solidFill>
            <a:srgbClr val="2A2A2A"/>
          </a:solidFill>
          <a:ln w="12700">
            <a:solidFill>
              <a:srgbClr val="444444"/>
            </a:solidFill>
            <a:prstDash val="solid"/>
          </a:ln>
        </p:spPr>
        <p:txBody>
          <a:bodyPr/>
          <a:lstStyle/>
          <a:p>
            <a:endParaRPr lang="en-US"/>
          </a:p>
        </p:txBody>
      </p:sp>
      <p:sp>
        <p:nvSpPr>
          <p:cNvPr id="15" name="Text 13"/>
          <p:cNvSpPr txBox="1"/>
          <p:nvPr/>
        </p:nvSpPr>
        <p:spPr>
          <a:xfrm>
            <a:off x="320040" y="2871216"/>
            <a:ext cx="4005072" cy="201168"/>
          </a:xfrm>
          <a:prstGeom prst="rect">
            <a:avLst/>
          </a:prstGeom>
          <a:noFill/>
          <a:ln/>
        </p:spPr>
        <p:txBody>
          <a:bodyPr wrap="square" lIns="0" tIns="0" rIns="0" bIns="0" rtlCol="0" anchor="ctr"/>
          <a:lstStyle/>
          <a:p>
            <a:pPr marL="0" indent="0">
              <a:buNone/>
            </a:pPr>
            <a:r>
              <a:rPr lang="en-US" sz="1150" b="1" dirty="0">
                <a:solidFill>
                  <a:srgbClr val="A0D8D8"/>
                </a:solidFill>
                <a:latin typeface="Calibri" pitchFamily="34" charset="0"/>
                <a:ea typeface="Calibri" pitchFamily="34" charset="-122"/>
                <a:cs typeface="Calibri" pitchFamily="34" charset="-120"/>
              </a:rPr>
              <a:t>Ventana &gt; Historial</a:t>
            </a:r>
            <a:endParaRPr lang="en-US" sz="1150" dirty="0"/>
          </a:p>
        </p:txBody>
      </p:sp>
      <p:sp>
        <p:nvSpPr>
          <p:cNvPr id="16" name="Text 14"/>
          <p:cNvSpPr txBox="1"/>
          <p:nvPr/>
        </p:nvSpPr>
        <p:spPr>
          <a:xfrm>
            <a:off x="320040" y="3081528"/>
            <a:ext cx="4005072" cy="2011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Abrir panel Historial: ver y saltar a cualquier estado anterior</a:t>
            </a:r>
            <a:endParaRPr lang="en-US" sz="1100" dirty="0"/>
          </a:p>
        </p:txBody>
      </p:sp>
      <p:sp>
        <p:nvSpPr>
          <p:cNvPr id="17" name="Text 15"/>
          <p:cNvSpPr txBox="1"/>
          <p:nvPr/>
        </p:nvSpPr>
        <p:spPr>
          <a:xfrm>
            <a:off x="4663440" y="804672"/>
            <a:ext cx="4297680" cy="274320"/>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Atajos de Herramientas Clave</a:t>
            </a:r>
            <a:endParaRPr lang="en-US" sz="1300" dirty="0"/>
          </a:p>
        </p:txBody>
      </p:sp>
      <p:sp>
        <p:nvSpPr>
          <p:cNvPr id="18" name="Shape 16"/>
          <p:cNvSpPr/>
          <p:nvPr/>
        </p:nvSpPr>
        <p:spPr>
          <a:xfrm>
            <a:off x="4663440" y="1133856"/>
            <a:ext cx="2057400" cy="475488"/>
          </a:xfrm>
          <a:prstGeom prst="roundRect">
            <a:avLst>
              <a:gd name="adj" fmla="val 11538"/>
            </a:avLst>
          </a:prstGeom>
          <a:solidFill>
            <a:srgbClr val="2A2A2A"/>
          </a:solidFill>
          <a:ln w="12700">
            <a:solidFill>
              <a:srgbClr val="444444"/>
            </a:solidFill>
            <a:prstDash val="solid"/>
          </a:ln>
        </p:spPr>
        <p:txBody>
          <a:bodyPr/>
          <a:lstStyle/>
          <a:p>
            <a:endParaRPr lang="en-US"/>
          </a:p>
        </p:txBody>
      </p:sp>
      <p:sp>
        <p:nvSpPr>
          <p:cNvPr id="19" name="Text 17"/>
          <p:cNvSpPr txBox="1"/>
          <p:nvPr/>
        </p:nvSpPr>
        <p:spPr>
          <a:xfrm>
            <a:off x="4773168" y="1170432"/>
            <a:ext cx="1828800" cy="201168"/>
          </a:xfrm>
          <a:prstGeom prst="rect">
            <a:avLst/>
          </a:prstGeom>
          <a:noFill/>
          <a:ln/>
        </p:spPr>
        <p:txBody>
          <a:bodyPr wrap="square" lIns="0" tIns="0" rIns="0" bIns="0" rtlCol="0" anchor="ctr"/>
          <a:lstStyle/>
          <a:p>
            <a:pPr marL="0" indent="0">
              <a:buNone/>
            </a:pPr>
            <a:r>
              <a:rPr lang="en-US" sz="1200" b="1" dirty="0">
                <a:solidFill>
                  <a:srgbClr val="FF6B1A"/>
                </a:solidFill>
                <a:latin typeface="Calibri" pitchFamily="34" charset="0"/>
                <a:ea typeface="Calibri" pitchFamily="34" charset="-122"/>
                <a:cs typeface="Calibri" pitchFamily="34" charset="-120"/>
              </a:rPr>
              <a:t>V</a:t>
            </a:r>
            <a:endParaRPr lang="en-US" sz="1200" dirty="0"/>
          </a:p>
        </p:txBody>
      </p:sp>
      <p:sp>
        <p:nvSpPr>
          <p:cNvPr id="20" name="Text 18"/>
          <p:cNvSpPr txBox="1"/>
          <p:nvPr/>
        </p:nvSpPr>
        <p:spPr>
          <a:xfrm>
            <a:off x="4773168" y="1380744"/>
            <a:ext cx="1828800" cy="2011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Herramienta Mover</a:t>
            </a:r>
            <a:endParaRPr lang="en-US" sz="1100" dirty="0"/>
          </a:p>
        </p:txBody>
      </p:sp>
      <p:sp>
        <p:nvSpPr>
          <p:cNvPr id="21" name="Shape 19"/>
          <p:cNvSpPr/>
          <p:nvPr/>
        </p:nvSpPr>
        <p:spPr>
          <a:xfrm>
            <a:off x="6858000" y="1133856"/>
            <a:ext cx="2057400" cy="475488"/>
          </a:xfrm>
          <a:prstGeom prst="roundRect">
            <a:avLst>
              <a:gd name="adj" fmla="val 11538"/>
            </a:avLst>
          </a:prstGeom>
          <a:solidFill>
            <a:srgbClr val="2A2A2A"/>
          </a:solidFill>
          <a:ln w="12700">
            <a:solidFill>
              <a:srgbClr val="444444"/>
            </a:solidFill>
            <a:prstDash val="solid"/>
          </a:ln>
        </p:spPr>
        <p:txBody>
          <a:bodyPr/>
          <a:lstStyle/>
          <a:p>
            <a:endParaRPr lang="en-US"/>
          </a:p>
        </p:txBody>
      </p:sp>
      <p:sp>
        <p:nvSpPr>
          <p:cNvPr id="22" name="Text 20"/>
          <p:cNvSpPr txBox="1"/>
          <p:nvPr/>
        </p:nvSpPr>
        <p:spPr>
          <a:xfrm>
            <a:off x="6967728" y="1170432"/>
            <a:ext cx="1828800" cy="201168"/>
          </a:xfrm>
          <a:prstGeom prst="rect">
            <a:avLst/>
          </a:prstGeom>
          <a:noFill/>
          <a:ln/>
        </p:spPr>
        <p:txBody>
          <a:bodyPr wrap="square" lIns="0" tIns="0" rIns="0" bIns="0" rtlCol="0" anchor="ctr"/>
          <a:lstStyle/>
          <a:p>
            <a:pPr marL="0" indent="0">
              <a:buNone/>
            </a:pPr>
            <a:r>
              <a:rPr lang="en-US" sz="1200" b="1" dirty="0">
                <a:solidFill>
                  <a:srgbClr val="FF6B1A"/>
                </a:solidFill>
                <a:latin typeface="Calibri" pitchFamily="34" charset="0"/>
                <a:ea typeface="Calibri" pitchFamily="34" charset="-122"/>
                <a:cs typeface="Calibri" pitchFamily="34" charset="-120"/>
              </a:rPr>
              <a:t>M</a:t>
            </a:r>
            <a:endParaRPr lang="en-US" sz="1200" dirty="0"/>
          </a:p>
        </p:txBody>
      </p:sp>
      <p:sp>
        <p:nvSpPr>
          <p:cNvPr id="23" name="Text 21"/>
          <p:cNvSpPr txBox="1"/>
          <p:nvPr/>
        </p:nvSpPr>
        <p:spPr>
          <a:xfrm>
            <a:off x="6967728" y="1380744"/>
            <a:ext cx="1828800" cy="2011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Marque Rectangular</a:t>
            </a:r>
            <a:endParaRPr lang="en-US" sz="1100" dirty="0"/>
          </a:p>
        </p:txBody>
      </p:sp>
      <p:sp>
        <p:nvSpPr>
          <p:cNvPr id="24" name="Shape 22"/>
          <p:cNvSpPr/>
          <p:nvPr/>
        </p:nvSpPr>
        <p:spPr>
          <a:xfrm>
            <a:off x="4663440" y="1700784"/>
            <a:ext cx="2057400" cy="475488"/>
          </a:xfrm>
          <a:prstGeom prst="roundRect">
            <a:avLst>
              <a:gd name="adj" fmla="val 11538"/>
            </a:avLst>
          </a:prstGeom>
          <a:solidFill>
            <a:srgbClr val="2A2A2A"/>
          </a:solidFill>
          <a:ln w="12700">
            <a:solidFill>
              <a:srgbClr val="444444"/>
            </a:solidFill>
            <a:prstDash val="solid"/>
          </a:ln>
        </p:spPr>
        <p:txBody>
          <a:bodyPr/>
          <a:lstStyle/>
          <a:p>
            <a:endParaRPr lang="en-US"/>
          </a:p>
        </p:txBody>
      </p:sp>
      <p:sp>
        <p:nvSpPr>
          <p:cNvPr id="25" name="Text 23"/>
          <p:cNvSpPr txBox="1"/>
          <p:nvPr/>
        </p:nvSpPr>
        <p:spPr>
          <a:xfrm>
            <a:off x="4773168" y="1737360"/>
            <a:ext cx="1828800" cy="201168"/>
          </a:xfrm>
          <a:prstGeom prst="rect">
            <a:avLst/>
          </a:prstGeom>
          <a:noFill/>
          <a:ln/>
        </p:spPr>
        <p:txBody>
          <a:bodyPr wrap="square" lIns="0" tIns="0" rIns="0" bIns="0" rtlCol="0" anchor="ctr"/>
          <a:lstStyle/>
          <a:p>
            <a:pPr marL="0" indent="0">
              <a:buNone/>
            </a:pPr>
            <a:r>
              <a:rPr lang="en-US" sz="1200" b="1" dirty="0">
                <a:solidFill>
                  <a:srgbClr val="FF6B1A"/>
                </a:solidFill>
                <a:latin typeface="Calibri" pitchFamily="34" charset="0"/>
                <a:ea typeface="Calibri" pitchFamily="34" charset="-122"/>
                <a:cs typeface="Calibri" pitchFamily="34" charset="-120"/>
              </a:rPr>
              <a:t>T</a:t>
            </a:r>
            <a:endParaRPr lang="en-US" sz="1200" dirty="0"/>
          </a:p>
        </p:txBody>
      </p:sp>
      <p:sp>
        <p:nvSpPr>
          <p:cNvPr id="26" name="Text 24"/>
          <p:cNvSpPr txBox="1"/>
          <p:nvPr/>
        </p:nvSpPr>
        <p:spPr>
          <a:xfrm>
            <a:off x="4773168" y="1947672"/>
            <a:ext cx="1828800" cy="2011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Texto Horizontal</a:t>
            </a:r>
            <a:endParaRPr lang="en-US" sz="1100" dirty="0"/>
          </a:p>
        </p:txBody>
      </p:sp>
      <p:sp>
        <p:nvSpPr>
          <p:cNvPr id="27" name="Shape 25"/>
          <p:cNvSpPr/>
          <p:nvPr/>
        </p:nvSpPr>
        <p:spPr>
          <a:xfrm>
            <a:off x="6858000" y="1700784"/>
            <a:ext cx="2057400" cy="475488"/>
          </a:xfrm>
          <a:prstGeom prst="roundRect">
            <a:avLst>
              <a:gd name="adj" fmla="val 11538"/>
            </a:avLst>
          </a:prstGeom>
          <a:solidFill>
            <a:srgbClr val="2A2A2A"/>
          </a:solidFill>
          <a:ln w="12700">
            <a:solidFill>
              <a:srgbClr val="444444"/>
            </a:solidFill>
            <a:prstDash val="solid"/>
          </a:ln>
        </p:spPr>
        <p:txBody>
          <a:bodyPr/>
          <a:lstStyle/>
          <a:p>
            <a:endParaRPr lang="en-US"/>
          </a:p>
        </p:txBody>
      </p:sp>
      <p:sp>
        <p:nvSpPr>
          <p:cNvPr id="28" name="Text 26"/>
          <p:cNvSpPr txBox="1"/>
          <p:nvPr/>
        </p:nvSpPr>
        <p:spPr>
          <a:xfrm>
            <a:off x="6967728" y="1737360"/>
            <a:ext cx="1828800" cy="201168"/>
          </a:xfrm>
          <a:prstGeom prst="rect">
            <a:avLst/>
          </a:prstGeom>
          <a:noFill/>
          <a:ln/>
        </p:spPr>
        <p:txBody>
          <a:bodyPr wrap="square" lIns="0" tIns="0" rIns="0" bIns="0" rtlCol="0" anchor="ctr"/>
          <a:lstStyle/>
          <a:p>
            <a:pPr marL="0" indent="0">
              <a:buNone/>
            </a:pPr>
            <a:r>
              <a:rPr lang="en-US" sz="1200" b="1" dirty="0">
                <a:solidFill>
                  <a:srgbClr val="FF6B1A"/>
                </a:solidFill>
                <a:latin typeface="Calibri" pitchFamily="34" charset="0"/>
                <a:ea typeface="Calibri" pitchFamily="34" charset="-122"/>
                <a:cs typeface="Calibri" pitchFamily="34" charset="-120"/>
              </a:rPr>
              <a:t>B</a:t>
            </a:r>
            <a:endParaRPr lang="en-US" sz="1200" dirty="0"/>
          </a:p>
        </p:txBody>
      </p:sp>
      <p:sp>
        <p:nvSpPr>
          <p:cNvPr id="29" name="Text 27"/>
          <p:cNvSpPr txBox="1"/>
          <p:nvPr/>
        </p:nvSpPr>
        <p:spPr>
          <a:xfrm>
            <a:off x="6967728" y="1947672"/>
            <a:ext cx="1828800" cy="2011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Herramienta Pincel</a:t>
            </a:r>
            <a:endParaRPr lang="en-US" sz="1100" dirty="0"/>
          </a:p>
        </p:txBody>
      </p:sp>
      <p:sp>
        <p:nvSpPr>
          <p:cNvPr id="30" name="Shape 28"/>
          <p:cNvSpPr/>
          <p:nvPr/>
        </p:nvSpPr>
        <p:spPr>
          <a:xfrm>
            <a:off x="4663440" y="2267712"/>
            <a:ext cx="2057400" cy="475488"/>
          </a:xfrm>
          <a:prstGeom prst="roundRect">
            <a:avLst>
              <a:gd name="adj" fmla="val 11538"/>
            </a:avLst>
          </a:prstGeom>
          <a:solidFill>
            <a:srgbClr val="2A2A2A"/>
          </a:solidFill>
          <a:ln w="12700">
            <a:solidFill>
              <a:srgbClr val="444444"/>
            </a:solidFill>
            <a:prstDash val="solid"/>
          </a:ln>
        </p:spPr>
        <p:txBody>
          <a:bodyPr/>
          <a:lstStyle/>
          <a:p>
            <a:endParaRPr lang="en-US"/>
          </a:p>
        </p:txBody>
      </p:sp>
      <p:sp>
        <p:nvSpPr>
          <p:cNvPr id="31" name="Text 29"/>
          <p:cNvSpPr txBox="1"/>
          <p:nvPr/>
        </p:nvSpPr>
        <p:spPr>
          <a:xfrm>
            <a:off x="4773168" y="2304288"/>
            <a:ext cx="1828800" cy="201168"/>
          </a:xfrm>
          <a:prstGeom prst="rect">
            <a:avLst/>
          </a:prstGeom>
          <a:noFill/>
          <a:ln/>
        </p:spPr>
        <p:txBody>
          <a:bodyPr wrap="square" lIns="0" tIns="0" rIns="0" bIns="0" rtlCol="0" anchor="ctr"/>
          <a:lstStyle/>
          <a:p>
            <a:pPr marL="0" indent="0">
              <a:buNone/>
            </a:pPr>
            <a:r>
              <a:rPr lang="en-US" sz="1200" b="1" dirty="0">
                <a:solidFill>
                  <a:srgbClr val="FF6B1A"/>
                </a:solidFill>
                <a:latin typeface="Calibri" pitchFamily="34" charset="0"/>
                <a:ea typeface="Calibri" pitchFamily="34" charset="-122"/>
                <a:cs typeface="Calibri" pitchFamily="34" charset="-120"/>
              </a:rPr>
              <a:t>I</a:t>
            </a:r>
            <a:endParaRPr lang="en-US" sz="1200" dirty="0"/>
          </a:p>
        </p:txBody>
      </p:sp>
      <p:sp>
        <p:nvSpPr>
          <p:cNvPr id="32" name="Text 30"/>
          <p:cNvSpPr txBox="1"/>
          <p:nvPr/>
        </p:nvSpPr>
        <p:spPr>
          <a:xfrm>
            <a:off x="4773168" y="2514600"/>
            <a:ext cx="1828800" cy="2011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Cuentagotas</a:t>
            </a:r>
            <a:endParaRPr lang="en-US" sz="1100" dirty="0"/>
          </a:p>
        </p:txBody>
      </p:sp>
      <p:sp>
        <p:nvSpPr>
          <p:cNvPr id="33" name="Shape 31"/>
          <p:cNvSpPr/>
          <p:nvPr/>
        </p:nvSpPr>
        <p:spPr>
          <a:xfrm>
            <a:off x="6858000" y="2267712"/>
            <a:ext cx="2057400" cy="475488"/>
          </a:xfrm>
          <a:prstGeom prst="roundRect">
            <a:avLst>
              <a:gd name="adj" fmla="val 11538"/>
            </a:avLst>
          </a:prstGeom>
          <a:solidFill>
            <a:srgbClr val="2A2A2A"/>
          </a:solidFill>
          <a:ln w="12700">
            <a:solidFill>
              <a:srgbClr val="444444"/>
            </a:solidFill>
            <a:prstDash val="solid"/>
          </a:ln>
        </p:spPr>
        <p:txBody>
          <a:bodyPr/>
          <a:lstStyle/>
          <a:p>
            <a:endParaRPr lang="en-US"/>
          </a:p>
        </p:txBody>
      </p:sp>
      <p:sp>
        <p:nvSpPr>
          <p:cNvPr id="34" name="Text 32"/>
          <p:cNvSpPr txBox="1"/>
          <p:nvPr/>
        </p:nvSpPr>
        <p:spPr>
          <a:xfrm>
            <a:off x="6967728" y="2304288"/>
            <a:ext cx="1828800" cy="201168"/>
          </a:xfrm>
          <a:prstGeom prst="rect">
            <a:avLst/>
          </a:prstGeom>
          <a:noFill/>
          <a:ln/>
        </p:spPr>
        <p:txBody>
          <a:bodyPr wrap="square" lIns="0" tIns="0" rIns="0" bIns="0" rtlCol="0" anchor="ctr"/>
          <a:lstStyle/>
          <a:p>
            <a:pPr marL="0" indent="0">
              <a:buNone/>
            </a:pPr>
            <a:r>
              <a:rPr lang="en-US" sz="1200" b="1" dirty="0">
                <a:solidFill>
                  <a:srgbClr val="FF6B1A"/>
                </a:solidFill>
                <a:latin typeface="Calibri" pitchFamily="34" charset="0"/>
                <a:ea typeface="Calibri" pitchFamily="34" charset="-122"/>
                <a:cs typeface="Calibri" pitchFamily="34" charset="-120"/>
              </a:rPr>
              <a:t>Z</a:t>
            </a:r>
            <a:endParaRPr lang="en-US" sz="1200" dirty="0"/>
          </a:p>
        </p:txBody>
      </p:sp>
      <p:sp>
        <p:nvSpPr>
          <p:cNvPr id="35" name="Text 33"/>
          <p:cNvSpPr txBox="1"/>
          <p:nvPr/>
        </p:nvSpPr>
        <p:spPr>
          <a:xfrm>
            <a:off x="6967728" y="2514600"/>
            <a:ext cx="1828800" cy="2011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Herramienta Zoom</a:t>
            </a:r>
            <a:endParaRPr lang="en-US" sz="1100" dirty="0"/>
          </a:p>
        </p:txBody>
      </p:sp>
      <p:sp>
        <p:nvSpPr>
          <p:cNvPr id="36" name="Shape 34"/>
          <p:cNvSpPr/>
          <p:nvPr/>
        </p:nvSpPr>
        <p:spPr>
          <a:xfrm>
            <a:off x="4663440" y="2834640"/>
            <a:ext cx="2057400" cy="475488"/>
          </a:xfrm>
          <a:prstGeom prst="roundRect">
            <a:avLst>
              <a:gd name="adj" fmla="val 11538"/>
            </a:avLst>
          </a:prstGeom>
          <a:solidFill>
            <a:srgbClr val="2A2A2A"/>
          </a:solidFill>
          <a:ln w="12700">
            <a:solidFill>
              <a:srgbClr val="444444"/>
            </a:solidFill>
            <a:prstDash val="solid"/>
          </a:ln>
        </p:spPr>
        <p:txBody>
          <a:bodyPr/>
          <a:lstStyle/>
          <a:p>
            <a:endParaRPr lang="en-US"/>
          </a:p>
        </p:txBody>
      </p:sp>
      <p:sp>
        <p:nvSpPr>
          <p:cNvPr id="37" name="Text 35"/>
          <p:cNvSpPr txBox="1"/>
          <p:nvPr/>
        </p:nvSpPr>
        <p:spPr>
          <a:xfrm>
            <a:off x="4773168" y="2871216"/>
            <a:ext cx="1828800" cy="201168"/>
          </a:xfrm>
          <a:prstGeom prst="rect">
            <a:avLst/>
          </a:prstGeom>
          <a:noFill/>
          <a:ln/>
        </p:spPr>
        <p:txBody>
          <a:bodyPr wrap="square" lIns="0" tIns="0" rIns="0" bIns="0" rtlCol="0" anchor="ctr"/>
          <a:lstStyle/>
          <a:p>
            <a:pPr marL="0" indent="0">
              <a:buNone/>
            </a:pPr>
            <a:r>
              <a:rPr lang="en-US" sz="1200" b="1" dirty="0">
                <a:solidFill>
                  <a:srgbClr val="FF6B1A"/>
                </a:solidFill>
                <a:latin typeface="Calibri" pitchFamily="34" charset="0"/>
                <a:ea typeface="Calibri" pitchFamily="34" charset="-122"/>
                <a:cs typeface="Calibri" pitchFamily="34" charset="-120"/>
              </a:rPr>
              <a:t>Cmd + S</a:t>
            </a:r>
            <a:endParaRPr lang="en-US" sz="1200" dirty="0"/>
          </a:p>
        </p:txBody>
      </p:sp>
      <p:sp>
        <p:nvSpPr>
          <p:cNvPr id="38" name="Text 36"/>
          <p:cNvSpPr txBox="1"/>
          <p:nvPr/>
        </p:nvSpPr>
        <p:spPr>
          <a:xfrm>
            <a:off x="4773168" y="3081528"/>
            <a:ext cx="1828800" cy="2011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Guardar</a:t>
            </a:r>
            <a:endParaRPr lang="en-US" sz="1100" dirty="0"/>
          </a:p>
        </p:txBody>
      </p:sp>
      <p:sp>
        <p:nvSpPr>
          <p:cNvPr id="39" name="Shape 37"/>
          <p:cNvSpPr/>
          <p:nvPr/>
        </p:nvSpPr>
        <p:spPr>
          <a:xfrm>
            <a:off x="6858000" y="2834640"/>
            <a:ext cx="2057400" cy="475488"/>
          </a:xfrm>
          <a:prstGeom prst="roundRect">
            <a:avLst>
              <a:gd name="adj" fmla="val 11538"/>
            </a:avLst>
          </a:prstGeom>
          <a:solidFill>
            <a:srgbClr val="2A2A2A"/>
          </a:solidFill>
          <a:ln w="12700">
            <a:solidFill>
              <a:srgbClr val="444444"/>
            </a:solidFill>
            <a:prstDash val="solid"/>
          </a:ln>
        </p:spPr>
        <p:txBody>
          <a:bodyPr/>
          <a:lstStyle/>
          <a:p>
            <a:endParaRPr lang="en-US"/>
          </a:p>
        </p:txBody>
      </p:sp>
      <p:sp>
        <p:nvSpPr>
          <p:cNvPr id="40" name="Text 38"/>
          <p:cNvSpPr txBox="1"/>
          <p:nvPr/>
        </p:nvSpPr>
        <p:spPr>
          <a:xfrm>
            <a:off x="6967728" y="2871216"/>
            <a:ext cx="1828800" cy="201168"/>
          </a:xfrm>
          <a:prstGeom prst="rect">
            <a:avLst/>
          </a:prstGeom>
          <a:noFill/>
          <a:ln/>
        </p:spPr>
        <p:txBody>
          <a:bodyPr wrap="square" lIns="0" tIns="0" rIns="0" bIns="0" rtlCol="0" anchor="ctr"/>
          <a:lstStyle/>
          <a:p>
            <a:pPr marL="0" indent="0">
              <a:buNone/>
            </a:pPr>
            <a:r>
              <a:rPr lang="en-US" sz="1200" b="1" dirty="0">
                <a:solidFill>
                  <a:srgbClr val="FF6B1A"/>
                </a:solidFill>
                <a:latin typeface="Calibri" pitchFamily="34" charset="0"/>
                <a:ea typeface="Calibri" pitchFamily="34" charset="-122"/>
                <a:cs typeface="Calibri" pitchFamily="34" charset="-120"/>
              </a:rPr>
              <a:t>Cmd + D</a:t>
            </a:r>
            <a:endParaRPr lang="en-US" sz="1200" dirty="0"/>
          </a:p>
        </p:txBody>
      </p:sp>
      <p:sp>
        <p:nvSpPr>
          <p:cNvPr id="41" name="Text 39"/>
          <p:cNvSpPr txBox="1"/>
          <p:nvPr/>
        </p:nvSpPr>
        <p:spPr>
          <a:xfrm>
            <a:off x="6967728" y="3081528"/>
            <a:ext cx="1828800" cy="20116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Deseleccionar</a:t>
            </a:r>
            <a:endParaRPr lang="en-US" sz="1100" dirty="0"/>
          </a:p>
        </p:txBody>
      </p:sp>
      <p:sp>
        <p:nvSpPr>
          <p:cNvPr id="42" name="Text 40"/>
          <p:cNvSpPr txBox="1"/>
          <p:nvPr/>
        </p:nvSpPr>
        <p:spPr>
          <a:xfrm>
            <a:off x="182880" y="3456432"/>
            <a:ext cx="8778240" cy="274320"/>
          </a:xfrm>
          <a:prstGeom prst="rect">
            <a:avLst/>
          </a:prstGeom>
          <a:noFill/>
          <a:ln/>
        </p:spPr>
        <p:txBody>
          <a:bodyPr wrap="square" lIns="0" tIns="0" rIns="0" bIns="0" rtlCol="0" anchor="ctr"/>
          <a:lstStyle/>
          <a:p>
            <a:pPr marL="0" indent="0">
              <a:buNone/>
            </a:pPr>
            <a:r>
              <a:rPr lang="en-US" sz="1300" b="1" dirty="0">
                <a:solidFill>
                  <a:srgbClr val="FFCC00"/>
                </a:solidFill>
                <a:latin typeface="Calibri" pitchFamily="34" charset="0"/>
                <a:ea typeface="Calibri" pitchFamily="34" charset="-122"/>
                <a:cs typeface="Calibri" pitchFamily="34" charset="-120"/>
              </a:rPr>
              <a:t>Orden Final de Capas (de arriba a abajo)</a:t>
            </a:r>
            <a:endParaRPr lang="en-US" sz="1300" dirty="0"/>
          </a:p>
        </p:txBody>
      </p:sp>
      <p:sp>
        <p:nvSpPr>
          <p:cNvPr id="43" name="Shape 41"/>
          <p:cNvSpPr/>
          <p:nvPr/>
        </p:nvSpPr>
        <p:spPr>
          <a:xfrm>
            <a:off x="137160" y="3794760"/>
            <a:ext cx="8823960" cy="146304"/>
          </a:xfrm>
          <a:prstGeom prst="rect">
            <a:avLst/>
          </a:prstGeom>
          <a:solidFill>
            <a:srgbClr val="1E1E1E"/>
          </a:solidFill>
          <a:ln/>
        </p:spPr>
        <p:txBody>
          <a:bodyPr/>
          <a:lstStyle/>
          <a:p>
            <a:endParaRPr lang="en-US"/>
          </a:p>
        </p:txBody>
      </p:sp>
      <p:sp>
        <p:nvSpPr>
          <p:cNvPr id="44" name="Text 42"/>
          <p:cNvSpPr txBox="1"/>
          <p:nvPr/>
        </p:nvSpPr>
        <p:spPr>
          <a:xfrm>
            <a:off x="256032" y="3803904"/>
            <a:ext cx="1600200" cy="1188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Live Stream</a:t>
            </a:r>
            <a:endParaRPr lang="en-US" sz="900" dirty="0"/>
          </a:p>
        </p:txBody>
      </p:sp>
      <p:sp>
        <p:nvSpPr>
          <p:cNvPr id="45" name="Text 43"/>
          <p:cNvSpPr txBox="1"/>
          <p:nvPr/>
        </p:nvSpPr>
        <p:spPr>
          <a:xfrm>
            <a:off x="2039112" y="3803904"/>
            <a:ext cx="2487168" cy="118872"/>
          </a:xfrm>
          <a:prstGeom prst="rect">
            <a:avLst/>
          </a:prstGeom>
          <a:noFill/>
          <a:ln/>
        </p:spPr>
        <p:txBody>
          <a:bodyPr wrap="square" lIns="0" tIns="0" rIns="0" bIns="0" rtlCol="0" anchor="ctr"/>
          <a:lstStyle/>
          <a:p>
            <a:pPr marL="0" indent="0">
              <a:buNone/>
            </a:pPr>
            <a:r>
              <a:rPr lang="en-US" sz="900" dirty="0">
                <a:solidFill>
                  <a:srgbClr val="FF6B1A"/>
                </a:solidFill>
                <a:latin typeface="Calibri" pitchFamily="34" charset="0"/>
                <a:ea typeface="Calibri" pitchFamily="34" charset="-122"/>
                <a:cs typeface="Calibri" pitchFamily="34" charset="-120"/>
              </a:rPr>
              <a:t>Capa de Texto</a:t>
            </a:r>
            <a:endParaRPr lang="en-US" sz="900" dirty="0"/>
          </a:p>
        </p:txBody>
      </p:sp>
      <p:sp>
        <p:nvSpPr>
          <p:cNvPr id="46" name="Text 44"/>
          <p:cNvSpPr txBox="1"/>
          <p:nvPr/>
        </p:nvSpPr>
        <p:spPr>
          <a:xfrm>
            <a:off x="4690872" y="3803904"/>
            <a:ext cx="4297680" cy="118872"/>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Alineado derecha, 165pt, Fuente Condensada, Mayusculas</a:t>
            </a:r>
            <a:endParaRPr lang="en-US" sz="900" dirty="0"/>
          </a:p>
        </p:txBody>
      </p:sp>
      <p:sp>
        <p:nvSpPr>
          <p:cNvPr id="47" name="Shape 45"/>
          <p:cNvSpPr/>
          <p:nvPr/>
        </p:nvSpPr>
        <p:spPr>
          <a:xfrm>
            <a:off x="137160" y="3950208"/>
            <a:ext cx="8823960" cy="146304"/>
          </a:xfrm>
          <a:prstGeom prst="rect">
            <a:avLst/>
          </a:prstGeom>
          <a:solidFill>
            <a:srgbClr val="161616"/>
          </a:solidFill>
          <a:ln/>
        </p:spPr>
        <p:txBody>
          <a:bodyPr/>
          <a:lstStyle/>
          <a:p>
            <a:endParaRPr lang="en-US"/>
          </a:p>
        </p:txBody>
      </p:sp>
      <p:sp>
        <p:nvSpPr>
          <p:cNvPr id="48" name="Text 46"/>
          <p:cNvSpPr txBox="1"/>
          <p:nvPr/>
        </p:nvSpPr>
        <p:spPr>
          <a:xfrm>
            <a:off x="256032" y="3959352"/>
            <a:ext cx="1600200" cy="1188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History 301</a:t>
            </a:r>
            <a:endParaRPr lang="en-US" sz="900" dirty="0"/>
          </a:p>
        </p:txBody>
      </p:sp>
      <p:sp>
        <p:nvSpPr>
          <p:cNvPr id="49" name="Text 47"/>
          <p:cNvSpPr txBox="1"/>
          <p:nvPr/>
        </p:nvSpPr>
        <p:spPr>
          <a:xfrm>
            <a:off x="2039112" y="3959352"/>
            <a:ext cx="2487168" cy="118872"/>
          </a:xfrm>
          <a:prstGeom prst="rect">
            <a:avLst/>
          </a:prstGeom>
          <a:noFill/>
          <a:ln/>
        </p:spPr>
        <p:txBody>
          <a:bodyPr wrap="square" lIns="0" tIns="0" rIns="0" bIns="0" rtlCol="0" anchor="ctr"/>
          <a:lstStyle/>
          <a:p>
            <a:pPr marL="0" indent="0">
              <a:buNone/>
            </a:pPr>
            <a:r>
              <a:rPr lang="en-US" sz="900" dirty="0">
                <a:solidFill>
                  <a:srgbClr val="FF6B1A"/>
                </a:solidFill>
                <a:latin typeface="Calibri" pitchFamily="34" charset="0"/>
                <a:ea typeface="Calibri" pitchFamily="34" charset="-122"/>
                <a:cs typeface="Calibri" pitchFamily="34" charset="-120"/>
              </a:rPr>
              <a:t>Capa de Texto</a:t>
            </a:r>
            <a:endParaRPr lang="en-US" sz="900" dirty="0"/>
          </a:p>
        </p:txBody>
      </p:sp>
      <p:sp>
        <p:nvSpPr>
          <p:cNvPr id="50" name="Text 48"/>
          <p:cNvSpPr txBox="1"/>
          <p:nvPr/>
        </p:nvSpPr>
        <p:spPr>
          <a:xfrm>
            <a:off x="4690872" y="3959352"/>
            <a:ext cx="4297680" cy="118872"/>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Centrado, 210pt, Mayusculas</a:t>
            </a:r>
            <a:endParaRPr lang="en-US" sz="900" dirty="0"/>
          </a:p>
        </p:txBody>
      </p:sp>
      <p:sp>
        <p:nvSpPr>
          <p:cNvPr id="51" name="Shape 49"/>
          <p:cNvSpPr/>
          <p:nvPr/>
        </p:nvSpPr>
        <p:spPr>
          <a:xfrm>
            <a:off x="137160" y="4105656"/>
            <a:ext cx="8823960" cy="146304"/>
          </a:xfrm>
          <a:prstGeom prst="rect">
            <a:avLst/>
          </a:prstGeom>
          <a:solidFill>
            <a:srgbClr val="1E1E1E"/>
          </a:solidFill>
          <a:ln/>
        </p:spPr>
        <p:txBody>
          <a:bodyPr/>
          <a:lstStyle/>
          <a:p>
            <a:endParaRPr lang="en-US"/>
          </a:p>
        </p:txBody>
      </p:sp>
      <p:sp>
        <p:nvSpPr>
          <p:cNvPr id="52" name="Text 50"/>
          <p:cNvSpPr txBox="1"/>
          <p:nvPr/>
        </p:nvSpPr>
        <p:spPr>
          <a:xfrm>
            <a:off x="256032" y="4114800"/>
            <a:ext cx="1600200" cy="1188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Paint</a:t>
            </a:r>
            <a:endParaRPr lang="en-US" sz="900" dirty="0"/>
          </a:p>
        </p:txBody>
      </p:sp>
      <p:sp>
        <p:nvSpPr>
          <p:cNvPr id="53" name="Text 51"/>
          <p:cNvSpPr txBox="1"/>
          <p:nvPr/>
        </p:nvSpPr>
        <p:spPr>
          <a:xfrm>
            <a:off x="2039112" y="4114800"/>
            <a:ext cx="2487168" cy="118872"/>
          </a:xfrm>
          <a:prstGeom prst="rect">
            <a:avLst/>
          </a:prstGeom>
          <a:noFill/>
          <a:ln/>
        </p:spPr>
        <p:txBody>
          <a:bodyPr wrap="square" lIns="0" tIns="0" rIns="0" bIns="0" rtlCol="0" anchor="ctr"/>
          <a:lstStyle/>
          <a:p>
            <a:pPr marL="0" indent="0">
              <a:buNone/>
            </a:pPr>
            <a:r>
              <a:rPr lang="en-US" sz="900" dirty="0">
                <a:solidFill>
                  <a:srgbClr val="FF6B1A"/>
                </a:solidFill>
                <a:latin typeface="Calibri" pitchFamily="34" charset="0"/>
                <a:ea typeface="Calibri" pitchFamily="34" charset="-122"/>
                <a:cs typeface="Calibri" pitchFamily="34" charset="-120"/>
              </a:rPr>
              <a:t>Capa de Pixeles</a:t>
            </a:r>
            <a:endParaRPr lang="en-US" sz="900" dirty="0"/>
          </a:p>
        </p:txBody>
      </p:sp>
      <p:sp>
        <p:nvSpPr>
          <p:cNvPr id="54" name="Text 52"/>
          <p:cNvSpPr txBox="1"/>
          <p:nvPr/>
        </p:nvSpPr>
        <p:spPr>
          <a:xfrm>
            <a:off x="4690872" y="4114800"/>
            <a:ext cx="4297680" cy="118872"/>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Efecto pincel salpicadura, color de primer plano azul 4099ff</a:t>
            </a:r>
            <a:endParaRPr lang="en-US" sz="900" dirty="0"/>
          </a:p>
        </p:txBody>
      </p:sp>
      <p:sp>
        <p:nvSpPr>
          <p:cNvPr id="55" name="Shape 53"/>
          <p:cNvSpPr/>
          <p:nvPr/>
        </p:nvSpPr>
        <p:spPr>
          <a:xfrm>
            <a:off x="137160" y="4261104"/>
            <a:ext cx="8823960" cy="146304"/>
          </a:xfrm>
          <a:prstGeom prst="rect">
            <a:avLst/>
          </a:prstGeom>
          <a:solidFill>
            <a:srgbClr val="161616"/>
          </a:solidFill>
          <a:ln/>
        </p:spPr>
        <p:txBody>
          <a:bodyPr/>
          <a:lstStyle/>
          <a:p>
            <a:endParaRPr lang="en-US"/>
          </a:p>
        </p:txBody>
      </p:sp>
      <p:sp>
        <p:nvSpPr>
          <p:cNvPr id="56" name="Text 54"/>
          <p:cNvSpPr txBox="1"/>
          <p:nvPr/>
        </p:nvSpPr>
        <p:spPr>
          <a:xfrm>
            <a:off x="256032" y="4270248"/>
            <a:ext cx="1600200" cy="1188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Rectangles</a:t>
            </a:r>
            <a:endParaRPr lang="en-US" sz="900" dirty="0"/>
          </a:p>
        </p:txBody>
      </p:sp>
      <p:sp>
        <p:nvSpPr>
          <p:cNvPr id="57" name="Text 55"/>
          <p:cNvSpPr txBox="1"/>
          <p:nvPr/>
        </p:nvSpPr>
        <p:spPr>
          <a:xfrm>
            <a:off x="2039112" y="4270248"/>
            <a:ext cx="2487168" cy="118872"/>
          </a:xfrm>
          <a:prstGeom prst="rect">
            <a:avLst/>
          </a:prstGeom>
          <a:noFill/>
          <a:ln/>
        </p:spPr>
        <p:txBody>
          <a:bodyPr wrap="square" lIns="0" tIns="0" rIns="0" bIns="0" rtlCol="0" anchor="ctr"/>
          <a:lstStyle/>
          <a:p>
            <a:pPr marL="0" indent="0">
              <a:buNone/>
            </a:pPr>
            <a:r>
              <a:rPr lang="en-US" sz="900" dirty="0">
                <a:solidFill>
                  <a:srgbClr val="FF6B1A"/>
                </a:solidFill>
                <a:latin typeface="Calibri" pitchFamily="34" charset="0"/>
                <a:ea typeface="Calibri" pitchFamily="34" charset="-122"/>
                <a:cs typeface="Calibri" pitchFamily="34" charset="-120"/>
              </a:rPr>
              <a:t>Capa de Pixeles, modo de fusion Color</a:t>
            </a:r>
            <a:endParaRPr lang="en-US" sz="900" dirty="0"/>
          </a:p>
        </p:txBody>
      </p:sp>
      <p:sp>
        <p:nvSpPr>
          <p:cNvPr id="58" name="Text 56"/>
          <p:cNvSpPr txBox="1"/>
          <p:nvPr/>
        </p:nvSpPr>
        <p:spPr>
          <a:xfrm>
            <a:off x="4690872" y="4270248"/>
            <a:ext cx="4297680" cy="118872"/>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Barra naranja 96px izquierda + Barra azul 660px derecha</a:t>
            </a:r>
            <a:endParaRPr lang="en-US" sz="900" dirty="0"/>
          </a:p>
        </p:txBody>
      </p:sp>
      <p:sp>
        <p:nvSpPr>
          <p:cNvPr id="59" name="Shape 57"/>
          <p:cNvSpPr/>
          <p:nvPr/>
        </p:nvSpPr>
        <p:spPr>
          <a:xfrm>
            <a:off x="137160" y="4416552"/>
            <a:ext cx="8823960" cy="146304"/>
          </a:xfrm>
          <a:prstGeom prst="rect">
            <a:avLst/>
          </a:prstGeom>
          <a:solidFill>
            <a:srgbClr val="1E1E1E"/>
          </a:solidFill>
          <a:ln/>
        </p:spPr>
        <p:txBody>
          <a:bodyPr/>
          <a:lstStyle/>
          <a:p>
            <a:endParaRPr lang="en-US"/>
          </a:p>
        </p:txBody>
      </p:sp>
      <p:sp>
        <p:nvSpPr>
          <p:cNvPr id="60" name="Text 58"/>
          <p:cNvSpPr txBox="1"/>
          <p:nvPr/>
        </p:nvSpPr>
        <p:spPr>
          <a:xfrm>
            <a:off x="256032" y="4425696"/>
            <a:ext cx="1600200" cy="1188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Color Fill 1</a:t>
            </a:r>
            <a:endParaRPr lang="en-US" sz="900" dirty="0"/>
          </a:p>
        </p:txBody>
      </p:sp>
      <p:sp>
        <p:nvSpPr>
          <p:cNvPr id="61" name="Text 59"/>
          <p:cNvSpPr txBox="1"/>
          <p:nvPr/>
        </p:nvSpPr>
        <p:spPr>
          <a:xfrm>
            <a:off x="2039112" y="4425696"/>
            <a:ext cx="2487168" cy="118872"/>
          </a:xfrm>
          <a:prstGeom prst="rect">
            <a:avLst/>
          </a:prstGeom>
          <a:noFill/>
          <a:ln/>
        </p:spPr>
        <p:txBody>
          <a:bodyPr wrap="square" lIns="0" tIns="0" rIns="0" bIns="0" rtlCol="0" anchor="ctr"/>
          <a:lstStyle/>
          <a:p>
            <a:pPr marL="0" indent="0">
              <a:buNone/>
            </a:pPr>
            <a:r>
              <a:rPr lang="en-US" sz="900" dirty="0">
                <a:solidFill>
                  <a:srgbClr val="FF6B1A"/>
                </a:solidFill>
                <a:latin typeface="Calibri" pitchFamily="34" charset="0"/>
                <a:ea typeface="Calibri" pitchFamily="34" charset="-122"/>
                <a:cs typeface="Calibri" pitchFamily="34" charset="-120"/>
              </a:rPr>
              <a:t>Capa Color Solido, Luz Dura, 90% opacidad</a:t>
            </a:r>
            <a:endParaRPr lang="en-US" sz="900" dirty="0"/>
          </a:p>
        </p:txBody>
      </p:sp>
      <p:sp>
        <p:nvSpPr>
          <p:cNvPr id="62" name="Text 60"/>
          <p:cNvSpPr txBox="1"/>
          <p:nvPr/>
        </p:nvSpPr>
        <p:spPr>
          <a:xfrm>
            <a:off x="4690872" y="4425696"/>
            <a:ext cx="4297680" cy="118872"/>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Verde oscuro hex 0c3303</a:t>
            </a:r>
            <a:endParaRPr lang="en-US" sz="900" dirty="0"/>
          </a:p>
        </p:txBody>
      </p:sp>
      <p:sp>
        <p:nvSpPr>
          <p:cNvPr id="63" name="Shape 61"/>
          <p:cNvSpPr/>
          <p:nvPr/>
        </p:nvSpPr>
        <p:spPr>
          <a:xfrm>
            <a:off x="137160" y="4572000"/>
            <a:ext cx="8823960" cy="146304"/>
          </a:xfrm>
          <a:prstGeom prst="rect">
            <a:avLst/>
          </a:prstGeom>
          <a:solidFill>
            <a:srgbClr val="161616"/>
          </a:solidFill>
          <a:ln/>
        </p:spPr>
        <p:txBody>
          <a:bodyPr/>
          <a:lstStyle/>
          <a:p>
            <a:endParaRPr lang="en-US"/>
          </a:p>
        </p:txBody>
      </p:sp>
      <p:sp>
        <p:nvSpPr>
          <p:cNvPr id="64" name="Text 62"/>
          <p:cNvSpPr txBox="1"/>
          <p:nvPr/>
        </p:nvSpPr>
        <p:spPr>
          <a:xfrm>
            <a:off x="256032" y="4581144"/>
            <a:ext cx="1600200" cy="1188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Generative Fill</a:t>
            </a:r>
            <a:endParaRPr lang="en-US" sz="900" dirty="0"/>
          </a:p>
        </p:txBody>
      </p:sp>
      <p:sp>
        <p:nvSpPr>
          <p:cNvPr id="65" name="Text 63"/>
          <p:cNvSpPr txBox="1"/>
          <p:nvPr/>
        </p:nvSpPr>
        <p:spPr>
          <a:xfrm>
            <a:off x="2039112" y="4581144"/>
            <a:ext cx="2487168" cy="118872"/>
          </a:xfrm>
          <a:prstGeom prst="rect">
            <a:avLst/>
          </a:prstGeom>
          <a:noFill/>
          <a:ln/>
        </p:spPr>
        <p:txBody>
          <a:bodyPr wrap="square" lIns="0" tIns="0" rIns="0" bIns="0" rtlCol="0" anchor="ctr"/>
          <a:lstStyle/>
          <a:p>
            <a:pPr marL="0" indent="0">
              <a:buNone/>
            </a:pPr>
            <a:r>
              <a:rPr lang="en-US" sz="900" dirty="0">
                <a:solidFill>
                  <a:srgbClr val="FF6B1A"/>
                </a:solidFill>
                <a:latin typeface="Calibri" pitchFamily="34" charset="0"/>
                <a:ea typeface="Calibri" pitchFamily="34" charset="-122"/>
                <a:cs typeface="Calibri" pitchFamily="34" charset="-120"/>
              </a:rPr>
              <a:t>Capa de pixeles generada por IA</a:t>
            </a:r>
            <a:endParaRPr lang="en-US" sz="900" dirty="0"/>
          </a:p>
        </p:txBody>
      </p:sp>
      <p:sp>
        <p:nvSpPr>
          <p:cNvPr id="66" name="Text 64"/>
          <p:cNvSpPr txBox="1"/>
          <p:nvPr/>
        </p:nvSpPr>
        <p:spPr>
          <a:xfrm>
            <a:off x="4690872" y="4581144"/>
            <a:ext cx="4297680" cy="118872"/>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Rellena el espacio a la izquierda de la foto Arch</a:t>
            </a:r>
            <a:endParaRPr lang="en-US" sz="900" dirty="0"/>
          </a:p>
        </p:txBody>
      </p:sp>
      <p:sp>
        <p:nvSpPr>
          <p:cNvPr id="67" name="Shape 65"/>
          <p:cNvSpPr/>
          <p:nvPr/>
        </p:nvSpPr>
        <p:spPr>
          <a:xfrm>
            <a:off x="137160" y="4727448"/>
            <a:ext cx="8823960" cy="146304"/>
          </a:xfrm>
          <a:prstGeom prst="rect">
            <a:avLst/>
          </a:prstGeom>
          <a:solidFill>
            <a:srgbClr val="1E1E1E"/>
          </a:solidFill>
          <a:ln/>
        </p:spPr>
        <p:txBody>
          <a:bodyPr/>
          <a:lstStyle/>
          <a:p>
            <a:endParaRPr lang="en-US"/>
          </a:p>
        </p:txBody>
      </p:sp>
      <p:sp>
        <p:nvSpPr>
          <p:cNvPr id="68" name="Text 66"/>
          <p:cNvSpPr txBox="1"/>
          <p:nvPr/>
        </p:nvSpPr>
        <p:spPr>
          <a:xfrm>
            <a:off x="256032" y="4736592"/>
            <a:ext cx="1600200" cy="1188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Arch</a:t>
            </a:r>
            <a:endParaRPr lang="en-US" sz="900" dirty="0"/>
          </a:p>
        </p:txBody>
      </p:sp>
      <p:sp>
        <p:nvSpPr>
          <p:cNvPr id="69" name="Text 67"/>
          <p:cNvSpPr txBox="1"/>
          <p:nvPr/>
        </p:nvSpPr>
        <p:spPr>
          <a:xfrm>
            <a:off x="2039112" y="4736592"/>
            <a:ext cx="2487168" cy="118872"/>
          </a:xfrm>
          <a:prstGeom prst="rect">
            <a:avLst/>
          </a:prstGeom>
          <a:noFill/>
          <a:ln/>
        </p:spPr>
        <p:txBody>
          <a:bodyPr wrap="square" lIns="0" tIns="0" rIns="0" bIns="0" rtlCol="0" anchor="ctr"/>
          <a:lstStyle/>
          <a:p>
            <a:pPr marL="0" indent="0">
              <a:buNone/>
            </a:pPr>
            <a:r>
              <a:rPr lang="en-US" sz="900" dirty="0">
                <a:solidFill>
                  <a:srgbClr val="FF6B1A"/>
                </a:solidFill>
                <a:latin typeface="Calibri" pitchFamily="34" charset="0"/>
                <a:ea typeface="Calibri" pitchFamily="34" charset="-122"/>
                <a:cs typeface="Calibri" pitchFamily="34" charset="-120"/>
              </a:rPr>
              <a:t>Objeto Inteligente (Colocar Incrustado)</a:t>
            </a:r>
            <a:endParaRPr lang="en-US" sz="900" dirty="0"/>
          </a:p>
        </p:txBody>
      </p:sp>
      <p:sp>
        <p:nvSpPr>
          <p:cNvPr id="70" name="Text 68"/>
          <p:cNvSpPr txBox="1"/>
          <p:nvPr/>
        </p:nvSpPr>
        <p:spPr>
          <a:xfrm>
            <a:off x="4690872" y="4736592"/>
            <a:ext cx="4297680" cy="118872"/>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La foto Arch.jpg original</a:t>
            </a:r>
            <a:endParaRPr lang="en-US" sz="900" dirty="0"/>
          </a:p>
        </p:txBody>
      </p:sp>
      <p:sp>
        <p:nvSpPr>
          <p:cNvPr id="71" name="Shape 69"/>
          <p:cNvSpPr/>
          <p:nvPr/>
        </p:nvSpPr>
        <p:spPr>
          <a:xfrm>
            <a:off x="137160" y="4882896"/>
            <a:ext cx="8823960" cy="146304"/>
          </a:xfrm>
          <a:prstGeom prst="rect">
            <a:avLst/>
          </a:prstGeom>
          <a:solidFill>
            <a:srgbClr val="161616"/>
          </a:solidFill>
          <a:ln/>
        </p:spPr>
        <p:txBody>
          <a:bodyPr/>
          <a:lstStyle/>
          <a:p>
            <a:endParaRPr lang="en-US"/>
          </a:p>
        </p:txBody>
      </p:sp>
      <p:sp>
        <p:nvSpPr>
          <p:cNvPr id="72" name="Text 70"/>
          <p:cNvSpPr txBox="1"/>
          <p:nvPr/>
        </p:nvSpPr>
        <p:spPr>
          <a:xfrm>
            <a:off x="256032" y="4892040"/>
            <a:ext cx="1600200" cy="118872"/>
          </a:xfrm>
          <a:prstGeom prst="rect">
            <a:avLst/>
          </a:prstGeom>
          <a:noFill/>
          <a:ln/>
        </p:spPr>
        <p:txBody>
          <a:bodyPr wrap="square" lIns="0" tIns="0" rIns="0" bIns="0" rtlCol="0" anchor="ctr"/>
          <a:lstStyle/>
          <a:p>
            <a:pPr marL="0" indent="0">
              <a:buNone/>
            </a:pPr>
            <a:r>
              <a:rPr lang="en-US" sz="900" dirty="0">
                <a:solidFill>
                  <a:srgbClr val="FFFFFF"/>
                </a:solidFill>
                <a:latin typeface="Calibri" pitchFamily="34" charset="0"/>
                <a:ea typeface="Calibri" pitchFamily="34" charset="-122"/>
                <a:cs typeface="Calibri" pitchFamily="34" charset="-120"/>
              </a:rPr>
              <a:t>Background</a:t>
            </a:r>
            <a:endParaRPr lang="en-US" sz="900" dirty="0"/>
          </a:p>
        </p:txBody>
      </p:sp>
      <p:sp>
        <p:nvSpPr>
          <p:cNvPr id="73" name="Text 71"/>
          <p:cNvSpPr txBox="1"/>
          <p:nvPr/>
        </p:nvSpPr>
        <p:spPr>
          <a:xfrm>
            <a:off x="2039112" y="4892040"/>
            <a:ext cx="2487168" cy="118872"/>
          </a:xfrm>
          <a:prstGeom prst="rect">
            <a:avLst/>
          </a:prstGeom>
          <a:noFill/>
          <a:ln/>
        </p:spPr>
        <p:txBody>
          <a:bodyPr wrap="square" lIns="0" tIns="0" rIns="0" bIns="0" rtlCol="0" anchor="ctr"/>
          <a:lstStyle/>
          <a:p>
            <a:pPr marL="0" indent="0">
              <a:buNone/>
            </a:pPr>
            <a:r>
              <a:rPr lang="en-US" sz="900" dirty="0">
                <a:solidFill>
                  <a:srgbClr val="FF6B1A"/>
                </a:solidFill>
                <a:latin typeface="Calibri" pitchFamily="34" charset="0"/>
                <a:ea typeface="Calibri" pitchFamily="34" charset="-122"/>
                <a:cs typeface="Calibri" pitchFamily="34" charset="-120"/>
              </a:rPr>
              <a:t>Capa de Fondo (bloqueada)</a:t>
            </a:r>
            <a:endParaRPr lang="en-US" sz="900" dirty="0"/>
          </a:p>
        </p:txBody>
      </p:sp>
      <p:sp>
        <p:nvSpPr>
          <p:cNvPr id="74" name="Text 72"/>
          <p:cNvSpPr txBox="1"/>
          <p:nvPr/>
        </p:nvSpPr>
        <p:spPr>
          <a:xfrm>
            <a:off x="4690872" y="4892040"/>
            <a:ext cx="4297680" cy="118872"/>
          </a:xfrm>
          <a:prstGeom prst="rect">
            <a:avLst/>
          </a:prstGeom>
          <a:noFill/>
          <a:ln/>
        </p:spPr>
        <p:txBody>
          <a:bodyPr wrap="square" lIns="0" tIns="0" rIns="0" bIns="0" rtlCol="0" anchor="ctr"/>
          <a:lstStyle/>
          <a:p>
            <a:pPr marL="0" indent="0">
              <a:buNone/>
            </a:pPr>
            <a:r>
              <a:rPr lang="en-US" sz="900" dirty="0">
                <a:solidFill>
                  <a:srgbClr val="AAAAAA"/>
                </a:solidFill>
                <a:latin typeface="Calibri" pitchFamily="34" charset="0"/>
                <a:ea typeface="Calibri" pitchFamily="34" charset="-122"/>
                <a:cs typeface="Calibri" pitchFamily="34" charset="-120"/>
              </a:rPr>
              <a:t>Blanca, creada automaticamente con el documento</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TotalTime>
  <Words>5582</Words>
  <Application>Microsoft Macintosh PowerPoint</Application>
  <PresentationFormat>On-screen Show (16:9)</PresentationFormat>
  <Paragraphs>423</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chris creativesilva.com</cp:lastModifiedBy>
  <cp:revision>14</cp:revision>
  <dcterms:created xsi:type="dcterms:W3CDTF">2026-09-10T17:05:01Z</dcterms:created>
  <dcterms:modified xsi:type="dcterms:W3CDTF">2026-09-11T15:30:35Z</dcterms:modified>
</cp:coreProperties>
</file>