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  <p:sldId id="273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08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6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49637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GROUPING: Shift+click circle + number, right-click &gt; Group.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GROUPING: Shift+click circle + number, right-click &gt; Group.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GROUPING: Shift+click circle + number, right-click &gt; Group.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GROUPING: Shift+click circle + number, right-click &gt; Group.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GROUPING: Shift+click circle + number, right-click &gt; Group.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GROUPING: Shift+click circle + number, right-click &gt; Group.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GROUPING: Shift+click circle + number, right-click &gt; Group.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GROUPING: Shift+click circle + number, right-click &gt; Group.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GROUPING: Shift+click circle + number, right-click &gt; Group.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GROUPING: Shift+click circle + number, right-click &gt; Group.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GROUPING: Shift+click circle + number, right-click &gt; Group.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GROUPING: Shift+click circle + number, right-click &gt; Group.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074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498848"/>
            <a:ext cx="9144000" cy="644652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132320" y="-777240"/>
            <a:ext cx="3291840" cy="3291840"/>
          </a:xfrm>
          <a:prstGeom prst="ellipse">
            <a:avLst/>
          </a:prstGeom>
          <a:solidFill>
            <a:srgbClr val="0055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45720"/>
            <a:ext cx="1600200" cy="1600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82880" y="91440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8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PHOTOGRAPHY 1  |  LIGHTROOM CLASSIC  |  LESSON 03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813816"/>
            <a:ext cx="363211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Lightroom Classic: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1389888"/>
            <a:ext cx="363211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8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the Essentials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1984248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03: Developing Basics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914400" y="2386584"/>
            <a:ext cx="4572000" cy="2286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914400" y="2514600"/>
            <a:ext cx="6583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lesson you will learn how to use the Develop module to correct and enhance your photos: from cropping and white balance to exposure, contrast, and presence.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182880" y="444398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/ After view in the Develop module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0" y="4663440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RESOURCE  |  Mr. Silva  |  Pioneer Valley High School</a:t>
            </a:r>
            <a:endParaRPr lang="en-US" sz="1000" dirty="0"/>
          </a:p>
        </p:txBody>
      </p:sp>
      <p:pic>
        <p:nvPicPr>
          <p:cNvPr id="12" name="Image 1" descr="preencoded.png">
            <a:extLst>
              <a:ext uri="{FF2B5EF4-FFF2-40B4-BE49-F238E27FC236}">
                <a16:creationId xmlns:a16="http://schemas.microsoft.com/office/drawing/2014/main" id="{122931A3-24C2-3663-08A7-C49DEAD643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854964"/>
            <a:ext cx="713232" cy="7132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74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182880" y="9144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Lesson You Will Know How To...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01168" y="823710"/>
            <a:ext cx="310896" cy="310896"/>
          </a:xfrm>
          <a:prstGeom prst="ellipse">
            <a:avLst/>
          </a:prstGeom>
          <a:solidFill>
            <a:srgbClr val="0074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201168" y="8237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777990"/>
            <a:ext cx="311825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the Develop module workspace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974062"/>
            <a:ext cx="3761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Histogram, Basic panel, and tools toolbar, and know what each section does.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01168" y="1500366"/>
            <a:ext cx="310896" cy="310896"/>
          </a:xfrm>
          <a:prstGeom prst="ellipse">
            <a:avLst/>
          </a:prstGeom>
          <a:solidFill>
            <a:srgbClr val="0074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201168" y="150036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21792" y="1454646"/>
            <a:ext cx="311825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and straighten your photos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21792" y="1650718"/>
            <a:ext cx="3761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Crop Overlay tool to improve composition and fix a tilted horizon.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01168" y="2177022"/>
            <a:ext cx="310896" cy="310896"/>
          </a:xfrm>
          <a:prstGeom prst="ellipse">
            <a:avLst/>
          </a:prstGeom>
          <a:solidFill>
            <a:srgbClr val="0074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201168" y="217702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" y="2131302"/>
            <a:ext cx="311825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 camera profile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" y="2327374"/>
            <a:ext cx="3761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right color profile for your image as the starting point for editing.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0" y="823710"/>
            <a:ext cx="310896" cy="310896"/>
          </a:xfrm>
          <a:prstGeom prst="ellipse">
            <a:avLst/>
          </a:prstGeom>
          <a:solidFill>
            <a:srgbClr val="0074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4572000" y="8237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992624" y="777990"/>
            <a:ext cx="311825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white balance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992624" y="974062"/>
            <a:ext cx="3761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color casts using the WB dropdown or the White Balance Selector tool.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0" y="1500366"/>
            <a:ext cx="310896" cy="310896"/>
          </a:xfrm>
          <a:prstGeom prst="ellipse">
            <a:avLst/>
          </a:prstGeom>
          <a:solidFill>
            <a:srgbClr val="0074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4572000" y="150036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4992624" y="1454646"/>
            <a:ext cx="311825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exposure, contrast, highlights and shadows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992624" y="1650718"/>
            <a:ext cx="3761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Tone sliders in the Basic panel to correct brightness and bring out detail.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0" y="2177022"/>
            <a:ext cx="310896" cy="310896"/>
          </a:xfrm>
          <a:prstGeom prst="ellipse">
            <a:avLst/>
          </a:prstGeom>
          <a:solidFill>
            <a:srgbClr val="0074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4572000" y="217702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4992624" y="2131302"/>
            <a:ext cx="311825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Presence sliders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992624" y="2327374"/>
            <a:ext cx="3761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texture, clarity, and color vibrance to finish your image.</a:t>
            </a:r>
            <a:endParaRPr lang="en-US" sz="1050" dirty="0"/>
          </a:p>
        </p:txBody>
      </p:sp>
      <p:pic>
        <p:nvPicPr>
          <p:cNvPr id="29" name="Image 1" descr="preencoded.png">
            <a:extLst>
              <a:ext uri="{FF2B5EF4-FFF2-40B4-BE49-F238E27FC236}">
                <a16:creationId xmlns:a16="http://schemas.microsoft.com/office/drawing/2014/main" id="{399EACA6-201F-1C1E-2605-1B846EC5A6E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325" r="22315" b="4175"/>
          <a:stretch>
            <a:fillRect/>
          </a:stretch>
        </p:blipFill>
        <p:spPr>
          <a:xfrm>
            <a:off x="1427063" y="2728960"/>
            <a:ext cx="6487743" cy="239762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74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182880" y="91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8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2024386" y="85917"/>
            <a:ext cx="50952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Develop Module Workspace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82880" y="777240"/>
            <a:ext cx="3955671" cy="502920"/>
          </a:xfrm>
          <a:prstGeom prst="roundRect">
            <a:avLst>
              <a:gd name="adj" fmla="val 12727"/>
            </a:avLst>
          </a:prstGeom>
          <a:solidFill>
            <a:srgbClr val="160D28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82880" y="777240"/>
            <a:ext cx="50292" cy="50292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347472" y="868680"/>
            <a:ext cx="37020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Develop module is where you correct and enhance your photos. It is non-destructive, your original photo file is never changed.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82880" y="1417320"/>
            <a:ext cx="50292" cy="64008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347472" y="144475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8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 (top right)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47472" y="1709928"/>
            <a:ext cx="478916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the tonal range of your photo. Triangles in the corners are clipping warnings.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82880" y="2185416"/>
            <a:ext cx="50292" cy="64008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347472" y="22128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8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panel (right)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" y="2478024"/>
            <a:ext cx="478916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main editing panel. Profile, white balance, tone, and presence sliders are all here.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82880" y="2953512"/>
            <a:ext cx="50292" cy="64008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347472" y="298094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8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toolbar (below Histogram)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47472" y="324612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Crop, Remove, Masking, Red Eye, and Graduated Filter tools. Press R for Crop.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82880" y="3721608"/>
            <a:ext cx="50292" cy="64008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347472" y="374904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8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panel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47471" y="4014216"/>
            <a:ext cx="533487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Navigator, Presets, Snapshots, History, and Collections. Use Presets to apply looks quickly.</a:t>
            </a:r>
            <a:endParaRPr lang="en-US" sz="105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 rotWithShape="1">
          <a:blip r:embed="rId3"/>
          <a:srcRect l="1773" t="1909" r="18760" b="4579"/>
          <a:stretch>
            <a:fillRect/>
          </a:stretch>
        </p:blipFill>
        <p:spPr>
          <a:xfrm>
            <a:off x="5136641" y="777596"/>
            <a:ext cx="1930037" cy="1469208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5136641" y="2350008"/>
            <a:ext cx="193003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 panel, shows tonal range and camera metadata</a:t>
            </a:r>
            <a:endParaRPr lang="en-US" sz="800" dirty="0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rcRect t="3103" r="11658" b="4157"/>
          <a:stretch>
            <a:fillRect/>
          </a:stretch>
        </p:blipFill>
        <p:spPr>
          <a:xfrm>
            <a:off x="7111983" y="777240"/>
            <a:ext cx="1930037" cy="3961015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7089330" y="4850357"/>
            <a:ext cx="19753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panel, Profile, WB, Tone, and Presence sliders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74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182880" y="91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8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77824" y="91440"/>
            <a:ext cx="7388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and Straighten Your Photo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82880" y="804672"/>
            <a:ext cx="347472" cy="347472"/>
          </a:xfrm>
          <a:prstGeom prst="ellipse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82880" y="8046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24282" y="777240"/>
            <a:ext cx="271826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D to go to the Develop module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24282" y="925415"/>
            <a:ext cx="47256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sure you are in Loupe view. Press D on your keyboard from the Library module.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82880" y="1330960"/>
            <a:ext cx="347472" cy="347472"/>
          </a:xfrm>
          <a:prstGeom prst="ellipse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182880" y="13309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24282" y="1227167"/>
            <a:ext cx="271826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R to open the Crop Overlay tool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24282" y="1406305"/>
            <a:ext cx="472567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crop rectangle appears around your photo. The Crop &amp; Straighten options panel opens above the Basic panel.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002518"/>
            <a:ext cx="347472" cy="347472"/>
          </a:xfrm>
          <a:prstGeom prst="ellipse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182880" y="200251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24282" y="1920222"/>
            <a:ext cx="262382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the corner handles to adjust the crop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24282" y="2306123"/>
            <a:ext cx="18245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any corner or edge of the crop box. The area outside the crop darkens so you can preview the result.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82880" y="3002851"/>
            <a:ext cx="347472" cy="347472"/>
          </a:xfrm>
          <a:prstGeom prst="ellipse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182880" y="3002851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24282" y="3002851"/>
            <a:ext cx="182452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O to cycle through crop overlays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24282" y="3423406"/>
            <a:ext cx="178253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Thirds, Diagonal, Golden Ratio, and more. Use them as guides for composition.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82880" y="3953002"/>
            <a:ext cx="347472" cy="347472"/>
          </a:xfrm>
          <a:prstGeom prst="ellipse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182880" y="395300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24282" y="3953002"/>
            <a:ext cx="19500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Return or Enter to confirm the crop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24282" y="4380397"/>
            <a:ext cx="1840324" cy="2826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crop is applied. Press R again at any time to go back and adjust it.</a:t>
            </a:r>
            <a:endParaRPr lang="en-US" sz="1050" dirty="0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 rotWithShape="1">
          <a:blip r:embed="rId3"/>
          <a:srcRect l="55776" t="30379" r="23323" b="29574"/>
          <a:stretch>
            <a:fillRect/>
          </a:stretch>
        </p:blipFill>
        <p:spPr>
          <a:xfrm>
            <a:off x="5890230" y="660248"/>
            <a:ext cx="1883793" cy="1479616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5785660" y="2166959"/>
            <a:ext cx="220702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Overlay active, Rule of Thirds grid visible</a:t>
            </a:r>
            <a:endParaRPr lang="en-US" sz="900" dirty="0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rcRect l="1204" t="4985" r="7145" b="2298"/>
          <a:stretch>
            <a:fillRect/>
          </a:stretch>
        </p:blipFill>
        <p:spPr>
          <a:xfrm>
            <a:off x="2574334" y="2471027"/>
            <a:ext cx="3153844" cy="2352601"/>
          </a:xfrm>
          <a:prstGeom prst="rect">
            <a:avLst/>
          </a:prstGeom>
        </p:spPr>
      </p:pic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rcRect l="1747" t="5383" r="16651" b="1748"/>
          <a:stretch>
            <a:fillRect/>
          </a:stretch>
        </p:blipFill>
        <p:spPr>
          <a:xfrm>
            <a:off x="5884477" y="2459964"/>
            <a:ext cx="3139012" cy="2363664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4370015" y="4850892"/>
            <a:ext cx="287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Left: Rule of Thirds  |  Right: Diagonal overlay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74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182880" y="91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8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77824" y="91440"/>
            <a:ext cx="7388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Overlays and Straightening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82880" y="777240"/>
            <a:ext cx="4892040" cy="502920"/>
          </a:xfrm>
          <a:prstGeom prst="roundRect">
            <a:avLst>
              <a:gd name="adj" fmla="val 12727"/>
            </a:avLst>
          </a:prstGeom>
          <a:solidFill>
            <a:srgbClr val="160D28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347472" y="8686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overlays are guides, not rules. Use them to help you make stronger compositions. Press O to cycle between them.</a:t>
            </a:r>
            <a:endParaRPr lang="en-US" sz="10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l="5961" t="4646" r="33793" b="4867"/>
          <a:stretch>
            <a:fillRect/>
          </a:stretch>
        </p:blipFill>
        <p:spPr>
          <a:xfrm>
            <a:off x="206248" y="1485900"/>
            <a:ext cx="1556238" cy="249174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82880" y="3995928"/>
            <a:ext cx="15562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9 available crop overlays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938528" y="1663446"/>
            <a:ext cx="3072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Thirds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1938528" y="1915559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Divides the frame into thirds. Place your subject on the lines or intersections.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1938528" y="2204248"/>
            <a:ext cx="3072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1938528" y="2456361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line from corner to corner. Great for leading lines and dynamic compositions.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1938528" y="2745050"/>
            <a:ext cx="3072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Ratio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1938528" y="2997163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curved composition guide used by classical painters and photographers.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1938528" y="3285852"/>
            <a:ext cx="3072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 Ratios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938528" y="3537966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common print and screen crop proportions side by side.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182880" y="4288536"/>
            <a:ext cx="4892040" cy="621792"/>
          </a:xfrm>
          <a:prstGeom prst="roundRect">
            <a:avLst>
              <a:gd name="adj" fmla="val 10294"/>
            </a:avLst>
          </a:prstGeom>
          <a:solidFill>
            <a:srgbClr val="041414"/>
          </a:solidFill>
          <a:ln w="12700">
            <a:solidFill>
              <a:srgbClr val="0074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347472" y="4379976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Straighten: In the Crop &amp; Straighten panel, drag the Angle slider left or right to level a tilted horizon. Or drag along a line in the photo that should be horizontal.</a:t>
            </a:r>
            <a:endParaRPr lang="en-US" sz="1050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rcRect l="3635" t="4020" r="22122" b="3517"/>
          <a:stretch>
            <a:fillRect/>
          </a:stretch>
        </p:blipFill>
        <p:spPr>
          <a:xfrm>
            <a:off x="5175504" y="777240"/>
            <a:ext cx="2083816" cy="3755972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5175504" y="4533212"/>
            <a:ext cx="1999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 ratio options, 16x9 is 1920x1080</a:t>
            </a:r>
            <a:endParaRPr lang="en-US" sz="9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rcRect t="8475" r="10711" b="-1"/>
          <a:stretch>
            <a:fillRect/>
          </a:stretch>
        </p:blipFill>
        <p:spPr>
          <a:xfrm>
            <a:off x="7352634" y="777240"/>
            <a:ext cx="1685988" cy="1728216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7656132" y="2600961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panel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74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182880" y="91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8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82880" y="9144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 Camera Profile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82880" y="777240"/>
            <a:ext cx="5719496" cy="640080"/>
          </a:xfrm>
          <a:prstGeom prst="roundRect">
            <a:avLst>
              <a:gd name="adj" fmla="val 10000"/>
            </a:avLst>
          </a:prstGeom>
          <a:solidFill>
            <a:srgbClr val="160D28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347471" y="868680"/>
            <a:ext cx="535628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camera profile sets the starting color interpretation for your photo. Think of it as the color mood Lightroom begins with before you make any adjustments.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82880" y="1581912"/>
            <a:ext cx="347472" cy="347472"/>
          </a:xfrm>
          <a:prstGeom prst="ellipse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82880" y="15819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55448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the Basic panel in the Develop module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40079" y="1761345"/>
            <a:ext cx="506367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the very top of the Basic panel, just below the Auto, B&amp;W, and HDR buttons.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82880" y="2295144"/>
            <a:ext cx="347472" cy="347472"/>
          </a:xfrm>
          <a:prstGeom prst="ellipse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182880" y="22951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2267712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Profile dropdown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40079" y="2474577"/>
            <a:ext cx="506367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may show Adobe Color, Adaptive Color, or As Shot. Click on it to open the menu.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82880" y="3008376"/>
            <a:ext cx="347472" cy="347472"/>
          </a:xfrm>
          <a:prstGeom prst="ellipse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182880" y="30083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2980944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Adaptive Color as your starting point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40079" y="3187809"/>
            <a:ext cx="506367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Color uses AI to analyze each photo individually and apply the best starting color. It is the recommended setting for class work.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82880" y="3886200"/>
            <a:ext cx="347472" cy="347472"/>
          </a:xfrm>
          <a:prstGeom prst="ellipse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182880" y="38862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858768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grid icon to open the Profile Browser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40079" y="4065633"/>
            <a:ext cx="506367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Profile Browser shows all available profiles with thumbnails so you can preview them on your photo.</a:t>
            </a:r>
            <a:endParaRPr lang="en-US" sz="1050" dirty="0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rcRect t="4546" r="3926" b="7727"/>
          <a:stretch>
            <a:fillRect/>
          </a:stretch>
        </p:blipFill>
        <p:spPr>
          <a:xfrm>
            <a:off x="5963772" y="754830"/>
            <a:ext cx="3004457" cy="1764792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5902376" y="2552663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panel, Profile set to Adaptive Color</a:t>
            </a:r>
            <a:endParaRPr lang="en-US" sz="900" dirty="0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rcRect t="7770" r="18227" b="25826"/>
          <a:stretch>
            <a:fillRect/>
          </a:stretch>
        </p:blipFill>
        <p:spPr>
          <a:xfrm>
            <a:off x="6684188" y="2816852"/>
            <a:ext cx="1563624" cy="1824681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6268136" y="4726374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dropdown showing all Adobe Raw profiles and Adaptive options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74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182880" y="91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8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77824" y="91440"/>
            <a:ext cx="7388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Profiles: What They Are</a:t>
            </a:r>
            <a:endParaRPr lang="en-US" sz="2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t="2921" r="13014" b="27316"/>
          <a:stretch>
            <a:fillRect/>
          </a:stretch>
        </p:blipFill>
        <p:spPr>
          <a:xfrm>
            <a:off x="286173" y="822960"/>
            <a:ext cx="1439334" cy="422199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108200" y="792980"/>
            <a:ext cx="6852920" cy="859536"/>
          </a:xfrm>
          <a:prstGeom prst="roundRect">
            <a:avLst>
              <a:gd name="adj" fmla="val 6383"/>
            </a:avLst>
          </a:prstGeom>
          <a:solidFill>
            <a:srgbClr val="1C1C1C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2226744" y="866132"/>
            <a:ext cx="6588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8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Adobe Raw profiles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2226744" y="1140452"/>
            <a:ext cx="6588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Camera-independent. Give any image a unified, neutral starting look. Adobe Color is the standard baseline.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108200" y="1780532"/>
            <a:ext cx="6852920" cy="859536"/>
          </a:xfrm>
          <a:prstGeom prst="roundRect">
            <a:avLst>
              <a:gd name="adj" fmla="val 6383"/>
            </a:avLst>
          </a:prstGeom>
          <a:solidFill>
            <a:srgbClr val="1C1C1C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2226744" y="1853684"/>
            <a:ext cx="6588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8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Color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2226744" y="2128004"/>
            <a:ext cx="6588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AI-enhanced. Analyzes each photo individually to apply the best starting color. Recommended for class work.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2108200" y="2768084"/>
            <a:ext cx="6852920" cy="859536"/>
          </a:xfrm>
          <a:prstGeom prst="roundRect">
            <a:avLst>
              <a:gd name="adj" fmla="val 6383"/>
            </a:avLst>
          </a:prstGeom>
          <a:solidFill>
            <a:srgbClr val="1C1C1C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2226744" y="2841236"/>
            <a:ext cx="6588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8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Matching profiles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2226744" y="3115556"/>
            <a:ext cx="6588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Mimic the picture styles built into your specific camera. The number available depends on your camera make.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2108200" y="3755636"/>
            <a:ext cx="6852920" cy="859536"/>
          </a:xfrm>
          <a:prstGeom prst="roundRect">
            <a:avLst>
              <a:gd name="adj" fmla="val 6383"/>
            </a:avLst>
          </a:prstGeom>
          <a:solidFill>
            <a:srgbClr val="1C1C1C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2226744" y="3828788"/>
            <a:ext cx="6588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8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profiles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2226744" y="4103108"/>
            <a:ext cx="6588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Artistic effects using LUTs (color lookup tables). They have an Amount slider so you can dial in the strength.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2703492" y="4718296"/>
            <a:ext cx="5741233" cy="329184"/>
          </a:xfrm>
          <a:prstGeom prst="roundRect">
            <a:avLst>
              <a:gd name="adj" fmla="val 38889"/>
            </a:avLst>
          </a:prstGeom>
          <a:solidFill>
            <a:srgbClr val="160D28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2251104" y="4860028"/>
            <a:ext cx="6646008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Profiles do not change the Tone or Presence sliders, you still have full control after choosing a profile.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74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182880" y="91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8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77824" y="91440"/>
            <a:ext cx="7388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Your White Balance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82880" y="777240"/>
            <a:ext cx="8721276" cy="566928"/>
          </a:xfrm>
          <a:prstGeom prst="roundRect">
            <a:avLst>
              <a:gd name="adj" fmla="val 11290"/>
            </a:avLst>
          </a:prstGeom>
          <a:solidFill>
            <a:srgbClr val="160D28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302501" y="868680"/>
            <a:ext cx="85566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balance corrects color casts caused by different light sources. Fluorescent light turns photos green. Tungsten light turns them orange. WB </a:t>
            </a:r>
            <a:r>
              <a:rPr lang="en-US" sz="10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82880" y="1508760"/>
            <a:ext cx="347472" cy="347472"/>
          </a:xfrm>
          <a:prstGeom prst="ellipse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82880" y="1508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481328"/>
            <a:ext cx="63512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WB at the top of the Basic panel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673203"/>
            <a:ext cx="63512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 stands for White Balance. Click the dropdown next to it to see your options.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82880" y="2221992"/>
            <a:ext cx="347472" cy="347472"/>
          </a:xfrm>
          <a:prstGeom prst="ellipse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182880" y="2221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2194560"/>
            <a:ext cx="63512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option that matches your lighting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2386435"/>
            <a:ext cx="635127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Daylight, Cloudy, Shade, Tungsten, Fluorescent, Flash. For RAW photos, try Auto first and adjust from there.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82880" y="3099816"/>
            <a:ext cx="347472" cy="347472"/>
          </a:xfrm>
          <a:prstGeom prst="ellipse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182880" y="30998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072384"/>
            <a:ext cx="63512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Temp and Tint sliders to fine-tune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3264259"/>
            <a:ext cx="635127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moves blue to yellow (cool to warm). Tint moves green to magenta. Drag until colors look natural.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82880" y="3977640"/>
            <a:ext cx="347472" cy="347472"/>
          </a:xfrm>
          <a:prstGeom prst="ellipse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182880" y="3977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950208"/>
            <a:ext cx="63512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White Balance Selector for precision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4142083"/>
            <a:ext cx="64609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W or click the eyedropper icon in the Basic panel. Click on something in your photo that should be a neutral gray. Lightroom sets WB automatically.</a:t>
            </a:r>
            <a:endParaRPr lang="en-US" sz="1050" dirty="0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rcRect l="8383" t="5435" r="51180" b="3803"/>
          <a:stretch>
            <a:fillRect/>
          </a:stretch>
        </p:blipFill>
        <p:spPr>
          <a:xfrm>
            <a:off x="7711820" y="1717873"/>
            <a:ext cx="845058" cy="2115108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7684960" y="4171309"/>
            <a:ext cx="89877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 dropdown, choose the option that matches your light source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74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182880" y="91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8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572768" y="91440"/>
            <a:ext cx="7388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Exposure and Contrast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82880" y="804672"/>
            <a:ext cx="347472" cy="347472"/>
          </a:xfrm>
          <a:prstGeom prst="ellipse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82880" y="8046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77724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Tone section in the Basic panel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051560"/>
            <a:ext cx="337145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White Balance you will see Tone with six sliders: Exposure, Contrast, Highlights, Shadows, Whites, and Blacks.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82880" y="1673352"/>
            <a:ext cx="347472" cy="347472"/>
          </a:xfrm>
          <a:prstGeom prst="ellipse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182880" y="16733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64592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Exposure to set overall brightness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1920240"/>
            <a:ext cx="320489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 affects the midtones most. Drag right to brighten, left to darken. Think of it as adjusting the base brightness of the whole photo.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42032"/>
            <a:ext cx="347472" cy="347472"/>
          </a:xfrm>
          <a:prstGeom prst="ellipse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182880" y="2542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251460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Contrast to separate tones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2788920"/>
            <a:ext cx="328734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 pushes brights brighter and darks darker, increasing the difference between them. Start with +20 to +50 on most photos.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82880" y="3756518"/>
            <a:ext cx="8727948" cy="327672"/>
          </a:xfrm>
          <a:prstGeom prst="roundRect">
            <a:avLst>
              <a:gd name="adj" fmla="val 11667"/>
            </a:avLst>
          </a:prstGeom>
          <a:solidFill>
            <a:srgbClr val="041414"/>
          </a:solidFill>
          <a:ln w="12700">
            <a:solidFill>
              <a:srgbClr val="0074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356616" y="3731527"/>
            <a:ext cx="83618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Hold Shift and double-click any slider label to have Lightroom auto-set that single slider. Useful when you want Lightroom to make a quick guess.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82880" y="4227304"/>
            <a:ext cx="8727948" cy="583952"/>
          </a:xfrm>
          <a:prstGeom prst="roundRect">
            <a:avLst>
              <a:gd name="adj" fmla="val 8235"/>
            </a:avLst>
          </a:prstGeom>
          <a:solidFill>
            <a:srgbClr val="1A0A00"/>
          </a:solidFill>
          <a:ln w="12700">
            <a:solidFill>
              <a:srgbClr val="FF6B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347472" y="4222100"/>
            <a:ext cx="842704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max out Exposure or Contrast. Subtle adjustments give better results. A photo that is +2.0 exposure will lose highlight detail and look washed out. Start small and work up.</a:t>
            </a:r>
            <a:endParaRPr lang="en-US" sz="1050" dirty="0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rcRect t="4611" r="7505" b="7818"/>
          <a:stretch>
            <a:fillRect/>
          </a:stretch>
        </p:blipFill>
        <p:spPr>
          <a:xfrm>
            <a:off x="4121261" y="802459"/>
            <a:ext cx="4861181" cy="2500037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4700191" y="3384792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workspace, Exposure +1.70 applied to the Havana street photo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74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182880" y="91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8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572768" y="91440"/>
            <a:ext cx="7388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 Highlights and Lift Shadows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82880" y="976616"/>
            <a:ext cx="8778240" cy="413832"/>
          </a:xfrm>
          <a:prstGeom prst="roundRect">
            <a:avLst>
              <a:gd name="adj" fmla="val 9722"/>
            </a:avLst>
          </a:prstGeom>
          <a:solidFill>
            <a:srgbClr val="160D28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281063" y="932688"/>
            <a:ext cx="873512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25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 and Shadows are targeted sliders. Highlights only affects the bright areas. Shadows only affects the dark areas. They do not interfere with each other.</a:t>
            </a:r>
            <a:endParaRPr lang="en-US" sz="1025" dirty="0"/>
          </a:p>
        </p:txBody>
      </p:sp>
      <p:sp>
        <p:nvSpPr>
          <p:cNvPr id="8" name="Shape 6"/>
          <p:cNvSpPr/>
          <p:nvPr/>
        </p:nvSpPr>
        <p:spPr>
          <a:xfrm>
            <a:off x="182880" y="1840296"/>
            <a:ext cx="347472" cy="347472"/>
          </a:xfrm>
          <a:prstGeom prst="ellipse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82880" y="18402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792427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Highlights left to recover a bright sky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29097" y="1933776"/>
            <a:ext cx="803905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Pulling Highlights down (toward -100) brings back detail in overexposed areas like clouds or a bright sky. It does not darken the shadows.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82880" y="2718120"/>
            <a:ext cx="347472" cy="347472"/>
          </a:xfrm>
          <a:prstGeom prst="ellipse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182880" y="2718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2670251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Shadows right to open up dark areas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2965008"/>
            <a:ext cx="276720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Pushing Shadows up (toward +100) reveals detail in dark areas like faces in shade or a dark foreground. It does not affect the bright areas.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82880" y="3818128"/>
            <a:ext cx="347472" cy="347472"/>
          </a:xfrm>
          <a:prstGeom prst="ellipse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182880" y="38181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735832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J to see clipping warnings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4030589"/>
            <a:ext cx="276720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areas are losing shadow detail. Red areas are losing highlight detail. Use this to judge how far to push your sliders before detail is lost.</a:t>
            </a:r>
            <a:endParaRPr lang="en-US" sz="105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rcRect l="104" t="5081" r="7016" b="897"/>
          <a:stretch>
            <a:fillRect/>
          </a:stretch>
        </p:blipFill>
        <p:spPr>
          <a:xfrm>
            <a:off x="3580974" y="2481553"/>
            <a:ext cx="2623811" cy="2258769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3500366" y="4767756"/>
            <a:ext cx="2785170" cy="256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Shadows +52 applied, detail opens in the dark foreground</a:t>
            </a:r>
            <a:endParaRPr lang="en-US" sz="900" dirty="0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rcRect t="5978" r="5717"/>
          <a:stretch>
            <a:fillRect/>
          </a:stretch>
        </p:blipFill>
        <p:spPr>
          <a:xfrm>
            <a:off x="6285536" y="2481553"/>
            <a:ext cx="2663448" cy="2258769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6258303" y="4767756"/>
            <a:ext cx="2717914" cy="256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 -100, sky detail fully recovered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74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182880" y="91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8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572768" y="91440"/>
            <a:ext cx="7388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Whites and Blacks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82880" y="777240"/>
            <a:ext cx="4892040" cy="658368"/>
          </a:xfrm>
          <a:prstGeom prst="roundRect">
            <a:avLst>
              <a:gd name="adj" fmla="val 9722"/>
            </a:avLst>
          </a:prstGeom>
          <a:solidFill>
            <a:srgbClr val="160D28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347472" y="86868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Whites sets the brightest point in your photo. Blacks sets the darkest point. Setting these correctly spreads all your tonal information across the full range from black to white.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82880" y="1712625"/>
            <a:ext cx="347472" cy="347472"/>
          </a:xfrm>
          <a:prstGeom prst="ellipse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82880" y="1712625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685193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Option and drag the Whites slider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899553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screen turns black. Drag right until you see the first small white or colored areas appear. That is your clipping point, back off slightly.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82880" y="2590449"/>
            <a:ext cx="347472" cy="347472"/>
          </a:xfrm>
          <a:prstGeom prst="ellipse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182880" y="2590449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2563017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Option and drag the Blacks slider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2777377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screen turns white. Drag left until you see the first small black areas appear. That is your black point, back off slightly.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82880" y="3468273"/>
            <a:ext cx="347472" cy="347472"/>
          </a:xfrm>
          <a:prstGeom prst="ellipse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182880" y="3468273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440841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histogram after adjusting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3598987"/>
            <a:ext cx="640529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well-adjusted photo has data spread across most of the histogram with no large piles against the left or right edges.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82880" y="4187952"/>
            <a:ext cx="8648575" cy="694944"/>
          </a:xfrm>
          <a:prstGeom prst="roundRect">
            <a:avLst>
              <a:gd name="adj" fmla="val 9211"/>
            </a:avLst>
          </a:prstGeom>
          <a:solidFill>
            <a:srgbClr val="041414"/>
          </a:solidFill>
          <a:ln w="12700">
            <a:solidFill>
              <a:srgbClr val="0074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347472" y="4279392"/>
            <a:ext cx="81069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workflow order: Set Exposure first. Then Highlights and Shadows to recover detail. Then Whites and Blacks to set the endpoints. Then Contrast last to taste.</a:t>
            </a:r>
            <a:endParaRPr lang="en-US" sz="1050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377AA29-EB95-1956-2292-088FE639750A}"/>
              </a:ext>
            </a:extLst>
          </p:cNvPr>
          <p:cNvGrpSpPr/>
          <p:nvPr/>
        </p:nvGrpSpPr>
        <p:grpSpPr>
          <a:xfrm>
            <a:off x="5074920" y="777239"/>
            <a:ext cx="3886200" cy="2730307"/>
            <a:chOff x="5257800" y="868680"/>
            <a:chExt cx="3703320" cy="2468880"/>
          </a:xfrm>
        </p:grpSpPr>
        <p:pic>
          <p:nvPicPr>
            <p:cNvPr id="23" name="Image 0" descr="preencoded.png"/>
            <p:cNvPicPr>
              <a:picLocks noChangeAspect="1"/>
            </p:cNvPicPr>
            <p:nvPr/>
          </p:nvPicPr>
          <p:blipFill>
            <a:blip r:embed="rId3"/>
            <a:srcRect t="4928" r="7003" b="5657"/>
            <a:stretch>
              <a:fillRect/>
            </a:stretch>
          </p:blipFill>
          <p:spPr>
            <a:xfrm>
              <a:off x="5387465" y="868680"/>
              <a:ext cx="3443990" cy="2240280"/>
            </a:xfrm>
            <a:prstGeom prst="rect">
              <a:avLst/>
            </a:prstGeom>
          </p:spPr>
        </p:pic>
        <p:sp>
          <p:nvSpPr>
            <p:cNvPr id="24" name="Text 21"/>
            <p:cNvSpPr txBox="1"/>
            <p:nvPr/>
          </p:nvSpPr>
          <p:spPr>
            <a:xfrm>
              <a:off x="5257800" y="3136392"/>
              <a:ext cx="370332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900" i="1" dirty="0">
                  <a:solidFill>
                    <a:srgbClr val="AAAAA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Histogram showing a well-spread tonal range, ISO 1600, 70mm, f/2.8</a:t>
              </a:r>
              <a:endParaRPr lang="en-US" sz="900" dirty="0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74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182880" y="91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8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572768" y="91440"/>
            <a:ext cx="7388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Histogram</a:t>
            </a:r>
            <a:endParaRPr lang="en-US" sz="2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1588" t="866" r="18632" b="6035"/>
          <a:stretch>
            <a:fillRect/>
          </a:stretch>
        </p:blipFill>
        <p:spPr>
          <a:xfrm>
            <a:off x="367555" y="864632"/>
            <a:ext cx="3215091" cy="272063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46138" y="3648109"/>
            <a:ext cx="345688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 panel, color channels overlapping, camera metadata below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242966" y="864632"/>
            <a:ext cx="46998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8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side = dark tones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4242966" y="1030724"/>
            <a:ext cx="469986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and black detail. A pile against the left wall means clipped blacks, pure black with no detail.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918504" y="843347"/>
            <a:ext cx="45720" cy="658368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4242966" y="1695087"/>
            <a:ext cx="46998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8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side = bright tones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4242966" y="1861179"/>
            <a:ext cx="469986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and white detail. A pile against the right wall means clipped highlights, blown-out whites with no detail.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918505" y="1656638"/>
            <a:ext cx="45719" cy="658368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4242966" y="2548027"/>
            <a:ext cx="46998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8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 = midtones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4242966" y="2638717"/>
            <a:ext cx="469986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bulk of most photos. Where skin tones, foliage, and middle grays live.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918504" y="3283220"/>
            <a:ext cx="45720" cy="658368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4242966" y="3273552"/>
            <a:ext cx="46998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8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Colors = RGB channels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242966" y="3439644"/>
            <a:ext cx="469986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Red, green, and blue each have their own channel. Overlaps appear as mixed colors. A color-casted photo will show one channel pushed far from the others.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3918504" y="4096512"/>
            <a:ext cx="45720" cy="658368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4242966" y="4096512"/>
            <a:ext cx="46998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8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Triangles at corners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4242966" y="4262604"/>
            <a:ext cx="469986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Clipping warning indicators. Click them to turn on the clipping overlay on your photo (or press J).</a:t>
            </a:r>
            <a:endParaRPr lang="en-US" sz="1050" dirty="0"/>
          </a:p>
        </p:txBody>
      </p:sp>
      <p:sp>
        <p:nvSpPr>
          <p:cNvPr id="21" name="Shape 9">
            <a:extLst>
              <a:ext uri="{FF2B5EF4-FFF2-40B4-BE49-F238E27FC236}">
                <a16:creationId xmlns:a16="http://schemas.microsoft.com/office/drawing/2014/main" id="{1C540FF2-3A6E-2086-67B0-E408281635BE}"/>
              </a:ext>
            </a:extLst>
          </p:cNvPr>
          <p:cNvSpPr/>
          <p:nvPr/>
        </p:nvSpPr>
        <p:spPr>
          <a:xfrm>
            <a:off x="3918505" y="2469929"/>
            <a:ext cx="45719" cy="658368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74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182880" y="91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8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07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572768" y="91440"/>
            <a:ext cx="7388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Presence, Texture, Clarity, Vibrance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82880" y="777240"/>
            <a:ext cx="4892040" cy="502920"/>
          </a:xfrm>
          <a:prstGeom prst="roundRect">
            <a:avLst>
              <a:gd name="adj" fmla="val 12727"/>
            </a:avLst>
          </a:prstGeom>
          <a:solidFill>
            <a:srgbClr val="160D28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82880" y="777240"/>
            <a:ext cx="50292" cy="50292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347472" y="8686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 sliders are the finishing touches. Apply them after you have set tone and white balance.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82880" y="1444752"/>
            <a:ext cx="347472" cy="347472"/>
          </a:xfrm>
          <a:prstGeom prst="ellipse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82880" y="1444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41732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Texture to bring out surface detail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634935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Texture enhances fine detail like skin, fabric, bark, and feathers without affecting out-of-focus areas. Start between +15 and +30.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82880" y="2313432"/>
            <a:ext cx="347472" cy="347472"/>
          </a:xfrm>
          <a:prstGeom prst="ellipse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182880" y="2313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228600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Clarity to increase midtone contrast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2503615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 adds punch to edges and structure in the midtones. Too much makes photos look gritty and over-processed. Use sparingly, between +10 and +30.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82880" y="3191256"/>
            <a:ext cx="347472" cy="347472"/>
          </a:xfrm>
          <a:prstGeom prst="ellipse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182880" y="31912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163824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Vibrance to boost color without oversaturating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3381439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Vibrance is a smart color boost, it protects skin tones and already-saturated colors while lifting duller colors. It is almost always safer than Saturation.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82880" y="4069080"/>
            <a:ext cx="347472" cy="347472"/>
          </a:xfrm>
          <a:prstGeom prst="ellipse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182880" y="4069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4041648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Saturation with care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4259263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Saturation boosts all colors equally and can quickly make a photo look unnatural. Rarely go above +20.</a:t>
            </a:r>
            <a:endParaRPr lang="en-US" sz="1050" dirty="0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rcRect l="1358" t="7546" r="11097" b="9814"/>
          <a:stretch>
            <a:fillRect/>
          </a:stretch>
        </p:blipFill>
        <p:spPr>
          <a:xfrm>
            <a:off x="5308092" y="775500"/>
            <a:ext cx="3541618" cy="1766532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5227241" y="2601469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 section, Texture, Clarity, Dehaze, Vibrance, Saturation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74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182880" y="91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8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380744" y="91440"/>
            <a:ext cx="7388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Customizing the Develop Panel Order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82880" y="777240"/>
            <a:ext cx="4892040" cy="502920"/>
          </a:xfrm>
          <a:prstGeom prst="roundRect">
            <a:avLst>
              <a:gd name="adj" fmla="val 12727"/>
            </a:avLst>
          </a:prstGeom>
          <a:solidFill>
            <a:srgbClr val="160D28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82880" y="777240"/>
            <a:ext cx="50292" cy="50292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347472" y="8686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rearrange the panels in the Develop module's right panel group to match the way you like to work.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82880" y="1444752"/>
            <a:ext cx="347472" cy="347472"/>
          </a:xfrm>
          <a:prstGeom prst="ellipse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82880" y="1444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41732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Control-click any panel header in the right panel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65354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menu appears. Choose Customize Develop Panel.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82880" y="2148840"/>
            <a:ext cx="347472" cy="347472"/>
          </a:xfrm>
          <a:prstGeom prst="ellipse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182880" y="2148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2121408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panel names to reorder them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2357628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any panel name up or down to change its position. Checkboxes toggle visibility.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82880" y="2862072"/>
            <a:ext cx="347472" cy="347472"/>
          </a:xfrm>
          <a:prstGeom prst="ellipse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182880" y="2862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283464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Save and restart Lightroom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307086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custom order is saved. Lightroom restarts and your panels appear in the new order.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82880" y="3584448"/>
            <a:ext cx="4892040" cy="502920"/>
          </a:xfrm>
          <a:prstGeom prst="roundRect">
            <a:avLst>
              <a:gd name="adj" fmla="val 12727"/>
            </a:avLst>
          </a:prstGeom>
          <a:solidFill>
            <a:srgbClr val="041414"/>
          </a:solidFill>
          <a:ln w="12700">
            <a:solidFill>
              <a:srgbClr val="0074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82880" y="3584448"/>
            <a:ext cx="50292" cy="502920"/>
          </a:xfrm>
          <a:prstGeom prst="rect">
            <a:avLst/>
          </a:prstGeom>
          <a:solidFill>
            <a:srgbClr val="0074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347472" y="367588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go back to the default order, open Customize Develop Panel again and click Default Order at the bottom left.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82880" y="4187952"/>
            <a:ext cx="4892040" cy="713232"/>
          </a:xfrm>
          <a:prstGeom prst="roundRect">
            <a:avLst>
              <a:gd name="adj" fmla="val 8974"/>
            </a:avLst>
          </a:prstGeom>
          <a:solidFill>
            <a:srgbClr val="1A0A00"/>
          </a:solidFill>
          <a:ln w="12700">
            <a:solidFill>
              <a:srgbClr val="FF6B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82880" y="4187952"/>
            <a:ext cx="50292" cy="713232"/>
          </a:xfrm>
          <a:prstGeom prst="rect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347472" y="4279392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class work, leave panels in the default order so your screen matches the lesson instructions. Only customize your own personal catalog.</a:t>
            </a:r>
            <a:endParaRPr lang="en-US" sz="1050" dirty="0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rcRect l="1091" t="2538" r="12086" b="5330"/>
          <a:stretch>
            <a:fillRect/>
          </a:stretch>
        </p:blipFill>
        <p:spPr>
          <a:xfrm>
            <a:off x="5371109" y="777240"/>
            <a:ext cx="3592526" cy="3931920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5125212" y="4800600"/>
            <a:ext cx="408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Customize Develop Panel dialog, drag to reorder, checkboxes toggle visibility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74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182880" y="91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8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380744" y="91440"/>
            <a:ext cx="7388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Lens Corrections, Fix Distortion and Vignetting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82880" y="777240"/>
            <a:ext cx="5417820" cy="658368"/>
          </a:xfrm>
          <a:prstGeom prst="roundRect">
            <a:avLst>
              <a:gd name="adj" fmla="val 9722"/>
            </a:avLst>
          </a:prstGeom>
          <a:solidFill>
            <a:srgbClr val="160D28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347471" y="868680"/>
            <a:ext cx="516465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lens has its own flaws, barrel distortion (bowing outward), pincushion distortion (bowing inward), and dark edges (vignetting). Lightroom can fix all of these automatically.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82880" y="1600200"/>
            <a:ext cx="347472" cy="347472"/>
          </a:xfrm>
          <a:prstGeom prst="ellipse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82880" y="16002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572768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 down the right panel to Lens Corrections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801368"/>
            <a:ext cx="49606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below Detail, Transform, and Lens Blur in the default panel order.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82880" y="2313432"/>
            <a:ext cx="347472" cy="347472"/>
          </a:xfrm>
          <a:prstGeom prst="ellipse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182880" y="2313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228600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Enable Profile Corrections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2514600"/>
            <a:ext cx="49606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Lightroom reads the EXIF data in your photo to identify your lens and automatically applies the correct distortion and vignetting fix.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82880" y="3191256"/>
            <a:ext cx="347472" cy="347472"/>
          </a:xfrm>
          <a:prstGeom prst="ellipse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182880" y="31912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163824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Lightroom cannot find your lens, choose it manually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3392424"/>
            <a:ext cx="49606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Make and Model dropdowns under Lens Profile. Choose the closest match if your exact lens is not listed.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82880" y="4041648"/>
            <a:ext cx="5417820" cy="859536"/>
          </a:xfrm>
          <a:prstGeom prst="roundRect">
            <a:avLst>
              <a:gd name="adj" fmla="val 7447"/>
            </a:avLst>
          </a:prstGeom>
          <a:solidFill>
            <a:srgbClr val="041414"/>
          </a:solidFill>
          <a:ln w="12700">
            <a:solidFill>
              <a:srgbClr val="0074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347471" y="4133088"/>
            <a:ext cx="5164651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Canon EOS R50 with the kit lens: Lightroom will usually find it automatically. If not, select Canon as the Make and look for RF-S 18-45mm or RF-S 18-150mm depending on which kit lens you have.</a:t>
            </a:r>
            <a:endParaRPr lang="en-US" sz="1050" dirty="0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rcRect l="16411" t="16794" r="22676" b="4648"/>
          <a:stretch>
            <a:fillRect/>
          </a:stretch>
        </p:blipFill>
        <p:spPr>
          <a:xfrm>
            <a:off x="5998130" y="777240"/>
            <a:ext cx="2803499" cy="3727337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5998129" y="4576947"/>
            <a:ext cx="280349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Lens Corrections panel, Enable Profile Corrections checked, Make and Model auto-detected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74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182880" y="91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8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77824" y="91440"/>
            <a:ext cx="7388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Vocabulary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82880" y="777240"/>
            <a:ext cx="8778240" cy="365760"/>
          </a:xfrm>
          <a:prstGeom prst="roundRect">
            <a:avLst>
              <a:gd name="adj" fmla="val 17500"/>
            </a:avLst>
          </a:prstGeom>
          <a:solidFill>
            <a:srgbClr val="160D28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347472" y="868680"/>
            <a:ext cx="8549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words will appear on quizzes and in class. Learn them now.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82880" y="1243584"/>
            <a:ext cx="4297680" cy="640080"/>
          </a:xfrm>
          <a:prstGeom prst="roundRect">
            <a:avLst>
              <a:gd name="adj" fmla="val 7143"/>
            </a:avLst>
          </a:prstGeom>
          <a:solidFill>
            <a:srgbClr val="160D28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292608" y="1298448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module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664208" y="1280160"/>
            <a:ext cx="2706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editing environment in Lightroom Classic where you correct and enhance photos.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82880" y="1956816"/>
            <a:ext cx="4297680" cy="640080"/>
          </a:xfrm>
          <a:prstGeom prst="roundRect">
            <a:avLst>
              <a:gd name="adj" fmla="val 7143"/>
            </a:avLst>
          </a:prstGeom>
          <a:solidFill>
            <a:srgbClr val="160D28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292608" y="2011680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Non-destructive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1664208" y="1993392"/>
            <a:ext cx="2706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Editing that never changes the original photo file. All edits are saved in the Catalog.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82880" y="2670048"/>
            <a:ext cx="4297680" cy="640080"/>
          </a:xfrm>
          <a:prstGeom prst="roundRect">
            <a:avLst>
              <a:gd name="adj" fmla="val 7143"/>
            </a:avLst>
          </a:prstGeom>
          <a:solidFill>
            <a:srgbClr val="160D28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292608" y="2724912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1664208" y="2706624"/>
            <a:ext cx="2706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graph showing the distribution of tones in your photo from pure black (left) to pure white (right).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82880" y="3383280"/>
            <a:ext cx="4297680" cy="640080"/>
          </a:xfrm>
          <a:prstGeom prst="roundRect">
            <a:avLst>
              <a:gd name="adj" fmla="val 7143"/>
            </a:avLst>
          </a:prstGeom>
          <a:solidFill>
            <a:srgbClr val="160D28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292608" y="3438144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Profile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1664208" y="3419856"/>
            <a:ext cx="2706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color interpretation applied at the start of editing. Adaptive Color uses AI to optimize each photo.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82880" y="4096512"/>
            <a:ext cx="4297680" cy="640080"/>
          </a:xfrm>
          <a:prstGeom prst="roundRect">
            <a:avLst>
              <a:gd name="adj" fmla="val 7143"/>
            </a:avLst>
          </a:prstGeom>
          <a:solidFill>
            <a:srgbClr val="160D28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292608" y="4151376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Balance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664208" y="4133088"/>
            <a:ext cx="2706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color temperature and tint correction that removes color casts from different light sources.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09160" y="1243584"/>
            <a:ext cx="4297680" cy="640080"/>
          </a:xfrm>
          <a:prstGeom prst="roundRect">
            <a:avLst>
              <a:gd name="adj" fmla="val 7143"/>
            </a:avLst>
          </a:prstGeom>
          <a:solidFill>
            <a:srgbClr val="160D28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4818888" y="1298448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6190488" y="1280160"/>
            <a:ext cx="2706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overall brightness of a photo, controlled by the Exposure slider in the Tone section.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09160" y="1956816"/>
            <a:ext cx="4297680" cy="640080"/>
          </a:xfrm>
          <a:prstGeom prst="roundRect">
            <a:avLst>
              <a:gd name="adj" fmla="val 7143"/>
            </a:avLst>
          </a:prstGeom>
          <a:solidFill>
            <a:srgbClr val="160D28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4818888" y="2011680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190488" y="1993392"/>
            <a:ext cx="2706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bright areas of a photo. The Highlights slider targets only the bright tones without affecting shadows.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9160" y="2670048"/>
            <a:ext cx="4297680" cy="640080"/>
          </a:xfrm>
          <a:prstGeom prst="roundRect">
            <a:avLst>
              <a:gd name="adj" fmla="val 7143"/>
            </a:avLst>
          </a:prstGeom>
          <a:solidFill>
            <a:srgbClr val="160D28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4818888" y="2724912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Shadows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6190488" y="2706624"/>
            <a:ext cx="2706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dark areas of a photo. The Shadows slider opens up dark tones without affecting highlights.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09160" y="3383280"/>
            <a:ext cx="4297680" cy="640080"/>
          </a:xfrm>
          <a:prstGeom prst="roundRect">
            <a:avLst>
              <a:gd name="adj" fmla="val 7143"/>
            </a:avLst>
          </a:prstGeom>
          <a:solidFill>
            <a:srgbClr val="160D28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4818888" y="3438144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190488" y="3419856"/>
            <a:ext cx="2706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group of sliders, Texture, Clarity, Dehaze, Vibrance, and Saturation, that add detail and color depth.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09160" y="4096512"/>
            <a:ext cx="4297680" cy="640080"/>
          </a:xfrm>
          <a:prstGeom prst="roundRect">
            <a:avLst>
              <a:gd name="adj" fmla="val 7143"/>
            </a:avLst>
          </a:prstGeom>
          <a:solidFill>
            <a:srgbClr val="160D28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4818888" y="4151376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Clipping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6190488" y="4133088"/>
            <a:ext cx="2706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bright areas blow out to pure white or dark areas crush to pure black, losing all detail.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74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182880" y="9144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Reference: Your Develop Module Workflow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64592" y="749808"/>
            <a:ext cx="4315968" cy="749808"/>
          </a:xfrm>
          <a:prstGeom prst="roundRect">
            <a:avLst>
              <a:gd name="adj" fmla="val 6098"/>
            </a:avLst>
          </a:prstGeom>
          <a:solidFill>
            <a:srgbClr val="122222"/>
          </a:solidFill>
          <a:ln w="12700">
            <a:solidFill>
              <a:srgbClr val="0074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2712" y="950976"/>
            <a:ext cx="329184" cy="329184"/>
          </a:xfrm>
          <a:prstGeom prst="roundRect">
            <a:avLst>
              <a:gd name="adj" fmla="val 11111"/>
            </a:avLst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362712" y="9509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91540" y="890016"/>
            <a:ext cx="335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D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91540" y="1036320"/>
            <a:ext cx="335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the Develop module from the Library module.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64592" y="1591056"/>
            <a:ext cx="4315968" cy="749808"/>
          </a:xfrm>
          <a:prstGeom prst="roundRect">
            <a:avLst>
              <a:gd name="adj" fmla="val 6098"/>
            </a:avLst>
          </a:prstGeom>
          <a:solidFill>
            <a:srgbClr val="122222"/>
          </a:solidFill>
          <a:ln w="12700">
            <a:solidFill>
              <a:srgbClr val="0074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2712" y="1792224"/>
            <a:ext cx="329184" cy="329184"/>
          </a:xfrm>
          <a:prstGeom prst="roundRect">
            <a:avLst>
              <a:gd name="adj" fmla="val 11111"/>
            </a:avLst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362712" y="17922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91540" y="1731264"/>
            <a:ext cx="335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R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" y="1877568"/>
            <a:ext cx="335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Crop Overlay tool. Press Return to confirm.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64592" y="2432304"/>
            <a:ext cx="4315968" cy="749808"/>
          </a:xfrm>
          <a:prstGeom prst="roundRect">
            <a:avLst>
              <a:gd name="adj" fmla="val 6098"/>
            </a:avLst>
          </a:prstGeom>
          <a:solidFill>
            <a:srgbClr val="122222"/>
          </a:solidFill>
          <a:ln w="12700">
            <a:solidFill>
              <a:srgbClr val="0074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2712" y="2633472"/>
            <a:ext cx="329184" cy="329184"/>
          </a:xfrm>
          <a:prstGeom prst="roundRect">
            <a:avLst>
              <a:gd name="adj" fmla="val 11111"/>
            </a:avLst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362712" y="2633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91540" y="2572512"/>
            <a:ext cx="335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91540" y="2718816"/>
            <a:ext cx="335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to Adaptive Color at the top of the Basic panel.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64592" y="3273552"/>
            <a:ext cx="4315968" cy="749808"/>
          </a:xfrm>
          <a:prstGeom prst="roundRect">
            <a:avLst>
              <a:gd name="adj" fmla="val 6098"/>
            </a:avLst>
          </a:prstGeom>
          <a:solidFill>
            <a:srgbClr val="122222"/>
          </a:solidFill>
          <a:ln w="12700">
            <a:solidFill>
              <a:srgbClr val="0074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62712" y="3474720"/>
            <a:ext cx="329184" cy="329184"/>
          </a:xfrm>
          <a:prstGeom prst="roundRect">
            <a:avLst>
              <a:gd name="adj" fmla="val 11111"/>
            </a:avLst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362712" y="3474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91540" y="3413760"/>
            <a:ext cx="335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91540" y="3560064"/>
            <a:ext cx="335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WB preset that matches your light source. Fine-tune with Temp and Tint.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64592" y="4114800"/>
            <a:ext cx="4315968" cy="749808"/>
          </a:xfrm>
          <a:prstGeom prst="roundRect">
            <a:avLst>
              <a:gd name="adj" fmla="val 6098"/>
            </a:avLst>
          </a:prstGeom>
          <a:solidFill>
            <a:srgbClr val="122222"/>
          </a:solidFill>
          <a:ln w="12700">
            <a:solidFill>
              <a:srgbClr val="0074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62712" y="4315968"/>
            <a:ext cx="329184" cy="329184"/>
          </a:xfrm>
          <a:prstGeom prst="roundRect">
            <a:avLst>
              <a:gd name="adj" fmla="val 11111"/>
            </a:avLst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362712" y="43159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891540" y="4255008"/>
            <a:ext cx="335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891540" y="4401312"/>
            <a:ext cx="335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overall brightness first. Press Auto to let Lightroom guess.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63440" y="749808"/>
            <a:ext cx="4315968" cy="749808"/>
          </a:xfrm>
          <a:prstGeom prst="roundRect">
            <a:avLst>
              <a:gd name="adj" fmla="val 6098"/>
            </a:avLst>
          </a:prstGeom>
          <a:solidFill>
            <a:srgbClr val="122222"/>
          </a:solidFill>
          <a:ln w="12700">
            <a:solidFill>
              <a:srgbClr val="0074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884420" y="950976"/>
            <a:ext cx="329184" cy="329184"/>
          </a:xfrm>
          <a:prstGeom prst="roundRect">
            <a:avLst>
              <a:gd name="adj" fmla="val 11111"/>
            </a:avLst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4884420" y="9509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5390388" y="890016"/>
            <a:ext cx="335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5390388" y="1036320"/>
            <a:ext cx="335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left to recover blown-out bright areas.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663440" y="1591056"/>
            <a:ext cx="4315968" cy="749808"/>
          </a:xfrm>
          <a:prstGeom prst="roundRect">
            <a:avLst>
              <a:gd name="adj" fmla="val 6098"/>
            </a:avLst>
          </a:prstGeom>
          <a:solidFill>
            <a:srgbClr val="122222"/>
          </a:solidFill>
          <a:ln w="12700">
            <a:solidFill>
              <a:srgbClr val="0074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884420" y="1792224"/>
            <a:ext cx="329184" cy="329184"/>
          </a:xfrm>
          <a:prstGeom prst="roundRect">
            <a:avLst>
              <a:gd name="adj" fmla="val 11111"/>
            </a:avLst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4884420" y="17922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5390388" y="1731264"/>
            <a:ext cx="335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Shadows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5390388" y="1877568"/>
            <a:ext cx="335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right to open up dark areas and reveal detail.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663440" y="2432304"/>
            <a:ext cx="4315968" cy="749808"/>
          </a:xfrm>
          <a:prstGeom prst="roundRect">
            <a:avLst>
              <a:gd name="adj" fmla="val 6098"/>
            </a:avLst>
          </a:prstGeom>
          <a:solidFill>
            <a:srgbClr val="122222"/>
          </a:solidFill>
          <a:ln w="12700">
            <a:solidFill>
              <a:srgbClr val="0074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884420" y="2633472"/>
            <a:ext cx="329184" cy="329184"/>
          </a:xfrm>
          <a:prstGeom prst="roundRect">
            <a:avLst>
              <a:gd name="adj" fmla="val 11111"/>
            </a:avLst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 txBox="1"/>
          <p:nvPr/>
        </p:nvSpPr>
        <p:spPr>
          <a:xfrm>
            <a:off x="4884420" y="2633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5390388" y="2572512"/>
            <a:ext cx="335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Whites / Blacks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5390388" y="2718816"/>
            <a:ext cx="335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Option and drag to set the bright and dark endpoints.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663440" y="3273552"/>
            <a:ext cx="4315968" cy="749808"/>
          </a:xfrm>
          <a:prstGeom prst="roundRect">
            <a:avLst>
              <a:gd name="adj" fmla="val 6098"/>
            </a:avLst>
          </a:prstGeom>
          <a:solidFill>
            <a:srgbClr val="122222"/>
          </a:solidFill>
          <a:ln w="12700">
            <a:solidFill>
              <a:srgbClr val="0074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4884420" y="3474720"/>
            <a:ext cx="329184" cy="329184"/>
          </a:xfrm>
          <a:prstGeom prst="roundRect">
            <a:avLst>
              <a:gd name="adj" fmla="val 11111"/>
            </a:avLst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 txBox="1"/>
          <p:nvPr/>
        </p:nvSpPr>
        <p:spPr>
          <a:xfrm>
            <a:off x="4884420" y="3474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5390388" y="3413760"/>
            <a:ext cx="335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5390388" y="3560064"/>
            <a:ext cx="335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after setting tone. Shift+double-click for auto.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663440" y="4114800"/>
            <a:ext cx="4315968" cy="749808"/>
          </a:xfrm>
          <a:prstGeom prst="roundRect">
            <a:avLst>
              <a:gd name="adj" fmla="val 6098"/>
            </a:avLst>
          </a:prstGeom>
          <a:solidFill>
            <a:srgbClr val="122222"/>
          </a:solidFill>
          <a:ln w="12700">
            <a:solidFill>
              <a:srgbClr val="0074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4884420" y="4315968"/>
            <a:ext cx="329184" cy="329184"/>
          </a:xfrm>
          <a:prstGeom prst="roundRect">
            <a:avLst>
              <a:gd name="adj" fmla="val 11111"/>
            </a:avLst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 txBox="1"/>
          <p:nvPr/>
        </p:nvSpPr>
        <p:spPr>
          <a:xfrm>
            <a:off x="4884420" y="43159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52" name="Text 50"/>
          <p:cNvSpPr txBox="1"/>
          <p:nvPr/>
        </p:nvSpPr>
        <p:spPr>
          <a:xfrm>
            <a:off x="5390388" y="4255008"/>
            <a:ext cx="335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Texture + Vibrance</a:t>
            </a:r>
            <a:endParaRPr lang="en-US" sz="1100" dirty="0"/>
          </a:p>
        </p:txBody>
      </p:sp>
      <p:sp>
        <p:nvSpPr>
          <p:cNvPr id="53" name="Text 51"/>
          <p:cNvSpPr txBox="1"/>
          <p:nvPr/>
        </p:nvSpPr>
        <p:spPr>
          <a:xfrm>
            <a:off x="5390388" y="4401312"/>
            <a:ext cx="335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Presence last. Start with Texture +20, Vibrance +20.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74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182880" y="914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8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08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572768" y="91440"/>
            <a:ext cx="7388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Rate, Cull, and Export Your Best Photos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82880" y="777240"/>
            <a:ext cx="4892040" cy="658368"/>
          </a:xfrm>
          <a:prstGeom prst="roundRect">
            <a:avLst>
              <a:gd name="adj" fmla="val 9722"/>
            </a:avLst>
          </a:prstGeom>
          <a:solidFill>
            <a:srgbClr val="160D28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82880" y="777240"/>
            <a:ext cx="50292" cy="658368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347472" y="868680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is how you cull in this class. After editing a photo in the Develop module, press 5 on your keyboard to give it a 5-star rating. Only rate photos you are proud of and want to keep.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82880" y="1600200"/>
            <a:ext cx="347472" cy="347472"/>
          </a:xfrm>
          <a:prstGeom prst="ellipse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82880" y="16002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572768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D to go to the Develop module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776205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photo you just edited. Make sure you are in the Develop module.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82880" y="2313432"/>
            <a:ext cx="347472" cy="347472"/>
          </a:xfrm>
          <a:prstGeom prst="ellipse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182880" y="2313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228600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5 on your keyboard to rate it 5 stars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2489437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see five gold stars appear at the bottom of the image. This marks it as one of your best photos.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82880" y="3017025"/>
            <a:ext cx="347472" cy="347472"/>
          </a:xfrm>
          <a:prstGeom prst="ellipse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182880" y="3017025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2982505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for each photo you want to keep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3185942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through your edited photos. Press 5 for your best work. Press G to return to Grid view and move to the next photo.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82880" y="3795615"/>
            <a:ext cx="347472" cy="347472"/>
          </a:xfrm>
          <a:prstGeom prst="ellipse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182880" y="3795615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725652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backslash (\) to open the Library Filter Bar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3929089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Grid view, press the backslash key to show the Library Filter Bar at the top of the grid.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82880" y="4483044"/>
            <a:ext cx="347472" cy="347472"/>
          </a:xfrm>
          <a:prstGeom prst="ellipse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182880" y="44830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4441436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Attribute, then click the 5th star to show only 5-star photos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4573992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your best photos are now visible. Press Cmd+A to select all of them.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5257800" y="82296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5-STAR RATING: YOUR BEST WORK</a:t>
            </a:r>
            <a:endParaRPr lang="en-US" sz="1000" dirty="0"/>
          </a:p>
        </p:txBody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1188720"/>
            <a:ext cx="3703320" cy="772668"/>
          </a:xfrm>
          <a:prstGeom prst="rect">
            <a:avLst/>
          </a:prstGeom>
        </p:spPr>
      </p:pic>
      <p:sp>
        <p:nvSpPr>
          <p:cNvPr id="31" name="Text 28"/>
          <p:cNvSpPr txBox="1"/>
          <p:nvPr/>
        </p:nvSpPr>
        <p:spPr>
          <a:xfrm>
            <a:off x="5999421" y="2046415"/>
            <a:ext cx="22200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8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Shortcuts for Rating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5791756" y="2339023"/>
            <a:ext cx="2643406" cy="347472"/>
          </a:xfrm>
          <a:prstGeom prst="roundRect">
            <a:avLst>
              <a:gd name="adj" fmla="val 13158"/>
            </a:avLst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5893469" y="2384743"/>
            <a:ext cx="480902" cy="256032"/>
          </a:xfrm>
          <a:prstGeom prst="roundRect">
            <a:avLst>
              <a:gd name="adj" fmla="val 14286"/>
            </a:avLst>
          </a:prstGeom>
          <a:solidFill>
            <a:srgbClr val="0074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 txBox="1"/>
          <p:nvPr/>
        </p:nvSpPr>
        <p:spPr>
          <a:xfrm>
            <a:off x="5893469" y="2384743"/>
            <a:ext cx="4809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35" name="Text 32"/>
          <p:cNvSpPr txBox="1"/>
          <p:nvPr/>
        </p:nvSpPr>
        <p:spPr>
          <a:xfrm>
            <a:off x="6644639" y="2403031"/>
            <a:ext cx="179052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selected photo 5 stars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5791756" y="2741359"/>
            <a:ext cx="2643406" cy="347472"/>
          </a:xfrm>
          <a:prstGeom prst="roundRect">
            <a:avLst>
              <a:gd name="adj" fmla="val 13158"/>
            </a:avLst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5893469" y="2787079"/>
            <a:ext cx="480902" cy="256032"/>
          </a:xfrm>
          <a:prstGeom prst="roundRect">
            <a:avLst>
              <a:gd name="adj" fmla="val 14286"/>
            </a:avLst>
          </a:prstGeom>
          <a:solidFill>
            <a:srgbClr val="0074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 txBox="1"/>
          <p:nvPr/>
        </p:nvSpPr>
        <p:spPr>
          <a:xfrm>
            <a:off x="5893469" y="2787079"/>
            <a:ext cx="4809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0" dirty="0"/>
          </a:p>
        </p:txBody>
      </p:sp>
      <p:sp>
        <p:nvSpPr>
          <p:cNvPr id="39" name="Text 36"/>
          <p:cNvSpPr txBox="1"/>
          <p:nvPr/>
        </p:nvSpPr>
        <p:spPr>
          <a:xfrm>
            <a:off x="6644639" y="2805367"/>
            <a:ext cx="179052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rating from a photo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5791756" y="3143695"/>
            <a:ext cx="2643406" cy="347472"/>
          </a:xfrm>
          <a:prstGeom prst="roundRect">
            <a:avLst>
              <a:gd name="adj" fmla="val 13158"/>
            </a:avLst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8"/>
          <p:cNvSpPr/>
          <p:nvPr/>
        </p:nvSpPr>
        <p:spPr>
          <a:xfrm>
            <a:off x="5893469" y="3189415"/>
            <a:ext cx="480902" cy="256032"/>
          </a:xfrm>
          <a:prstGeom prst="roundRect">
            <a:avLst>
              <a:gd name="adj" fmla="val 14286"/>
            </a:avLst>
          </a:prstGeom>
          <a:solidFill>
            <a:srgbClr val="0074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 txBox="1"/>
          <p:nvPr/>
        </p:nvSpPr>
        <p:spPr>
          <a:xfrm>
            <a:off x="5893469" y="3189415"/>
            <a:ext cx="4809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050" dirty="0"/>
          </a:p>
        </p:txBody>
      </p:sp>
      <p:sp>
        <p:nvSpPr>
          <p:cNvPr id="43" name="Text 40"/>
          <p:cNvSpPr txBox="1"/>
          <p:nvPr/>
        </p:nvSpPr>
        <p:spPr>
          <a:xfrm>
            <a:off x="6644639" y="3207703"/>
            <a:ext cx="179052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to Grid view in Library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5791756" y="3546031"/>
            <a:ext cx="2643406" cy="347472"/>
          </a:xfrm>
          <a:prstGeom prst="roundRect">
            <a:avLst>
              <a:gd name="adj" fmla="val 13158"/>
            </a:avLst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2"/>
          <p:cNvSpPr/>
          <p:nvPr/>
        </p:nvSpPr>
        <p:spPr>
          <a:xfrm>
            <a:off x="5893469" y="3591751"/>
            <a:ext cx="480902" cy="256032"/>
          </a:xfrm>
          <a:prstGeom prst="roundRect">
            <a:avLst>
              <a:gd name="adj" fmla="val 14286"/>
            </a:avLst>
          </a:prstGeom>
          <a:solidFill>
            <a:srgbClr val="0074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 txBox="1"/>
          <p:nvPr/>
        </p:nvSpPr>
        <p:spPr>
          <a:xfrm>
            <a:off x="5893469" y="3591751"/>
            <a:ext cx="4809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\</a:t>
            </a:r>
            <a:endParaRPr lang="en-US" sz="1050" dirty="0"/>
          </a:p>
        </p:txBody>
      </p:sp>
      <p:sp>
        <p:nvSpPr>
          <p:cNvPr id="47" name="Text 44"/>
          <p:cNvSpPr txBox="1"/>
          <p:nvPr/>
        </p:nvSpPr>
        <p:spPr>
          <a:xfrm>
            <a:off x="6644639" y="3610039"/>
            <a:ext cx="179052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/ hide Library Filter Bar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5791756" y="3948367"/>
            <a:ext cx="2643406" cy="347472"/>
          </a:xfrm>
          <a:prstGeom prst="roundRect">
            <a:avLst>
              <a:gd name="adj" fmla="val 13158"/>
            </a:avLst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6"/>
          <p:cNvSpPr/>
          <p:nvPr/>
        </p:nvSpPr>
        <p:spPr>
          <a:xfrm>
            <a:off x="5893469" y="3994087"/>
            <a:ext cx="480902" cy="256032"/>
          </a:xfrm>
          <a:prstGeom prst="roundRect">
            <a:avLst>
              <a:gd name="adj" fmla="val 14286"/>
            </a:avLst>
          </a:prstGeom>
          <a:solidFill>
            <a:srgbClr val="0074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7"/>
          <p:cNvSpPr txBox="1"/>
          <p:nvPr/>
        </p:nvSpPr>
        <p:spPr>
          <a:xfrm>
            <a:off x="5893469" y="3994087"/>
            <a:ext cx="4809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Cmd+A</a:t>
            </a:r>
            <a:endParaRPr lang="en-US" sz="1050" dirty="0"/>
          </a:p>
        </p:txBody>
      </p:sp>
      <p:sp>
        <p:nvSpPr>
          <p:cNvPr id="51" name="Text 48"/>
          <p:cNvSpPr txBox="1"/>
          <p:nvPr/>
        </p:nvSpPr>
        <p:spPr>
          <a:xfrm>
            <a:off x="6644639" y="4012375"/>
            <a:ext cx="179052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all visible photos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5257800" y="4462272"/>
            <a:ext cx="3703320" cy="457200"/>
          </a:xfrm>
          <a:prstGeom prst="roundRect">
            <a:avLst>
              <a:gd name="adj" fmla="val 14000"/>
            </a:avLst>
          </a:prstGeom>
          <a:solidFill>
            <a:srgbClr val="041414"/>
          </a:solidFill>
          <a:ln w="12700">
            <a:solidFill>
              <a:srgbClr val="0074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1"/>
          <p:cNvSpPr txBox="1"/>
          <p:nvPr/>
        </p:nvSpPr>
        <p:spPr>
          <a:xfrm>
            <a:off x="5422392" y="45537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export: Filter to 5-star photos. Press Cmd+A to select all. Go to File &gt; Export and choose JPEG as the format.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74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498848"/>
            <a:ext cx="9144000" cy="644652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98755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Develop Edit is Complete.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556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007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23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photo is corrected. Your edits are saved in the Catalog. Your original file is untouched.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371600" y="3108960"/>
            <a:ext cx="6400800" cy="876300"/>
          </a:xfrm>
          <a:prstGeom prst="roundRect">
            <a:avLst>
              <a:gd name="adj" fmla="val 6250"/>
            </a:avLst>
          </a:prstGeom>
          <a:solidFill>
            <a:srgbClr val="1C1C1C"/>
          </a:solidFill>
          <a:ln w="12700">
            <a:solidFill>
              <a:srgbClr val="0074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1371600" y="320040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8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NEXT STEP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34930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04, AI Assisted Editing  →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2245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D for Develop  |  Press G for Grid  |  Press E for Loupe  |  Press L for Library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0" y="4663440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Pioneer Valley High School  |  Photography 1  |  Mr. Silva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3175</Words>
  <Application>Microsoft Macintosh PowerPoint</Application>
  <PresentationFormat>On-screen Show (16:9)</PresentationFormat>
  <Paragraphs>340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chris creativesilva.com</cp:lastModifiedBy>
  <cp:revision>5</cp:revision>
  <dcterms:created xsi:type="dcterms:W3CDTF">2026-09-14T05:34:39Z</dcterms:created>
  <dcterms:modified xsi:type="dcterms:W3CDTF">2026-09-14T07:17:48Z</dcterms:modified>
</cp:coreProperties>
</file>