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10"/>
  </p:normalViewPr>
  <p:slideViewPr>
    <p:cSldViewPr snapToGrid="0" snapToObjects="1">
      <p:cViewPr varScale="1">
        <p:scale>
          <a:sx n="170" d="100"/>
          <a:sy n="170" d="100"/>
        </p:scale>
        <p:origin x="416"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783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94B837D7-9173-7B5D-2718-444004D45DC5}"/>
              </a:ext>
            </a:extLst>
          </p:cNvPr>
          <p:cNvPicPr>
            <a:picLocks noChangeAspect="1"/>
          </p:cNvPicPr>
          <p:nvPr/>
        </p:nvPicPr>
        <p:blipFill>
          <a:blip r:embed="rId3"/>
          <a:stretch>
            <a:fillRect/>
          </a:stretch>
        </p:blipFill>
        <p:spPr>
          <a:xfrm>
            <a:off x="6647688" y="1394460"/>
            <a:ext cx="3867912" cy="4572000"/>
          </a:xfrm>
          <a:prstGeom prst="rect">
            <a:avLst/>
          </a:prstGeom>
        </p:spPr>
      </p:pic>
      <p:sp>
        <p:nvSpPr>
          <p:cNvPr id="4" name="Shape 0"/>
          <p:cNvSpPr/>
          <p:nvPr/>
        </p:nvSpPr>
        <p:spPr>
          <a:xfrm>
            <a:off x="0" y="0"/>
            <a:ext cx="45720" cy="5143500"/>
          </a:xfrm>
          <a:prstGeom prst="rect">
            <a:avLst/>
          </a:prstGeom>
          <a:solidFill>
            <a:srgbClr val="00B8B8"/>
          </a:solidFill>
          <a:ln/>
        </p:spPr>
        <p:txBody>
          <a:bodyPr/>
          <a:lstStyle/>
          <a:p>
            <a:endParaRPr lang="en-US"/>
          </a:p>
        </p:txBody>
      </p:sp>
      <p:sp>
        <p:nvSpPr>
          <p:cNvPr id="5" name="Text 1"/>
          <p:cNvSpPr txBox="1"/>
          <p:nvPr/>
        </p:nvSpPr>
        <p:spPr>
          <a:xfrm>
            <a:off x="292608" y="454457"/>
            <a:ext cx="5852160" cy="219456"/>
          </a:xfrm>
          <a:prstGeom prst="rect">
            <a:avLst/>
          </a:prstGeom>
          <a:noFill/>
          <a:ln/>
        </p:spPr>
        <p:txBody>
          <a:bodyPr wrap="square" lIns="0" tIns="0" rIns="0" bIns="0" rtlCol="0" anchor="ctr"/>
          <a:lstStyle/>
          <a:p>
            <a:pPr marL="0" indent="0" algn="l">
              <a:buNone/>
            </a:pPr>
            <a:r>
              <a:rPr lang="en-US" sz="1100" b="1" kern="0" spc="150" dirty="0">
                <a:solidFill>
                  <a:srgbClr val="80E0E0"/>
                </a:solidFill>
                <a:latin typeface="Oswald" pitchFamily="34" charset="0"/>
                <a:ea typeface="Oswald" pitchFamily="34" charset="-122"/>
                <a:cs typeface="Oswald" pitchFamily="34" charset="-120"/>
              </a:rPr>
              <a:t>DIGITAL ARTS 1A  /  MR. SILVA</a:t>
            </a:r>
            <a:endParaRPr lang="en-US" sz="1100" dirty="0"/>
          </a:p>
        </p:txBody>
      </p:sp>
      <p:sp>
        <p:nvSpPr>
          <p:cNvPr id="6" name="Text 2"/>
          <p:cNvSpPr txBox="1"/>
          <p:nvPr/>
        </p:nvSpPr>
        <p:spPr>
          <a:xfrm>
            <a:off x="292608" y="689458"/>
            <a:ext cx="6583680" cy="585216"/>
          </a:xfrm>
          <a:prstGeom prst="rect">
            <a:avLst/>
          </a:prstGeom>
          <a:noFill/>
          <a:ln/>
        </p:spPr>
        <p:txBody>
          <a:bodyPr wrap="square" lIns="0" tIns="0" rIns="0" bIns="0" rtlCol="0" anchor="ctr"/>
          <a:lstStyle/>
          <a:p>
            <a:pPr marL="0" indent="0" algn="l">
              <a:buNone/>
            </a:pPr>
            <a:r>
              <a:rPr lang="en-US" sz="4400" b="1" dirty="0">
                <a:solidFill>
                  <a:srgbClr val="FFFFFF"/>
                </a:solidFill>
                <a:latin typeface="Oswald" pitchFamily="34" charset="0"/>
                <a:ea typeface="Oswald" pitchFamily="34" charset="-122"/>
                <a:cs typeface="Oswald" pitchFamily="34" charset="-120"/>
              </a:rPr>
              <a:t>7 Elements of Art</a:t>
            </a:r>
            <a:endParaRPr lang="en-US" sz="4400" dirty="0"/>
          </a:p>
        </p:txBody>
      </p:sp>
      <p:sp>
        <p:nvSpPr>
          <p:cNvPr id="7" name="Shape 3"/>
          <p:cNvSpPr/>
          <p:nvPr/>
        </p:nvSpPr>
        <p:spPr>
          <a:xfrm>
            <a:off x="292608" y="1298448"/>
            <a:ext cx="457200" cy="30175"/>
          </a:xfrm>
          <a:prstGeom prst="rect">
            <a:avLst/>
          </a:prstGeom>
          <a:solidFill>
            <a:srgbClr val="00B8B8"/>
          </a:solidFill>
          <a:ln/>
        </p:spPr>
        <p:txBody>
          <a:bodyPr/>
          <a:lstStyle/>
          <a:p>
            <a:endParaRPr lang="en-US"/>
          </a:p>
        </p:txBody>
      </p:sp>
      <p:sp>
        <p:nvSpPr>
          <p:cNvPr id="8" name="Text 4"/>
          <p:cNvSpPr txBox="1"/>
          <p:nvPr/>
        </p:nvSpPr>
        <p:spPr>
          <a:xfrm>
            <a:off x="292608" y="1371600"/>
            <a:ext cx="6400800" cy="512064"/>
          </a:xfrm>
          <a:prstGeom prst="rect">
            <a:avLst/>
          </a:prstGeom>
          <a:noFill/>
          <a:ln/>
        </p:spPr>
        <p:txBody>
          <a:bodyPr wrap="square" lIns="0" tIns="0" rIns="0" bIns="0" rtlCol="0" anchor="ctr"/>
          <a:lstStyle/>
          <a:p>
            <a:pPr marL="0" indent="0" algn="l">
              <a:buNone/>
            </a:pPr>
            <a:r>
              <a:rPr lang="en-US" sz="2600" b="1" dirty="0">
                <a:solidFill>
                  <a:srgbClr val="80E0E0"/>
                </a:solidFill>
                <a:latin typeface="Oswald" pitchFamily="34" charset="0"/>
                <a:ea typeface="Oswald" pitchFamily="34" charset="-122"/>
                <a:cs typeface="Oswald" pitchFamily="34" charset="-120"/>
              </a:rPr>
              <a:t>in Cartoon Characters</a:t>
            </a:r>
            <a:endParaRPr lang="en-US" sz="2600" dirty="0"/>
          </a:p>
        </p:txBody>
      </p:sp>
      <p:sp>
        <p:nvSpPr>
          <p:cNvPr id="9" name="Text 5"/>
          <p:cNvSpPr txBox="1"/>
          <p:nvPr/>
        </p:nvSpPr>
        <p:spPr>
          <a:xfrm>
            <a:off x="292608" y="1847088"/>
            <a:ext cx="5029200" cy="310896"/>
          </a:xfrm>
          <a:prstGeom prst="rect">
            <a:avLst/>
          </a:prstGeom>
          <a:noFill/>
          <a:ln/>
        </p:spPr>
        <p:txBody>
          <a:bodyPr wrap="square" lIns="0" tIns="0" rIns="0" bIns="0" rtlCol="0" anchor="ctr"/>
          <a:lstStyle/>
          <a:p>
            <a:pPr marL="0" indent="0" algn="l">
              <a:buNone/>
            </a:pPr>
            <a:r>
              <a:rPr lang="en-US" sz="1200" dirty="0">
                <a:solidFill>
                  <a:srgbClr val="777777"/>
                </a:solidFill>
                <a:latin typeface="Arial" pitchFamily="34" charset="0"/>
                <a:ea typeface="Arial" pitchFamily="34" charset="-122"/>
                <a:cs typeface="Arial" pitchFamily="34" charset="-120"/>
              </a:rPr>
              <a:t>12 Characters  /  12 Breakdowns  /  One Framework</a:t>
            </a:r>
            <a:endParaRPr lang="en-US" sz="1200" dirty="0"/>
          </a:p>
        </p:txBody>
      </p:sp>
      <p:sp>
        <p:nvSpPr>
          <p:cNvPr id="10" name="Shape 6"/>
          <p:cNvSpPr/>
          <p:nvPr/>
        </p:nvSpPr>
        <p:spPr>
          <a:xfrm>
            <a:off x="292608" y="3291840"/>
            <a:ext cx="4754880" cy="822960"/>
          </a:xfrm>
          <a:prstGeom prst="rect">
            <a:avLst/>
          </a:prstGeom>
          <a:solidFill>
            <a:srgbClr val="00B8B8"/>
          </a:solidFill>
          <a:ln/>
        </p:spPr>
        <p:txBody>
          <a:bodyPr/>
          <a:lstStyle/>
          <a:p>
            <a:endParaRPr lang="en-US"/>
          </a:p>
        </p:txBody>
      </p:sp>
      <p:sp>
        <p:nvSpPr>
          <p:cNvPr id="11" name="Shape 7"/>
          <p:cNvSpPr/>
          <p:nvPr/>
        </p:nvSpPr>
        <p:spPr>
          <a:xfrm>
            <a:off x="308153" y="3307385"/>
            <a:ext cx="4723790" cy="256032"/>
          </a:xfrm>
          <a:prstGeom prst="rect">
            <a:avLst/>
          </a:prstGeom>
          <a:solidFill>
            <a:srgbClr val="04191A"/>
          </a:solidFill>
          <a:ln/>
        </p:spPr>
        <p:txBody>
          <a:bodyPr/>
          <a:lstStyle/>
          <a:p>
            <a:endParaRPr lang="en-US"/>
          </a:p>
        </p:txBody>
      </p:sp>
      <p:sp>
        <p:nvSpPr>
          <p:cNvPr id="12" name="Shape 8"/>
          <p:cNvSpPr/>
          <p:nvPr/>
        </p:nvSpPr>
        <p:spPr>
          <a:xfrm>
            <a:off x="308153" y="3563417"/>
            <a:ext cx="4723790" cy="534924"/>
          </a:xfrm>
          <a:prstGeom prst="rect">
            <a:avLst/>
          </a:prstGeom>
          <a:solidFill>
            <a:srgbClr val="041D1C"/>
          </a:solidFill>
          <a:ln/>
        </p:spPr>
        <p:txBody>
          <a:bodyPr/>
          <a:lstStyle/>
          <a:p>
            <a:endParaRPr lang="en-US"/>
          </a:p>
        </p:txBody>
      </p:sp>
      <p:sp>
        <p:nvSpPr>
          <p:cNvPr id="13" name="Text 9"/>
          <p:cNvSpPr txBox="1"/>
          <p:nvPr/>
        </p:nvSpPr>
        <p:spPr>
          <a:xfrm>
            <a:off x="459943" y="3355848"/>
            <a:ext cx="4416552" cy="219456"/>
          </a:xfrm>
          <a:prstGeom prst="rect">
            <a:avLst/>
          </a:prstGeom>
          <a:noFill/>
          <a:ln/>
        </p:spPr>
        <p:txBody>
          <a:bodyPr wrap="square" lIns="0" tIns="0" rIns="0" bIns="0" rtlCol="0" anchor="ctr"/>
          <a:lstStyle/>
          <a:p>
            <a:pPr marL="0" indent="0" algn="l">
              <a:buNone/>
            </a:pPr>
            <a:r>
              <a:rPr lang="en-US" sz="1050" b="1" dirty="0">
                <a:solidFill>
                  <a:srgbClr val="80E0E0"/>
                </a:solidFill>
                <a:latin typeface="Oswald" pitchFamily="34" charset="0"/>
                <a:ea typeface="Oswald" pitchFamily="34" charset="-122"/>
                <a:cs typeface="Oswald" pitchFamily="34" charset="-120"/>
              </a:rPr>
              <a:t>Mickey  /  SpongeBob  /  Pikachu  /  Batman  /  Bugs Bunny  /  Homer</a:t>
            </a:r>
            <a:endParaRPr lang="en-US" sz="1050" dirty="0"/>
          </a:p>
        </p:txBody>
      </p:sp>
      <p:sp>
        <p:nvSpPr>
          <p:cNvPr id="14" name="Text 10"/>
          <p:cNvSpPr txBox="1"/>
          <p:nvPr/>
        </p:nvSpPr>
        <p:spPr>
          <a:xfrm>
            <a:off x="459943" y="3584448"/>
            <a:ext cx="4416552" cy="402336"/>
          </a:xfrm>
          <a:prstGeom prst="rect">
            <a:avLst/>
          </a:prstGeom>
          <a:noFill/>
          <a:ln/>
        </p:spPr>
        <p:txBody>
          <a:bodyPr wrap="square" lIns="0" tIns="0" rIns="0" bIns="0" rtlCol="0" anchor="ctr"/>
          <a:lstStyle/>
          <a:p>
            <a:pPr marL="0" indent="0" algn="l">
              <a:buNone/>
            </a:pPr>
            <a:r>
              <a:rPr lang="en-US" sz="1050" dirty="0">
                <a:solidFill>
                  <a:srgbClr val="FFFFFF"/>
                </a:solidFill>
                <a:latin typeface="Arial" pitchFamily="34" charset="0"/>
                <a:ea typeface="Arial" pitchFamily="34" charset="-122"/>
                <a:cs typeface="Arial" pitchFamily="34" charset="-120"/>
              </a:rPr>
              <a:t>Totoro  /  Finn  /  Spider-Man  /  Goku  /  Elsa  /  Invader Zim</a:t>
            </a:r>
            <a:endParaRPr lang="en-US" sz="1050" dirty="0"/>
          </a:p>
        </p:txBody>
      </p:sp>
      <p:sp>
        <p:nvSpPr>
          <p:cNvPr id="15" name="Shape 11"/>
          <p:cNvSpPr/>
          <p:nvPr/>
        </p:nvSpPr>
        <p:spPr>
          <a:xfrm>
            <a:off x="0" y="4681728"/>
            <a:ext cx="9144000" cy="22860"/>
          </a:xfrm>
          <a:prstGeom prst="rect">
            <a:avLst/>
          </a:prstGeom>
          <a:solidFill>
            <a:srgbClr val="00B8B8"/>
          </a:solidFill>
          <a:ln/>
        </p:spPr>
        <p:txBody>
          <a:bodyPr/>
          <a:lstStyle/>
          <a:p>
            <a:endParaRPr lang="en-US"/>
          </a:p>
        </p:txBody>
      </p:sp>
      <p:sp>
        <p:nvSpPr>
          <p:cNvPr id="16" name="Text 12"/>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3" name="Picture 2">
            <a:extLst>
              <a:ext uri="{FF2B5EF4-FFF2-40B4-BE49-F238E27FC236}">
                <a16:creationId xmlns:a16="http://schemas.microsoft.com/office/drawing/2014/main" id="{0556142F-A6B1-0BD6-DBE7-D35E597DFABD}"/>
              </a:ext>
            </a:extLst>
          </p:cNvPr>
          <p:cNvPicPr>
            <a:picLocks noChangeAspect="1"/>
          </p:cNvPicPr>
          <p:nvPr/>
        </p:nvPicPr>
        <p:blipFill>
          <a:blip r:embed="rId4"/>
          <a:stretch>
            <a:fillRect/>
          </a:stretch>
        </p:blipFill>
        <p:spPr>
          <a:xfrm>
            <a:off x="5294376" y="1442406"/>
            <a:ext cx="2762372" cy="2772004"/>
          </a:xfrm>
          <a:prstGeom prst="rect">
            <a:avLst/>
          </a:prstGeom>
        </p:spPr>
      </p:pic>
      <p:pic>
        <p:nvPicPr>
          <p:cNvPr id="18" name="Image 1" descr="preencoded.png">
            <a:extLst>
              <a:ext uri="{FF2B5EF4-FFF2-40B4-BE49-F238E27FC236}">
                <a16:creationId xmlns:a16="http://schemas.microsoft.com/office/drawing/2014/main" id="{3CEDC66F-E304-6371-2154-1E36C883FDA0}"/>
              </a:ext>
            </a:extLst>
          </p:cNvPr>
          <p:cNvPicPr>
            <a:picLocks noChangeAspect="1"/>
          </p:cNvPicPr>
          <p:nvPr/>
        </p:nvPicPr>
        <p:blipFill>
          <a:blip r:embed="rId5"/>
          <a:stretch>
            <a:fillRect/>
          </a:stretch>
        </p:blipFill>
        <p:spPr>
          <a:xfrm>
            <a:off x="7701991" y="230429"/>
            <a:ext cx="1294790" cy="15334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THE 7 ELEMENTS OF ART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OVERVIEW / 00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5000"/>
          </a:blip>
          <a:stretch>
            <a:fillRect/>
          </a:stretch>
        </p:blipFill>
        <p:spPr>
          <a:xfrm>
            <a:off x="6067958" y="676656"/>
            <a:ext cx="3254350" cy="4211726"/>
          </a:xfrm>
          <a:prstGeom prst="rect">
            <a:avLst/>
          </a:prstGeom>
        </p:spPr>
      </p:pic>
      <p:sp>
        <p:nvSpPr>
          <p:cNvPr id="9" name="Text 5"/>
          <p:cNvSpPr txBox="1"/>
          <p:nvPr/>
        </p:nvSpPr>
        <p:spPr>
          <a:xfrm>
            <a:off x="859536" y="749808"/>
            <a:ext cx="5486400" cy="402336"/>
          </a:xfrm>
          <a:prstGeom prst="rect">
            <a:avLst/>
          </a:prstGeom>
          <a:noFill/>
          <a:ln/>
        </p:spPr>
        <p:txBody>
          <a:bodyPr wrap="square" lIns="0" tIns="0" rIns="0" bIns="0" rtlCol="0" anchor="ctr"/>
          <a:lstStyle/>
          <a:p>
            <a:pPr marL="0" indent="0" algn="l">
              <a:lnSpc>
                <a:spcPct val="120000"/>
              </a:lnSpc>
              <a:buNone/>
            </a:pPr>
            <a:r>
              <a:rPr lang="en-US" sz="1050" dirty="0">
                <a:solidFill>
                  <a:srgbClr val="777777"/>
                </a:solidFill>
                <a:latin typeface="Arial" pitchFamily="34" charset="0"/>
                <a:ea typeface="Arial" pitchFamily="34" charset="-122"/>
                <a:cs typeface="Arial" pitchFamily="34" charset="-120"/>
              </a:rPr>
              <a:t>Every visual decision a character designer makes connects back to one of these seven tools.</a:t>
            </a:r>
            <a:endParaRPr lang="en-US" sz="1050" dirty="0"/>
          </a:p>
        </p:txBody>
      </p:sp>
      <p:sp>
        <p:nvSpPr>
          <p:cNvPr id="10" name="Shape 6"/>
          <p:cNvSpPr/>
          <p:nvPr/>
        </p:nvSpPr>
        <p:spPr>
          <a:xfrm>
            <a:off x="292608" y="1097280"/>
            <a:ext cx="310896" cy="310896"/>
          </a:xfrm>
          <a:prstGeom prst="rect">
            <a:avLst/>
          </a:prstGeom>
          <a:solidFill>
            <a:srgbClr val="B71C1C"/>
          </a:solidFill>
          <a:ln/>
        </p:spPr>
        <p:txBody>
          <a:bodyPr/>
          <a:lstStyle/>
          <a:p>
            <a:endParaRPr lang="en-US"/>
          </a:p>
        </p:txBody>
      </p:sp>
      <p:sp>
        <p:nvSpPr>
          <p:cNvPr id="11" name="Text 7"/>
          <p:cNvSpPr txBox="1"/>
          <p:nvPr/>
        </p:nvSpPr>
        <p:spPr>
          <a:xfrm>
            <a:off x="292608" y="10972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01</a:t>
            </a:r>
            <a:endParaRPr lang="en-US" sz="1000" dirty="0"/>
          </a:p>
        </p:txBody>
      </p:sp>
      <p:sp>
        <p:nvSpPr>
          <p:cNvPr id="12" name="Text 8"/>
          <p:cNvSpPr txBox="1"/>
          <p:nvPr/>
        </p:nvSpPr>
        <p:spPr>
          <a:xfrm>
            <a:off x="676656" y="1083564"/>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13" name="Text 9"/>
          <p:cNvSpPr txBox="1"/>
          <p:nvPr/>
        </p:nvSpPr>
        <p:spPr>
          <a:xfrm>
            <a:off x="676656" y="1339596"/>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A mark that travels. Controls direction, energy, and edge.</a:t>
            </a:r>
            <a:endParaRPr lang="en-US" sz="950" dirty="0"/>
          </a:p>
        </p:txBody>
      </p:sp>
      <p:sp>
        <p:nvSpPr>
          <p:cNvPr id="14" name="Shape 10"/>
          <p:cNvSpPr/>
          <p:nvPr/>
        </p:nvSpPr>
        <p:spPr>
          <a:xfrm>
            <a:off x="292608" y="1810512"/>
            <a:ext cx="310896" cy="310896"/>
          </a:xfrm>
          <a:prstGeom prst="rect">
            <a:avLst/>
          </a:prstGeom>
          <a:solidFill>
            <a:srgbClr val="BF360C"/>
          </a:solidFill>
          <a:ln/>
        </p:spPr>
        <p:txBody>
          <a:bodyPr/>
          <a:lstStyle/>
          <a:p>
            <a:endParaRPr lang="en-US"/>
          </a:p>
        </p:txBody>
      </p:sp>
      <p:sp>
        <p:nvSpPr>
          <p:cNvPr id="15" name="Text 11"/>
          <p:cNvSpPr txBox="1"/>
          <p:nvPr/>
        </p:nvSpPr>
        <p:spPr>
          <a:xfrm>
            <a:off x="292608" y="181051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02</a:t>
            </a:r>
            <a:endParaRPr lang="en-US" sz="1000" dirty="0"/>
          </a:p>
        </p:txBody>
      </p:sp>
      <p:sp>
        <p:nvSpPr>
          <p:cNvPr id="16" name="Text 12"/>
          <p:cNvSpPr txBox="1"/>
          <p:nvPr/>
        </p:nvSpPr>
        <p:spPr>
          <a:xfrm>
            <a:off x="676656" y="1796796"/>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17" name="Text 13"/>
          <p:cNvSpPr txBox="1"/>
          <p:nvPr/>
        </p:nvSpPr>
        <p:spPr>
          <a:xfrm>
            <a:off x="676656" y="2052828"/>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A closed area defined by an outline. The silhouette that makes recognition instant.</a:t>
            </a:r>
            <a:endParaRPr lang="en-US" sz="950" dirty="0"/>
          </a:p>
        </p:txBody>
      </p:sp>
      <p:sp>
        <p:nvSpPr>
          <p:cNvPr id="18" name="Shape 14"/>
          <p:cNvSpPr/>
          <p:nvPr/>
        </p:nvSpPr>
        <p:spPr>
          <a:xfrm>
            <a:off x="292608" y="2523744"/>
            <a:ext cx="310896" cy="310896"/>
          </a:xfrm>
          <a:prstGeom prst="rect">
            <a:avLst/>
          </a:prstGeom>
          <a:solidFill>
            <a:srgbClr val="6A1B9A"/>
          </a:solidFill>
          <a:ln/>
        </p:spPr>
        <p:txBody>
          <a:bodyPr/>
          <a:lstStyle/>
          <a:p>
            <a:endParaRPr lang="en-US"/>
          </a:p>
        </p:txBody>
      </p:sp>
      <p:sp>
        <p:nvSpPr>
          <p:cNvPr id="19" name="Text 15"/>
          <p:cNvSpPr txBox="1"/>
          <p:nvPr/>
        </p:nvSpPr>
        <p:spPr>
          <a:xfrm>
            <a:off x="292608" y="252374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03</a:t>
            </a:r>
            <a:endParaRPr lang="en-US" sz="1000" dirty="0"/>
          </a:p>
        </p:txBody>
      </p:sp>
      <p:sp>
        <p:nvSpPr>
          <p:cNvPr id="20" name="Text 16"/>
          <p:cNvSpPr txBox="1"/>
          <p:nvPr/>
        </p:nvSpPr>
        <p:spPr>
          <a:xfrm>
            <a:off x="676656" y="2510028"/>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t>
            </a:r>
            <a:endParaRPr lang="en-US" sz="1250" dirty="0"/>
          </a:p>
        </p:txBody>
      </p:sp>
      <p:sp>
        <p:nvSpPr>
          <p:cNvPr id="21" name="Text 17"/>
          <p:cNvSpPr txBox="1"/>
          <p:nvPr/>
        </p:nvSpPr>
        <p:spPr>
          <a:xfrm>
            <a:off x="676656" y="2766060"/>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Three-dimensional volume. Makes a character feel solid and present.</a:t>
            </a:r>
            <a:endParaRPr lang="en-US" sz="950" dirty="0"/>
          </a:p>
        </p:txBody>
      </p:sp>
      <p:sp>
        <p:nvSpPr>
          <p:cNvPr id="22" name="Shape 18"/>
          <p:cNvSpPr/>
          <p:nvPr/>
        </p:nvSpPr>
        <p:spPr>
          <a:xfrm>
            <a:off x="292608" y="3236976"/>
            <a:ext cx="310896" cy="310896"/>
          </a:xfrm>
          <a:prstGeom prst="rect">
            <a:avLst/>
          </a:prstGeom>
          <a:solidFill>
            <a:srgbClr val="E65100"/>
          </a:solidFill>
          <a:ln/>
        </p:spPr>
        <p:txBody>
          <a:bodyPr/>
          <a:lstStyle/>
          <a:p>
            <a:endParaRPr lang="en-US"/>
          </a:p>
        </p:txBody>
      </p:sp>
      <p:sp>
        <p:nvSpPr>
          <p:cNvPr id="23" name="Text 19"/>
          <p:cNvSpPr txBox="1"/>
          <p:nvPr/>
        </p:nvSpPr>
        <p:spPr>
          <a:xfrm>
            <a:off x="292608" y="323697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04</a:t>
            </a:r>
            <a:endParaRPr lang="en-US" sz="1000" dirty="0"/>
          </a:p>
        </p:txBody>
      </p:sp>
      <p:sp>
        <p:nvSpPr>
          <p:cNvPr id="24" name="Text 20"/>
          <p:cNvSpPr txBox="1"/>
          <p:nvPr/>
        </p:nvSpPr>
        <p:spPr>
          <a:xfrm>
            <a:off x="676656" y="3223260"/>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25" name="Text 21"/>
          <p:cNvSpPr txBox="1"/>
          <p:nvPr/>
        </p:nvSpPr>
        <p:spPr>
          <a:xfrm>
            <a:off x="676656" y="3479292"/>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Hue, saturation, and temperature. Communicates mood before the story does.</a:t>
            </a:r>
            <a:endParaRPr lang="en-US" sz="950" dirty="0"/>
          </a:p>
        </p:txBody>
      </p:sp>
      <p:sp>
        <p:nvSpPr>
          <p:cNvPr id="26" name="Shape 22"/>
          <p:cNvSpPr/>
          <p:nvPr/>
        </p:nvSpPr>
        <p:spPr>
          <a:xfrm>
            <a:off x="4590288" y="1097280"/>
            <a:ext cx="310896" cy="310896"/>
          </a:xfrm>
          <a:prstGeom prst="rect">
            <a:avLst/>
          </a:prstGeom>
          <a:solidFill>
            <a:srgbClr val="1B5E20"/>
          </a:solidFill>
          <a:ln/>
        </p:spPr>
        <p:txBody>
          <a:bodyPr/>
          <a:lstStyle/>
          <a:p>
            <a:endParaRPr lang="en-US"/>
          </a:p>
        </p:txBody>
      </p:sp>
      <p:sp>
        <p:nvSpPr>
          <p:cNvPr id="27" name="Text 23"/>
          <p:cNvSpPr txBox="1"/>
          <p:nvPr/>
        </p:nvSpPr>
        <p:spPr>
          <a:xfrm>
            <a:off x="4590288" y="10972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05</a:t>
            </a:r>
            <a:endParaRPr lang="en-US" sz="1000" dirty="0"/>
          </a:p>
        </p:txBody>
      </p:sp>
      <p:sp>
        <p:nvSpPr>
          <p:cNvPr id="28" name="Text 24"/>
          <p:cNvSpPr txBox="1"/>
          <p:nvPr/>
        </p:nvSpPr>
        <p:spPr>
          <a:xfrm>
            <a:off x="4974336" y="1083564"/>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VALUE</a:t>
            </a:r>
            <a:endParaRPr lang="en-US" sz="1250" dirty="0"/>
          </a:p>
        </p:txBody>
      </p:sp>
      <p:sp>
        <p:nvSpPr>
          <p:cNvPr id="29" name="Text 25"/>
          <p:cNvSpPr txBox="1"/>
          <p:nvPr/>
        </p:nvSpPr>
        <p:spPr>
          <a:xfrm>
            <a:off x="4974336" y="1339596"/>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Light and dark. Reveals form, creates atmosphere, and directs the eye.</a:t>
            </a:r>
            <a:endParaRPr lang="en-US" sz="950" dirty="0"/>
          </a:p>
        </p:txBody>
      </p:sp>
      <p:sp>
        <p:nvSpPr>
          <p:cNvPr id="30" name="Shape 26"/>
          <p:cNvSpPr/>
          <p:nvPr/>
        </p:nvSpPr>
        <p:spPr>
          <a:xfrm>
            <a:off x="4590288" y="1810512"/>
            <a:ext cx="310896" cy="310896"/>
          </a:xfrm>
          <a:prstGeom prst="rect">
            <a:avLst/>
          </a:prstGeom>
          <a:solidFill>
            <a:srgbClr val="0D47A1"/>
          </a:solidFill>
          <a:ln/>
        </p:spPr>
        <p:txBody>
          <a:bodyPr/>
          <a:lstStyle/>
          <a:p>
            <a:endParaRPr lang="en-US"/>
          </a:p>
        </p:txBody>
      </p:sp>
      <p:sp>
        <p:nvSpPr>
          <p:cNvPr id="31" name="Text 27"/>
          <p:cNvSpPr txBox="1"/>
          <p:nvPr/>
        </p:nvSpPr>
        <p:spPr>
          <a:xfrm>
            <a:off x="4590288" y="181051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06</a:t>
            </a:r>
            <a:endParaRPr lang="en-US" sz="1000" dirty="0"/>
          </a:p>
        </p:txBody>
      </p:sp>
      <p:sp>
        <p:nvSpPr>
          <p:cNvPr id="32" name="Text 28"/>
          <p:cNvSpPr txBox="1"/>
          <p:nvPr/>
        </p:nvSpPr>
        <p:spPr>
          <a:xfrm>
            <a:off x="4974336" y="1796796"/>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TEXTURE</a:t>
            </a:r>
            <a:endParaRPr lang="en-US" sz="1250" dirty="0"/>
          </a:p>
        </p:txBody>
      </p:sp>
      <p:sp>
        <p:nvSpPr>
          <p:cNvPr id="33" name="Text 29"/>
          <p:cNvSpPr txBox="1"/>
          <p:nvPr/>
        </p:nvSpPr>
        <p:spPr>
          <a:xfrm>
            <a:off x="4974336" y="2052828"/>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Surface quality, rough, smooth, soft, hard. Creates tactile presence.</a:t>
            </a:r>
            <a:endParaRPr lang="en-US" sz="950" dirty="0"/>
          </a:p>
        </p:txBody>
      </p:sp>
      <p:sp>
        <p:nvSpPr>
          <p:cNvPr id="34" name="Shape 30"/>
          <p:cNvSpPr/>
          <p:nvPr/>
        </p:nvSpPr>
        <p:spPr>
          <a:xfrm>
            <a:off x="4590288" y="2523744"/>
            <a:ext cx="310896" cy="310896"/>
          </a:xfrm>
          <a:prstGeom prst="rect">
            <a:avLst/>
          </a:prstGeom>
          <a:solidFill>
            <a:srgbClr val="006064"/>
          </a:solidFill>
          <a:ln/>
        </p:spPr>
        <p:txBody>
          <a:bodyPr/>
          <a:lstStyle/>
          <a:p>
            <a:endParaRPr lang="en-US"/>
          </a:p>
        </p:txBody>
      </p:sp>
      <p:sp>
        <p:nvSpPr>
          <p:cNvPr id="35" name="Text 31"/>
          <p:cNvSpPr txBox="1"/>
          <p:nvPr/>
        </p:nvSpPr>
        <p:spPr>
          <a:xfrm>
            <a:off x="4590288" y="252374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07</a:t>
            </a:r>
            <a:endParaRPr lang="en-US" sz="1000" dirty="0"/>
          </a:p>
        </p:txBody>
      </p:sp>
      <p:sp>
        <p:nvSpPr>
          <p:cNvPr id="36" name="Text 32"/>
          <p:cNvSpPr txBox="1"/>
          <p:nvPr/>
        </p:nvSpPr>
        <p:spPr>
          <a:xfrm>
            <a:off x="4974336" y="2510028"/>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SPACE</a:t>
            </a:r>
            <a:endParaRPr lang="en-US" sz="1250" dirty="0"/>
          </a:p>
        </p:txBody>
      </p:sp>
      <p:sp>
        <p:nvSpPr>
          <p:cNvPr id="37" name="Text 33"/>
          <p:cNvSpPr txBox="1"/>
          <p:nvPr/>
        </p:nvSpPr>
        <p:spPr>
          <a:xfrm>
            <a:off x="4974336" y="2766060"/>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The area around and between forms. Controls scale, depth, and relationships.</a:t>
            </a:r>
            <a:endParaRPr lang="en-US" sz="950" dirty="0"/>
          </a:p>
        </p:txBody>
      </p:sp>
      <p:sp>
        <p:nvSpPr>
          <p:cNvPr id="38" name="Text 34"/>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01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3" name="CharacterGlow9003"/>
          <p:cNvSpPr/>
          <p:nvPr/>
        </p:nvSpPr>
        <p:spPr>
          <a:xfrm>
            <a:off x="1769079" y="766646"/>
            <a:ext cx="3113817" cy="3632965"/>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01</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Disney  /  1928</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Mickey Mouse</a:t>
            </a:r>
            <a:endParaRPr lang="en-US" sz="3400" dirty="0"/>
          </a:p>
        </p:txBody>
      </p:sp>
      <p:sp>
        <p:nvSpPr>
          <p:cNvPr id="13" name="Shape 9"/>
          <p:cNvSpPr/>
          <p:nvPr/>
        </p:nvSpPr>
        <p:spPr>
          <a:xfrm>
            <a:off x="292608" y="3396996"/>
            <a:ext cx="365760" cy="22860"/>
          </a:xfrm>
          <a:prstGeom prst="rect">
            <a:avLst/>
          </a:prstGeom>
          <a:solidFill>
            <a:srgbClr val="00B8B8"/>
          </a:solidFill>
          <a:ln/>
        </p:spPr>
        <p:txBody>
          <a:bodyPr/>
          <a:lstStyle/>
          <a:p>
            <a:endParaRPr lang="en-US"/>
          </a:p>
        </p:txBody>
      </p:sp>
      <p:sp>
        <p:nvSpPr>
          <p:cNvPr id="14" name="Shape 10"/>
          <p:cNvSpPr/>
          <p:nvPr/>
        </p:nvSpPr>
        <p:spPr>
          <a:xfrm>
            <a:off x="292608" y="3470148"/>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70148"/>
            <a:ext cx="45720" cy="640080"/>
          </a:xfrm>
          <a:prstGeom prst="rect">
            <a:avLst/>
          </a:prstGeom>
          <a:solidFill>
            <a:srgbClr val="00B8B8"/>
          </a:solidFill>
          <a:ln/>
        </p:spPr>
        <p:txBody>
          <a:bodyPr/>
          <a:lstStyle/>
          <a:p>
            <a:endParaRPr lang="en-US"/>
          </a:p>
        </p:txBody>
      </p:sp>
      <p:sp>
        <p:nvSpPr>
          <p:cNvPr id="16" name="Text 12"/>
          <p:cNvSpPr txBox="1"/>
          <p:nvPr/>
        </p:nvSpPr>
        <p:spPr>
          <a:xfrm>
            <a:off x="521208" y="3566160"/>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"The original shape formula"</a:t>
            </a:r>
            <a:endParaRPr lang="en-US" sz="1050" dirty="0"/>
          </a:p>
        </p:txBody>
      </p:sp>
      <p:sp>
        <p:nvSpPr>
          <p:cNvPr id="17" name="Text 13"/>
          <p:cNvSpPr txBox="1"/>
          <p:nvPr/>
        </p:nvSpPr>
        <p:spPr>
          <a:xfrm>
            <a:off x="292608" y="4219956"/>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57700"/>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7700"/>
            <a:ext cx="54864" cy="310896"/>
          </a:xfrm>
          <a:prstGeom prst="rect">
            <a:avLst/>
          </a:prstGeom>
          <a:solidFill>
            <a:srgbClr val="BF360C"/>
          </a:solidFill>
          <a:ln/>
        </p:spPr>
        <p:txBody>
          <a:bodyPr/>
          <a:lstStyle/>
          <a:p>
            <a:endParaRPr lang="en-US"/>
          </a:p>
        </p:txBody>
      </p:sp>
      <p:sp>
        <p:nvSpPr>
          <p:cNvPr id="20" name="Text 16"/>
          <p:cNvSpPr txBox="1"/>
          <p:nvPr/>
        </p:nvSpPr>
        <p:spPr>
          <a:xfrm>
            <a:off x="384048" y="445770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1" name="Shape 17"/>
          <p:cNvSpPr/>
          <p:nvPr/>
        </p:nvSpPr>
        <p:spPr>
          <a:xfrm>
            <a:off x="1600200" y="4457700"/>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2" name="Shape 18"/>
          <p:cNvSpPr/>
          <p:nvPr/>
        </p:nvSpPr>
        <p:spPr>
          <a:xfrm>
            <a:off x="1600200" y="4457700"/>
            <a:ext cx="54864" cy="310896"/>
          </a:xfrm>
          <a:prstGeom prst="rect">
            <a:avLst/>
          </a:prstGeom>
          <a:solidFill>
            <a:srgbClr val="B71C1C"/>
          </a:solidFill>
          <a:ln/>
        </p:spPr>
        <p:txBody>
          <a:bodyPr/>
          <a:lstStyle/>
          <a:p>
            <a:endParaRPr lang="en-US"/>
          </a:p>
        </p:txBody>
      </p:sp>
      <p:sp>
        <p:nvSpPr>
          <p:cNvPr id="23" name="Text 19"/>
          <p:cNvSpPr txBox="1"/>
          <p:nvPr/>
        </p:nvSpPr>
        <p:spPr>
          <a:xfrm>
            <a:off x="1691640" y="445770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4" name="Shape 20"/>
          <p:cNvSpPr/>
          <p:nvPr/>
        </p:nvSpPr>
        <p:spPr>
          <a:xfrm>
            <a:off x="2907792" y="4457700"/>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5" name="Shape 21"/>
          <p:cNvSpPr/>
          <p:nvPr/>
        </p:nvSpPr>
        <p:spPr>
          <a:xfrm>
            <a:off x="2907792" y="4457700"/>
            <a:ext cx="54864" cy="310896"/>
          </a:xfrm>
          <a:prstGeom prst="rect">
            <a:avLst/>
          </a:prstGeom>
          <a:solidFill>
            <a:srgbClr val="E65100"/>
          </a:solidFill>
          <a:ln/>
        </p:spPr>
        <p:txBody>
          <a:bodyPr/>
          <a:lstStyle/>
          <a:p>
            <a:endParaRPr lang="en-US"/>
          </a:p>
        </p:txBody>
      </p:sp>
      <p:sp>
        <p:nvSpPr>
          <p:cNvPr id="26" name="Text 22"/>
          <p:cNvSpPr txBox="1"/>
          <p:nvPr/>
        </p:nvSpPr>
        <p:spPr>
          <a:xfrm>
            <a:off x="2999232" y="445770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Mickey is built from three perfect circles stacked together, ears and head. This geometric shorthand made him recognizable at any size, from a postage stamp to a parade balloon.</a:t>
            </a:r>
            <a:endParaRPr lang="en-US" sz="1000" dirty="0"/>
          </a:p>
        </p:txBody>
      </p:sp>
      <p:sp>
        <p:nvSpPr>
          <p:cNvPr id="32" name="Shape 28"/>
          <p:cNvSpPr/>
          <p:nvPr/>
        </p:nvSpPr>
        <p:spPr>
          <a:xfrm>
            <a:off x="4617720" y="2048256"/>
            <a:ext cx="310896" cy="310896"/>
          </a:xfrm>
          <a:prstGeom prst="rect">
            <a:avLst/>
          </a:prstGeom>
          <a:solidFill>
            <a:srgbClr val="B71C1C"/>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Every outline is thick and smooth, drawn with consistent line weight and almost no variation. Those clean, confident lines made Mickey easy to animate frame after frame without losing his identity.</a:t>
            </a:r>
            <a:endParaRPr lang="en-US" sz="1000" dirty="0"/>
          </a:p>
        </p:txBody>
      </p:sp>
      <p:sp>
        <p:nvSpPr>
          <p:cNvPr id="37" name="Shape 33"/>
          <p:cNvSpPr/>
          <p:nvPr/>
        </p:nvSpPr>
        <p:spPr>
          <a:xfrm>
            <a:off x="4617720" y="3328416"/>
            <a:ext cx="310896" cy="310896"/>
          </a:xfrm>
          <a:prstGeom prst="rect">
            <a:avLst/>
          </a:prstGeom>
          <a:solidFill>
            <a:srgbClr val="E6510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black, white, and red palette uses maximum contrast to separate Mickey from any background. There are no gradients, no shadows in early Mickey, just flat color doing the job.</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4" name="Picture 43">
            <a:extLst>
              <a:ext uri="{FF2B5EF4-FFF2-40B4-BE49-F238E27FC236}">
                <a16:creationId xmlns:a16="http://schemas.microsoft.com/office/drawing/2014/main" id="{6B44394D-FBBE-66CC-D1CA-55551B6F359B}"/>
              </a:ext>
            </a:extLst>
          </p:cNvPr>
          <p:cNvPicPr>
            <a:picLocks noChangeAspect="1"/>
          </p:cNvPicPr>
          <p:nvPr/>
        </p:nvPicPr>
        <p:blipFill>
          <a:blip r:embed="rId5"/>
          <a:stretch>
            <a:fillRect/>
          </a:stretch>
        </p:blipFill>
        <p:spPr>
          <a:xfrm>
            <a:off x="2374485" y="1151511"/>
            <a:ext cx="2151795" cy="27810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02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4" name="CharacterGlow9004"/>
          <p:cNvSpPr/>
          <p:nvPr/>
        </p:nvSpPr>
        <p:spPr>
          <a:xfrm>
            <a:off x="2151453" y="731520"/>
            <a:ext cx="2466838" cy="3870640"/>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02</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Nickelodeon  /  1999</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SpongeBob</a:t>
            </a:r>
            <a:endParaRPr lang="en-US" sz="3400" dirty="0"/>
          </a:p>
        </p:txBody>
      </p:sp>
      <p:sp>
        <p:nvSpPr>
          <p:cNvPr id="13" name="Shape 9"/>
          <p:cNvSpPr/>
          <p:nvPr/>
        </p:nvSpPr>
        <p:spPr>
          <a:xfrm>
            <a:off x="292608" y="3378708"/>
            <a:ext cx="365760" cy="22860"/>
          </a:xfrm>
          <a:prstGeom prst="rect">
            <a:avLst/>
          </a:prstGeom>
          <a:solidFill>
            <a:srgbClr val="00B8B8"/>
          </a:solidFill>
          <a:ln/>
        </p:spPr>
        <p:txBody>
          <a:bodyPr/>
          <a:lstStyle/>
          <a:p>
            <a:endParaRPr lang="en-US"/>
          </a:p>
        </p:txBody>
      </p:sp>
      <p:sp>
        <p:nvSpPr>
          <p:cNvPr id="14" name="Shape 10"/>
          <p:cNvSpPr/>
          <p:nvPr/>
        </p:nvSpPr>
        <p:spPr>
          <a:xfrm>
            <a:off x="292608" y="3451860"/>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1860"/>
            <a:ext cx="45720" cy="640080"/>
          </a:xfrm>
          <a:prstGeom prst="rect">
            <a:avLst/>
          </a:prstGeom>
          <a:solidFill>
            <a:srgbClr val="00B8B8"/>
          </a:solidFill>
          <a:ln/>
        </p:spPr>
        <p:txBody>
          <a:bodyPr/>
          <a:lstStyle/>
          <a:p>
            <a:endParaRPr lang="en-US"/>
          </a:p>
        </p:txBody>
      </p:sp>
      <p:sp>
        <p:nvSpPr>
          <p:cNvPr id="16" name="Text 12"/>
          <p:cNvSpPr txBox="1"/>
          <p:nvPr/>
        </p:nvSpPr>
        <p:spPr>
          <a:xfrm>
            <a:off x="521208" y="3547872"/>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"Texture as personality"</a:t>
            </a:r>
            <a:endParaRPr lang="en-US" sz="1050" dirty="0"/>
          </a:p>
        </p:txBody>
      </p:sp>
      <p:sp>
        <p:nvSpPr>
          <p:cNvPr id="17" name="Text 13"/>
          <p:cNvSpPr txBox="1"/>
          <p:nvPr/>
        </p:nvSpPr>
        <p:spPr>
          <a:xfrm>
            <a:off x="292608" y="4201668"/>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39412"/>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39412"/>
            <a:ext cx="54864" cy="310896"/>
          </a:xfrm>
          <a:prstGeom prst="rect">
            <a:avLst/>
          </a:prstGeom>
          <a:solidFill>
            <a:srgbClr val="BF360C"/>
          </a:solidFill>
          <a:ln/>
        </p:spPr>
        <p:txBody>
          <a:bodyPr/>
          <a:lstStyle/>
          <a:p>
            <a:endParaRPr lang="en-US"/>
          </a:p>
        </p:txBody>
      </p:sp>
      <p:sp>
        <p:nvSpPr>
          <p:cNvPr id="20" name="Text 16"/>
          <p:cNvSpPr txBox="1"/>
          <p:nvPr/>
        </p:nvSpPr>
        <p:spPr>
          <a:xfrm>
            <a:off x="384048" y="4439412"/>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1" name="Shape 17"/>
          <p:cNvSpPr/>
          <p:nvPr/>
        </p:nvSpPr>
        <p:spPr>
          <a:xfrm>
            <a:off x="1600200" y="4439412"/>
            <a:ext cx="1225296" cy="310896"/>
          </a:xfrm>
          <a:prstGeom prst="rect">
            <a:avLst/>
          </a:prstGeom>
          <a:solidFill>
            <a:srgbClr val="0D47A1">
              <a:alpha val="80000"/>
            </a:srgbClr>
          </a:solidFill>
          <a:ln w="12700">
            <a:solidFill>
              <a:srgbClr val="0D47A1"/>
            </a:solidFill>
            <a:prstDash val="solid"/>
          </a:ln>
        </p:spPr>
        <p:txBody>
          <a:bodyPr/>
          <a:lstStyle/>
          <a:p>
            <a:endParaRPr lang="en-US"/>
          </a:p>
        </p:txBody>
      </p:sp>
      <p:sp>
        <p:nvSpPr>
          <p:cNvPr id="22" name="Shape 18"/>
          <p:cNvSpPr/>
          <p:nvPr/>
        </p:nvSpPr>
        <p:spPr>
          <a:xfrm>
            <a:off x="1600200" y="4439412"/>
            <a:ext cx="54864" cy="310896"/>
          </a:xfrm>
          <a:prstGeom prst="rect">
            <a:avLst/>
          </a:prstGeom>
          <a:solidFill>
            <a:srgbClr val="0D47A1"/>
          </a:solidFill>
          <a:ln/>
        </p:spPr>
        <p:txBody>
          <a:bodyPr/>
          <a:lstStyle/>
          <a:p>
            <a:endParaRPr lang="en-US"/>
          </a:p>
        </p:txBody>
      </p:sp>
      <p:sp>
        <p:nvSpPr>
          <p:cNvPr id="23" name="Text 19"/>
          <p:cNvSpPr txBox="1"/>
          <p:nvPr/>
        </p:nvSpPr>
        <p:spPr>
          <a:xfrm>
            <a:off x="1691640" y="4439412"/>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TEXTURE</a:t>
            </a:r>
            <a:endParaRPr lang="en-US" sz="950" dirty="0"/>
          </a:p>
        </p:txBody>
      </p:sp>
      <p:sp>
        <p:nvSpPr>
          <p:cNvPr id="24" name="Shape 20"/>
          <p:cNvSpPr/>
          <p:nvPr/>
        </p:nvSpPr>
        <p:spPr>
          <a:xfrm>
            <a:off x="2907792" y="4439412"/>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5" name="Shape 21"/>
          <p:cNvSpPr/>
          <p:nvPr/>
        </p:nvSpPr>
        <p:spPr>
          <a:xfrm>
            <a:off x="2907792" y="4439412"/>
            <a:ext cx="54864" cy="310896"/>
          </a:xfrm>
          <a:prstGeom prst="rect">
            <a:avLst/>
          </a:prstGeom>
          <a:solidFill>
            <a:srgbClr val="E65100"/>
          </a:solidFill>
          <a:ln/>
        </p:spPr>
        <p:txBody>
          <a:bodyPr/>
          <a:lstStyle/>
          <a:p>
            <a:endParaRPr lang="en-US"/>
          </a:p>
        </p:txBody>
      </p:sp>
      <p:sp>
        <p:nvSpPr>
          <p:cNvPr id="26" name="Text 22"/>
          <p:cNvSpPr txBox="1"/>
          <p:nvPr/>
        </p:nvSpPr>
        <p:spPr>
          <a:xfrm>
            <a:off x="2999232" y="4439412"/>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SpongeBob is literally a square sponge, the shape IS the character concept. Stephen Hillenburg made the shape match the name on purpose. Every rectangle in his design reminds you of what he is before he says a word.</a:t>
            </a:r>
            <a:endParaRPr lang="en-US" sz="1000" dirty="0"/>
          </a:p>
        </p:txBody>
      </p:sp>
      <p:sp>
        <p:nvSpPr>
          <p:cNvPr id="32" name="Shape 28"/>
          <p:cNvSpPr/>
          <p:nvPr/>
        </p:nvSpPr>
        <p:spPr>
          <a:xfrm>
            <a:off x="4617720" y="2048256"/>
            <a:ext cx="310896" cy="310896"/>
          </a:xfrm>
          <a:prstGeom prst="rect">
            <a:avLst/>
          </a:prstGeom>
          <a:solidFill>
            <a:srgbClr val="0D47A1"/>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TX</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TEXTURE</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dotted pore pattern covering his body gives SpongeBob an instantly readable surface. Texture here is not decoration, it is character information. You know what he is made of the moment you look at him.</a:t>
            </a:r>
            <a:endParaRPr lang="en-US" sz="1000" dirty="0"/>
          </a:p>
        </p:txBody>
      </p:sp>
      <p:sp>
        <p:nvSpPr>
          <p:cNvPr id="37" name="Shape 33"/>
          <p:cNvSpPr/>
          <p:nvPr/>
        </p:nvSpPr>
        <p:spPr>
          <a:xfrm>
            <a:off x="4617720" y="3328416"/>
            <a:ext cx="310896" cy="310896"/>
          </a:xfrm>
          <a:prstGeom prst="rect">
            <a:avLst/>
          </a:prstGeom>
          <a:solidFill>
            <a:srgbClr val="E6510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That saturated yellow against the blue ocean environment creates a pop that makes SpongeBob visible in any scene. The warm yellow reads as happy and energetic before he even moves.</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56335E81-44F5-6A4B-CCCD-E5595AD2127C}"/>
              </a:ext>
            </a:extLst>
          </p:cNvPr>
          <p:cNvPicPr>
            <a:picLocks noChangeAspect="1"/>
          </p:cNvPicPr>
          <p:nvPr/>
        </p:nvPicPr>
        <p:blipFill>
          <a:blip r:embed="rId5"/>
          <a:stretch>
            <a:fillRect/>
          </a:stretch>
        </p:blipFill>
        <p:spPr>
          <a:xfrm>
            <a:off x="2464410" y="610216"/>
            <a:ext cx="1840924" cy="34119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03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5" name="CharacterGlow9005"/>
          <p:cNvSpPr/>
          <p:nvPr/>
        </p:nvSpPr>
        <p:spPr>
          <a:xfrm>
            <a:off x="1209132" y="731520"/>
            <a:ext cx="3673764" cy="3447597"/>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03</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Pokemon  /  1996</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Pikachu</a:t>
            </a:r>
            <a:endParaRPr lang="en-US" sz="3400" dirty="0"/>
          </a:p>
        </p:txBody>
      </p:sp>
      <p:sp>
        <p:nvSpPr>
          <p:cNvPr id="13" name="Shape 9"/>
          <p:cNvSpPr/>
          <p:nvPr/>
        </p:nvSpPr>
        <p:spPr>
          <a:xfrm>
            <a:off x="292608" y="3392424"/>
            <a:ext cx="365760" cy="22860"/>
          </a:xfrm>
          <a:prstGeom prst="rect">
            <a:avLst/>
          </a:prstGeom>
          <a:solidFill>
            <a:srgbClr val="00B8B8"/>
          </a:solidFill>
          <a:ln/>
        </p:spPr>
        <p:txBody>
          <a:bodyPr/>
          <a:lstStyle/>
          <a:p>
            <a:endParaRPr lang="en-US"/>
          </a:p>
        </p:txBody>
      </p:sp>
      <p:sp>
        <p:nvSpPr>
          <p:cNvPr id="14" name="Shape 10"/>
          <p:cNvSpPr/>
          <p:nvPr/>
        </p:nvSpPr>
        <p:spPr>
          <a:xfrm>
            <a:off x="292608" y="346557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5576"/>
            <a:ext cx="45720" cy="640080"/>
          </a:xfrm>
          <a:prstGeom prst="rect">
            <a:avLst/>
          </a:prstGeom>
          <a:solidFill>
            <a:srgbClr val="00B8B8"/>
          </a:solidFill>
          <a:ln/>
        </p:spPr>
        <p:txBody>
          <a:bodyPr/>
          <a:lstStyle/>
          <a:p>
            <a:endParaRPr lang="en-US"/>
          </a:p>
        </p:txBody>
      </p:sp>
      <p:sp>
        <p:nvSpPr>
          <p:cNvPr id="16" name="Text 12"/>
          <p:cNvSpPr txBox="1"/>
          <p:nvPr/>
        </p:nvSpPr>
        <p:spPr>
          <a:xfrm>
            <a:off x="521208" y="356158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"Shape designed for instant recognition"</a:t>
            </a:r>
            <a:endParaRPr lang="en-US" sz="1050" dirty="0"/>
          </a:p>
        </p:txBody>
      </p:sp>
      <p:sp>
        <p:nvSpPr>
          <p:cNvPr id="17" name="Text 13"/>
          <p:cNvSpPr txBox="1"/>
          <p:nvPr/>
        </p:nvSpPr>
        <p:spPr>
          <a:xfrm>
            <a:off x="292608" y="421538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53128"/>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3128"/>
            <a:ext cx="54864" cy="310896"/>
          </a:xfrm>
          <a:prstGeom prst="rect">
            <a:avLst/>
          </a:prstGeom>
          <a:solidFill>
            <a:srgbClr val="BF360C"/>
          </a:solidFill>
          <a:ln/>
        </p:spPr>
        <p:txBody>
          <a:bodyPr/>
          <a:lstStyle/>
          <a:p>
            <a:endParaRPr lang="en-US"/>
          </a:p>
        </p:txBody>
      </p:sp>
      <p:sp>
        <p:nvSpPr>
          <p:cNvPr id="20" name="Text 16"/>
          <p:cNvSpPr txBox="1"/>
          <p:nvPr/>
        </p:nvSpPr>
        <p:spPr>
          <a:xfrm>
            <a:off x="384048"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1" name="Shape 17"/>
          <p:cNvSpPr/>
          <p:nvPr/>
        </p:nvSpPr>
        <p:spPr>
          <a:xfrm>
            <a:off x="1600200" y="445312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3128"/>
            <a:ext cx="54864" cy="310896"/>
          </a:xfrm>
          <a:prstGeom prst="rect">
            <a:avLst/>
          </a:prstGeom>
          <a:solidFill>
            <a:srgbClr val="E65100"/>
          </a:solidFill>
          <a:ln/>
        </p:spPr>
        <p:txBody>
          <a:bodyPr/>
          <a:lstStyle/>
          <a:p>
            <a:endParaRPr lang="en-US"/>
          </a:p>
        </p:txBody>
      </p:sp>
      <p:sp>
        <p:nvSpPr>
          <p:cNvPr id="23" name="Text 19"/>
          <p:cNvSpPr txBox="1"/>
          <p:nvPr/>
        </p:nvSpPr>
        <p:spPr>
          <a:xfrm>
            <a:off x="1691640"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3128"/>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25" name="Shape 21"/>
          <p:cNvSpPr/>
          <p:nvPr/>
        </p:nvSpPr>
        <p:spPr>
          <a:xfrm>
            <a:off x="2907792" y="4453128"/>
            <a:ext cx="54864" cy="310896"/>
          </a:xfrm>
          <a:prstGeom prst="rect">
            <a:avLst/>
          </a:prstGeom>
          <a:solidFill>
            <a:srgbClr val="1B5E20"/>
          </a:solidFill>
          <a:ln/>
        </p:spPr>
        <p:txBody>
          <a:bodyPr/>
          <a:lstStyle/>
          <a:p>
            <a:endParaRPr lang="en-US"/>
          </a:p>
        </p:txBody>
      </p:sp>
      <p:sp>
        <p:nvSpPr>
          <p:cNvPr id="26" name="Text 22"/>
          <p:cNvSpPr txBox="1"/>
          <p:nvPr/>
        </p:nvSpPr>
        <p:spPr>
          <a:xfrm>
            <a:off x="2999232"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VALUE</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Pikachu's silhouette is built from simple rounded forms, oval body, pointed ears with dark tips, lightning-bolt tail. Cover the color and you still know exactly who it is from the outline alone. That is professional silhouette design.</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Electric yellow is the central design choice, it reads as energy and speed before you know anything about the character. The red circles on the cheeks break the yellow with a warm accent that guides your eye.</a:t>
            </a:r>
            <a:endParaRPr lang="en-US" sz="1000" dirty="0"/>
          </a:p>
        </p:txBody>
      </p:sp>
      <p:sp>
        <p:nvSpPr>
          <p:cNvPr id="37" name="Shape 33"/>
          <p:cNvSpPr/>
          <p:nvPr/>
        </p:nvSpPr>
        <p:spPr>
          <a:xfrm>
            <a:off x="4617720" y="3328416"/>
            <a:ext cx="310896" cy="310896"/>
          </a:xfrm>
          <a:prstGeom prst="rect">
            <a:avLst/>
          </a:prstGeom>
          <a:solidFill>
            <a:srgbClr val="1B5E2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VA</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VALUE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Pikachu uses subtle value shifts on the ear tips and cheek circles to create just enough depth on an otherwise flat design. Those darks prevent the character from looking like a cut-out sticker.</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B0409305-1F3E-A6E4-A459-3F11401D83E7}"/>
              </a:ext>
            </a:extLst>
          </p:cNvPr>
          <p:cNvPicPr>
            <a:picLocks noChangeAspect="1"/>
          </p:cNvPicPr>
          <p:nvPr/>
        </p:nvPicPr>
        <p:blipFill>
          <a:blip r:embed="rId5"/>
          <a:stretch>
            <a:fillRect/>
          </a:stretch>
        </p:blipFill>
        <p:spPr>
          <a:xfrm>
            <a:off x="1720340" y="638812"/>
            <a:ext cx="3007108" cy="30259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04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6" name="CharacterGlow9006"/>
          <p:cNvSpPr/>
          <p:nvPr/>
        </p:nvSpPr>
        <p:spPr>
          <a:xfrm>
            <a:off x="2516645" y="731520"/>
            <a:ext cx="2102686" cy="4150680"/>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04</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DC / Warner Bros.  /  1992</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Batman (BTAS)</a:t>
            </a:r>
            <a:endParaRPr lang="en-US" sz="3400" dirty="0"/>
          </a:p>
        </p:txBody>
      </p:sp>
      <p:sp>
        <p:nvSpPr>
          <p:cNvPr id="13" name="Shape 9"/>
          <p:cNvSpPr/>
          <p:nvPr/>
        </p:nvSpPr>
        <p:spPr>
          <a:xfrm>
            <a:off x="292608" y="3391225"/>
            <a:ext cx="365760" cy="22860"/>
          </a:xfrm>
          <a:prstGeom prst="rect">
            <a:avLst/>
          </a:prstGeom>
          <a:solidFill>
            <a:srgbClr val="00B8B8"/>
          </a:solidFill>
          <a:ln/>
        </p:spPr>
        <p:txBody>
          <a:bodyPr/>
          <a:lstStyle/>
          <a:p>
            <a:endParaRPr lang="en-US"/>
          </a:p>
        </p:txBody>
      </p:sp>
      <p:sp>
        <p:nvSpPr>
          <p:cNvPr id="14" name="Shape 10"/>
          <p:cNvSpPr/>
          <p:nvPr/>
        </p:nvSpPr>
        <p:spPr>
          <a:xfrm>
            <a:off x="292608" y="3464377"/>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4377"/>
            <a:ext cx="45720" cy="640080"/>
          </a:xfrm>
          <a:prstGeom prst="rect">
            <a:avLst/>
          </a:prstGeom>
          <a:solidFill>
            <a:srgbClr val="00B8B8"/>
          </a:solidFill>
          <a:ln/>
        </p:spPr>
        <p:txBody>
          <a:bodyPr/>
          <a:lstStyle/>
          <a:p>
            <a:endParaRPr lang="en-US"/>
          </a:p>
        </p:txBody>
      </p:sp>
      <p:sp>
        <p:nvSpPr>
          <p:cNvPr id="16" name="Text 12"/>
          <p:cNvSpPr txBox="1"/>
          <p:nvPr/>
        </p:nvSpPr>
        <p:spPr>
          <a:xfrm>
            <a:off x="521208" y="3560389"/>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"Value doing all the heavy lifting"</a:t>
            </a:r>
            <a:endParaRPr lang="en-US" sz="1050" dirty="0"/>
          </a:p>
        </p:txBody>
      </p:sp>
      <p:sp>
        <p:nvSpPr>
          <p:cNvPr id="17" name="Text 13"/>
          <p:cNvSpPr txBox="1"/>
          <p:nvPr/>
        </p:nvSpPr>
        <p:spPr>
          <a:xfrm>
            <a:off x="292608" y="4214185"/>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51929"/>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19" name="Shape 15"/>
          <p:cNvSpPr/>
          <p:nvPr/>
        </p:nvSpPr>
        <p:spPr>
          <a:xfrm>
            <a:off x="292608" y="4451929"/>
            <a:ext cx="54864" cy="310896"/>
          </a:xfrm>
          <a:prstGeom prst="rect">
            <a:avLst/>
          </a:prstGeom>
          <a:solidFill>
            <a:srgbClr val="1B5E20"/>
          </a:solidFill>
          <a:ln/>
        </p:spPr>
        <p:txBody>
          <a:bodyPr/>
          <a:lstStyle/>
          <a:p>
            <a:endParaRPr lang="en-US"/>
          </a:p>
        </p:txBody>
      </p:sp>
      <p:sp>
        <p:nvSpPr>
          <p:cNvPr id="20" name="Text 16"/>
          <p:cNvSpPr txBox="1"/>
          <p:nvPr/>
        </p:nvSpPr>
        <p:spPr>
          <a:xfrm>
            <a:off x="384048" y="4451929"/>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VALUE</a:t>
            </a:r>
            <a:endParaRPr lang="en-US" sz="950" dirty="0"/>
          </a:p>
        </p:txBody>
      </p:sp>
      <p:sp>
        <p:nvSpPr>
          <p:cNvPr id="21" name="Shape 17"/>
          <p:cNvSpPr/>
          <p:nvPr/>
        </p:nvSpPr>
        <p:spPr>
          <a:xfrm>
            <a:off x="1600200" y="4451929"/>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22" name="Shape 18"/>
          <p:cNvSpPr/>
          <p:nvPr/>
        </p:nvSpPr>
        <p:spPr>
          <a:xfrm>
            <a:off x="1600200" y="4451929"/>
            <a:ext cx="54864" cy="310896"/>
          </a:xfrm>
          <a:prstGeom prst="rect">
            <a:avLst/>
          </a:prstGeom>
          <a:solidFill>
            <a:srgbClr val="BF360C"/>
          </a:solidFill>
          <a:ln/>
        </p:spPr>
        <p:txBody>
          <a:bodyPr/>
          <a:lstStyle/>
          <a:p>
            <a:endParaRPr lang="en-US"/>
          </a:p>
        </p:txBody>
      </p:sp>
      <p:sp>
        <p:nvSpPr>
          <p:cNvPr id="23" name="Text 19"/>
          <p:cNvSpPr txBox="1"/>
          <p:nvPr/>
        </p:nvSpPr>
        <p:spPr>
          <a:xfrm>
            <a:off x="1691640" y="4451929"/>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4" name="Shape 20"/>
          <p:cNvSpPr/>
          <p:nvPr/>
        </p:nvSpPr>
        <p:spPr>
          <a:xfrm>
            <a:off x="2907792" y="4451929"/>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5" name="Shape 21"/>
          <p:cNvSpPr/>
          <p:nvPr/>
        </p:nvSpPr>
        <p:spPr>
          <a:xfrm>
            <a:off x="2907792" y="4451929"/>
            <a:ext cx="54864" cy="310896"/>
          </a:xfrm>
          <a:prstGeom prst="rect">
            <a:avLst/>
          </a:prstGeom>
          <a:solidFill>
            <a:srgbClr val="B71C1C"/>
          </a:solidFill>
          <a:ln/>
        </p:spPr>
        <p:txBody>
          <a:bodyPr/>
          <a:lstStyle/>
          <a:p>
            <a:endParaRPr lang="en-US"/>
          </a:p>
        </p:txBody>
      </p:sp>
      <p:sp>
        <p:nvSpPr>
          <p:cNvPr id="26" name="Text 22"/>
          <p:cNvSpPr txBox="1"/>
          <p:nvPr/>
        </p:nvSpPr>
        <p:spPr>
          <a:xfrm>
            <a:off x="2999232" y="4451929"/>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7" name="Shape 23"/>
          <p:cNvSpPr/>
          <p:nvPr/>
        </p:nvSpPr>
        <p:spPr>
          <a:xfrm>
            <a:off x="4617720" y="768096"/>
            <a:ext cx="310896" cy="310896"/>
          </a:xfrm>
          <a:prstGeom prst="rect">
            <a:avLst/>
          </a:prstGeom>
          <a:solidFill>
            <a:srgbClr val="1B5E20"/>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VA</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VALUE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Batman: The Animated Series was deliberately painted on BLACK paper, an industry first. The entire series lives in dark values with light used sparingly to define form. Value creates mood, threat, and atmosphere without any extra visual noise.</a:t>
            </a:r>
            <a:endParaRPr lang="en-US" sz="1000" dirty="0"/>
          </a:p>
        </p:txBody>
      </p:sp>
      <p:sp>
        <p:nvSpPr>
          <p:cNvPr id="32" name="Shape 28"/>
          <p:cNvSpPr/>
          <p:nvPr/>
        </p:nvSpPr>
        <p:spPr>
          <a:xfrm>
            <a:off x="4617720" y="2048256"/>
            <a:ext cx="310896" cy="310896"/>
          </a:xfrm>
          <a:prstGeom prst="rect">
            <a:avLst/>
          </a:prstGeom>
          <a:solidFill>
            <a:srgbClr val="BF360C"/>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Batman's silhouette is designed to be intimidating, the cape spreads into an angular shadow shape, and the ears push the figure vertical and sharp. Every shape choice reads as dangerous and precise.</a:t>
            </a:r>
            <a:endParaRPr lang="en-US" sz="1000" dirty="0"/>
          </a:p>
        </p:txBody>
      </p:sp>
      <p:sp>
        <p:nvSpPr>
          <p:cNvPr id="37" name="Shape 33"/>
          <p:cNvSpPr/>
          <p:nvPr/>
        </p:nvSpPr>
        <p:spPr>
          <a:xfrm>
            <a:off x="4617720" y="3328416"/>
            <a:ext cx="310896" cy="310896"/>
          </a:xfrm>
          <a:prstGeom prst="rect">
            <a:avLst/>
          </a:prstGeom>
          <a:solidFill>
            <a:srgbClr val="B71C1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Art Deco architecture in the background uses bold, rigid vertical and diagonal lines that reinforce the city's oppressive feel. Line direction is a storytelling choice throughout. Horizontal lines signal calm; sharp diagonals signal threat.</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9434A9E7-C36A-427D-FCA4-BFCAD2840390}"/>
              </a:ext>
            </a:extLst>
          </p:cNvPr>
          <p:cNvPicPr>
            <a:picLocks noChangeAspect="1"/>
          </p:cNvPicPr>
          <p:nvPr/>
        </p:nvPicPr>
        <p:blipFill>
          <a:blip r:embed="rId5"/>
          <a:stretch>
            <a:fillRect/>
          </a:stretch>
        </p:blipFill>
        <p:spPr>
          <a:xfrm>
            <a:off x="2783404" y="502470"/>
            <a:ext cx="1569169" cy="37433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05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7" name="CharacterGlow9007"/>
          <p:cNvSpPr/>
          <p:nvPr/>
        </p:nvSpPr>
        <p:spPr>
          <a:xfrm>
            <a:off x="2241652" y="731520"/>
            <a:ext cx="2511857" cy="3926134"/>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05</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Looney Tunes  /  1940</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Bugs Bunny</a:t>
            </a:r>
            <a:endParaRPr lang="en-US" sz="3400" dirty="0"/>
          </a:p>
        </p:txBody>
      </p:sp>
      <p:sp>
        <p:nvSpPr>
          <p:cNvPr id="13" name="Shape 9"/>
          <p:cNvSpPr/>
          <p:nvPr/>
        </p:nvSpPr>
        <p:spPr>
          <a:xfrm>
            <a:off x="292608" y="3364992"/>
            <a:ext cx="365760" cy="22860"/>
          </a:xfrm>
          <a:prstGeom prst="rect">
            <a:avLst/>
          </a:prstGeom>
          <a:solidFill>
            <a:srgbClr val="00B8B8"/>
          </a:solidFill>
          <a:ln/>
        </p:spPr>
        <p:txBody>
          <a:bodyPr/>
          <a:lstStyle/>
          <a:p>
            <a:endParaRPr lang="en-US"/>
          </a:p>
        </p:txBody>
      </p:sp>
      <p:sp>
        <p:nvSpPr>
          <p:cNvPr id="14" name="Shape 10"/>
          <p:cNvSpPr/>
          <p:nvPr/>
        </p:nvSpPr>
        <p:spPr>
          <a:xfrm>
            <a:off x="292608" y="3438144"/>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38144"/>
            <a:ext cx="45720" cy="640080"/>
          </a:xfrm>
          <a:prstGeom prst="rect">
            <a:avLst/>
          </a:prstGeom>
          <a:solidFill>
            <a:srgbClr val="00B8B8"/>
          </a:solidFill>
          <a:ln/>
        </p:spPr>
        <p:txBody>
          <a:bodyPr/>
          <a:lstStyle/>
          <a:p>
            <a:endParaRPr lang="en-US"/>
          </a:p>
        </p:txBody>
      </p:sp>
      <p:sp>
        <p:nvSpPr>
          <p:cNvPr id="16" name="Text 12"/>
          <p:cNvSpPr txBox="1"/>
          <p:nvPr/>
        </p:nvSpPr>
        <p:spPr>
          <a:xfrm>
            <a:off x="521208" y="3534156"/>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"Fluid line as character energy"</a:t>
            </a:r>
            <a:endParaRPr lang="en-US" sz="1050" dirty="0"/>
          </a:p>
        </p:txBody>
      </p:sp>
      <p:sp>
        <p:nvSpPr>
          <p:cNvPr id="17" name="Text 13"/>
          <p:cNvSpPr txBox="1"/>
          <p:nvPr/>
        </p:nvSpPr>
        <p:spPr>
          <a:xfrm>
            <a:off x="292608" y="4187952"/>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25696"/>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19" name="Shape 15"/>
          <p:cNvSpPr/>
          <p:nvPr/>
        </p:nvSpPr>
        <p:spPr>
          <a:xfrm>
            <a:off x="292608" y="4425696"/>
            <a:ext cx="54864" cy="310896"/>
          </a:xfrm>
          <a:prstGeom prst="rect">
            <a:avLst/>
          </a:prstGeom>
          <a:solidFill>
            <a:srgbClr val="B71C1C"/>
          </a:solidFill>
          <a:ln/>
        </p:spPr>
        <p:txBody>
          <a:bodyPr/>
          <a:lstStyle/>
          <a:p>
            <a:endParaRPr lang="en-US"/>
          </a:p>
        </p:txBody>
      </p:sp>
      <p:sp>
        <p:nvSpPr>
          <p:cNvPr id="20" name="Text 16"/>
          <p:cNvSpPr txBox="1"/>
          <p:nvPr/>
        </p:nvSpPr>
        <p:spPr>
          <a:xfrm>
            <a:off x="384048" y="4425696"/>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1" name="Shape 17"/>
          <p:cNvSpPr/>
          <p:nvPr/>
        </p:nvSpPr>
        <p:spPr>
          <a:xfrm>
            <a:off x="1600200" y="4425696"/>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2" name="Shape 18"/>
          <p:cNvSpPr/>
          <p:nvPr/>
        </p:nvSpPr>
        <p:spPr>
          <a:xfrm>
            <a:off x="1600200" y="4425696"/>
            <a:ext cx="54864" cy="310896"/>
          </a:xfrm>
          <a:prstGeom prst="rect">
            <a:avLst/>
          </a:prstGeom>
          <a:solidFill>
            <a:srgbClr val="6A1B9A"/>
          </a:solidFill>
          <a:ln/>
        </p:spPr>
        <p:txBody>
          <a:bodyPr/>
          <a:lstStyle/>
          <a:p>
            <a:endParaRPr lang="en-US"/>
          </a:p>
        </p:txBody>
      </p:sp>
      <p:sp>
        <p:nvSpPr>
          <p:cNvPr id="23" name="Text 19"/>
          <p:cNvSpPr txBox="1"/>
          <p:nvPr/>
        </p:nvSpPr>
        <p:spPr>
          <a:xfrm>
            <a:off x="1691640" y="4425696"/>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t>
            </a:r>
            <a:endParaRPr lang="en-US" sz="950" dirty="0"/>
          </a:p>
        </p:txBody>
      </p:sp>
      <p:sp>
        <p:nvSpPr>
          <p:cNvPr id="24" name="Shape 20"/>
          <p:cNvSpPr/>
          <p:nvPr/>
        </p:nvSpPr>
        <p:spPr>
          <a:xfrm>
            <a:off x="2907792" y="4425696"/>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25" name="Shape 21"/>
          <p:cNvSpPr/>
          <p:nvPr/>
        </p:nvSpPr>
        <p:spPr>
          <a:xfrm>
            <a:off x="2907792" y="4425696"/>
            <a:ext cx="54864" cy="310896"/>
          </a:xfrm>
          <a:prstGeom prst="rect">
            <a:avLst/>
          </a:prstGeom>
          <a:solidFill>
            <a:srgbClr val="BF360C"/>
          </a:solidFill>
          <a:ln/>
        </p:spPr>
        <p:txBody>
          <a:bodyPr/>
          <a:lstStyle/>
          <a:p>
            <a:endParaRPr lang="en-US"/>
          </a:p>
        </p:txBody>
      </p:sp>
      <p:sp>
        <p:nvSpPr>
          <p:cNvPr id="26" name="Text 22"/>
          <p:cNvSpPr txBox="1"/>
          <p:nvPr/>
        </p:nvSpPr>
        <p:spPr>
          <a:xfrm>
            <a:off x="2999232" y="4425696"/>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7" name="Shape 23"/>
          <p:cNvSpPr/>
          <p:nvPr/>
        </p:nvSpPr>
        <p:spPr>
          <a:xfrm>
            <a:off x="4617720" y="768096"/>
            <a:ext cx="310896" cy="310896"/>
          </a:xfrm>
          <a:prstGeom prst="rect">
            <a:avLst/>
          </a:prstGeom>
          <a:solidFill>
            <a:srgbClr val="B71C1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Bugs is drawn with curved, elastic lines that suggest constant motion and intelligence. Nothing in his design is stiff or rigid, even at rest, those lines suggest he could spring at any moment.</a:t>
            </a:r>
            <a:endParaRPr lang="en-US" sz="1000" dirty="0"/>
          </a:p>
        </p:txBody>
      </p:sp>
      <p:sp>
        <p:nvSpPr>
          <p:cNvPr id="32" name="Shape 28"/>
          <p:cNvSpPr/>
          <p:nvPr/>
        </p:nvSpPr>
        <p:spPr>
          <a:xfrm>
            <a:off x="4617720" y="2048256"/>
            <a:ext cx="310896" cy="310896"/>
          </a:xfrm>
          <a:prstGeom prst="rect">
            <a:avLst/>
          </a:prstGeom>
          <a:solidFill>
            <a:srgbClr val="6A1B9A"/>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FM</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Chuck Jones and the team gave Bugs volume and weight through overlapping forms, the barrel chest, round belly, and thick limbs feel three-dimensional even in 2D. Form makes him feel physical and present in the scene.</a:t>
            </a:r>
            <a:endParaRPr lang="en-US" sz="1000" dirty="0"/>
          </a:p>
        </p:txBody>
      </p:sp>
      <p:sp>
        <p:nvSpPr>
          <p:cNvPr id="37" name="Shape 33"/>
          <p:cNvSpPr/>
          <p:nvPr/>
        </p:nvSpPr>
        <p:spPr>
          <a:xfrm>
            <a:off x="4617720" y="3328416"/>
            <a:ext cx="310896" cy="310896"/>
          </a:xfrm>
          <a:prstGeom prst="rect">
            <a:avLst/>
          </a:prstGeom>
          <a:solidFill>
            <a:srgbClr val="BF360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long ears are Bugs's shape signature, they shift between relaxed, alert, and expressive depending on his mood. Shape designers use character features as visual vocabulary for emotion.</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0F0ACF3F-B865-3C0E-70DF-106500DF5A8D}"/>
              </a:ext>
            </a:extLst>
          </p:cNvPr>
          <p:cNvPicPr>
            <a:picLocks noChangeAspect="1"/>
          </p:cNvPicPr>
          <p:nvPr/>
        </p:nvPicPr>
        <p:blipFill>
          <a:blip r:embed="rId5"/>
          <a:stretch>
            <a:fillRect/>
          </a:stretch>
        </p:blipFill>
        <p:spPr>
          <a:xfrm>
            <a:off x="2560320" y="499735"/>
            <a:ext cx="1874520" cy="35537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06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8" name="CharacterGlow9008"/>
          <p:cNvSpPr/>
          <p:nvPr/>
        </p:nvSpPr>
        <p:spPr>
          <a:xfrm>
            <a:off x="2630800" y="731520"/>
            <a:ext cx="2155182" cy="4032050"/>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06</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The Simpsons  /  1989</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Homer Simpson</a:t>
            </a:r>
            <a:endParaRPr lang="en-US" sz="3400" dirty="0"/>
          </a:p>
        </p:txBody>
      </p:sp>
      <p:sp>
        <p:nvSpPr>
          <p:cNvPr id="13" name="Shape 9"/>
          <p:cNvSpPr/>
          <p:nvPr/>
        </p:nvSpPr>
        <p:spPr>
          <a:xfrm>
            <a:off x="292608" y="3389381"/>
            <a:ext cx="365760" cy="22860"/>
          </a:xfrm>
          <a:prstGeom prst="rect">
            <a:avLst/>
          </a:prstGeom>
          <a:solidFill>
            <a:srgbClr val="00B8B8"/>
          </a:solidFill>
          <a:ln/>
        </p:spPr>
        <p:txBody>
          <a:bodyPr/>
          <a:lstStyle/>
          <a:p>
            <a:endParaRPr lang="en-US"/>
          </a:p>
        </p:txBody>
      </p:sp>
      <p:sp>
        <p:nvSpPr>
          <p:cNvPr id="14" name="Shape 10"/>
          <p:cNvSpPr/>
          <p:nvPr/>
        </p:nvSpPr>
        <p:spPr>
          <a:xfrm>
            <a:off x="292608" y="3462533"/>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2533"/>
            <a:ext cx="45720" cy="640080"/>
          </a:xfrm>
          <a:prstGeom prst="rect">
            <a:avLst/>
          </a:prstGeom>
          <a:solidFill>
            <a:srgbClr val="00B8B8"/>
          </a:solidFill>
          <a:ln/>
        </p:spPr>
        <p:txBody>
          <a:bodyPr/>
          <a:lstStyle/>
          <a:p>
            <a:endParaRPr lang="en-US"/>
          </a:p>
        </p:txBody>
      </p:sp>
      <p:sp>
        <p:nvSpPr>
          <p:cNvPr id="16" name="Text 12"/>
          <p:cNvSpPr txBox="1"/>
          <p:nvPr/>
        </p:nvSpPr>
        <p:spPr>
          <a:xfrm>
            <a:off x="521208" y="3558545"/>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"Shape language for instant comedy"</a:t>
            </a:r>
            <a:endParaRPr lang="en-US" sz="1050" dirty="0"/>
          </a:p>
        </p:txBody>
      </p:sp>
      <p:sp>
        <p:nvSpPr>
          <p:cNvPr id="17" name="Text 13"/>
          <p:cNvSpPr txBox="1"/>
          <p:nvPr/>
        </p:nvSpPr>
        <p:spPr>
          <a:xfrm>
            <a:off x="292608" y="4212341"/>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50085"/>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0085"/>
            <a:ext cx="54864" cy="310896"/>
          </a:xfrm>
          <a:prstGeom prst="rect">
            <a:avLst/>
          </a:prstGeom>
          <a:solidFill>
            <a:srgbClr val="BF360C"/>
          </a:solidFill>
          <a:ln/>
        </p:spPr>
        <p:txBody>
          <a:bodyPr/>
          <a:lstStyle/>
          <a:p>
            <a:endParaRPr lang="en-US"/>
          </a:p>
        </p:txBody>
      </p:sp>
      <p:sp>
        <p:nvSpPr>
          <p:cNvPr id="20" name="Text 16"/>
          <p:cNvSpPr txBox="1"/>
          <p:nvPr/>
        </p:nvSpPr>
        <p:spPr>
          <a:xfrm>
            <a:off x="384048" y="44500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1" name="Shape 17"/>
          <p:cNvSpPr/>
          <p:nvPr/>
        </p:nvSpPr>
        <p:spPr>
          <a:xfrm>
            <a:off x="1600200" y="4450085"/>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0085"/>
            <a:ext cx="54864" cy="310896"/>
          </a:xfrm>
          <a:prstGeom prst="rect">
            <a:avLst/>
          </a:prstGeom>
          <a:solidFill>
            <a:srgbClr val="E65100"/>
          </a:solidFill>
          <a:ln/>
        </p:spPr>
        <p:txBody>
          <a:bodyPr/>
          <a:lstStyle/>
          <a:p>
            <a:endParaRPr lang="en-US"/>
          </a:p>
        </p:txBody>
      </p:sp>
      <p:sp>
        <p:nvSpPr>
          <p:cNvPr id="23" name="Text 19"/>
          <p:cNvSpPr txBox="1"/>
          <p:nvPr/>
        </p:nvSpPr>
        <p:spPr>
          <a:xfrm>
            <a:off x="1691640" y="44500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0085"/>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5" name="Shape 21"/>
          <p:cNvSpPr/>
          <p:nvPr/>
        </p:nvSpPr>
        <p:spPr>
          <a:xfrm>
            <a:off x="2907792" y="4450085"/>
            <a:ext cx="54864" cy="310896"/>
          </a:xfrm>
          <a:prstGeom prst="rect">
            <a:avLst/>
          </a:prstGeom>
          <a:solidFill>
            <a:srgbClr val="B71C1C"/>
          </a:solidFill>
          <a:ln/>
        </p:spPr>
        <p:txBody>
          <a:bodyPr/>
          <a:lstStyle/>
          <a:p>
            <a:endParaRPr lang="en-US"/>
          </a:p>
        </p:txBody>
      </p:sp>
      <p:sp>
        <p:nvSpPr>
          <p:cNvPr id="26" name="Text 22"/>
          <p:cNvSpPr txBox="1"/>
          <p:nvPr/>
        </p:nvSpPr>
        <p:spPr>
          <a:xfrm>
            <a:off x="2999232" y="44500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Homer's D-shaped silhouette, round belly pushing forward, slumping back, communicates laziness and middle-age spread without a single line of dialogue. The rounder and more slumped, the funnier.</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Simpson yellow skin pops against any background and immediately signals this is an animated world with its own rules. That yellow was chosen to stop channel-surfing audiences mid-flip. Color creates world identity.</a:t>
            </a:r>
            <a:endParaRPr lang="en-US" sz="1000" dirty="0"/>
          </a:p>
        </p:txBody>
      </p:sp>
      <p:sp>
        <p:nvSpPr>
          <p:cNvPr id="37" name="Shape 33"/>
          <p:cNvSpPr/>
          <p:nvPr/>
        </p:nvSpPr>
        <p:spPr>
          <a:xfrm>
            <a:off x="4617720" y="3328416"/>
            <a:ext cx="310896" cy="310896"/>
          </a:xfrm>
          <a:prstGeom prst="rect">
            <a:avLst/>
          </a:prstGeom>
          <a:solidFill>
            <a:srgbClr val="B71C1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Five-o-clock stubble drawn as a simple broken outline ring, and the hair as just two connected spikes. The Simpsons proves that fewer lines done with intention beat complex linework every time.</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5" name="Picture 44">
            <a:extLst>
              <a:ext uri="{FF2B5EF4-FFF2-40B4-BE49-F238E27FC236}">
                <a16:creationId xmlns:a16="http://schemas.microsoft.com/office/drawing/2014/main" id="{A2BDD408-049B-DA0C-12FD-6819FE38E78C}"/>
              </a:ext>
            </a:extLst>
          </p:cNvPr>
          <p:cNvPicPr>
            <a:picLocks noChangeAspect="1"/>
          </p:cNvPicPr>
          <p:nvPr/>
        </p:nvPicPr>
        <p:blipFill>
          <a:blip r:embed="rId5"/>
          <a:stretch>
            <a:fillRect/>
          </a:stretch>
        </p:blipFill>
        <p:spPr>
          <a:xfrm>
            <a:off x="2904219" y="801963"/>
            <a:ext cx="1608345" cy="33859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sp>
        <p:nvSpPr>
          <p:cNvPr id="45" name="CharacterGlow9008">
            <a:extLst>
              <a:ext uri="{FF2B5EF4-FFF2-40B4-BE49-F238E27FC236}">
                <a16:creationId xmlns:a16="http://schemas.microsoft.com/office/drawing/2014/main" id="{7706461B-C154-7898-FF6F-EBD5BC002AD8}"/>
              </a:ext>
            </a:extLst>
          </p:cNvPr>
          <p:cNvSpPr/>
          <p:nvPr/>
        </p:nvSpPr>
        <p:spPr>
          <a:xfrm>
            <a:off x="955865" y="99815"/>
            <a:ext cx="3902505" cy="4258591"/>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07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07</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Studio Ghibli  /  1988</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Totoro</a:t>
            </a:r>
            <a:endParaRPr lang="en-US" sz="3400" dirty="0"/>
          </a:p>
        </p:txBody>
      </p:sp>
      <p:sp>
        <p:nvSpPr>
          <p:cNvPr id="13" name="Shape 9"/>
          <p:cNvSpPr/>
          <p:nvPr/>
        </p:nvSpPr>
        <p:spPr>
          <a:xfrm>
            <a:off x="292608" y="3374136"/>
            <a:ext cx="365760" cy="22860"/>
          </a:xfrm>
          <a:prstGeom prst="rect">
            <a:avLst/>
          </a:prstGeom>
          <a:solidFill>
            <a:srgbClr val="00B8B8"/>
          </a:solidFill>
          <a:ln/>
        </p:spPr>
        <p:txBody>
          <a:bodyPr/>
          <a:lstStyle/>
          <a:p>
            <a:endParaRPr lang="en-US"/>
          </a:p>
        </p:txBody>
      </p:sp>
      <p:sp>
        <p:nvSpPr>
          <p:cNvPr id="14" name="Shape 10"/>
          <p:cNvSpPr/>
          <p:nvPr/>
        </p:nvSpPr>
        <p:spPr>
          <a:xfrm>
            <a:off x="292608" y="3447288"/>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47288"/>
            <a:ext cx="45720" cy="640080"/>
          </a:xfrm>
          <a:prstGeom prst="rect">
            <a:avLst/>
          </a:prstGeom>
          <a:solidFill>
            <a:srgbClr val="00B8B8"/>
          </a:solidFill>
          <a:ln/>
        </p:spPr>
        <p:txBody>
          <a:bodyPr/>
          <a:lstStyle/>
          <a:p>
            <a:endParaRPr lang="en-US"/>
          </a:p>
        </p:txBody>
      </p:sp>
      <p:sp>
        <p:nvSpPr>
          <p:cNvPr id="16" name="Text 12"/>
          <p:cNvSpPr txBox="1"/>
          <p:nvPr/>
        </p:nvSpPr>
        <p:spPr>
          <a:xfrm>
            <a:off x="521208" y="3543300"/>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"Form and texture creating warmth"</a:t>
            </a:r>
            <a:endParaRPr lang="en-US" sz="1050" dirty="0"/>
          </a:p>
        </p:txBody>
      </p:sp>
      <p:sp>
        <p:nvSpPr>
          <p:cNvPr id="17" name="Text 13"/>
          <p:cNvSpPr txBox="1"/>
          <p:nvPr/>
        </p:nvSpPr>
        <p:spPr>
          <a:xfrm>
            <a:off x="292608" y="4197096"/>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34840"/>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19" name="Shape 15"/>
          <p:cNvSpPr/>
          <p:nvPr/>
        </p:nvSpPr>
        <p:spPr>
          <a:xfrm>
            <a:off x="292608" y="4434840"/>
            <a:ext cx="54864" cy="310896"/>
          </a:xfrm>
          <a:prstGeom prst="rect">
            <a:avLst/>
          </a:prstGeom>
          <a:solidFill>
            <a:srgbClr val="6A1B9A"/>
          </a:solidFill>
          <a:ln/>
        </p:spPr>
        <p:txBody>
          <a:bodyPr/>
          <a:lstStyle/>
          <a:p>
            <a:endParaRPr lang="en-US"/>
          </a:p>
        </p:txBody>
      </p:sp>
      <p:sp>
        <p:nvSpPr>
          <p:cNvPr id="20" name="Text 16"/>
          <p:cNvSpPr txBox="1"/>
          <p:nvPr/>
        </p:nvSpPr>
        <p:spPr>
          <a:xfrm>
            <a:off x="384048" y="443484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t>
            </a:r>
            <a:endParaRPr lang="en-US" sz="950" dirty="0"/>
          </a:p>
        </p:txBody>
      </p:sp>
      <p:sp>
        <p:nvSpPr>
          <p:cNvPr id="21" name="Shape 17"/>
          <p:cNvSpPr/>
          <p:nvPr/>
        </p:nvSpPr>
        <p:spPr>
          <a:xfrm>
            <a:off x="1600200" y="4434840"/>
            <a:ext cx="1225296" cy="310896"/>
          </a:xfrm>
          <a:prstGeom prst="rect">
            <a:avLst/>
          </a:prstGeom>
          <a:solidFill>
            <a:srgbClr val="0D47A1">
              <a:alpha val="80000"/>
            </a:srgbClr>
          </a:solidFill>
          <a:ln w="12700">
            <a:solidFill>
              <a:srgbClr val="0D47A1"/>
            </a:solidFill>
            <a:prstDash val="solid"/>
          </a:ln>
        </p:spPr>
        <p:txBody>
          <a:bodyPr/>
          <a:lstStyle/>
          <a:p>
            <a:endParaRPr lang="en-US"/>
          </a:p>
        </p:txBody>
      </p:sp>
      <p:sp>
        <p:nvSpPr>
          <p:cNvPr id="22" name="Shape 18"/>
          <p:cNvSpPr/>
          <p:nvPr/>
        </p:nvSpPr>
        <p:spPr>
          <a:xfrm>
            <a:off x="1600200" y="4434840"/>
            <a:ext cx="54864" cy="310896"/>
          </a:xfrm>
          <a:prstGeom prst="rect">
            <a:avLst/>
          </a:prstGeom>
          <a:solidFill>
            <a:srgbClr val="0D47A1"/>
          </a:solidFill>
          <a:ln/>
        </p:spPr>
        <p:txBody>
          <a:bodyPr/>
          <a:lstStyle/>
          <a:p>
            <a:endParaRPr lang="en-US"/>
          </a:p>
        </p:txBody>
      </p:sp>
      <p:sp>
        <p:nvSpPr>
          <p:cNvPr id="23" name="Text 19"/>
          <p:cNvSpPr txBox="1"/>
          <p:nvPr/>
        </p:nvSpPr>
        <p:spPr>
          <a:xfrm>
            <a:off x="1691640" y="443484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TEXTURE</a:t>
            </a:r>
            <a:endParaRPr lang="en-US" sz="950" dirty="0"/>
          </a:p>
        </p:txBody>
      </p:sp>
      <p:sp>
        <p:nvSpPr>
          <p:cNvPr id="24" name="Shape 20"/>
          <p:cNvSpPr/>
          <p:nvPr/>
        </p:nvSpPr>
        <p:spPr>
          <a:xfrm>
            <a:off x="2907792" y="4434840"/>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25" name="Shape 21"/>
          <p:cNvSpPr/>
          <p:nvPr/>
        </p:nvSpPr>
        <p:spPr>
          <a:xfrm>
            <a:off x="2907792" y="4434840"/>
            <a:ext cx="54864" cy="310896"/>
          </a:xfrm>
          <a:prstGeom prst="rect">
            <a:avLst/>
          </a:prstGeom>
          <a:solidFill>
            <a:srgbClr val="BF360C"/>
          </a:solidFill>
          <a:ln/>
        </p:spPr>
        <p:txBody>
          <a:bodyPr/>
          <a:lstStyle/>
          <a:p>
            <a:endParaRPr lang="en-US"/>
          </a:p>
        </p:txBody>
      </p:sp>
      <p:sp>
        <p:nvSpPr>
          <p:cNvPr id="26" name="Text 22"/>
          <p:cNvSpPr txBox="1"/>
          <p:nvPr/>
        </p:nvSpPr>
        <p:spPr>
          <a:xfrm>
            <a:off x="2999232" y="443484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7" name="Shape 23"/>
          <p:cNvSpPr/>
          <p:nvPr/>
        </p:nvSpPr>
        <p:spPr>
          <a:xfrm>
            <a:off x="4617720" y="768096"/>
            <a:ext cx="310896" cy="310896"/>
          </a:xfrm>
          <a:prstGeom prst="rect">
            <a:avLst/>
          </a:prstGeom>
          <a:solidFill>
            <a:srgbClr val="6A1B9A"/>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FM</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Totoro's massive rounded body has undeniable volume and weight, he feels like he would be soft to the touch. Hayao Miyazaki designed him as pure round form to signal safety and gentleness. Form communicates character before the audience is told who he is.</a:t>
            </a:r>
            <a:endParaRPr lang="en-US" sz="1000" dirty="0"/>
          </a:p>
        </p:txBody>
      </p:sp>
      <p:sp>
        <p:nvSpPr>
          <p:cNvPr id="32" name="Shape 28"/>
          <p:cNvSpPr/>
          <p:nvPr/>
        </p:nvSpPr>
        <p:spPr>
          <a:xfrm>
            <a:off x="4617720" y="2048256"/>
            <a:ext cx="310896" cy="310896"/>
          </a:xfrm>
          <a:prstGeom prst="rect">
            <a:avLst/>
          </a:prstGeom>
          <a:solidFill>
            <a:srgbClr val="0D47A1"/>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TX</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TEXTURE</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Dense fur drawn with thousands of short strokes gives Totoro tactile presence, you want to touch the screen. Texture in character design creates emotional connection. An untextured Totoro would feel empty and cold.</a:t>
            </a:r>
            <a:endParaRPr lang="en-US" sz="1000" dirty="0"/>
          </a:p>
        </p:txBody>
      </p:sp>
      <p:sp>
        <p:nvSpPr>
          <p:cNvPr id="37" name="Shape 33"/>
          <p:cNvSpPr/>
          <p:nvPr/>
        </p:nvSpPr>
        <p:spPr>
          <a:xfrm>
            <a:off x="4617720" y="3328416"/>
            <a:ext cx="310896" cy="310896"/>
          </a:xfrm>
          <a:prstGeom prst="rect">
            <a:avLst/>
          </a:prstGeom>
          <a:solidFill>
            <a:srgbClr val="BF360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triangular ear points contrast with Totoro's otherwise round shape, adding personality and a touch of the wild. Shape contrast, soft rounds and sharp points, creates visual interest within a single character.</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4" name="Picture 43">
            <a:extLst>
              <a:ext uri="{FF2B5EF4-FFF2-40B4-BE49-F238E27FC236}">
                <a16:creationId xmlns:a16="http://schemas.microsoft.com/office/drawing/2014/main" id="{98D805C2-98F0-E9DB-4673-0E93AE85BA2A}"/>
              </a:ext>
            </a:extLst>
          </p:cNvPr>
          <p:cNvPicPr>
            <a:picLocks noChangeAspect="1"/>
          </p:cNvPicPr>
          <p:nvPr/>
        </p:nvPicPr>
        <p:blipFill>
          <a:blip r:embed="rId5"/>
          <a:stretch>
            <a:fillRect/>
          </a:stretch>
        </p:blipFill>
        <p:spPr>
          <a:xfrm>
            <a:off x="1293269" y="479064"/>
            <a:ext cx="3119318" cy="31831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08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0" name="CharacterGlow9010"/>
          <p:cNvSpPr/>
          <p:nvPr/>
        </p:nvSpPr>
        <p:spPr>
          <a:xfrm>
            <a:off x="2444366" y="731520"/>
            <a:ext cx="2438530" cy="3848633"/>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08</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Adventure Time  /  2010</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Finn the Human</a:t>
            </a:r>
            <a:endParaRPr lang="en-US" sz="3400" dirty="0"/>
          </a:p>
        </p:txBody>
      </p:sp>
      <p:sp>
        <p:nvSpPr>
          <p:cNvPr id="13" name="Shape 9"/>
          <p:cNvSpPr/>
          <p:nvPr/>
        </p:nvSpPr>
        <p:spPr>
          <a:xfrm>
            <a:off x="292608" y="3392424"/>
            <a:ext cx="365760" cy="22860"/>
          </a:xfrm>
          <a:prstGeom prst="rect">
            <a:avLst/>
          </a:prstGeom>
          <a:solidFill>
            <a:srgbClr val="00B8B8"/>
          </a:solidFill>
          <a:ln/>
        </p:spPr>
        <p:txBody>
          <a:bodyPr/>
          <a:lstStyle/>
          <a:p>
            <a:endParaRPr lang="en-US"/>
          </a:p>
        </p:txBody>
      </p:sp>
      <p:sp>
        <p:nvSpPr>
          <p:cNvPr id="14" name="Shape 10"/>
          <p:cNvSpPr/>
          <p:nvPr/>
        </p:nvSpPr>
        <p:spPr>
          <a:xfrm>
            <a:off x="292608" y="346557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5576"/>
            <a:ext cx="45720" cy="640080"/>
          </a:xfrm>
          <a:prstGeom prst="rect">
            <a:avLst/>
          </a:prstGeom>
          <a:solidFill>
            <a:srgbClr val="00B8B8"/>
          </a:solidFill>
          <a:ln/>
        </p:spPr>
        <p:txBody>
          <a:bodyPr/>
          <a:lstStyle/>
          <a:p>
            <a:endParaRPr lang="en-US"/>
          </a:p>
        </p:txBody>
      </p:sp>
      <p:sp>
        <p:nvSpPr>
          <p:cNvPr id="16" name="Text 12"/>
          <p:cNvSpPr txBox="1"/>
          <p:nvPr/>
        </p:nvSpPr>
        <p:spPr>
          <a:xfrm>
            <a:off x="521208" y="356158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"Simple shapes for complex emotions"</a:t>
            </a:r>
            <a:endParaRPr lang="en-US" sz="1050" dirty="0"/>
          </a:p>
        </p:txBody>
      </p:sp>
      <p:sp>
        <p:nvSpPr>
          <p:cNvPr id="17" name="Text 13"/>
          <p:cNvSpPr txBox="1"/>
          <p:nvPr/>
        </p:nvSpPr>
        <p:spPr>
          <a:xfrm>
            <a:off x="292608" y="421538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53128"/>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3128"/>
            <a:ext cx="54864" cy="310896"/>
          </a:xfrm>
          <a:prstGeom prst="rect">
            <a:avLst/>
          </a:prstGeom>
          <a:solidFill>
            <a:srgbClr val="BF360C"/>
          </a:solidFill>
          <a:ln/>
        </p:spPr>
        <p:txBody>
          <a:bodyPr/>
          <a:lstStyle/>
          <a:p>
            <a:endParaRPr lang="en-US"/>
          </a:p>
        </p:txBody>
      </p:sp>
      <p:sp>
        <p:nvSpPr>
          <p:cNvPr id="20" name="Text 16"/>
          <p:cNvSpPr txBox="1"/>
          <p:nvPr/>
        </p:nvSpPr>
        <p:spPr>
          <a:xfrm>
            <a:off x="384048"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1" name="Shape 17"/>
          <p:cNvSpPr/>
          <p:nvPr/>
        </p:nvSpPr>
        <p:spPr>
          <a:xfrm>
            <a:off x="1600200" y="445312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3128"/>
            <a:ext cx="54864" cy="310896"/>
          </a:xfrm>
          <a:prstGeom prst="rect">
            <a:avLst/>
          </a:prstGeom>
          <a:solidFill>
            <a:srgbClr val="E65100"/>
          </a:solidFill>
          <a:ln/>
        </p:spPr>
        <p:txBody>
          <a:bodyPr/>
          <a:lstStyle/>
          <a:p>
            <a:endParaRPr lang="en-US"/>
          </a:p>
        </p:txBody>
      </p:sp>
      <p:sp>
        <p:nvSpPr>
          <p:cNvPr id="23" name="Text 19"/>
          <p:cNvSpPr txBox="1"/>
          <p:nvPr/>
        </p:nvSpPr>
        <p:spPr>
          <a:xfrm>
            <a:off x="1691640"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3128"/>
            <a:ext cx="1225296" cy="310896"/>
          </a:xfrm>
          <a:prstGeom prst="rect">
            <a:avLst/>
          </a:prstGeom>
          <a:solidFill>
            <a:srgbClr val="006064">
              <a:alpha val="80000"/>
            </a:srgbClr>
          </a:solidFill>
          <a:ln w="12700">
            <a:solidFill>
              <a:srgbClr val="006064"/>
            </a:solidFill>
            <a:prstDash val="solid"/>
          </a:ln>
        </p:spPr>
        <p:txBody>
          <a:bodyPr/>
          <a:lstStyle/>
          <a:p>
            <a:endParaRPr lang="en-US"/>
          </a:p>
        </p:txBody>
      </p:sp>
      <p:sp>
        <p:nvSpPr>
          <p:cNvPr id="25" name="Shape 21"/>
          <p:cNvSpPr/>
          <p:nvPr/>
        </p:nvSpPr>
        <p:spPr>
          <a:xfrm>
            <a:off x="2907792" y="4453128"/>
            <a:ext cx="54864" cy="310896"/>
          </a:xfrm>
          <a:prstGeom prst="rect">
            <a:avLst/>
          </a:prstGeom>
          <a:solidFill>
            <a:srgbClr val="006064"/>
          </a:solidFill>
          <a:ln/>
        </p:spPr>
        <p:txBody>
          <a:bodyPr/>
          <a:lstStyle/>
          <a:p>
            <a:endParaRPr lang="en-US"/>
          </a:p>
        </p:txBody>
      </p:sp>
      <p:sp>
        <p:nvSpPr>
          <p:cNvPr id="26" name="Text 22"/>
          <p:cNvSpPr txBox="1"/>
          <p:nvPr/>
        </p:nvSpPr>
        <p:spPr>
          <a:xfrm>
            <a:off x="2999232"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SPACE</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Finn is drawn almost entirely from simple bean and oval shapes, small, readable, and easy to animate thousands of times. Pendleton Ward designed him to be expressive with minimal lines. Simplicity enables emotional range.</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Finn's white hat against the saturated fantasy landscape always makes him the focal point no matter what is happening around him. White creates a focal anchor, the eye goes there first. That is intentional hierarchy through color.</a:t>
            </a:r>
            <a:endParaRPr lang="en-US" sz="1000" dirty="0"/>
          </a:p>
        </p:txBody>
      </p:sp>
      <p:sp>
        <p:nvSpPr>
          <p:cNvPr id="37" name="Shape 33"/>
          <p:cNvSpPr/>
          <p:nvPr/>
        </p:nvSpPr>
        <p:spPr>
          <a:xfrm>
            <a:off x="4617720" y="3328416"/>
            <a:ext cx="310896" cy="310896"/>
          </a:xfrm>
          <a:prstGeom prst="rect">
            <a:avLst/>
          </a:prstGeom>
          <a:solidFill>
            <a:srgbClr val="006064"/>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SP</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SPACE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Adventure Time constantly uses scale and space to show Finn as small in a huge, dangerous world. Enormous backgrounds with a tiny Finn communicates vulnerability and awe simultaneously.</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6A5C3E7A-92F3-295C-78F9-B9A2408754D2}"/>
              </a:ext>
            </a:extLst>
          </p:cNvPr>
          <p:cNvPicPr>
            <a:picLocks noChangeAspect="1"/>
          </p:cNvPicPr>
          <p:nvPr/>
        </p:nvPicPr>
        <p:blipFill>
          <a:blip r:embed="rId5"/>
          <a:stretch>
            <a:fillRect/>
          </a:stretch>
        </p:blipFill>
        <p:spPr>
          <a:xfrm>
            <a:off x="2770632" y="410955"/>
            <a:ext cx="1919213" cy="35634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09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1" name="CharacterGlow9011"/>
          <p:cNvSpPr/>
          <p:nvPr/>
        </p:nvSpPr>
        <p:spPr>
          <a:xfrm>
            <a:off x="1348438" y="731520"/>
            <a:ext cx="3534458" cy="3379033"/>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09</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Marvel / Sony Animation  /  1994</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Spider-Man</a:t>
            </a:r>
            <a:endParaRPr lang="en-US" sz="3400" dirty="0"/>
          </a:p>
        </p:txBody>
      </p:sp>
      <p:sp>
        <p:nvSpPr>
          <p:cNvPr id="13" name="Shape 9"/>
          <p:cNvSpPr/>
          <p:nvPr/>
        </p:nvSpPr>
        <p:spPr>
          <a:xfrm>
            <a:off x="292608" y="3392424"/>
            <a:ext cx="365760" cy="22860"/>
          </a:xfrm>
          <a:prstGeom prst="rect">
            <a:avLst/>
          </a:prstGeom>
          <a:solidFill>
            <a:srgbClr val="00B8B8"/>
          </a:solidFill>
          <a:ln/>
        </p:spPr>
        <p:txBody>
          <a:bodyPr/>
          <a:lstStyle/>
          <a:p>
            <a:endParaRPr lang="en-US"/>
          </a:p>
        </p:txBody>
      </p:sp>
      <p:sp>
        <p:nvSpPr>
          <p:cNvPr id="14" name="Shape 10"/>
          <p:cNvSpPr/>
          <p:nvPr/>
        </p:nvSpPr>
        <p:spPr>
          <a:xfrm>
            <a:off x="292608" y="346557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5576"/>
            <a:ext cx="45720" cy="640080"/>
          </a:xfrm>
          <a:prstGeom prst="rect">
            <a:avLst/>
          </a:prstGeom>
          <a:solidFill>
            <a:srgbClr val="00B8B8"/>
          </a:solidFill>
          <a:ln/>
        </p:spPr>
        <p:txBody>
          <a:bodyPr/>
          <a:lstStyle/>
          <a:p>
            <a:endParaRPr lang="en-US"/>
          </a:p>
        </p:txBody>
      </p:sp>
      <p:sp>
        <p:nvSpPr>
          <p:cNvPr id="16" name="Text 12"/>
          <p:cNvSpPr txBox="1"/>
          <p:nvPr/>
        </p:nvSpPr>
        <p:spPr>
          <a:xfrm>
            <a:off x="521208" y="356158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"Line and form built for motion"</a:t>
            </a:r>
            <a:endParaRPr lang="en-US" sz="1050" dirty="0"/>
          </a:p>
        </p:txBody>
      </p:sp>
      <p:sp>
        <p:nvSpPr>
          <p:cNvPr id="17" name="Text 13"/>
          <p:cNvSpPr txBox="1"/>
          <p:nvPr/>
        </p:nvSpPr>
        <p:spPr>
          <a:xfrm>
            <a:off x="292608" y="421538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53128"/>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19" name="Shape 15"/>
          <p:cNvSpPr/>
          <p:nvPr/>
        </p:nvSpPr>
        <p:spPr>
          <a:xfrm>
            <a:off x="292608" y="4453128"/>
            <a:ext cx="54864" cy="310896"/>
          </a:xfrm>
          <a:prstGeom prst="rect">
            <a:avLst/>
          </a:prstGeom>
          <a:solidFill>
            <a:srgbClr val="B71C1C"/>
          </a:solidFill>
          <a:ln/>
        </p:spPr>
        <p:txBody>
          <a:bodyPr/>
          <a:lstStyle/>
          <a:p>
            <a:endParaRPr lang="en-US"/>
          </a:p>
        </p:txBody>
      </p:sp>
      <p:sp>
        <p:nvSpPr>
          <p:cNvPr id="20" name="Text 16"/>
          <p:cNvSpPr txBox="1"/>
          <p:nvPr/>
        </p:nvSpPr>
        <p:spPr>
          <a:xfrm>
            <a:off x="384048"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1" name="Shape 17"/>
          <p:cNvSpPr/>
          <p:nvPr/>
        </p:nvSpPr>
        <p:spPr>
          <a:xfrm>
            <a:off x="1600200" y="445312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3128"/>
            <a:ext cx="54864" cy="310896"/>
          </a:xfrm>
          <a:prstGeom prst="rect">
            <a:avLst/>
          </a:prstGeom>
          <a:solidFill>
            <a:srgbClr val="E65100"/>
          </a:solidFill>
          <a:ln/>
        </p:spPr>
        <p:txBody>
          <a:bodyPr/>
          <a:lstStyle/>
          <a:p>
            <a:endParaRPr lang="en-US"/>
          </a:p>
        </p:txBody>
      </p:sp>
      <p:sp>
        <p:nvSpPr>
          <p:cNvPr id="23" name="Text 19"/>
          <p:cNvSpPr txBox="1"/>
          <p:nvPr/>
        </p:nvSpPr>
        <p:spPr>
          <a:xfrm>
            <a:off x="1691640"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3128"/>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5" name="Shape 21"/>
          <p:cNvSpPr/>
          <p:nvPr/>
        </p:nvSpPr>
        <p:spPr>
          <a:xfrm>
            <a:off x="2907792" y="4453128"/>
            <a:ext cx="54864" cy="310896"/>
          </a:xfrm>
          <a:prstGeom prst="rect">
            <a:avLst/>
          </a:prstGeom>
          <a:solidFill>
            <a:srgbClr val="6A1B9A"/>
          </a:solidFill>
          <a:ln/>
        </p:spPr>
        <p:txBody>
          <a:bodyPr/>
          <a:lstStyle/>
          <a:p>
            <a:endParaRPr lang="en-US"/>
          </a:p>
        </p:txBody>
      </p:sp>
      <p:sp>
        <p:nvSpPr>
          <p:cNvPr id="26" name="Text 22"/>
          <p:cNvSpPr txBox="1"/>
          <p:nvPr/>
        </p:nvSpPr>
        <p:spPr>
          <a:xfrm>
            <a:off x="2999232"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t>
            </a:r>
            <a:endParaRPr lang="en-US" sz="950" dirty="0"/>
          </a:p>
        </p:txBody>
      </p:sp>
      <p:sp>
        <p:nvSpPr>
          <p:cNvPr id="27" name="Shape 23"/>
          <p:cNvSpPr/>
          <p:nvPr/>
        </p:nvSpPr>
        <p:spPr>
          <a:xfrm>
            <a:off x="4617720" y="768096"/>
            <a:ext cx="310896" cy="310896"/>
          </a:xfrm>
          <a:prstGeom prst="rect">
            <a:avLst/>
          </a:prstGeom>
          <a:solidFill>
            <a:srgbClr val="B71C1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Spider-Man's web pattern is an all-over line texture that creates rhythm and visual energy across every surface of the costume. Those diagonal and radial lines suggest speed even when the character is standing still.</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red and blue split is a classic complementary contrast, warm and cool divided right down the center of the figure. Complementary color pairs create maximum vibration and visual energy.</a:t>
            </a:r>
            <a:endParaRPr lang="en-US" sz="1000" dirty="0"/>
          </a:p>
        </p:txBody>
      </p:sp>
      <p:sp>
        <p:nvSpPr>
          <p:cNvPr id="37" name="Shape 33"/>
          <p:cNvSpPr/>
          <p:nvPr/>
        </p:nvSpPr>
        <p:spPr>
          <a:xfrm>
            <a:off x="4617720" y="3328416"/>
            <a:ext cx="310896" cy="310896"/>
          </a:xfrm>
          <a:prstGeom prst="rect">
            <a:avLst/>
          </a:prstGeom>
          <a:solidFill>
            <a:srgbClr val="6A1B9A"/>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FM</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muscular form under the suit is exaggerated to suggest superhuman capability, wider shoulders, narrower waist, longer limbs than realistic anatomy. Form exaggeration is a character design tool, not a mistake.</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4" name="Picture 43">
            <a:extLst>
              <a:ext uri="{FF2B5EF4-FFF2-40B4-BE49-F238E27FC236}">
                <a16:creationId xmlns:a16="http://schemas.microsoft.com/office/drawing/2014/main" id="{B8E39F60-4881-B082-314F-5F8021BBC4CF}"/>
              </a:ext>
            </a:extLst>
          </p:cNvPr>
          <p:cNvPicPr>
            <a:picLocks noChangeAspect="1"/>
          </p:cNvPicPr>
          <p:nvPr/>
        </p:nvPicPr>
        <p:blipFill>
          <a:blip r:embed="rId5"/>
          <a:stretch>
            <a:fillRect/>
          </a:stretch>
        </p:blipFill>
        <p:spPr>
          <a:xfrm>
            <a:off x="1818041" y="867308"/>
            <a:ext cx="2762372" cy="27720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10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2" name="CharacterGlow9012"/>
          <p:cNvSpPr/>
          <p:nvPr/>
        </p:nvSpPr>
        <p:spPr>
          <a:xfrm>
            <a:off x="2307031" y="731520"/>
            <a:ext cx="2573122" cy="4156029"/>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10</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Dragon Ball Z  /  1989</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Goku</a:t>
            </a:r>
            <a:endParaRPr lang="en-US" sz="3400" dirty="0"/>
          </a:p>
        </p:txBody>
      </p:sp>
      <p:sp>
        <p:nvSpPr>
          <p:cNvPr id="13" name="Shape 9"/>
          <p:cNvSpPr/>
          <p:nvPr/>
        </p:nvSpPr>
        <p:spPr>
          <a:xfrm>
            <a:off x="292608" y="3382081"/>
            <a:ext cx="365760" cy="22860"/>
          </a:xfrm>
          <a:prstGeom prst="rect">
            <a:avLst/>
          </a:prstGeom>
          <a:solidFill>
            <a:srgbClr val="00B8B8"/>
          </a:solidFill>
          <a:ln/>
        </p:spPr>
        <p:txBody>
          <a:bodyPr/>
          <a:lstStyle/>
          <a:p>
            <a:endParaRPr lang="en-US"/>
          </a:p>
        </p:txBody>
      </p:sp>
      <p:sp>
        <p:nvSpPr>
          <p:cNvPr id="14" name="Shape 10"/>
          <p:cNvSpPr/>
          <p:nvPr/>
        </p:nvSpPr>
        <p:spPr>
          <a:xfrm>
            <a:off x="292608" y="3455233"/>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5233"/>
            <a:ext cx="45720" cy="640080"/>
          </a:xfrm>
          <a:prstGeom prst="rect">
            <a:avLst/>
          </a:prstGeom>
          <a:solidFill>
            <a:srgbClr val="00B8B8"/>
          </a:solidFill>
          <a:ln/>
        </p:spPr>
        <p:txBody>
          <a:bodyPr/>
          <a:lstStyle/>
          <a:p>
            <a:endParaRPr lang="en-US"/>
          </a:p>
        </p:txBody>
      </p:sp>
      <p:sp>
        <p:nvSpPr>
          <p:cNvPr id="16" name="Text 12"/>
          <p:cNvSpPr txBox="1"/>
          <p:nvPr/>
        </p:nvSpPr>
        <p:spPr>
          <a:xfrm>
            <a:off x="521208" y="3551245"/>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"Form and line communicating power"</a:t>
            </a:r>
            <a:endParaRPr lang="en-US" sz="1050" dirty="0"/>
          </a:p>
        </p:txBody>
      </p:sp>
      <p:sp>
        <p:nvSpPr>
          <p:cNvPr id="17" name="Text 13"/>
          <p:cNvSpPr txBox="1"/>
          <p:nvPr/>
        </p:nvSpPr>
        <p:spPr>
          <a:xfrm>
            <a:off x="292608" y="4205041"/>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42785"/>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19" name="Shape 15"/>
          <p:cNvSpPr/>
          <p:nvPr/>
        </p:nvSpPr>
        <p:spPr>
          <a:xfrm>
            <a:off x="292608" y="4442785"/>
            <a:ext cx="54864" cy="310896"/>
          </a:xfrm>
          <a:prstGeom prst="rect">
            <a:avLst/>
          </a:prstGeom>
          <a:solidFill>
            <a:srgbClr val="B71C1C"/>
          </a:solidFill>
          <a:ln/>
        </p:spPr>
        <p:txBody>
          <a:bodyPr/>
          <a:lstStyle/>
          <a:p>
            <a:endParaRPr lang="en-US"/>
          </a:p>
        </p:txBody>
      </p:sp>
      <p:sp>
        <p:nvSpPr>
          <p:cNvPr id="20" name="Text 16"/>
          <p:cNvSpPr txBox="1"/>
          <p:nvPr/>
        </p:nvSpPr>
        <p:spPr>
          <a:xfrm>
            <a:off x="384048" y="44427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1" name="Shape 17"/>
          <p:cNvSpPr/>
          <p:nvPr/>
        </p:nvSpPr>
        <p:spPr>
          <a:xfrm>
            <a:off x="1600200" y="4442785"/>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2" name="Shape 18"/>
          <p:cNvSpPr/>
          <p:nvPr/>
        </p:nvSpPr>
        <p:spPr>
          <a:xfrm>
            <a:off x="1600200" y="4442785"/>
            <a:ext cx="54864" cy="310896"/>
          </a:xfrm>
          <a:prstGeom prst="rect">
            <a:avLst/>
          </a:prstGeom>
          <a:solidFill>
            <a:srgbClr val="6A1B9A"/>
          </a:solidFill>
          <a:ln/>
        </p:spPr>
        <p:txBody>
          <a:bodyPr/>
          <a:lstStyle/>
          <a:p>
            <a:endParaRPr lang="en-US"/>
          </a:p>
        </p:txBody>
      </p:sp>
      <p:sp>
        <p:nvSpPr>
          <p:cNvPr id="23" name="Text 19"/>
          <p:cNvSpPr txBox="1"/>
          <p:nvPr/>
        </p:nvSpPr>
        <p:spPr>
          <a:xfrm>
            <a:off x="1691640" y="44427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t>
            </a:r>
            <a:endParaRPr lang="en-US" sz="950" dirty="0"/>
          </a:p>
        </p:txBody>
      </p:sp>
      <p:sp>
        <p:nvSpPr>
          <p:cNvPr id="24" name="Shape 20"/>
          <p:cNvSpPr/>
          <p:nvPr/>
        </p:nvSpPr>
        <p:spPr>
          <a:xfrm>
            <a:off x="2907792" y="4442785"/>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25" name="Shape 21"/>
          <p:cNvSpPr/>
          <p:nvPr/>
        </p:nvSpPr>
        <p:spPr>
          <a:xfrm>
            <a:off x="2907792" y="4442785"/>
            <a:ext cx="54864" cy="310896"/>
          </a:xfrm>
          <a:prstGeom prst="rect">
            <a:avLst/>
          </a:prstGeom>
          <a:solidFill>
            <a:srgbClr val="1B5E20"/>
          </a:solidFill>
          <a:ln/>
        </p:spPr>
        <p:txBody>
          <a:bodyPr/>
          <a:lstStyle/>
          <a:p>
            <a:endParaRPr lang="en-US"/>
          </a:p>
        </p:txBody>
      </p:sp>
      <p:sp>
        <p:nvSpPr>
          <p:cNvPr id="26" name="Text 22"/>
          <p:cNvSpPr txBox="1"/>
          <p:nvPr/>
        </p:nvSpPr>
        <p:spPr>
          <a:xfrm>
            <a:off x="2999232" y="44427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VALUE</a:t>
            </a:r>
            <a:endParaRPr lang="en-US" sz="950" dirty="0"/>
          </a:p>
        </p:txBody>
      </p:sp>
      <p:sp>
        <p:nvSpPr>
          <p:cNvPr id="27" name="Shape 23"/>
          <p:cNvSpPr/>
          <p:nvPr/>
        </p:nvSpPr>
        <p:spPr>
          <a:xfrm>
            <a:off x="4617720" y="768096"/>
            <a:ext cx="310896" cy="310896"/>
          </a:xfrm>
          <a:prstGeom prst="rect">
            <a:avLst/>
          </a:prstGeom>
          <a:solidFill>
            <a:srgbClr val="B71C1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Goku's spiky hair is a series of sharp, aggressive diagonal lines that radiate outward like an explosion. Every spike is a line directing energy away from the body, even the silhouette communicates power.</a:t>
            </a:r>
            <a:endParaRPr lang="en-US" sz="1000" dirty="0"/>
          </a:p>
        </p:txBody>
      </p:sp>
      <p:sp>
        <p:nvSpPr>
          <p:cNvPr id="32" name="Shape 28"/>
          <p:cNvSpPr/>
          <p:nvPr/>
        </p:nvSpPr>
        <p:spPr>
          <a:xfrm>
            <a:off x="4617720" y="2048256"/>
            <a:ext cx="310896" cy="310896"/>
          </a:xfrm>
          <a:prstGeom prst="rect">
            <a:avLst/>
          </a:prstGeom>
          <a:solidFill>
            <a:srgbClr val="6A1B9A"/>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FM</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power-up sequences give Goku an increasingly exaggerated muscular form, broader, harder, more geometric as strength increases. Form exaggeration is used as a visual meter for how powerful the character currently is.</a:t>
            </a:r>
            <a:endParaRPr lang="en-US" sz="1000" dirty="0"/>
          </a:p>
        </p:txBody>
      </p:sp>
      <p:sp>
        <p:nvSpPr>
          <p:cNvPr id="37" name="Shape 33"/>
          <p:cNvSpPr/>
          <p:nvPr/>
        </p:nvSpPr>
        <p:spPr>
          <a:xfrm>
            <a:off x="4617720" y="3328416"/>
            <a:ext cx="310896" cy="310896"/>
          </a:xfrm>
          <a:prstGeom prst="rect">
            <a:avLst/>
          </a:prstGeom>
          <a:solidFill>
            <a:srgbClr val="1B5E2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VA</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VALUE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Super Saiyan Goku uses extreme value contrast, glowing gold hair with deep black outlines, to signal transformation from normal to extraordinary. Value shift communicates power level faster than dialogue can.</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26A6EA57-9966-3AB0-C8F6-7EA50CCB738A}"/>
              </a:ext>
            </a:extLst>
          </p:cNvPr>
          <p:cNvPicPr>
            <a:picLocks noChangeAspect="1"/>
          </p:cNvPicPr>
          <p:nvPr/>
        </p:nvPicPr>
        <p:blipFill>
          <a:blip r:embed="rId5"/>
          <a:stretch>
            <a:fillRect/>
          </a:stretch>
        </p:blipFill>
        <p:spPr>
          <a:xfrm>
            <a:off x="2633472" y="437896"/>
            <a:ext cx="1920240" cy="38031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11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3" name="CharacterGlow9013"/>
          <p:cNvSpPr/>
          <p:nvPr/>
        </p:nvSpPr>
        <p:spPr>
          <a:xfrm>
            <a:off x="2784913" y="731520"/>
            <a:ext cx="2097983" cy="4115208"/>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11</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Frozen, Disney  /  2013</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Elsa</a:t>
            </a:r>
            <a:endParaRPr lang="en-US" sz="3400" dirty="0"/>
          </a:p>
        </p:txBody>
      </p:sp>
      <p:sp>
        <p:nvSpPr>
          <p:cNvPr id="13" name="Shape 9"/>
          <p:cNvSpPr/>
          <p:nvPr/>
        </p:nvSpPr>
        <p:spPr>
          <a:xfrm>
            <a:off x="292608" y="3376984"/>
            <a:ext cx="365760" cy="22860"/>
          </a:xfrm>
          <a:prstGeom prst="rect">
            <a:avLst/>
          </a:prstGeom>
          <a:solidFill>
            <a:srgbClr val="00B8B8"/>
          </a:solidFill>
          <a:ln/>
        </p:spPr>
        <p:txBody>
          <a:bodyPr/>
          <a:lstStyle/>
          <a:p>
            <a:endParaRPr lang="en-US"/>
          </a:p>
        </p:txBody>
      </p:sp>
      <p:sp>
        <p:nvSpPr>
          <p:cNvPr id="14" name="Shape 10"/>
          <p:cNvSpPr/>
          <p:nvPr/>
        </p:nvSpPr>
        <p:spPr>
          <a:xfrm>
            <a:off x="292608" y="345013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0136"/>
            <a:ext cx="45720" cy="640080"/>
          </a:xfrm>
          <a:prstGeom prst="rect">
            <a:avLst/>
          </a:prstGeom>
          <a:solidFill>
            <a:srgbClr val="00B8B8"/>
          </a:solidFill>
          <a:ln/>
        </p:spPr>
        <p:txBody>
          <a:bodyPr/>
          <a:lstStyle/>
          <a:p>
            <a:endParaRPr lang="en-US"/>
          </a:p>
        </p:txBody>
      </p:sp>
      <p:sp>
        <p:nvSpPr>
          <p:cNvPr id="16" name="Text 12"/>
          <p:cNvSpPr txBox="1"/>
          <p:nvPr/>
        </p:nvSpPr>
        <p:spPr>
          <a:xfrm>
            <a:off x="521208" y="354614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"Color and form communicating character arc"</a:t>
            </a:r>
            <a:endParaRPr lang="en-US" sz="1050" dirty="0"/>
          </a:p>
        </p:txBody>
      </p:sp>
      <p:sp>
        <p:nvSpPr>
          <p:cNvPr id="17" name="Text 13"/>
          <p:cNvSpPr txBox="1"/>
          <p:nvPr/>
        </p:nvSpPr>
        <p:spPr>
          <a:xfrm>
            <a:off x="292608" y="419994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3768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19" name="Shape 15"/>
          <p:cNvSpPr/>
          <p:nvPr/>
        </p:nvSpPr>
        <p:spPr>
          <a:xfrm>
            <a:off x="292608" y="4437688"/>
            <a:ext cx="54864" cy="310896"/>
          </a:xfrm>
          <a:prstGeom prst="rect">
            <a:avLst/>
          </a:prstGeom>
          <a:solidFill>
            <a:srgbClr val="E65100"/>
          </a:solidFill>
          <a:ln/>
        </p:spPr>
        <p:txBody>
          <a:bodyPr/>
          <a:lstStyle/>
          <a:p>
            <a:endParaRPr lang="en-US"/>
          </a:p>
        </p:txBody>
      </p:sp>
      <p:sp>
        <p:nvSpPr>
          <p:cNvPr id="20" name="Text 16"/>
          <p:cNvSpPr txBox="1"/>
          <p:nvPr/>
        </p:nvSpPr>
        <p:spPr>
          <a:xfrm>
            <a:off x="384048" y="443768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1" name="Shape 17"/>
          <p:cNvSpPr/>
          <p:nvPr/>
        </p:nvSpPr>
        <p:spPr>
          <a:xfrm>
            <a:off x="1600200" y="4437688"/>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2" name="Shape 18"/>
          <p:cNvSpPr/>
          <p:nvPr/>
        </p:nvSpPr>
        <p:spPr>
          <a:xfrm>
            <a:off x="1600200" y="4437688"/>
            <a:ext cx="54864" cy="310896"/>
          </a:xfrm>
          <a:prstGeom prst="rect">
            <a:avLst/>
          </a:prstGeom>
          <a:solidFill>
            <a:srgbClr val="6A1B9A"/>
          </a:solidFill>
          <a:ln/>
        </p:spPr>
        <p:txBody>
          <a:bodyPr/>
          <a:lstStyle/>
          <a:p>
            <a:endParaRPr lang="en-US"/>
          </a:p>
        </p:txBody>
      </p:sp>
      <p:sp>
        <p:nvSpPr>
          <p:cNvPr id="23" name="Text 19"/>
          <p:cNvSpPr txBox="1"/>
          <p:nvPr/>
        </p:nvSpPr>
        <p:spPr>
          <a:xfrm>
            <a:off x="1691640" y="443768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t>
            </a:r>
            <a:endParaRPr lang="en-US" sz="950" dirty="0"/>
          </a:p>
        </p:txBody>
      </p:sp>
      <p:sp>
        <p:nvSpPr>
          <p:cNvPr id="24" name="Shape 20"/>
          <p:cNvSpPr/>
          <p:nvPr/>
        </p:nvSpPr>
        <p:spPr>
          <a:xfrm>
            <a:off x="2907792" y="4437688"/>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25" name="Shape 21"/>
          <p:cNvSpPr/>
          <p:nvPr/>
        </p:nvSpPr>
        <p:spPr>
          <a:xfrm>
            <a:off x="2907792" y="4437688"/>
            <a:ext cx="54864" cy="310896"/>
          </a:xfrm>
          <a:prstGeom prst="rect">
            <a:avLst/>
          </a:prstGeom>
          <a:solidFill>
            <a:srgbClr val="1B5E20"/>
          </a:solidFill>
          <a:ln/>
        </p:spPr>
        <p:txBody>
          <a:bodyPr/>
          <a:lstStyle/>
          <a:p>
            <a:endParaRPr lang="en-US"/>
          </a:p>
        </p:txBody>
      </p:sp>
      <p:sp>
        <p:nvSpPr>
          <p:cNvPr id="26" name="Text 22"/>
          <p:cNvSpPr txBox="1"/>
          <p:nvPr/>
        </p:nvSpPr>
        <p:spPr>
          <a:xfrm>
            <a:off x="2999232" y="443768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VALUE</a:t>
            </a:r>
            <a:endParaRPr lang="en-US" sz="950" dirty="0"/>
          </a:p>
        </p:txBody>
      </p:sp>
      <p:sp>
        <p:nvSpPr>
          <p:cNvPr id="27" name="Shape 23"/>
          <p:cNvSpPr/>
          <p:nvPr/>
        </p:nvSpPr>
        <p:spPr>
          <a:xfrm>
            <a:off x="4617720" y="768096"/>
            <a:ext cx="310896" cy="310896"/>
          </a:xfrm>
          <a:prstGeom prst="rect">
            <a:avLst/>
          </a:prstGeom>
          <a:solidFill>
            <a:srgbClr val="E65100"/>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CL</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Elsa's design shifts from muted dark blues in her restricted state to luminous ice blues in her freed state. The color palette IS her character arc, told visually without exposition. The design team built the emotional story directly into the color choices.</a:t>
            </a:r>
            <a:endParaRPr lang="en-US" sz="1000" dirty="0"/>
          </a:p>
        </p:txBody>
      </p:sp>
      <p:sp>
        <p:nvSpPr>
          <p:cNvPr id="32" name="Shape 28"/>
          <p:cNvSpPr/>
          <p:nvPr/>
        </p:nvSpPr>
        <p:spPr>
          <a:xfrm>
            <a:off x="4617720" y="2048256"/>
            <a:ext cx="310896" cy="310896"/>
          </a:xfrm>
          <a:prstGeom prst="rect">
            <a:avLst/>
          </a:prstGeom>
          <a:solidFill>
            <a:srgbClr val="6A1B9A"/>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FM</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Her ice palace and costumes use angular crystalline forms that express her precision and isolation, beautiful, sharp, and cold to the touch by design. Rounded forms feel warm; angular forms feel cool and distant.</a:t>
            </a:r>
            <a:endParaRPr lang="en-US" sz="1000" dirty="0"/>
          </a:p>
        </p:txBody>
      </p:sp>
      <p:sp>
        <p:nvSpPr>
          <p:cNvPr id="37" name="Shape 33"/>
          <p:cNvSpPr/>
          <p:nvPr/>
        </p:nvSpPr>
        <p:spPr>
          <a:xfrm>
            <a:off x="4617720" y="3328416"/>
            <a:ext cx="310896" cy="310896"/>
          </a:xfrm>
          <a:prstGeom prst="rect">
            <a:avLst/>
          </a:prstGeom>
          <a:solidFill>
            <a:srgbClr val="1B5E2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VA</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VALUE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ice environments use a full value range, near-white light sources and deep navy shadows, to create luminosity and depth. This value range makes the snow and ice feel like they are actually glowing.</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90863F84-F5A1-938A-9735-F450ED4DB5DF}"/>
              </a:ext>
            </a:extLst>
          </p:cNvPr>
          <p:cNvPicPr>
            <a:picLocks noChangeAspect="1"/>
          </p:cNvPicPr>
          <p:nvPr/>
        </p:nvPicPr>
        <p:blipFill>
          <a:blip r:embed="rId5"/>
          <a:stretch>
            <a:fillRect/>
          </a:stretch>
        </p:blipFill>
        <p:spPr>
          <a:xfrm>
            <a:off x="3095809" y="595993"/>
            <a:ext cx="1828800" cy="36331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ELEMENTS OF ART  IN THIS CHARACTER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12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4" name="CharacterGlow9014"/>
          <p:cNvSpPr/>
          <p:nvPr/>
        </p:nvSpPr>
        <p:spPr>
          <a:xfrm>
            <a:off x="2111640" y="731520"/>
            <a:ext cx="2771256" cy="4077455"/>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12</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Nickelodeon  /  2001</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Invader Zim</a:t>
            </a:r>
            <a:endParaRPr lang="en-US" sz="3400" dirty="0"/>
          </a:p>
        </p:txBody>
      </p:sp>
      <p:sp>
        <p:nvSpPr>
          <p:cNvPr id="13" name="Shape 9"/>
          <p:cNvSpPr/>
          <p:nvPr/>
        </p:nvSpPr>
        <p:spPr>
          <a:xfrm>
            <a:off x="292608" y="3384194"/>
            <a:ext cx="365760" cy="22860"/>
          </a:xfrm>
          <a:prstGeom prst="rect">
            <a:avLst/>
          </a:prstGeom>
          <a:solidFill>
            <a:srgbClr val="00B8B8"/>
          </a:solidFill>
          <a:ln/>
        </p:spPr>
        <p:txBody>
          <a:bodyPr/>
          <a:lstStyle/>
          <a:p>
            <a:endParaRPr lang="en-US"/>
          </a:p>
        </p:txBody>
      </p:sp>
      <p:sp>
        <p:nvSpPr>
          <p:cNvPr id="14" name="Shape 10"/>
          <p:cNvSpPr/>
          <p:nvPr/>
        </p:nvSpPr>
        <p:spPr>
          <a:xfrm>
            <a:off x="292608" y="345734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7346"/>
            <a:ext cx="45720" cy="640080"/>
          </a:xfrm>
          <a:prstGeom prst="rect">
            <a:avLst/>
          </a:prstGeom>
          <a:solidFill>
            <a:srgbClr val="00B8B8"/>
          </a:solidFill>
          <a:ln/>
        </p:spPr>
        <p:txBody>
          <a:bodyPr/>
          <a:lstStyle/>
          <a:p>
            <a:endParaRPr lang="en-US"/>
          </a:p>
        </p:txBody>
      </p:sp>
      <p:sp>
        <p:nvSpPr>
          <p:cNvPr id="16" name="Text 12"/>
          <p:cNvSpPr txBox="1"/>
          <p:nvPr/>
        </p:nvSpPr>
        <p:spPr>
          <a:xfrm>
            <a:off x="521208" y="355335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"Shape and space creating unease"</a:t>
            </a:r>
            <a:endParaRPr lang="en-US" sz="1050" dirty="0"/>
          </a:p>
        </p:txBody>
      </p:sp>
      <p:sp>
        <p:nvSpPr>
          <p:cNvPr id="17" name="Text 13"/>
          <p:cNvSpPr txBox="1"/>
          <p:nvPr/>
        </p:nvSpPr>
        <p:spPr>
          <a:xfrm>
            <a:off x="292608" y="420715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KEY ELEMENTS</a:t>
            </a:r>
            <a:endParaRPr lang="en-US" sz="800" dirty="0"/>
          </a:p>
        </p:txBody>
      </p:sp>
      <p:sp>
        <p:nvSpPr>
          <p:cNvPr id="18" name="Shape 14"/>
          <p:cNvSpPr/>
          <p:nvPr/>
        </p:nvSpPr>
        <p:spPr>
          <a:xfrm>
            <a:off x="292608" y="4444898"/>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44898"/>
            <a:ext cx="54864" cy="310896"/>
          </a:xfrm>
          <a:prstGeom prst="rect">
            <a:avLst/>
          </a:prstGeom>
          <a:solidFill>
            <a:srgbClr val="BF360C"/>
          </a:solidFill>
          <a:ln/>
        </p:spPr>
        <p:txBody>
          <a:bodyPr/>
          <a:lstStyle/>
          <a:p>
            <a:endParaRPr lang="en-US"/>
          </a:p>
        </p:txBody>
      </p:sp>
      <p:sp>
        <p:nvSpPr>
          <p:cNvPr id="20" name="Text 16"/>
          <p:cNvSpPr txBox="1"/>
          <p:nvPr/>
        </p:nvSpPr>
        <p:spPr>
          <a:xfrm>
            <a:off x="384048" y="444489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SHAPE</a:t>
            </a:r>
            <a:endParaRPr lang="en-US" sz="950" dirty="0"/>
          </a:p>
        </p:txBody>
      </p:sp>
      <p:sp>
        <p:nvSpPr>
          <p:cNvPr id="21" name="Shape 17"/>
          <p:cNvSpPr/>
          <p:nvPr/>
        </p:nvSpPr>
        <p:spPr>
          <a:xfrm>
            <a:off x="1600200" y="4444898"/>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2" name="Shape 18"/>
          <p:cNvSpPr/>
          <p:nvPr/>
        </p:nvSpPr>
        <p:spPr>
          <a:xfrm>
            <a:off x="1600200" y="4444898"/>
            <a:ext cx="54864" cy="310896"/>
          </a:xfrm>
          <a:prstGeom prst="rect">
            <a:avLst/>
          </a:prstGeom>
          <a:solidFill>
            <a:srgbClr val="B71C1C"/>
          </a:solidFill>
          <a:ln/>
        </p:spPr>
        <p:txBody>
          <a:bodyPr/>
          <a:lstStyle/>
          <a:p>
            <a:endParaRPr lang="en-US"/>
          </a:p>
        </p:txBody>
      </p:sp>
      <p:sp>
        <p:nvSpPr>
          <p:cNvPr id="23" name="Text 19"/>
          <p:cNvSpPr txBox="1"/>
          <p:nvPr/>
        </p:nvSpPr>
        <p:spPr>
          <a:xfrm>
            <a:off x="1691640" y="444489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LINE</a:t>
            </a:r>
            <a:endParaRPr lang="en-US" sz="950" dirty="0"/>
          </a:p>
        </p:txBody>
      </p:sp>
      <p:sp>
        <p:nvSpPr>
          <p:cNvPr id="24" name="Shape 20"/>
          <p:cNvSpPr/>
          <p:nvPr/>
        </p:nvSpPr>
        <p:spPr>
          <a:xfrm>
            <a:off x="2907792" y="4444898"/>
            <a:ext cx="1225296" cy="310896"/>
          </a:xfrm>
          <a:prstGeom prst="rect">
            <a:avLst/>
          </a:prstGeom>
          <a:solidFill>
            <a:srgbClr val="006064">
              <a:alpha val="80000"/>
            </a:srgbClr>
          </a:solidFill>
          <a:ln w="12700">
            <a:solidFill>
              <a:srgbClr val="006064"/>
            </a:solidFill>
            <a:prstDash val="solid"/>
          </a:ln>
        </p:spPr>
        <p:txBody>
          <a:bodyPr/>
          <a:lstStyle/>
          <a:p>
            <a:endParaRPr lang="en-US"/>
          </a:p>
        </p:txBody>
      </p:sp>
      <p:sp>
        <p:nvSpPr>
          <p:cNvPr id="25" name="Shape 21"/>
          <p:cNvSpPr/>
          <p:nvPr/>
        </p:nvSpPr>
        <p:spPr>
          <a:xfrm>
            <a:off x="2907792" y="4444898"/>
            <a:ext cx="54864" cy="310896"/>
          </a:xfrm>
          <a:prstGeom prst="rect">
            <a:avLst/>
          </a:prstGeom>
          <a:solidFill>
            <a:srgbClr val="006064"/>
          </a:solidFill>
          <a:ln/>
        </p:spPr>
        <p:txBody>
          <a:bodyPr/>
          <a:lstStyle/>
          <a:p>
            <a:endParaRPr lang="en-US"/>
          </a:p>
        </p:txBody>
      </p:sp>
      <p:sp>
        <p:nvSpPr>
          <p:cNvPr id="26" name="Text 22"/>
          <p:cNvSpPr txBox="1"/>
          <p:nvPr/>
        </p:nvSpPr>
        <p:spPr>
          <a:xfrm>
            <a:off x="2999232" y="444489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SPACE</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SH</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SHAPE</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Zim is built from aggressively angular shapes, pointed head, oversized triangular eyes, rigid angular body. Jhonen Vasquez used sharp geometry to signal that this character is alien, wrong, and dangerous. Shape language can create discomfort on purpose.</a:t>
            </a:r>
            <a:endParaRPr lang="en-US" sz="1000" dirty="0"/>
          </a:p>
        </p:txBody>
      </p:sp>
      <p:sp>
        <p:nvSpPr>
          <p:cNvPr id="32" name="Shape 28"/>
          <p:cNvSpPr/>
          <p:nvPr/>
        </p:nvSpPr>
        <p:spPr>
          <a:xfrm>
            <a:off x="4617720" y="2048256"/>
            <a:ext cx="310896" cy="310896"/>
          </a:xfrm>
          <a:prstGeom prst="rect">
            <a:avLst/>
          </a:prstGeom>
          <a:solidFill>
            <a:srgbClr val="B71C1C"/>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LINE</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The linework in Invader Zim is scratchy, jagged, and irregular, unlike the smooth clean lines of most Nickelodeon animation. Those aggressive lines extend the show's unsettling personality into the art itself.</a:t>
            </a:r>
            <a:endParaRPr lang="en-US" sz="1000" dirty="0"/>
          </a:p>
        </p:txBody>
      </p:sp>
      <p:sp>
        <p:nvSpPr>
          <p:cNvPr id="37" name="Shape 33"/>
          <p:cNvSpPr/>
          <p:nvPr/>
        </p:nvSpPr>
        <p:spPr>
          <a:xfrm>
            <a:off x="4617720" y="3328416"/>
            <a:ext cx="310896" cy="310896"/>
          </a:xfrm>
          <a:prstGeom prst="rect">
            <a:avLst/>
          </a:prstGeom>
          <a:solidFill>
            <a:srgbClr val="006064"/>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SP</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SPACE</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Zim is always drawn just slightly too large or too small relative to the environment around him, the spatial relationships are wrong in ways that are hard to name. That subtle spatial wrongness creates a sense of threat and unreality.</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9E929BA3-AE96-F6F1-AB3B-A98909E435DD}"/>
              </a:ext>
            </a:extLst>
          </p:cNvPr>
          <p:cNvPicPr>
            <a:picLocks noChangeAspect="1"/>
          </p:cNvPicPr>
          <p:nvPr/>
        </p:nvPicPr>
        <p:blipFill>
          <a:blip r:embed="rId5"/>
          <a:stretch>
            <a:fillRect/>
          </a:stretch>
        </p:blipFill>
        <p:spPr>
          <a:xfrm>
            <a:off x="2486400" y="667032"/>
            <a:ext cx="2204472" cy="35401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CLASS DISCUSSION</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15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5000"/>
          </a:blip>
          <a:stretch>
            <a:fillRect/>
          </a:stretch>
        </p:blipFill>
        <p:spPr>
          <a:xfrm>
            <a:off x="6067958" y="676656"/>
            <a:ext cx="3254350" cy="4211726"/>
          </a:xfrm>
          <a:prstGeom prst="rect">
            <a:avLst/>
          </a:prstGeom>
        </p:spPr>
      </p:pic>
      <p:sp>
        <p:nvSpPr>
          <p:cNvPr id="9" name="Text 5"/>
          <p:cNvSpPr txBox="1"/>
          <p:nvPr/>
        </p:nvSpPr>
        <p:spPr>
          <a:xfrm>
            <a:off x="292608" y="795528"/>
            <a:ext cx="7772400" cy="493776"/>
          </a:xfrm>
          <a:prstGeom prst="rect">
            <a:avLst/>
          </a:prstGeom>
          <a:noFill/>
          <a:ln/>
        </p:spPr>
        <p:txBody>
          <a:bodyPr wrap="square" lIns="0" tIns="0" rIns="0" bIns="0" rtlCol="0" anchor="ctr"/>
          <a:lstStyle/>
          <a:p>
            <a:pPr marL="0" indent="0" algn="l">
              <a:buNone/>
            </a:pPr>
            <a:r>
              <a:rPr lang="en-US" sz="2600" b="1" dirty="0">
                <a:solidFill>
                  <a:srgbClr val="FFFFFF"/>
                </a:solidFill>
                <a:latin typeface="Oswald" pitchFamily="34" charset="0"/>
                <a:ea typeface="Oswald" pitchFamily="34" charset="-122"/>
                <a:cs typeface="Oswald" pitchFamily="34" charset="-120"/>
              </a:rPr>
              <a:t>Which character used the elements best?</a:t>
            </a:r>
            <a:endParaRPr lang="en-US" sz="2600" dirty="0"/>
          </a:p>
        </p:txBody>
      </p:sp>
      <p:sp>
        <p:nvSpPr>
          <p:cNvPr id="10" name="Shape 6"/>
          <p:cNvSpPr/>
          <p:nvPr/>
        </p:nvSpPr>
        <p:spPr>
          <a:xfrm>
            <a:off x="292608" y="1316736"/>
            <a:ext cx="457200" cy="22860"/>
          </a:xfrm>
          <a:prstGeom prst="rect">
            <a:avLst/>
          </a:prstGeom>
          <a:solidFill>
            <a:srgbClr val="00B8B8"/>
          </a:solidFill>
          <a:ln/>
        </p:spPr>
        <p:txBody>
          <a:bodyPr/>
          <a:lstStyle/>
          <a:p>
            <a:endParaRPr lang="en-US"/>
          </a:p>
        </p:txBody>
      </p:sp>
      <p:sp>
        <p:nvSpPr>
          <p:cNvPr id="11" name="Shape 7"/>
          <p:cNvSpPr/>
          <p:nvPr/>
        </p:nvSpPr>
        <p:spPr>
          <a:xfrm>
            <a:off x="292608" y="1371600"/>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12" name="Shape 8"/>
          <p:cNvSpPr/>
          <p:nvPr/>
        </p:nvSpPr>
        <p:spPr>
          <a:xfrm>
            <a:off x="292608" y="1371600"/>
            <a:ext cx="45720" cy="1408176"/>
          </a:xfrm>
          <a:prstGeom prst="rect">
            <a:avLst/>
          </a:prstGeom>
          <a:solidFill>
            <a:srgbClr val="00B8B8"/>
          </a:solidFill>
          <a:ln/>
        </p:spPr>
        <p:txBody>
          <a:bodyPr/>
          <a:lstStyle/>
          <a:p>
            <a:endParaRPr lang="en-US"/>
          </a:p>
        </p:txBody>
      </p:sp>
      <p:sp>
        <p:nvSpPr>
          <p:cNvPr id="13" name="Shape 9"/>
          <p:cNvSpPr/>
          <p:nvPr/>
        </p:nvSpPr>
        <p:spPr>
          <a:xfrm>
            <a:off x="402336" y="1463040"/>
            <a:ext cx="274320" cy="274320"/>
          </a:xfrm>
          <a:prstGeom prst="rect">
            <a:avLst/>
          </a:prstGeom>
          <a:solidFill>
            <a:srgbClr val="00B8B8"/>
          </a:solidFill>
          <a:ln/>
        </p:spPr>
        <p:txBody>
          <a:bodyPr/>
          <a:lstStyle/>
          <a:p>
            <a:endParaRPr lang="en-US"/>
          </a:p>
        </p:txBody>
      </p:sp>
      <p:sp>
        <p:nvSpPr>
          <p:cNvPr id="14" name="Text 10"/>
          <p:cNvSpPr txBox="1"/>
          <p:nvPr/>
        </p:nvSpPr>
        <p:spPr>
          <a:xfrm>
            <a:off x="402336" y="1463040"/>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01</a:t>
            </a:r>
            <a:endParaRPr lang="en-US" sz="1100" dirty="0"/>
          </a:p>
        </p:txBody>
      </p:sp>
      <p:sp>
        <p:nvSpPr>
          <p:cNvPr id="15" name="Text 11"/>
          <p:cNvSpPr txBox="1"/>
          <p:nvPr/>
        </p:nvSpPr>
        <p:spPr>
          <a:xfrm>
            <a:off x="749808" y="1463040"/>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Name ONE element you noticed in a character that we did NOT analyze. What was it doing?</a:t>
            </a:r>
            <a:endParaRPr lang="en-US" sz="1050" dirty="0"/>
          </a:p>
        </p:txBody>
      </p:sp>
      <p:sp>
        <p:nvSpPr>
          <p:cNvPr id="16" name="Shape 12"/>
          <p:cNvSpPr/>
          <p:nvPr/>
        </p:nvSpPr>
        <p:spPr>
          <a:xfrm>
            <a:off x="4562856" y="1371600"/>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17" name="Shape 13"/>
          <p:cNvSpPr/>
          <p:nvPr/>
        </p:nvSpPr>
        <p:spPr>
          <a:xfrm>
            <a:off x="4562856" y="1371600"/>
            <a:ext cx="45720" cy="1408176"/>
          </a:xfrm>
          <a:prstGeom prst="rect">
            <a:avLst/>
          </a:prstGeom>
          <a:solidFill>
            <a:srgbClr val="00B8B8"/>
          </a:solidFill>
          <a:ln/>
        </p:spPr>
        <p:txBody>
          <a:bodyPr/>
          <a:lstStyle/>
          <a:p>
            <a:endParaRPr lang="en-US"/>
          </a:p>
        </p:txBody>
      </p:sp>
      <p:sp>
        <p:nvSpPr>
          <p:cNvPr id="18" name="Shape 14"/>
          <p:cNvSpPr/>
          <p:nvPr/>
        </p:nvSpPr>
        <p:spPr>
          <a:xfrm>
            <a:off x="4672584" y="1463040"/>
            <a:ext cx="274320" cy="274320"/>
          </a:xfrm>
          <a:prstGeom prst="rect">
            <a:avLst/>
          </a:prstGeom>
          <a:solidFill>
            <a:srgbClr val="00B8B8"/>
          </a:solidFill>
          <a:ln/>
        </p:spPr>
        <p:txBody>
          <a:bodyPr/>
          <a:lstStyle/>
          <a:p>
            <a:endParaRPr lang="en-US"/>
          </a:p>
        </p:txBody>
      </p:sp>
      <p:sp>
        <p:nvSpPr>
          <p:cNvPr id="19" name="Text 15"/>
          <p:cNvSpPr txBox="1"/>
          <p:nvPr/>
        </p:nvSpPr>
        <p:spPr>
          <a:xfrm>
            <a:off x="4672584" y="1463040"/>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02</a:t>
            </a:r>
            <a:endParaRPr lang="en-US" sz="1100" dirty="0"/>
          </a:p>
        </p:txBody>
      </p:sp>
      <p:sp>
        <p:nvSpPr>
          <p:cNvPr id="20" name="Text 16"/>
          <p:cNvSpPr txBox="1"/>
          <p:nvPr/>
        </p:nvSpPr>
        <p:spPr>
          <a:xfrm>
            <a:off x="5020056" y="1463040"/>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Which character design would work best as a LOGO? Why does its shape help?</a:t>
            </a:r>
            <a:endParaRPr lang="en-US" sz="1050" dirty="0"/>
          </a:p>
        </p:txBody>
      </p:sp>
      <p:sp>
        <p:nvSpPr>
          <p:cNvPr id="21" name="Shape 17"/>
          <p:cNvSpPr/>
          <p:nvPr/>
        </p:nvSpPr>
        <p:spPr>
          <a:xfrm>
            <a:off x="292608" y="2889504"/>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22" name="Shape 18"/>
          <p:cNvSpPr/>
          <p:nvPr/>
        </p:nvSpPr>
        <p:spPr>
          <a:xfrm>
            <a:off x="292608" y="2889504"/>
            <a:ext cx="45720" cy="1408176"/>
          </a:xfrm>
          <a:prstGeom prst="rect">
            <a:avLst/>
          </a:prstGeom>
          <a:solidFill>
            <a:srgbClr val="00B8B8"/>
          </a:solidFill>
          <a:ln/>
        </p:spPr>
        <p:txBody>
          <a:bodyPr/>
          <a:lstStyle/>
          <a:p>
            <a:endParaRPr lang="en-US"/>
          </a:p>
        </p:txBody>
      </p:sp>
      <p:sp>
        <p:nvSpPr>
          <p:cNvPr id="23" name="Shape 19"/>
          <p:cNvSpPr/>
          <p:nvPr/>
        </p:nvSpPr>
        <p:spPr>
          <a:xfrm>
            <a:off x="402336" y="2980944"/>
            <a:ext cx="274320" cy="274320"/>
          </a:xfrm>
          <a:prstGeom prst="rect">
            <a:avLst/>
          </a:prstGeom>
          <a:solidFill>
            <a:srgbClr val="00B8B8"/>
          </a:solidFill>
          <a:ln/>
        </p:spPr>
        <p:txBody>
          <a:bodyPr/>
          <a:lstStyle/>
          <a:p>
            <a:endParaRPr lang="en-US"/>
          </a:p>
        </p:txBody>
      </p:sp>
      <p:sp>
        <p:nvSpPr>
          <p:cNvPr id="24" name="Text 20"/>
          <p:cNvSpPr txBox="1"/>
          <p:nvPr/>
        </p:nvSpPr>
        <p:spPr>
          <a:xfrm>
            <a:off x="402336" y="2980944"/>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03</a:t>
            </a:r>
            <a:endParaRPr lang="en-US" sz="1100" dirty="0"/>
          </a:p>
        </p:txBody>
      </p:sp>
      <p:sp>
        <p:nvSpPr>
          <p:cNvPr id="25" name="Text 21"/>
          <p:cNvSpPr txBox="1"/>
          <p:nvPr/>
        </p:nvSpPr>
        <p:spPr>
          <a:xfrm>
            <a:off x="749808" y="2980944"/>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Which character would fall apart if you removed ONE of its key elements? Which one and why?</a:t>
            </a:r>
            <a:endParaRPr lang="en-US" sz="1050" dirty="0"/>
          </a:p>
        </p:txBody>
      </p:sp>
      <p:sp>
        <p:nvSpPr>
          <p:cNvPr id="26" name="Shape 22"/>
          <p:cNvSpPr/>
          <p:nvPr/>
        </p:nvSpPr>
        <p:spPr>
          <a:xfrm>
            <a:off x="4562856" y="2889504"/>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27" name="Shape 23"/>
          <p:cNvSpPr/>
          <p:nvPr/>
        </p:nvSpPr>
        <p:spPr>
          <a:xfrm>
            <a:off x="4562856" y="2889504"/>
            <a:ext cx="45720" cy="1408176"/>
          </a:xfrm>
          <a:prstGeom prst="rect">
            <a:avLst/>
          </a:prstGeom>
          <a:solidFill>
            <a:srgbClr val="00B8B8"/>
          </a:solidFill>
          <a:ln/>
        </p:spPr>
        <p:txBody>
          <a:bodyPr/>
          <a:lstStyle/>
          <a:p>
            <a:endParaRPr lang="en-US"/>
          </a:p>
        </p:txBody>
      </p:sp>
      <p:sp>
        <p:nvSpPr>
          <p:cNvPr id="28" name="Shape 24"/>
          <p:cNvSpPr/>
          <p:nvPr/>
        </p:nvSpPr>
        <p:spPr>
          <a:xfrm>
            <a:off x="4672584" y="2980944"/>
            <a:ext cx="274320" cy="274320"/>
          </a:xfrm>
          <a:prstGeom prst="rect">
            <a:avLst/>
          </a:prstGeom>
          <a:solidFill>
            <a:srgbClr val="00B8B8"/>
          </a:solidFill>
          <a:ln/>
        </p:spPr>
        <p:txBody>
          <a:bodyPr/>
          <a:lstStyle/>
          <a:p>
            <a:endParaRPr lang="en-US"/>
          </a:p>
        </p:txBody>
      </p:sp>
      <p:sp>
        <p:nvSpPr>
          <p:cNvPr id="29" name="Text 25"/>
          <p:cNvSpPr txBox="1"/>
          <p:nvPr/>
        </p:nvSpPr>
        <p:spPr>
          <a:xfrm>
            <a:off x="4672584" y="2980944"/>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04</a:t>
            </a:r>
            <a:endParaRPr lang="en-US" sz="1100" dirty="0"/>
          </a:p>
        </p:txBody>
      </p:sp>
      <p:sp>
        <p:nvSpPr>
          <p:cNvPr id="30" name="Text 26"/>
          <p:cNvSpPr txBox="1"/>
          <p:nvPr/>
        </p:nvSpPr>
        <p:spPr>
          <a:xfrm>
            <a:off x="5020056" y="2980944"/>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Pick a character from this list. What ONE change would make the character design stronger?</a:t>
            </a:r>
            <a:endParaRPr lang="en-US" sz="1050" dirty="0"/>
          </a:p>
        </p:txBody>
      </p:sp>
      <p:sp>
        <p:nvSpPr>
          <p:cNvPr id="31" name="Text 27"/>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2203</Words>
  <Application>Microsoft Macintosh PowerPoint</Application>
  <PresentationFormat>On-screen Show (16:9)</PresentationFormat>
  <Paragraphs>299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6</cp:revision>
  <dcterms:created xsi:type="dcterms:W3CDTF">2026-09-28T17:56:35Z</dcterms:created>
  <dcterms:modified xsi:type="dcterms:W3CDTF">2026-09-30T11:34:17Z</dcterms:modified>
</cp:coreProperties>
</file>