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696"/>
    <p:restoredTop sz="94610"/>
  </p:normalViewPr>
  <p:slideViewPr>
    <p:cSldViewPr snapToGrid="0" snapToObjects="1">
      <p:cViewPr varScale="1">
        <p:scale>
          <a:sx n="170" d="100"/>
          <a:sy n="170" d="100"/>
        </p:scale>
        <p:origin x="68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3697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jpe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1.jp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7.jpe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47688" y="1394460"/>
            <a:ext cx="3867912" cy="4572000"/>
          </a:xfrm>
          <a:prstGeom prst="rect">
            <a:avLst/>
          </a:prstGeom>
        </p:spPr>
      </p:pic>
      <p:sp>
        <p:nvSpPr>
          <p:cNvPr id="3" name="Shape 0"/>
          <p:cNvSpPr/>
          <p:nvPr/>
        </p:nvSpPr>
        <p:spPr>
          <a:xfrm>
            <a:off x="0" y="0"/>
            <a:ext cx="9144000" cy="5143500"/>
          </a:xfrm>
          <a:prstGeom prst="rect">
            <a:avLst/>
          </a:prstGeom>
          <a:solidFill>
            <a:srgbClr val="04191A">
              <a:alpha val="84000"/>
            </a:srgbClr>
          </a:solidFill>
          <a:ln/>
        </p:spPr>
        <p:txBody>
          <a:bodyPr/>
          <a:lstStyle/>
          <a:p>
            <a:endParaRPr lang="en-US"/>
          </a:p>
        </p:txBody>
      </p:sp>
      <p:sp>
        <p:nvSpPr>
          <p:cNvPr id="4" name="Shape 1"/>
          <p:cNvSpPr/>
          <p:nvPr/>
        </p:nvSpPr>
        <p:spPr>
          <a:xfrm>
            <a:off x="0" y="0"/>
            <a:ext cx="45720" cy="5143500"/>
          </a:xfrm>
          <a:prstGeom prst="rect">
            <a:avLst/>
          </a:prstGeom>
          <a:solidFill>
            <a:srgbClr val="00B8B8"/>
          </a:solidFill>
          <a:ln/>
        </p:spPr>
        <p:txBody>
          <a:bodyPr/>
          <a:lstStyle/>
          <a:p>
            <a:endParaRPr lang="en-US"/>
          </a:p>
        </p:txBody>
      </p:sp>
      <p:pic>
        <p:nvPicPr>
          <p:cNvPr id="9" name="Image 1" descr="preencoded.png"/>
          <p:cNvPicPr>
            <a:picLocks noChangeAspect="1"/>
          </p:cNvPicPr>
          <p:nvPr/>
        </p:nvPicPr>
        <p:blipFill>
          <a:blip r:embed="rId4"/>
          <a:stretch>
            <a:fillRect/>
          </a:stretch>
        </p:blipFill>
        <p:spPr>
          <a:xfrm>
            <a:off x="7701991" y="230429"/>
            <a:ext cx="1294790" cy="1533449"/>
          </a:xfrm>
          <a:prstGeom prst="rect">
            <a:avLst/>
          </a:prstGeom>
        </p:spPr>
      </p:pic>
      <p:sp>
        <p:nvSpPr>
          <p:cNvPr id="10" name="Text 6"/>
          <p:cNvSpPr txBox="1"/>
          <p:nvPr/>
        </p:nvSpPr>
        <p:spPr>
          <a:xfrm>
            <a:off x="292608" y="454457"/>
            <a:ext cx="5852160" cy="219456"/>
          </a:xfrm>
          <a:prstGeom prst="rect">
            <a:avLst/>
          </a:prstGeom>
          <a:noFill/>
          <a:ln/>
        </p:spPr>
        <p:txBody>
          <a:bodyPr wrap="square" lIns="0" tIns="0" rIns="0" bIns="0" rtlCol="0" anchor="ctr"/>
          <a:lstStyle/>
          <a:p>
            <a:pPr marL="0" indent="0">
              <a:lnSpc>
                <a:spcPct val="120000"/>
              </a:lnSpc>
              <a:buNone/>
            </a:pPr>
            <a:r>
              <a:rPr lang="en-US" sz="1100" b="1" kern="0" spc="190" dirty="0">
                <a:solidFill>
                  <a:srgbClr val="80E0E0"/>
                </a:solidFill>
                <a:latin typeface="Oswald" pitchFamily="34" charset="0"/>
                <a:ea typeface="Oswald" pitchFamily="34" charset="-122"/>
                <a:cs typeface="Oswald" pitchFamily="34" charset="-120"/>
              </a:rPr>
              <a:t>DIGITAL ARTS 1A  /  ART FOUNDATIONS</a:t>
            </a:r>
            <a:endParaRPr lang="en-US" sz="1100" dirty="0"/>
          </a:p>
        </p:txBody>
      </p:sp>
      <p:sp>
        <p:nvSpPr>
          <p:cNvPr id="11" name="Text 7"/>
          <p:cNvSpPr txBox="1"/>
          <p:nvPr/>
        </p:nvSpPr>
        <p:spPr>
          <a:xfrm>
            <a:off x="292608" y="689458"/>
            <a:ext cx="6035040" cy="786384"/>
          </a:xfrm>
          <a:prstGeom prst="rect">
            <a:avLst/>
          </a:prstGeom>
          <a:noFill/>
          <a:ln/>
        </p:spPr>
        <p:txBody>
          <a:bodyPr wrap="square" lIns="0" tIns="0" rIns="0" bIns="0" rtlCol="0" anchor="ctr"/>
          <a:lstStyle/>
          <a:p>
            <a:pPr marL="0" indent="0">
              <a:lnSpc>
                <a:spcPct val="102000"/>
              </a:lnSpc>
              <a:buNone/>
            </a:pPr>
            <a:r>
              <a:rPr lang="en-US" sz="4400" b="1" kern="0" spc="40" dirty="0">
                <a:solidFill>
                  <a:srgbClr val="FFFFFF"/>
                </a:solidFill>
                <a:latin typeface="Oswald" pitchFamily="34" charset="0"/>
                <a:ea typeface="Oswald" pitchFamily="34" charset="-122"/>
                <a:cs typeface="Oswald" pitchFamily="34" charset="-120"/>
              </a:rPr>
              <a:t>ELEMENTS OF ART</a:t>
            </a:r>
            <a:endParaRPr lang="en-US" sz="4400" dirty="0"/>
          </a:p>
        </p:txBody>
      </p:sp>
      <p:sp>
        <p:nvSpPr>
          <p:cNvPr id="12" name="Shape 8"/>
          <p:cNvSpPr/>
          <p:nvPr/>
        </p:nvSpPr>
        <p:spPr>
          <a:xfrm>
            <a:off x="292608" y="1445666"/>
            <a:ext cx="457200" cy="30175"/>
          </a:xfrm>
          <a:prstGeom prst="rect">
            <a:avLst/>
          </a:prstGeom>
          <a:solidFill>
            <a:srgbClr val="00B8B8"/>
          </a:solidFill>
          <a:ln/>
        </p:spPr>
        <p:txBody>
          <a:bodyPr/>
          <a:lstStyle/>
          <a:p>
            <a:endParaRPr lang="en-US"/>
          </a:p>
        </p:txBody>
      </p:sp>
      <p:sp>
        <p:nvSpPr>
          <p:cNvPr id="13" name="Text 9"/>
          <p:cNvSpPr txBox="1"/>
          <p:nvPr/>
        </p:nvSpPr>
        <p:spPr>
          <a:xfrm>
            <a:off x="292608" y="1627632"/>
            <a:ext cx="6035040" cy="420624"/>
          </a:xfrm>
          <a:prstGeom prst="rect">
            <a:avLst/>
          </a:prstGeom>
          <a:noFill/>
          <a:ln/>
        </p:spPr>
        <p:txBody>
          <a:bodyPr wrap="square" lIns="0" tIns="0" rIns="0" bIns="0" rtlCol="0" anchor="ctr"/>
          <a:lstStyle/>
          <a:p>
            <a:pPr marL="0" indent="0">
              <a:lnSpc>
                <a:spcPct val="105000"/>
              </a:lnSpc>
              <a:buNone/>
            </a:pPr>
            <a:r>
              <a:rPr lang="en-US" sz="2200" b="1" kern="0" spc="90" dirty="0">
                <a:solidFill>
                  <a:srgbClr val="80E0E0"/>
                </a:solidFill>
                <a:latin typeface="Oswald" pitchFamily="34" charset="0"/>
                <a:ea typeface="Oswald" pitchFamily="34" charset="-122"/>
                <a:cs typeface="Oswald" pitchFamily="34" charset="-120"/>
              </a:rPr>
              <a:t>PART 1: LINE AND SHAPE</a:t>
            </a:r>
            <a:endParaRPr lang="en-US" sz="2200" dirty="0"/>
          </a:p>
        </p:txBody>
      </p:sp>
      <p:sp>
        <p:nvSpPr>
          <p:cNvPr id="14" name="Text 10"/>
          <p:cNvSpPr txBox="1"/>
          <p:nvPr/>
        </p:nvSpPr>
        <p:spPr>
          <a:xfrm>
            <a:off x="292608" y="2022653"/>
            <a:ext cx="3686861" cy="484632"/>
          </a:xfrm>
          <a:prstGeom prst="rect">
            <a:avLst/>
          </a:prstGeom>
          <a:noFill/>
          <a:ln/>
        </p:spPr>
        <p:txBody>
          <a:bodyPr wrap="square" lIns="0" tIns="0" rIns="0" bIns="0" rtlCol="0" anchor="t"/>
          <a:lstStyle/>
          <a:p>
            <a:pPr marL="0" indent="0">
              <a:lnSpc>
                <a:spcPct val="135000"/>
              </a:lnSpc>
              <a:buNone/>
            </a:pPr>
            <a:r>
              <a:rPr lang="en-US" sz="1200" dirty="0">
                <a:solidFill>
                  <a:srgbClr val="AAAAAA"/>
                </a:solidFill>
                <a:latin typeface="Arial" pitchFamily="34" charset="0"/>
                <a:ea typeface="Arial" pitchFamily="34" charset="-122"/>
                <a:cs typeface="Arial" pitchFamily="34" charset="-120"/>
              </a:rPr>
              <a:t>The two elements every character is built from. Round 1 is line and shape only.</a:t>
            </a:r>
            <a:endParaRPr lang="en-US" sz="1200" dirty="0"/>
          </a:p>
        </p:txBody>
      </p:sp>
      <p:sp>
        <p:nvSpPr>
          <p:cNvPr id="15" name="Shape 11"/>
          <p:cNvSpPr/>
          <p:nvPr/>
        </p:nvSpPr>
        <p:spPr>
          <a:xfrm>
            <a:off x="292608" y="3529584"/>
            <a:ext cx="3127248" cy="658368"/>
          </a:xfrm>
          <a:prstGeom prst="rect">
            <a:avLst/>
          </a:prstGeom>
          <a:solidFill>
            <a:srgbClr val="00B8B8"/>
          </a:solidFill>
          <a:ln/>
        </p:spPr>
        <p:txBody>
          <a:bodyPr/>
          <a:lstStyle/>
          <a:p>
            <a:endParaRPr lang="en-US"/>
          </a:p>
        </p:txBody>
      </p:sp>
      <p:sp>
        <p:nvSpPr>
          <p:cNvPr id="16" name="Shape 12"/>
          <p:cNvSpPr/>
          <p:nvPr/>
        </p:nvSpPr>
        <p:spPr>
          <a:xfrm>
            <a:off x="307878" y="3544854"/>
            <a:ext cx="3096707" cy="213238"/>
          </a:xfrm>
          <a:prstGeom prst="rect">
            <a:avLst/>
          </a:prstGeom>
          <a:solidFill>
            <a:srgbClr val="094043"/>
          </a:solidFill>
          <a:ln/>
        </p:spPr>
        <p:txBody>
          <a:bodyPr/>
          <a:lstStyle/>
          <a:p>
            <a:endParaRPr lang="en-US"/>
          </a:p>
        </p:txBody>
      </p:sp>
      <p:sp>
        <p:nvSpPr>
          <p:cNvPr id="17" name="Shape 13"/>
          <p:cNvSpPr/>
          <p:nvPr/>
        </p:nvSpPr>
        <p:spPr>
          <a:xfrm>
            <a:off x="307878" y="3758093"/>
            <a:ext cx="3096707" cy="414589"/>
          </a:xfrm>
          <a:prstGeom prst="rect">
            <a:avLst/>
          </a:prstGeom>
          <a:solidFill>
            <a:srgbClr val="041D1C"/>
          </a:solidFill>
          <a:ln/>
        </p:spPr>
        <p:txBody>
          <a:bodyPr/>
          <a:lstStyle/>
          <a:p>
            <a:endParaRPr lang="en-US"/>
          </a:p>
        </p:txBody>
      </p:sp>
      <p:sp>
        <p:nvSpPr>
          <p:cNvPr id="18" name="Text 14"/>
          <p:cNvSpPr txBox="1"/>
          <p:nvPr/>
        </p:nvSpPr>
        <p:spPr>
          <a:xfrm>
            <a:off x="307878" y="3544854"/>
            <a:ext cx="3096707" cy="627827"/>
          </a:xfrm>
          <a:prstGeom prst="rect">
            <a:avLst/>
          </a:prstGeom>
          <a:noFill/>
          <a:ln/>
        </p:spPr>
        <p:txBody>
          <a:bodyPr wrap="square" lIns="0" tIns="0" rIns="0" bIns="0" rtlCol="0" anchor="ctr"/>
          <a:lstStyle/>
          <a:p>
            <a:pPr marL="0" indent="0" algn="ctr">
              <a:lnSpc>
                <a:spcPct val="105000"/>
              </a:lnSpc>
              <a:buNone/>
            </a:pPr>
            <a:r>
              <a:rPr lang="en-US" sz="1200" b="1" kern="0" spc="120" dirty="0">
                <a:solidFill>
                  <a:srgbClr val="80E0E0"/>
                </a:solidFill>
                <a:latin typeface="Oswald" pitchFamily="34" charset="0"/>
                <a:ea typeface="Oswald" pitchFamily="34" charset="-122"/>
                <a:cs typeface="Oswald" pitchFamily="34" charset="-120"/>
              </a:rPr>
              <a:t>ELEMENTS 1 AND 2 OF 7</a:t>
            </a:r>
            <a:endParaRPr lang="en-US" sz="1200" dirty="0"/>
          </a:p>
        </p:txBody>
      </p:sp>
      <p:sp>
        <p:nvSpPr>
          <p:cNvPr id="19" name="Shape 15"/>
          <p:cNvSpPr/>
          <p:nvPr/>
        </p:nvSpPr>
        <p:spPr>
          <a:xfrm>
            <a:off x="0" y="4681728"/>
            <a:ext cx="9144000" cy="22860"/>
          </a:xfrm>
          <a:prstGeom prst="rect">
            <a:avLst/>
          </a:prstGeom>
          <a:solidFill>
            <a:srgbClr val="00B8B8"/>
          </a:solidFill>
          <a:ln/>
        </p:spPr>
        <p:txBody>
          <a:bodyPr/>
          <a:lstStyle/>
          <a:p>
            <a:endParaRPr lang="en-US"/>
          </a:p>
        </p:txBody>
      </p:sp>
      <p:sp>
        <p:nvSpPr>
          <p:cNvPr id="20" name="Text 16"/>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DIGITAL ARTS 1A  /  MR. SILVA  /  PIONEER VALLEY HIGH SCHOOL</a:t>
            </a:r>
            <a:endParaRPr lang="en-US" sz="950" dirty="0"/>
          </a:p>
        </p:txBody>
      </p:sp>
      <p:pic>
        <p:nvPicPr>
          <p:cNvPr id="21" name="Picture 20">
            <a:extLst>
              <a:ext uri="{FF2B5EF4-FFF2-40B4-BE49-F238E27FC236}">
                <a16:creationId xmlns:a16="http://schemas.microsoft.com/office/drawing/2014/main" id="{BC7ADFE7-4B03-6AE8-B2A6-DDAD86923E3F}"/>
              </a:ext>
            </a:extLst>
          </p:cNvPr>
          <p:cNvPicPr>
            <a:picLocks noChangeAspect="1"/>
          </p:cNvPicPr>
          <p:nvPr/>
        </p:nvPicPr>
        <p:blipFill>
          <a:blip r:embed="rId5"/>
          <a:stretch>
            <a:fillRect/>
          </a:stretch>
        </p:blipFill>
        <p:spPr>
          <a:xfrm>
            <a:off x="3994739" y="1685025"/>
            <a:ext cx="3810147" cy="25341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00B8B8"/>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80E0E0"/>
                </a:solidFill>
                <a:latin typeface="Oswald" pitchFamily="34" charset="0"/>
                <a:ea typeface="Oswald" pitchFamily="34" charset="-122"/>
                <a:cs typeface="Oswald" pitchFamily="34" charset="-120"/>
              </a:rPr>
              <a:t>THE SEVEN ELEMENTS OF ART</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80E0E0"/>
                </a:solidFill>
                <a:latin typeface="Oswald" pitchFamily="34" charset="0"/>
                <a:ea typeface="Oswald" pitchFamily="34" charset="-122"/>
                <a:cs typeface="Oswald" pitchFamily="34" charset="-120"/>
              </a:rPr>
              <a:t>OVERVIEW / 01 / 18</a:t>
            </a:r>
            <a:endParaRPr lang="en-US" sz="900" dirty="0"/>
          </a:p>
        </p:txBody>
      </p:sp>
      <p:sp>
        <p:nvSpPr>
          <p:cNvPr id="8" name="Shape 4"/>
          <p:cNvSpPr/>
          <p:nvPr/>
        </p:nvSpPr>
        <p:spPr>
          <a:xfrm>
            <a:off x="859536" y="699516"/>
            <a:ext cx="457017" cy="22860"/>
          </a:xfrm>
          <a:prstGeom prst="rect">
            <a:avLst/>
          </a:prstGeom>
          <a:solidFill>
            <a:srgbClr val="00B8B8"/>
          </a:solidFill>
          <a:ln/>
        </p:spPr>
        <p:txBody>
          <a:bodyPr/>
          <a:lstStyle/>
          <a:p>
            <a:endParaRPr lang="en-US"/>
          </a:p>
        </p:txBody>
      </p:sp>
      <p:sp>
        <p:nvSpPr>
          <p:cNvPr id="9" name="Shape 5"/>
          <p:cNvSpPr/>
          <p:nvPr/>
        </p:nvSpPr>
        <p:spPr>
          <a:xfrm>
            <a:off x="292608" y="1060703"/>
            <a:ext cx="1128370" cy="1904047"/>
          </a:xfrm>
          <a:prstGeom prst="rect">
            <a:avLst/>
          </a:prstGeom>
          <a:solidFill>
            <a:srgbClr val="00B8B8"/>
          </a:solidFill>
          <a:ln/>
        </p:spPr>
        <p:txBody>
          <a:bodyPr/>
          <a:lstStyle/>
          <a:p>
            <a:endParaRPr lang="en-US"/>
          </a:p>
        </p:txBody>
      </p:sp>
      <p:sp>
        <p:nvSpPr>
          <p:cNvPr id="10" name="Shape 6"/>
          <p:cNvSpPr/>
          <p:nvPr/>
        </p:nvSpPr>
        <p:spPr>
          <a:xfrm>
            <a:off x="307878" y="1075973"/>
            <a:ext cx="1097829" cy="292121"/>
          </a:xfrm>
          <a:prstGeom prst="rect">
            <a:avLst/>
          </a:prstGeom>
          <a:solidFill>
            <a:srgbClr val="094043"/>
          </a:solidFill>
          <a:ln/>
        </p:spPr>
        <p:txBody>
          <a:bodyPr/>
          <a:lstStyle/>
          <a:p>
            <a:endParaRPr lang="en-US"/>
          </a:p>
        </p:txBody>
      </p:sp>
      <p:sp>
        <p:nvSpPr>
          <p:cNvPr id="11" name="Shape 7"/>
          <p:cNvSpPr/>
          <p:nvPr/>
        </p:nvSpPr>
        <p:spPr>
          <a:xfrm>
            <a:off x="307878" y="1289213"/>
            <a:ext cx="1097829" cy="1570087"/>
          </a:xfrm>
          <a:prstGeom prst="rect">
            <a:avLst/>
          </a:prstGeom>
          <a:solidFill>
            <a:srgbClr val="041D1C"/>
          </a:solidFill>
          <a:ln/>
        </p:spPr>
        <p:txBody>
          <a:bodyPr/>
          <a:lstStyle/>
          <a:p>
            <a:endParaRPr lang="en-US"/>
          </a:p>
        </p:txBody>
      </p:sp>
      <p:sp>
        <p:nvSpPr>
          <p:cNvPr id="12" name="Text 8"/>
          <p:cNvSpPr txBox="1"/>
          <p:nvPr/>
        </p:nvSpPr>
        <p:spPr>
          <a:xfrm>
            <a:off x="307878" y="1020181"/>
            <a:ext cx="1097829" cy="325692"/>
          </a:xfrm>
          <a:prstGeom prst="rect">
            <a:avLst/>
          </a:prstGeom>
          <a:noFill/>
          <a:ln/>
        </p:spPr>
        <p:txBody>
          <a:bodyPr wrap="square" lIns="0" tIns="0" rIns="0" bIns="0" rtlCol="0" anchor="ctr"/>
          <a:lstStyle/>
          <a:p>
            <a:pPr marL="0" indent="0" algn="ctr">
              <a:lnSpc>
                <a:spcPct val="100000"/>
              </a:lnSpc>
              <a:buNone/>
            </a:pPr>
            <a:r>
              <a:rPr lang="en-US" sz="1000" b="1" kern="0" spc="120" dirty="0">
                <a:solidFill>
                  <a:srgbClr val="80E0E0"/>
                </a:solidFill>
                <a:latin typeface="Oswald" pitchFamily="34" charset="0"/>
                <a:ea typeface="Oswald" pitchFamily="34" charset="-122"/>
                <a:cs typeface="Oswald" pitchFamily="34" charset="-120"/>
              </a:rPr>
              <a:t>01</a:t>
            </a:r>
            <a:endParaRPr lang="en-US" sz="1000" dirty="0"/>
          </a:p>
        </p:txBody>
      </p:sp>
      <p:sp>
        <p:nvSpPr>
          <p:cNvPr id="13" name="Text 9"/>
          <p:cNvSpPr txBox="1"/>
          <p:nvPr/>
        </p:nvSpPr>
        <p:spPr>
          <a:xfrm>
            <a:off x="307878" y="1478309"/>
            <a:ext cx="1097829" cy="501065"/>
          </a:xfrm>
          <a:prstGeom prst="rect">
            <a:avLst/>
          </a:prstGeom>
          <a:noFill/>
          <a:ln/>
        </p:spPr>
        <p:txBody>
          <a:bodyPr wrap="square" lIns="0" tIns="0" rIns="0" bIns="0" rtlCol="0" anchor="ctr"/>
          <a:lstStyle/>
          <a:p>
            <a:pPr marL="0" indent="0" algn="ctr">
              <a:lnSpc>
                <a:spcPct val="105000"/>
              </a:lnSpc>
              <a:buNone/>
            </a:pPr>
            <a:r>
              <a:rPr lang="en-US" sz="1400" b="1" kern="0" spc="50" dirty="0">
                <a:solidFill>
                  <a:srgbClr val="FFFFFF"/>
                </a:solidFill>
                <a:latin typeface="Oswald" pitchFamily="34" charset="0"/>
                <a:ea typeface="Oswald" pitchFamily="34" charset="-122"/>
                <a:cs typeface="Oswald" pitchFamily="34" charset="-120"/>
              </a:rPr>
              <a:t>LINE</a:t>
            </a:r>
            <a:endParaRPr lang="en-US" sz="1400" dirty="0"/>
          </a:p>
        </p:txBody>
      </p:sp>
      <p:sp>
        <p:nvSpPr>
          <p:cNvPr id="14" name="Shape 10"/>
          <p:cNvSpPr/>
          <p:nvPr/>
        </p:nvSpPr>
        <p:spPr>
          <a:xfrm>
            <a:off x="735178" y="2252441"/>
            <a:ext cx="243779" cy="45719"/>
          </a:xfrm>
          <a:prstGeom prst="rect">
            <a:avLst/>
          </a:prstGeom>
          <a:solidFill>
            <a:srgbClr val="00B8B8"/>
          </a:solidFill>
          <a:ln/>
        </p:spPr>
        <p:txBody>
          <a:bodyPr/>
          <a:lstStyle/>
          <a:p>
            <a:endParaRPr lang="en-US"/>
          </a:p>
        </p:txBody>
      </p:sp>
      <p:sp>
        <p:nvSpPr>
          <p:cNvPr id="15" name="Shape 11"/>
          <p:cNvSpPr/>
          <p:nvPr/>
        </p:nvSpPr>
        <p:spPr>
          <a:xfrm>
            <a:off x="1530706" y="1060703"/>
            <a:ext cx="1128370" cy="1904047"/>
          </a:xfrm>
          <a:prstGeom prst="rect">
            <a:avLst/>
          </a:prstGeom>
          <a:solidFill>
            <a:srgbClr val="00B8B8"/>
          </a:solidFill>
          <a:ln/>
        </p:spPr>
        <p:txBody>
          <a:bodyPr/>
          <a:lstStyle/>
          <a:p>
            <a:endParaRPr lang="en-US"/>
          </a:p>
        </p:txBody>
      </p:sp>
      <p:sp>
        <p:nvSpPr>
          <p:cNvPr id="16" name="Shape 12"/>
          <p:cNvSpPr/>
          <p:nvPr/>
        </p:nvSpPr>
        <p:spPr>
          <a:xfrm>
            <a:off x="1545976" y="1075973"/>
            <a:ext cx="1097829" cy="292121"/>
          </a:xfrm>
          <a:prstGeom prst="rect">
            <a:avLst/>
          </a:prstGeom>
          <a:solidFill>
            <a:srgbClr val="094043"/>
          </a:solidFill>
          <a:ln/>
        </p:spPr>
        <p:txBody>
          <a:bodyPr/>
          <a:lstStyle/>
          <a:p>
            <a:endParaRPr lang="en-US"/>
          </a:p>
        </p:txBody>
      </p:sp>
      <p:sp>
        <p:nvSpPr>
          <p:cNvPr id="17" name="Shape 13"/>
          <p:cNvSpPr/>
          <p:nvPr/>
        </p:nvSpPr>
        <p:spPr>
          <a:xfrm>
            <a:off x="1545976" y="1289213"/>
            <a:ext cx="1097829" cy="1570087"/>
          </a:xfrm>
          <a:prstGeom prst="rect">
            <a:avLst/>
          </a:prstGeom>
          <a:solidFill>
            <a:srgbClr val="041D1C"/>
          </a:solidFill>
          <a:ln/>
        </p:spPr>
        <p:txBody>
          <a:bodyPr/>
          <a:lstStyle/>
          <a:p>
            <a:endParaRPr lang="en-US"/>
          </a:p>
        </p:txBody>
      </p:sp>
      <p:sp>
        <p:nvSpPr>
          <p:cNvPr id="18" name="Text 14"/>
          <p:cNvSpPr txBox="1"/>
          <p:nvPr/>
        </p:nvSpPr>
        <p:spPr>
          <a:xfrm>
            <a:off x="1545976" y="1020181"/>
            <a:ext cx="1097829" cy="325692"/>
          </a:xfrm>
          <a:prstGeom prst="rect">
            <a:avLst/>
          </a:prstGeom>
          <a:noFill/>
          <a:ln/>
        </p:spPr>
        <p:txBody>
          <a:bodyPr wrap="square" lIns="0" tIns="0" rIns="0" bIns="0" rtlCol="0" anchor="ctr"/>
          <a:lstStyle/>
          <a:p>
            <a:pPr marL="0" indent="0" algn="ctr">
              <a:lnSpc>
                <a:spcPct val="100000"/>
              </a:lnSpc>
              <a:buNone/>
            </a:pPr>
            <a:r>
              <a:rPr lang="en-US" sz="1000" b="1" kern="0" spc="120" dirty="0">
                <a:solidFill>
                  <a:srgbClr val="80E0E0"/>
                </a:solidFill>
                <a:latin typeface="Oswald" pitchFamily="34" charset="0"/>
                <a:ea typeface="Oswald" pitchFamily="34" charset="-122"/>
                <a:cs typeface="Oswald" pitchFamily="34" charset="-120"/>
              </a:rPr>
              <a:t>02</a:t>
            </a:r>
            <a:endParaRPr lang="en-US" sz="1000" dirty="0"/>
          </a:p>
        </p:txBody>
      </p:sp>
      <p:sp>
        <p:nvSpPr>
          <p:cNvPr id="19" name="Text 15"/>
          <p:cNvSpPr txBox="1"/>
          <p:nvPr/>
        </p:nvSpPr>
        <p:spPr>
          <a:xfrm>
            <a:off x="1545976" y="1478309"/>
            <a:ext cx="1097829" cy="501065"/>
          </a:xfrm>
          <a:prstGeom prst="rect">
            <a:avLst/>
          </a:prstGeom>
          <a:noFill/>
          <a:ln/>
        </p:spPr>
        <p:txBody>
          <a:bodyPr wrap="square" lIns="0" tIns="0" rIns="0" bIns="0" rtlCol="0" anchor="ctr"/>
          <a:lstStyle/>
          <a:p>
            <a:pPr marL="0" indent="0" algn="ctr">
              <a:lnSpc>
                <a:spcPct val="105000"/>
              </a:lnSpc>
              <a:buNone/>
            </a:pPr>
            <a:r>
              <a:rPr lang="en-US" sz="1400" b="1" kern="0" spc="50" dirty="0">
                <a:solidFill>
                  <a:srgbClr val="FFFFFF"/>
                </a:solidFill>
                <a:latin typeface="Oswald" pitchFamily="34" charset="0"/>
                <a:ea typeface="Oswald" pitchFamily="34" charset="-122"/>
                <a:cs typeface="Oswald" pitchFamily="34" charset="-120"/>
              </a:rPr>
              <a:t>SHAPE</a:t>
            </a:r>
            <a:endParaRPr lang="en-US" sz="1400" dirty="0"/>
          </a:p>
        </p:txBody>
      </p:sp>
      <p:sp>
        <p:nvSpPr>
          <p:cNvPr id="20" name="Shape 16"/>
          <p:cNvSpPr/>
          <p:nvPr/>
        </p:nvSpPr>
        <p:spPr>
          <a:xfrm>
            <a:off x="1973275" y="2252441"/>
            <a:ext cx="243779" cy="45719"/>
          </a:xfrm>
          <a:prstGeom prst="rect">
            <a:avLst/>
          </a:prstGeom>
          <a:solidFill>
            <a:srgbClr val="00B8B8"/>
          </a:solidFill>
          <a:ln/>
        </p:spPr>
        <p:txBody>
          <a:bodyPr/>
          <a:lstStyle/>
          <a:p>
            <a:endParaRPr lang="en-US"/>
          </a:p>
        </p:txBody>
      </p:sp>
      <p:sp>
        <p:nvSpPr>
          <p:cNvPr id="21" name="Shape 17"/>
          <p:cNvSpPr/>
          <p:nvPr/>
        </p:nvSpPr>
        <p:spPr>
          <a:xfrm>
            <a:off x="2768803" y="1060703"/>
            <a:ext cx="1128370" cy="1904047"/>
          </a:xfrm>
          <a:prstGeom prst="rect">
            <a:avLst/>
          </a:prstGeom>
          <a:solidFill>
            <a:srgbClr val="0D0D0D"/>
          </a:solidFill>
          <a:ln w="12700">
            <a:solidFill>
              <a:srgbClr val="062F2F"/>
            </a:solidFill>
            <a:prstDash val="solid"/>
          </a:ln>
        </p:spPr>
        <p:txBody>
          <a:bodyPr/>
          <a:lstStyle/>
          <a:p>
            <a:endParaRPr lang="en-US"/>
          </a:p>
        </p:txBody>
      </p:sp>
      <p:sp>
        <p:nvSpPr>
          <p:cNvPr id="22" name="Text 18"/>
          <p:cNvSpPr txBox="1"/>
          <p:nvPr/>
        </p:nvSpPr>
        <p:spPr>
          <a:xfrm>
            <a:off x="2768803" y="1004911"/>
            <a:ext cx="1128370" cy="325692"/>
          </a:xfrm>
          <a:prstGeom prst="rect">
            <a:avLst/>
          </a:prstGeom>
          <a:noFill/>
          <a:ln/>
        </p:spPr>
        <p:txBody>
          <a:bodyPr wrap="square" lIns="0" tIns="0" rIns="0" bIns="0" rtlCol="0" anchor="ctr"/>
          <a:lstStyle/>
          <a:p>
            <a:pPr marL="0" indent="0" algn="ctr">
              <a:lnSpc>
                <a:spcPct val="100000"/>
              </a:lnSpc>
              <a:buNone/>
            </a:pPr>
            <a:r>
              <a:rPr lang="en-US" sz="1000" b="1" kern="0" spc="120" dirty="0">
                <a:solidFill>
                  <a:srgbClr val="777777"/>
                </a:solidFill>
                <a:latin typeface="Oswald" pitchFamily="34" charset="0"/>
                <a:ea typeface="Oswald" pitchFamily="34" charset="-122"/>
                <a:cs typeface="Oswald" pitchFamily="34" charset="-120"/>
              </a:rPr>
              <a:t>03</a:t>
            </a:r>
            <a:endParaRPr lang="en-US" sz="1000" dirty="0"/>
          </a:p>
        </p:txBody>
      </p:sp>
      <p:sp>
        <p:nvSpPr>
          <p:cNvPr id="24" name="Shape 20"/>
          <p:cNvSpPr/>
          <p:nvPr/>
        </p:nvSpPr>
        <p:spPr>
          <a:xfrm>
            <a:off x="4006901" y="1060703"/>
            <a:ext cx="1128370" cy="1904047"/>
          </a:xfrm>
          <a:prstGeom prst="rect">
            <a:avLst/>
          </a:prstGeom>
          <a:solidFill>
            <a:srgbClr val="0D0D0D"/>
          </a:solidFill>
          <a:ln w="12700">
            <a:solidFill>
              <a:srgbClr val="062F2F"/>
            </a:solidFill>
            <a:prstDash val="solid"/>
          </a:ln>
        </p:spPr>
        <p:txBody>
          <a:bodyPr/>
          <a:lstStyle/>
          <a:p>
            <a:endParaRPr lang="en-US"/>
          </a:p>
        </p:txBody>
      </p:sp>
      <p:sp>
        <p:nvSpPr>
          <p:cNvPr id="25" name="Text 21"/>
          <p:cNvSpPr txBox="1"/>
          <p:nvPr/>
        </p:nvSpPr>
        <p:spPr>
          <a:xfrm>
            <a:off x="4006901" y="1004911"/>
            <a:ext cx="1128370" cy="325692"/>
          </a:xfrm>
          <a:prstGeom prst="rect">
            <a:avLst/>
          </a:prstGeom>
          <a:noFill/>
          <a:ln/>
        </p:spPr>
        <p:txBody>
          <a:bodyPr wrap="square" lIns="0" tIns="0" rIns="0" bIns="0" rtlCol="0" anchor="ctr"/>
          <a:lstStyle/>
          <a:p>
            <a:pPr marL="0" indent="0" algn="ctr">
              <a:lnSpc>
                <a:spcPct val="100000"/>
              </a:lnSpc>
              <a:buNone/>
            </a:pPr>
            <a:r>
              <a:rPr lang="en-US" sz="1000" b="1" kern="0" spc="120" dirty="0">
                <a:solidFill>
                  <a:srgbClr val="777777"/>
                </a:solidFill>
                <a:latin typeface="Oswald" pitchFamily="34" charset="0"/>
                <a:ea typeface="Oswald" pitchFamily="34" charset="-122"/>
                <a:cs typeface="Oswald" pitchFamily="34" charset="-120"/>
              </a:rPr>
              <a:t>04</a:t>
            </a:r>
            <a:endParaRPr lang="en-US" sz="1000" dirty="0"/>
          </a:p>
        </p:txBody>
      </p:sp>
      <p:sp>
        <p:nvSpPr>
          <p:cNvPr id="27" name="Shape 23"/>
          <p:cNvSpPr/>
          <p:nvPr/>
        </p:nvSpPr>
        <p:spPr>
          <a:xfrm>
            <a:off x="5244998" y="1060703"/>
            <a:ext cx="1128370" cy="1904047"/>
          </a:xfrm>
          <a:prstGeom prst="rect">
            <a:avLst/>
          </a:prstGeom>
          <a:solidFill>
            <a:srgbClr val="0D0D0D"/>
          </a:solidFill>
          <a:ln w="12700">
            <a:solidFill>
              <a:srgbClr val="062F2F"/>
            </a:solidFill>
            <a:prstDash val="solid"/>
          </a:ln>
        </p:spPr>
        <p:txBody>
          <a:bodyPr/>
          <a:lstStyle/>
          <a:p>
            <a:endParaRPr lang="en-US"/>
          </a:p>
        </p:txBody>
      </p:sp>
      <p:sp>
        <p:nvSpPr>
          <p:cNvPr id="28" name="Text 24"/>
          <p:cNvSpPr txBox="1"/>
          <p:nvPr/>
        </p:nvSpPr>
        <p:spPr>
          <a:xfrm>
            <a:off x="5244998" y="1004911"/>
            <a:ext cx="1128370" cy="325692"/>
          </a:xfrm>
          <a:prstGeom prst="rect">
            <a:avLst/>
          </a:prstGeom>
          <a:noFill/>
          <a:ln/>
        </p:spPr>
        <p:txBody>
          <a:bodyPr wrap="square" lIns="0" tIns="0" rIns="0" bIns="0" rtlCol="0" anchor="ctr"/>
          <a:lstStyle/>
          <a:p>
            <a:pPr marL="0" indent="0" algn="ctr">
              <a:lnSpc>
                <a:spcPct val="100000"/>
              </a:lnSpc>
              <a:buNone/>
            </a:pPr>
            <a:r>
              <a:rPr lang="en-US" sz="1000" b="1" kern="0" spc="120" dirty="0">
                <a:solidFill>
                  <a:srgbClr val="777777"/>
                </a:solidFill>
                <a:latin typeface="Oswald" pitchFamily="34" charset="0"/>
                <a:ea typeface="Oswald" pitchFamily="34" charset="-122"/>
                <a:cs typeface="Oswald" pitchFamily="34" charset="-120"/>
              </a:rPr>
              <a:t>05</a:t>
            </a:r>
            <a:endParaRPr lang="en-US" sz="1000" dirty="0"/>
          </a:p>
        </p:txBody>
      </p:sp>
      <p:sp>
        <p:nvSpPr>
          <p:cNvPr id="30" name="Shape 26"/>
          <p:cNvSpPr/>
          <p:nvPr/>
        </p:nvSpPr>
        <p:spPr>
          <a:xfrm>
            <a:off x="6483096" y="1060703"/>
            <a:ext cx="1128370" cy="1904047"/>
          </a:xfrm>
          <a:prstGeom prst="rect">
            <a:avLst/>
          </a:prstGeom>
          <a:solidFill>
            <a:srgbClr val="0D0D0D"/>
          </a:solidFill>
          <a:ln w="12700">
            <a:solidFill>
              <a:srgbClr val="062F2F"/>
            </a:solidFill>
            <a:prstDash val="solid"/>
          </a:ln>
        </p:spPr>
        <p:txBody>
          <a:bodyPr/>
          <a:lstStyle/>
          <a:p>
            <a:endParaRPr lang="en-US"/>
          </a:p>
        </p:txBody>
      </p:sp>
      <p:sp>
        <p:nvSpPr>
          <p:cNvPr id="31" name="Text 27"/>
          <p:cNvSpPr txBox="1"/>
          <p:nvPr/>
        </p:nvSpPr>
        <p:spPr>
          <a:xfrm>
            <a:off x="6483096" y="1004911"/>
            <a:ext cx="1128370" cy="325692"/>
          </a:xfrm>
          <a:prstGeom prst="rect">
            <a:avLst/>
          </a:prstGeom>
          <a:noFill/>
          <a:ln/>
        </p:spPr>
        <p:txBody>
          <a:bodyPr wrap="square" lIns="0" tIns="0" rIns="0" bIns="0" rtlCol="0" anchor="ctr"/>
          <a:lstStyle/>
          <a:p>
            <a:pPr marL="0" indent="0" algn="ctr">
              <a:lnSpc>
                <a:spcPct val="100000"/>
              </a:lnSpc>
              <a:buNone/>
            </a:pPr>
            <a:r>
              <a:rPr lang="en-US" sz="1000" b="1" kern="0" spc="120" dirty="0">
                <a:solidFill>
                  <a:srgbClr val="777777"/>
                </a:solidFill>
                <a:latin typeface="Oswald" pitchFamily="34" charset="0"/>
                <a:ea typeface="Oswald" pitchFamily="34" charset="-122"/>
                <a:cs typeface="Oswald" pitchFamily="34" charset="-120"/>
              </a:rPr>
              <a:t>06</a:t>
            </a:r>
            <a:endParaRPr lang="en-US" sz="1000" dirty="0"/>
          </a:p>
        </p:txBody>
      </p:sp>
      <p:sp>
        <p:nvSpPr>
          <p:cNvPr id="33" name="Shape 29"/>
          <p:cNvSpPr/>
          <p:nvPr/>
        </p:nvSpPr>
        <p:spPr>
          <a:xfrm>
            <a:off x="7721194" y="1060703"/>
            <a:ext cx="1128370" cy="1904047"/>
          </a:xfrm>
          <a:prstGeom prst="rect">
            <a:avLst/>
          </a:prstGeom>
          <a:solidFill>
            <a:srgbClr val="0D0D0D"/>
          </a:solidFill>
          <a:ln w="12700">
            <a:solidFill>
              <a:srgbClr val="062F2F"/>
            </a:solidFill>
            <a:prstDash val="solid"/>
          </a:ln>
        </p:spPr>
        <p:txBody>
          <a:bodyPr/>
          <a:lstStyle/>
          <a:p>
            <a:endParaRPr lang="en-US"/>
          </a:p>
        </p:txBody>
      </p:sp>
      <p:sp>
        <p:nvSpPr>
          <p:cNvPr id="34" name="Text 30"/>
          <p:cNvSpPr txBox="1"/>
          <p:nvPr/>
        </p:nvSpPr>
        <p:spPr>
          <a:xfrm>
            <a:off x="7721194" y="1004911"/>
            <a:ext cx="1128370" cy="325692"/>
          </a:xfrm>
          <a:prstGeom prst="rect">
            <a:avLst/>
          </a:prstGeom>
          <a:noFill/>
          <a:ln/>
        </p:spPr>
        <p:txBody>
          <a:bodyPr wrap="square" lIns="0" tIns="0" rIns="0" bIns="0" rtlCol="0" anchor="ctr"/>
          <a:lstStyle/>
          <a:p>
            <a:pPr marL="0" indent="0" algn="ctr">
              <a:lnSpc>
                <a:spcPct val="100000"/>
              </a:lnSpc>
              <a:buNone/>
            </a:pPr>
            <a:r>
              <a:rPr lang="en-US" sz="1000" b="1" kern="0" spc="120" dirty="0">
                <a:solidFill>
                  <a:srgbClr val="777777"/>
                </a:solidFill>
                <a:latin typeface="Oswald" pitchFamily="34" charset="0"/>
                <a:ea typeface="Oswald" pitchFamily="34" charset="-122"/>
                <a:cs typeface="Oswald" pitchFamily="34" charset="-120"/>
              </a:rPr>
              <a:t>07</a:t>
            </a:r>
            <a:endParaRPr lang="en-US" sz="1000" dirty="0"/>
          </a:p>
        </p:txBody>
      </p:sp>
      <p:sp>
        <p:nvSpPr>
          <p:cNvPr id="36" name="Text 32"/>
          <p:cNvSpPr txBox="1"/>
          <p:nvPr/>
        </p:nvSpPr>
        <p:spPr>
          <a:xfrm>
            <a:off x="292608" y="841248"/>
            <a:ext cx="2366467" cy="219456"/>
          </a:xfrm>
          <a:prstGeom prst="rect">
            <a:avLst/>
          </a:prstGeom>
          <a:noFill/>
          <a:ln/>
        </p:spPr>
        <p:txBody>
          <a:bodyPr wrap="square" lIns="0" tIns="0" rIns="0" bIns="0" rtlCol="0" anchor="ctr"/>
          <a:lstStyle/>
          <a:p>
            <a:pPr marL="0" indent="0" algn="ctr">
              <a:lnSpc>
                <a:spcPct val="120000"/>
              </a:lnSpc>
              <a:buNone/>
            </a:pPr>
            <a:r>
              <a:rPr lang="en-US" sz="950" b="1" kern="0" spc="190" dirty="0">
                <a:solidFill>
                  <a:srgbClr val="80E0E0"/>
                </a:solidFill>
                <a:latin typeface="Oswald" pitchFamily="34" charset="0"/>
                <a:ea typeface="Oswald" pitchFamily="34" charset="-122"/>
                <a:cs typeface="Oswald" pitchFamily="34" charset="-120"/>
              </a:rPr>
              <a:t>TODAY</a:t>
            </a:r>
            <a:endParaRPr lang="en-US" sz="950" dirty="0"/>
          </a:p>
        </p:txBody>
      </p:sp>
      <p:sp>
        <p:nvSpPr>
          <p:cNvPr id="37" name="Text 33"/>
          <p:cNvSpPr txBox="1"/>
          <p:nvPr/>
        </p:nvSpPr>
        <p:spPr>
          <a:xfrm>
            <a:off x="2768802" y="841248"/>
            <a:ext cx="6080761" cy="219456"/>
          </a:xfrm>
          <a:prstGeom prst="rect">
            <a:avLst/>
          </a:prstGeom>
          <a:noFill/>
          <a:ln/>
        </p:spPr>
        <p:txBody>
          <a:bodyPr wrap="square" lIns="0" tIns="0" rIns="0" bIns="0" rtlCol="0" anchor="ctr"/>
          <a:lstStyle/>
          <a:p>
            <a:pPr marL="0" indent="0" algn="ctr">
              <a:lnSpc>
                <a:spcPct val="120000"/>
              </a:lnSpc>
              <a:buNone/>
            </a:pPr>
            <a:r>
              <a:rPr lang="en-US" sz="950" b="1" kern="0" spc="190" dirty="0">
                <a:solidFill>
                  <a:srgbClr val="777777"/>
                </a:solidFill>
                <a:latin typeface="Oswald" pitchFamily="34" charset="0"/>
                <a:ea typeface="Oswald" pitchFamily="34" charset="-122"/>
                <a:cs typeface="Oswald" pitchFamily="34" charset="-120"/>
              </a:rPr>
              <a:t>LATER IN THE UNIT</a:t>
            </a:r>
            <a:endParaRPr lang="en-US" sz="950" dirty="0"/>
          </a:p>
        </p:txBody>
      </p:sp>
      <p:sp>
        <p:nvSpPr>
          <p:cNvPr id="38" name="Shape 34"/>
          <p:cNvSpPr/>
          <p:nvPr/>
        </p:nvSpPr>
        <p:spPr>
          <a:xfrm>
            <a:off x="292608" y="3221384"/>
            <a:ext cx="8558784" cy="752551"/>
          </a:xfrm>
          <a:prstGeom prst="rect">
            <a:avLst/>
          </a:prstGeom>
          <a:solidFill>
            <a:srgbClr val="00B8B8">
              <a:alpha val="6000"/>
            </a:srgbClr>
          </a:solidFill>
          <a:ln w="12700">
            <a:solidFill>
              <a:srgbClr val="054444"/>
            </a:solidFill>
            <a:prstDash val="solid"/>
          </a:ln>
        </p:spPr>
        <p:txBody>
          <a:bodyPr/>
          <a:lstStyle/>
          <a:p>
            <a:endParaRPr lang="en-US"/>
          </a:p>
        </p:txBody>
      </p:sp>
      <p:sp>
        <p:nvSpPr>
          <p:cNvPr id="39" name="Shape 35"/>
          <p:cNvSpPr/>
          <p:nvPr/>
        </p:nvSpPr>
        <p:spPr>
          <a:xfrm>
            <a:off x="292608" y="3221384"/>
            <a:ext cx="45720" cy="752551"/>
          </a:xfrm>
          <a:prstGeom prst="rect">
            <a:avLst/>
          </a:prstGeom>
          <a:solidFill>
            <a:srgbClr val="00B8B8"/>
          </a:solidFill>
          <a:ln/>
        </p:spPr>
        <p:txBody>
          <a:bodyPr/>
          <a:lstStyle/>
          <a:p>
            <a:endParaRPr lang="en-US"/>
          </a:p>
        </p:txBody>
      </p:sp>
      <p:sp>
        <p:nvSpPr>
          <p:cNvPr id="40" name="Text 36"/>
          <p:cNvSpPr txBox="1"/>
          <p:nvPr/>
        </p:nvSpPr>
        <p:spPr>
          <a:xfrm>
            <a:off x="521208" y="3374089"/>
            <a:ext cx="8162849" cy="484633"/>
          </a:xfrm>
          <a:prstGeom prst="rect">
            <a:avLst/>
          </a:prstGeom>
          <a:noFill/>
          <a:ln/>
        </p:spPr>
        <p:txBody>
          <a:bodyPr wrap="square" lIns="0" tIns="0" rIns="0" bIns="0" rtlCol="0" anchor="t"/>
          <a:lstStyle/>
          <a:p>
            <a:pPr marL="0" indent="0">
              <a:lnSpc>
                <a:spcPct val="135000"/>
              </a:lnSpc>
              <a:buNone/>
            </a:pPr>
            <a:r>
              <a:rPr lang="en-US" sz="1200" dirty="0">
                <a:solidFill>
                  <a:srgbClr val="80E0E0"/>
                </a:solidFill>
                <a:latin typeface="Arial" pitchFamily="34" charset="0"/>
                <a:ea typeface="Arial" pitchFamily="34" charset="-122"/>
                <a:cs typeface="Arial" pitchFamily="34" charset="-120"/>
              </a:rPr>
              <a:t>The elements of art are the seven building blocks every artist and designer uses. They are not a style and they are not a rule. They are the parts every drawing is made of, including the character you will design.</a:t>
            </a:r>
            <a:endParaRPr lang="en-US" sz="1200" dirty="0"/>
          </a:p>
        </p:txBody>
      </p:sp>
      <p:sp>
        <p:nvSpPr>
          <p:cNvPr id="41" name="Shape 37"/>
          <p:cNvSpPr/>
          <p:nvPr/>
        </p:nvSpPr>
        <p:spPr>
          <a:xfrm>
            <a:off x="292608" y="4138527"/>
            <a:ext cx="8558784" cy="701345"/>
          </a:xfrm>
          <a:prstGeom prst="rect">
            <a:avLst/>
          </a:prstGeom>
          <a:solidFill>
            <a:srgbClr val="00B8B8">
              <a:alpha val="6000"/>
            </a:srgbClr>
          </a:solidFill>
          <a:ln w="12700">
            <a:solidFill>
              <a:srgbClr val="054444"/>
            </a:solidFill>
            <a:prstDash val="solid"/>
          </a:ln>
        </p:spPr>
        <p:txBody>
          <a:bodyPr/>
          <a:lstStyle/>
          <a:p>
            <a:endParaRPr lang="en-US"/>
          </a:p>
        </p:txBody>
      </p:sp>
      <p:sp>
        <p:nvSpPr>
          <p:cNvPr id="42" name="Shape 38"/>
          <p:cNvSpPr/>
          <p:nvPr/>
        </p:nvSpPr>
        <p:spPr>
          <a:xfrm>
            <a:off x="292608" y="4138527"/>
            <a:ext cx="45720" cy="701345"/>
          </a:xfrm>
          <a:prstGeom prst="rect">
            <a:avLst/>
          </a:prstGeom>
          <a:solidFill>
            <a:srgbClr val="00B8B8"/>
          </a:solidFill>
          <a:ln/>
        </p:spPr>
        <p:txBody>
          <a:bodyPr/>
          <a:lstStyle/>
          <a:p>
            <a:endParaRPr lang="en-US"/>
          </a:p>
        </p:txBody>
      </p:sp>
      <p:sp>
        <p:nvSpPr>
          <p:cNvPr id="43" name="Text 39"/>
          <p:cNvSpPr txBox="1"/>
          <p:nvPr/>
        </p:nvSpPr>
        <p:spPr>
          <a:xfrm>
            <a:off x="521208" y="4291232"/>
            <a:ext cx="8162849" cy="433426"/>
          </a:xfrm>
          <a:prstGeom prst="rect">
            <a:avLst/>
          </a:prstGeom>
          <a:noFill/>
          <a:ln/>
        </p:spPr>
        <p:txBody>
          <a:bodyPr wrap="square" lIns="0" tIns="0" rIns="0" bIns="0" rtlCol="0" anchor="t"/>
          <a:lstStyle/>
          <a:p>
            <a:pPr marL="0" indent="0">
              <a:lnSpc>
                <a:spcPct val="135000"/>
              </a:lnSpc>
              <a:buNone/>
            </a:pPr>
            <a:r>
              <a:rPr lang="en-US" sz="1050" dirty="0">
                <a:solidFill>
                  <a:srgbClr val="FFFFFF"/>
                </a:solidFill>
                <a:latin typeface="Arial" pitchFamily="34" charset="0"/>
                <a:ea typeface="Arial" pitchFamily="34" charset="-122"/>
                <a:cs typeface="Arial" pitchFamily="34" charset="-120"/>
              </a:rPr>
              <a:t>We cover two at a time, and you redraw your character after each round. Round 1 is line and shape. Round 2 adds form and space. Round 3 adds value, color, and texture.</a:t>
            </a:r>
            <a:endParaRPr lang="en-US" sz="1050" dirty="0"/>
          </a:p>
        </p:txBody>
      </p:sp>
      <p:pic>
        <p:nvPicPr>
          <p:cNvPr id="44" name="Picture 43">
            <a:extLst>
              <a:ext uri="{FF2B5EF4-FFF2-40B4-BE49-F238E27FC236}">
                <a16:creationId xmlns:a16="http://schemas.microsoft.com/office/drawing/2014/main" id="{8DA927FF-44FE-CEA9-0092-EB9CDBF9C09F}"/>
              </a:ext>
            </a:extLst>
          </p:cNvPr>
          <p:cNvPicPr>
            <a:picLocks noChangeAspect="1"/>
          </p:cNvPicPr>
          <p:nvPr/>
        </p:nvPicPr>
        <p:blipFill>
          <a:blip r:embed="rId5"/>
          <a:stretch>
            <a:fillRect/>
          </a:stretch>
        </p:blipFill>
        <p:spPr>
          <a:xfrm>
            <a:off x="384808" y="1357635"/>
            <a:ext cx="954273" cy="1382617"/>
          </a:xfrm>
          <a:prstGeom prst="rect">
            <a:avLst/>
          </a:prstGeom>
        </p:spPr>
      </p:pic>
      <p:pic>
        <p:nvPicPr>
          <p:cNvPr id="45" name="Picture 44">
            <a:extLst>
              <a:ext uri="{FF2B5EF4-FFF2-40B4-BE49-F238E27FC236}">
                <a16:creationId xmlns:a16="http://schemas.microsoft.com/office/drawing/2014/main" id="{3792957D-C5A4-8225-C8F6-D6249929F4DF}"/>
              </a:ext>
            </a:extLst>
          </p:cNvPr>
          <p:cNvPicPr>
            <a:picLocks noChangeAspect="1"/>
          </p:cNvPicPr>
          <p:nvPr/>
        </p:nvPicPr>
        <p:blipFill>
          <a:blip r:embed="rId6"/>
          <a:stretch>
            <a:fillRect/>
          </a:stretch>
        </p:blipFill>
        <p:spPr>
          <a:xfrm>
            <a:off x="1589119" y="1344075"/>
            <a:ext cx="1011542" cy="1401193"/>
          </a:xfrm>
          <a:prstGeom prst="rect">
            <a:avLst/>
          </a:prstGeom>
        </p:spPr>
      </p:pic>
      <p:pic>
        <p:nvPicPr>
          <p:cNvPr id="46" name="Picture 45">
            <a:extLst>
              <a:ext uri="{FF2B5EF4-FFF2-40B4-BE49-F238E27FC236}">
                <a16:creationId xmlns:a16="http://schemas.microsoft.com/office/drawing/2014/main" id="{91832F69-1BCA-7C22-8213-4FB90F0D2D53}"/>
              </a:ext>
            </a:extLst>
          </p:cNvPr>
          <p:cNvPicPr>
            <a:picLocks noChangeAspect="1"/>
          </p:cNvPicPr>
          <p:nvPr/>
        </p:nvPicPr>
        <p:blipFill>
          <a:blip r:embed="rId7">
            <a:alphaModFix amt="50000"/>
          </a:blip>
          <a:stretch>
            <a:fillRect/>
          </a:stretch>
        </p:blipFill>
        <p:spPr>
          <a:xfrm>
            <a:off x="2824729" y="1344075"/>
            <a:ext cx="1005258" cy="1442255"/>
          </a:xfrm>
          <a:prstGeom prst="rect">
            <a:avLst/>
          </a:prstGeom>
        </p:spPr>
      </p:pic>
      <p:pic>
        <p:nvPicPr>
          <p:cNvPr id="49" name="Picture 48">
            <a:extLst>
              <a:ext uri="{FF2B5EF4-FFF2-40B4-BE49-F238E27FC236}">
                <a16:creationId xmlns:a16="http://schemas.microsoft.com/office/drawing/2014/main" id="{81714F5F-D17F-3297-84D4-377492A7F581}"/>
              </a:ext>
            </a:extLst>
          </p:cNvPr>
          <p:cNvPicPr>
            <a:picLocks noChangeAspect="1"/>
          </p:cNvPicPr>
          <p:nvPr/>
        </p:nvPicPr>
        <p:blipFill>
          <a:blip r:embed="rId8">
            <a:alphaModFix amt="50000"/>
          </a:blip>
          <a:stretch>
            <a:fillRect/>
          </a:stretch>
        </p:blipFill>
        <p:spPr>
          <a:xfrm>
            <a:off x="5309525" y="1344076"/>
            <a:ext cx="996468" cy="1431918"/>
          </a:xfrm>
          <a:prstGeom prst="rect">
            <a:avLst/>
          </a:prstGeom>
        </p:spPr>
      </p:pic>
      <p:pic>
        <p:nvPicPr>
          <p:cNvPr id="50" name="Picture 49">
            <a:extLst>
              <a:ext uri="{FF2B5EF4-FFF2-40B4-BE49-F238E27FC236}">
                <a16:creationId xmlns:a16="http://schemas.microsoft.com/office/drawing/2014/main" id="{9DE75996-8541-41B9-BCE8-017B6C98A5DC}"/>
              </a:ext>
            </a:extLst>
          </p:cNvPr>
          <p:cNvPicPr>
            <a:picLocks noChangeAspect="1"/>
          </p:cNvPicPr>
          <p:nvPr/>
        </p:nvPicPr>
        <p:blipFill>
          <a:blip r:embed="rId9">
            <a:alphaModFix amt="50000"/>
          </a:blip>
          <a:stretch>
            <a:fillRect/>
          </a:stretch>
        </p:blipFill>
        <p:spPr>
          <a:xfrm>
            <a:off x="7783170" y="1344075"/>
            <a:ext cx="1004418" cy="1442255"/>
          </a:xfrm>
          <a:prstGeom prst="rect">
            <a:avLst/>
          </a:prstGeom>
        </p:spPr>
      </p:pic>
      <p:pic>
        <p:nvPicPr>
          <p:cNvPr id="52" name="Picture 51">
            <a:extLst>
              <a:ext uri="{FF2B5EF4-FFF2-40B4-BE49-F238E27FC236}">
                <a16:creationId xmlns:a16="http://schemas.microsoft.com/office/drawing/2014/main" id="{B4EEE101-1427-5171-A8A6-858DA1C60B73}"/>
              </a:ext>
            </a:extLst>
          </p:cNvPr>
          <p:cNvPicPr>
            <a:picLocks noChangeAspect="1"/>
          </p:cNvPicPr>
          <p:nvPr/>
        </p:nvPicPr>
        <p:blipFill>
          <a:blip r:embed="rId10">
            <a:alphaModFix amt="50000"/>
          </a:blip>
          <a:stretch>
            <a:fillRect/>
          </a:stretch>
        </p:blipFill>
        <p:spPr>
          <a:xfrm>
            <a:off x="4073821" y="1368094"/>
            <a:ext cx="988581" cy="1414883"/>
          </a:xfrm>
          <a:prstGeom prst="rect">
            <a:avLst/>
          </a:prstGeom>
        </p:spPr>
      </p:pic>
      <p:pic>
        <p:nvPicPr>
          <p:cNvPr id="53" name="Picture 52">
            <a:extLst>
              <a:ext uri="{FF2B5EF4-FFF2-40B4-BE49-F238E27FC236}">
                <a16:creationId xmlns:a16="http://schemas.microsoft.com/office/drawing/2014/main" id="{1527203C-112B-B965-79EF-3A8CCF19252D}"/>
              </a:ext>
            </a:extLst>
          </p:cNvPr>
          <p:cNvPicPr>
            <a:picLocks noChangeAspect="1"/>
          </p:cNvPicPr>
          <p:nvPr/>
        </p:nvPicPr>
        <p:blipFill>
          <a:blip r:embed="rId11">
            <a:alphaModFix amt="50000"/>
          </a:blip>
          <a:stretch>
            <a:fillRect/>
          </a:stretch>
        </p:blipFill>
        <p:spPr>
          <a:xfrm>
            <a:off x="6542532" y="1344075"/>
            <a:ext cx="1009498" cy="142753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00B8B8"/>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80E0E0"/>
                </a:solidFill>
                <a:latin typeface="Oswald" pitchFamily="34" charset="0"/>
                <a:ea typeface="Oswald" pitchFamily="34" charset="-122"/>
                <a:cs typeface="Oswald" pitchFamily="34" charset="-120"/>
              </a:rPr>
              <a:t>WHAT YOU WILL LEARN</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80E0E0"/>
                </a:solidFill>
                <a:latin typeface="Oswald" pitchFamily="34" charset="0"/>
                <a:ea typeface="Oswald" pitchFamily="34" charset="-122"/>
                <a:cs typeface="Oswald" pitchFamily="34" charset="-120"/>
              </a:rPr>
              <a:t>OUTCOMES / 02 / 18</a:t>
            </a:r>
            <a:endParaRPr lang="en-US" sz="900" dirty="0"/>
          </a:p>
        </p:txBody>
      </p:sp>
      <p:sp>
        <p:nvSpPr>
          <p:cNvPr id="8" name="Shape 4"/>
          <p:cNvSpPr/>
          <p:nvPr/>
        </p:nvSpPr>
        <p:spPr>
          <a:xfrm>
            <a:off x="859536" y="699516"/>
            <a:ext cx="457017" cy="22860"/>
          </a:xfrm>
          <a:prstGeom prst="rect">
            <a:avLst/>
          </a:prstGeom>
          <a:solidFill>
            <a:srgbClr val="00B8B8"/>
          </a:solidFill>
          <a:ln/>
        </p:spPr>
        <p:txBody>
          <a:bodyPr/>
          <a:lstStyle/>
          <a:p>
            <a:endParaRPr lang="en-US"/>
          </a:p>
        </p:txBody>
      </p:sp>
      <p:sp>
        <p:nvSpPr>
          <p:cNvPr id="9" name="Shape 5"/>
          <p:cNvSpPr/>
          <p:nvPr/>
        </p:nvSpPr>
        <p:spPr>
          <a:xfrm>
            <a:off x="292608" y="923544"/>
            <a:ext cx="310896" cy="310896"/>
          </a:xfrm>
          <a:prstGeom prst="rect">
            <a:avLst/>
          </a:prstGeom>
          <a:solidFill>
            <a:srgbClr val="00B8B8"/>
          </a:solidFill>
          <a:ln/>
        </p:spPr>
        <p:txBody>
          <a:bodyPr/>
          <a:lstStyle/>
          <a:p>
            <a:endParaRPr lang="en-US"/>
          </a:p>
        </p:txBody>
      </p:sp>
      <p:sp>
        <p:nvSpPr>
          <p:cNvPr id="10" name="Text 6"/>
          <p:cNvSpPr txBox="1"/>
          <p:nvPr/>
        </p:nvSpPr>
        <p:spPr>
          <a:xfrm>
            <a:off x="292608" y="923544"/>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01</a:t>
            </a:r>
            <a:endParaRPr lang="en-US" sz="1100" dirty="0"/>
          </a:p>
        </p:txBody>
      </p:sp>
      <p:sp>
        <p:nvSpPr>
          <p:cNvPr id="11" name="Text 7"/>
          <p:cNvSpPr txBox="1"/>
          <p:nvPr/>
        </p:nvSpPr>
        <p:spPr>
          <a:xfrm>
            <a:off x="768096" y="905256"/>
            <a:ext cx="8083296"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DEFINE LINE AND SHAPE</a:t>
            </a:r>
            <a:endParaRPr lang="en-US" sz="1250" dirty="0"/>
          </a:p>
        </p:txBody>
      </p:sp>
      <p:sp>
        <p:nvSpPr>
          <p:cNvPr id="12" name="Text 8"/>
          <p:cNvSpPr txBox="1"/>
          <p:nvPr/>
        </p:nvSpPr>
        <p:spPr>
          <a:xfrm>
            <a:off x="768096" y="1170432"/>
            <a:ext cx="8083296" cy="239573"/>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You will explain both in your own words, without looking them up.</a:t>
            </a:r>
            <a:endParaRPr lang="en-US" sz="1050" dirty="0"/>
          </a:p>
        </p:txBody>
      </p:sp>
      <p:sp>
        <p:nvSpPr>
          <p:cNvPr id="13" name="Shape 9"/>
          <p:cNvSpPr/>
          <p:nvPr/>
        </p:nvSpPr>
        <p:spPr>
          <a:xfrm>
            <a:off x="292608" y="1556309"/>
            <a:ext cx="310896" cy="310896"/>
          </a:xfrm>
          <a:prstGeom prst="rect">
            <a:avLst/>
          </a:prstGeom>
          <a:solidFill>
            <a:srgbClr val="00B8B8"/>
          </a:solidFill>
          <a:ln/>
        </p:spPr>
        <p:txBody>
          <a:bodyPr/>
          <a:lstStyle/>
          <a:p>
            <a:endParaRPr lang="en-US"/>
          </a:p>
        </p:txBody>
      </p:sp>
      <p:sp>
        <p:nvSpPr>
          <p:cNvPr id="14" name="Text 10"/>
          <p:cNvSpPr txBox="1"/>
          <p:nvPr/>
        </p:nvSpPr>
        <p:spPr>
          <a:xfrm>
            <a:off x="292608" y="1556309"/>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02</a:t>
            </a:r>
            <a:endParaRPr lang="en-US" sz="1100" dirty="0"/>
          </a:p>
        </p:txBody>
      </p:sp>
      <p:sp>
        <p:nvSpPr>
          <p:cNvPr id="15" name="Text 11"/>
          <p:cNvSpPr txBox="1"/>
          <p:nvPr/>
        </p:nvSpPr>
        <p:spPr>
          <a:xfrm>
            <a:off x="768096" y="1538021"/>
            <a:ext cx="8083296"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NAME THE FIVE TYPES OF LINE</a:t>
            </a:r>
            <a:endParaRPr lang="en-US" sz="1250" dirty="0"/>
          </a:p>
        </p:txBody>
      </p:sp>
      <p:sp>
        <p:nvSpPr>
          <p:cNvPr id="16" name="Text 12"/>
          <p:cNvSpPr txBox="1"/>
          <p:nvPr/>
        </p:nvSpPr>
        <p:spPr>
          <a:xfrm>
            <a:off x="768096" y="1803197"/>
            <a:ext cx="8083296" cy="239573"/>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You will point out horizontal, vertical, diagonal, curved, and zigzag lines in real work.</a:t>
            </a:r>
            <a:endParaRPr lang="en-US" sz="1050" dirty="0"/>
          </a:p>
        </p:txBody>
      </p:sp>
      <p:sp>
        <p:nvSpPr>
          <p:cNvPr id="17" name="Shape 13"/>
          <p:cNvSpPr/>
          <p:nvPr/>
        </p:nvSpPr>
        <p:spPr>
          <a:xfrm>
            <a:off x="292608" y="2189074"/>
            <a:ext cx="310896" cy="310896"/>
          </a:xfrm>
          <a:prstGeom prst="rect">
            <a:avLst/>
          </a:prstGeom>
          <a:solidFill>
            <a:srgbClr val="00B8B8"/>
          </a:solidFill>
          <a:ln/>
        </p:spPr>
        <p:txBody>
          <a:bodyPr/>
          <a:lstStyle/>
          <a:p>
            <a:endParaRPr lang="en-US"/>
          </a:p>
        </p:txBody>
      </p:sp>
      <p:sp>
        <p:nvSpPr>
          <p:cNvPr id="18" name="Text 14"/>
          <p:cNvSpPr txBox="1"/>
          <p:nvPr/>
        </p:nvSpPr>
        <p:spPr>
          <a:xfrm>
            <a:off x="292608" y="2189074"/>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03</a:t>
            </a:r>
            <a:endParaRPr lang="en-US" sz="1100" dirty="0"/>
          </a:p>
        </p:txBody>
      </p:sp>
      <p:sp>
        <p:nvSpPr>
          <p:cNvPr id="19" name="Text 15"/>
          <p:cNvSpPr txBox="1"/>
          <p:nvPr/>
        </p:nvSpPr>
        <p:spPr>
          <a:xfrm>
            <a:off x="768096" y="2170786"/>
            <a:ext cx="8083296"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TELL GEOMETRIC FROM ORGANIC</a:t>
            </a:r>
            <a:endParaRPr lang="en-US" sz="1250" dirty="0"/>
          </a:p>
        </p:txBody>
      </p:sp>
      <p:sp>
        <p:nvSpPr>
          <p:cNvPr id="20" name="Text 16"/>
          <p:cNvSpPr txBox="1"/>
          <p:nvPr/>
        </p:nvSpPr>
        <p:spPr>
          <a:xfrm>
            <a:off x="768096" y="2435962"/>
            <a:ext cx="8083296" cy="239573"/>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You will sort any shape into one group or the other.</a:t>
            </a:r>
            <a:endParaRPr lang="en-US" sz="1050" dirty="0"/>
          </a:p>
        </p:txBody>
      </p:sp>
      <p:sp>
        <p:nvSpPr>
          <p:cNvPr id="21" name="Shape 17"/>
          <p:cNvSpPr/>
          <p:nvPr/>
        </p:nvSpPr>
        <p:spPr>
          <a:xfrm>
            <a:off x="292608" y="2821838"/>
            <a:ext cx="310896" cy="310896"/>
          </a:xfrm>
          <a:prstGeom prst="rect">
            <a:avLst/>
          </a:prstGeom>
          <a:solidFill>
            <a:srgbClr val="00B8B8"/>
          </a:solidFill>
          <a:ln/>
        </p:spPr>
        <p:txBody>
          <a:bodyPr/>
          <a:lstStyle/>
          <a:p>
            <a:endParaRPr lang="en-US"/>
          </a:p>
        </p:txBody>
      </p:sp>
      <p:sp>
        <p:nvSpPr>
          <p:cNvPr id="22" name="Text 18"/>
          <p:cNvSpPr txBox="1"/>
          <p:nvPr/>
        </p:nvSpPr>
        <p:spPr>
          <a:xfrm>
            <a:off x="292608" y="2821838"/>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04</a:t>
            </a:r>
            <a:endParaRPr lang="en-US" sz="1100" dirty="0"/>
          </a:p>
        </p:txBody>
      </p:sp>
      <p:sp>
        <p:nvSpPr>
          <p:cNvPr id="23" name="Text 19"/>
          <p:cNvSpPr txBox="1"/>
          <p:nvPr/>
        </p:nvSpPr>
        <p:spPr>
          <a:xfrm>
            <a:off x="768096" y="2803550"/>
            <a:ext cx="8083296"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FIND THE NEGATIVE SPACE</a:t>
            </a:r>
            <a:endParaRPr lang="en-US" sz="1250" dirty="0"/>
          </a:p>
        </p:txBody>
      </p:sp>
      <p:sp>
        <p:nvSpPr>
          <p:cNvPr id="24" name="Text 20"/>
          <p:cNvSpPr txBox="1"/>
          <p:nvPr/>
        </p:nvSpPr>
        <p:spPr>
          <a:xfrm>
            <a:off x="768096" y="3068726"/>
            <a:ext cx="8083296" cy="239573"/>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You will see the empty areas as part of the design, not as leftovers.</a:t>
            </a:r>
            <a:endParaRPr lang="en-US" sz="1050" dirty="0"/>
          </a:p>
        </p:txBody>
      </p:sp>
      <p:sp>
        <p:nvSpPr>
          <p:cNvPr id="25" name="Shape 21"/>
          <p:cNvSpPr/>
          <p:nvPr/>
        </p:nvSpPr>
        <p:spPr>
          <a:xfrm>
            <a:off x="292608" y="3454603"/>
            <a:ext cx="310896" cy="310896"/>
          </a:xfrm>
          <a:prstGeom prst="rect">
            <a:avLst/>
          </a:prstGeom>
          <a:solidFill>
            <a:srgbClr val="00B8B8"/>
          </a:solidFill>
          <a:ln/>
        </p:spPr>
        <p:txBody>
          <a:bodyPr/>
          <a:lstStyle/>
          <a:p>
            <a:endParaRPr lang="en-US"/>
          </a:p>
        </p:txBody>
      </p:sp>
      <p:sp>
        <p:nvSpPr>
          <p:cNvPr id="26" name="Text 22"/>
          <p:cNvSpPr txBox="1"/>
          <p:nvPr/>
        </p:nvSpPr>
        <p:spPr>
          <a:xfrm>
            <a:off x="292608" y="3454603"/>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05</a:t>
            </a:r>
            <a:endParaRPr lang="en-US" sz="1100" dirty="0"/>
          </a:p>
        </p:txBody>
      </p:sp>
      <p:sp>
        <p:nvSpPr>
          <p:cNvPr id="27" name="Text 23"/>
          <p:cNvSpPr txBox="1"/>
          <p:nvPr/>
        </p:nvSpPr>
        <p:spPr>
          <a:xfrm>
            <a:off x="768096" y="3436315"/>
            <a:ext cx="8083296"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BUILD A CHARACTER FROM BOTH</a:t>
            </a:r>
            <a:endParaRPr lang="en-US" sz="1250" dirty="0"/>
          </a:p>
        </p:txBody>
      </p:sp>
      <p:sp>
        <p:nvSpPr>
          <p:cNvPr id="28" name="Text 24"/>
          <p:cNvSpPr txBox="1"/>
          <p:nvPr/>
        </p:nvSpPr>
        <p:spPr>
          <a:xfrm>
            <a:off x="768096" y="3701491"/>
            <a:ext cx="8083296" cy="239573"/>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You will design an original character in your sketchbook using only line and shape.</a:t>
            </a:r>
            <a:endParaRPr lang="en-US" sz="1050" dirty="0"/>
          </a:p>
        </p:txBody>
      </p:sp>
      <p:sp>
        <p:nvSpPr>
          <p:cNvPr id="29" name="Shape 25"/>
          <p:cNvSpPr/>
          <p:nvPr/>
        </p:nvSpPr>
        <p:spPr>
          <a:xfrm>
            <a:off x="292608" y="4016959"/>
            <a:ext cx="8558784" cy="701345"/>
          </a:xfrm>
          <a:prstGeom prst="rect">
            <a:avLst/>
          </a:prstGeom>
          <a:solidFill>
            <a:srgbClr val="00B8B8">
              <a:alpha val="6000"/>
            </a:srgbClr>
          </a:solidFill>
          <a:ln w="12700">
            <a:solidFill>
              <a:srgbClr val="054444"/>
            </a:solidFill>
            <a:prstDash val="solid"/>
          </a:ln>
        </p:spPr>
        <p:txBody>
          <a:bodyPr/>
          <a:lstStyle/>
          <a:p>
            <a:endParaRPr lang="en-US"/>
          </a:p>
        </p:txBody>
      </p:sp>
      <p:sp>
        <p:nvSpPr>
          <p:cNvPr id="30" name="Shape 26"/>
          <p:cNvSpPr/>
          <p:nvPr/>
        </p:nvSpPr>
        <p:spPr>
          <a:xfrm>
            <a:off x="292608" y="4016959"/>
            <a:ext cx="45720" cy="701345"/>
          </a:xfrm>
          <a:prstGeom prst="rect">
            <a:avLst/>
          </a:prstGeom>
          <a:solidFill>
            <a:srgbClr val="00B8B8"/>
          </a:solidFill>
          <a:ln/>
        </p:spPr>
        <p:txBody>
          <a:bodyPr/>
          <a:lstStyle/>
          <a:p>
            <a:endParaRPr lang="en-US"/>
          </a:p>
        </p:txBody>
      </p:sp>
      <p:sp>
        <p:nvSpPr>
          <p:cNvPr id="31" name="Text 27"/>
          <p:cNvSpPr txBox="1"/>
          <p:nvPr/>
        </p:nvSpPr>
        <p:spPr>
          <a:xfrm>
            <a:off x="521208" y="4169664"/>
            <a:ext cx="8162849" cy="433426"/>
          </a:xfrm>
          <a:prstGeom prst="rect">
            <a:avLst/>
          </a:prstGeom>
          <a:noFill/>
          <a:ln/>
        </p:spPr>
        <p:txBody>
          <a:bodyPr wrap="square" lIns="0" tIns="0" rIns="0" bIns="0" rtlCol="0" anchor="t"/>
          <a:lstStyle/>
          <a:p>
            <a:pPr marL="0" indent="0">
              <a:lnSpc>
                <a:spcPct val="135000"/>
              </a:lnSpc>
              <a:buNone/>
            </a:pPr>
            <a:r>
              <a:rPr lang="en-US" sz="1050" dirty="0">
                <a:solidFill>
                  <a:srgbClr val="FFFFFF"/>
                </a:solidFill>
                <a:latin typeface="Arial" pitchFamily="34" charset="0"/>
                <a:ea typeface="Arial" pitchFamily="34" charset="-122"/>
                <a:cs typeface="Arial" pitchFamily="34" charset="-120"/>
              </a:rPr>
              <a:t>Designers use these words every day on the job. A client says "make that line heavier" or "the negative space feels tight" and you need to know exactly what they mean.</a:t>
            </a:r>
            <a:endParaRPr lang="en-US" sz="1050" dirty="0"/>
          </a:p>
        </p:txBody>
      </p:sp>
      <p:pic>
        <p:nvPicPr>
          <p:cNvPr id="32" name="Picture 31">
            <a:extLst>
              <a:ext uri="{FF2B5EF4-FFF2-40B4-BE49-F238E27FC236}">
                <a16:creationId xmlns:a16="http://schemas.microsoft.com/office/drawing/2014/main" id="{99A994C9-FA40-ECDC-7AC6-DE06F146CBF2}"/>
              </a:ext>
            </a:extLst>
          </p:cNvPr>
          <p:cNvPicPr>
            <a:picLocks noChangeAspect="1"/>
          </p:cNvPicPr>
          <p:nvPr/>
        </p:nvPicPr>
        <p:blipFill>
          <a:blip r:embed="rId5"/>
          <a:srcRect l="15814" r="15376"/>
          <a:stretch>
            <a:fillRect/>
          </a:stretch>
        </p:blipFill>
        <p:spPr>
          <a:xfrm>
            <a:off x="6175169" y="1205028"/>
            <a:ext cx="2508888" cy="236539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47688" y="1394460"/>
            <a:ext cx="3867912" cy="4572000"/>
          </a:xfrm>
          <a:prstGeom prst="rect">
            <a:avLst/>
          </a:prstGeom>
        </p:spPr>
      </p:pic>
      <p:sp>
        <p:nvSpPr>
          <p:cNvPr id="3" name="Shape 0"/>
          <p:cNvSpPr/>
          <p:nvPr/>
        </p:nvSpPr>
        <p:spPr>
          <a:xfrm>
            <a:off x="0" y="7620"/>
            <a:ext cx="9144000" cy="5143500"/>
          </a:xfrm>
          <a:prstGeom prst="rect">
            <a:avLst/>
          </a:prstGeom>
          <a:solidFill>
            <a:srgbClr val="04191A">
              <a:alpha val="76000"/>
            </a:srgbClr>
          </a:solidFill>
          <a:ln/>
        </p:spPr>
        <p:txBody>
          <a:bodyPr/>
          <a:lstStyle/>
          <a:p>
            <a:endParaRPr lang="en-US"/>
          </a:p>
        </p:txBody>
      </p:sp>
      <p:sp>
        <p:nvSpPr>
          <p:cNvPr id="4" name="Shape 1"/>
          <p:cNvSpPr/>
          <p:nvPr/>
        </p:nvSpPr>
        <p:spPr>
          <a:xfrm>
            <a:off x="0" y="0"/>
            <a:ext cx="45720" cy="5143500"/>
          </a:xfrm>
          <a:prstGeom prst="rect">
            <a:avLst/>
          </a:prstGeom>
          <a:solidFill>
            <a:srgbClr val="00B8B8"/>
          </a:solidFill>
          <a:ln/>
        </p:spPr>
        <p:txBody>
          <a:bodyPr/>
          <a:lstStyle/>
          <a:p>
            <a:endParaRPr lang="en-US"/>
          </a:p>
        </p:txBody>
      </p:sp>
      <p:sp>
        <p:nvSpPr>
          <p:cNvPr id="5" name="Text 2"/>
          <p:cNvSpPr txBox="1"/>
          <p:nvPr/>
        </p:nvSpPr>
        <p:spPr>
          <a:xfrm>
            <a:off x="292608" y="1005840"/>
            <a:ext cx="2194560" cy="2103120"/>
          </a:xfrm>
          <a:prstGeom prst="rect">
            <a:avLst/>
          </a:prstGeom>
          <a:noFill/>
          <a:ln/>
        </p:spPr>
        <p:txBody>
          <a:bodyPr wrap="square" lIns="0" tIns="0" rIns="0" bIns="0" rtlCol="0" anchor="ctr"/>
          <a:lstStyle/>
          <a:p>
            <a:pPr marL="0" indent="0">
              <a:lnSpc>
                <a:spcPct val="100000"/>
              </a:lnSpc>
              <a:buNone/>
            </a:pPr>
            <a:r>
              <a:rPr lang="en-US" sz="12000" b="1" dirty="0">
                <a:solidFill>
                  <a:srgbClr val="00B8B8"/>
                </a:solidFill>
                <a:latin typeface="Oswald" pitchFamily="34" charset="0"/>
                <a:ea typeface="Oswald" pitchFamily="34" charset="-122"/>
                <a:cs typeface="Oswald" pitchFamily="34" charset="-120"/>
              </a:rPr>
              <a:t>01</a:t>
            </a:r>
            <a:endParaRPr lang="en-US" sz="12000" dirty="0"/>
          </a:p>
        </p:txBody>
      </p:sp>
      <p:sp>
        <p:nvSpPr>
          <p:cNvPr id="6" name="Text 3"/>
          <p:cNvSpPr txBox="1"/>
          <p:nvPr/>
        </p:nvSpPr>
        <p:spPr>
          <a:xfrm>
            <a:off x="2432304" y="1371600"/>
            <a:ext cx="6309360" cy="219456"/>
          </a:xfrm>
          <a:prstGeom prst="rect">
            <a:avLst/>
          </a:prstGeom>
          <a:noFill/>
          <a:ln/>
        </p:spPr>
        <p:txBody>
          <a:bodyPr wrap="square" lIns="0" tIns="0" rIns="0" bIns="0" rtlCol="0" anchor="ctr"/>
          <a:lstStyle/>
          <a:p>
            <a:pPr marL="0" indent="0">
              <a:lnSpc>
                <a:spcPct val="120000"/>
              </a:lnSpc>
              <a:buNone/>
            </a:pPr>
            <a:r>
              <a:rPr lang="en-US" sz="1100" b="1" kern="0" spc="190" dirty="0">
                <a:solidFill>
                  <a:srgbClr val="80E0E0"/>
                </a:solidFill>
                <a:latin typeface="Oswald" pitchFamily="34" charset="0"/>
                <a:ea typeface="Oswald" pitchFamily="34" charset="-122"/>
                <a:cs typeface="Oswald" pitchFamily="34" charset="-120"/>
              </a:rPr>
              <a:t>ELEMENT 01 OF 7</a:t>
            </a:r>
            <a:endParaRPr lang="en-US" sz="1100" dirty="0"/>
          </a:p>
        </p:txBody>
      </p:sp>
      <p:sp>
        <p:nvSpPr>
          <p:cNvPr id="7" name="Text 4"/>
          <p:cNvSpPr txBox="1"/>
          <p:nvPr/>
        </p:nvSpPr>
        <p:spPr>
          <a:xfrm>
            <a:off x="2432304" y="1682496"/>
            <a:ext cx="6309360" cy="749808"/>
          </a:xfrm>
          <a:prstGeom prst="rect">
            <a:avLst/>
          </a:prstGeom>
          <a:noFill/>
          <a:ln/>
        </p:spPr>
        <p:txBody>
          <a:bodyPr wrap="square" lIns="0" tIns="0" rIns="0" bIns="0" rtlCol="0" anchor="ctr"/>
          <a:lstStyle/>
          <a:p>
            <a:pPr marL="0" indent="0">
              <a:lnSpc>
                <a:spcPct val="102000"/>
              </a:lnSpc>
              <a:buNone/>
            </a:pPr>
            <a:r>
              <a:rPr lang="en-US" sz="4000" b="1" kern="0" spc="40" dirty="0">
                <a:solidFill>
                  <a:srgbClr val="FFFFFF"/>
                </a:solidFill>
                <a:latin typeface="Oswald" pitchFamily="34" charset="0"/>
                <a:ea typeface="Oswald" pitchFamily="34" charset="-122"/>
                <a:cs typeface="Oswald" pitchFamily="34" charset="-120"/>
              </a:rPr>
              <a:t>LINE</a:t>
            </a:r>
            <a:endParaRPr lang="en-US" sz="4000" dirty="0"/>
          </a:p>
        </p:txBody>
      </p:sp>
      <p:sp>
        <p:nvSpPr>
          <p:cNvPr id="8" name="Shape 5"/>
          <p:cNvSpPr/>
          <p:nvPr/>
        </p:nvSpPr>
        <p:spPr>
          <a:xfrm>
            <a:off x="2432304" y="2487168"/>
            <a:ext cx="457017" cy="30450"/>
          </a:xfrm>
          <a:prstGeom prst="rect">
            <a:avLst/>
          </a:prstGeom>
          <a:solidFill>
            <a:srgbClr val="00B8B8"/>
          </a:solidFill>
          <a:ln/>
        </p:spPr>
        <p:txBody>
          <a:bodyPr/>
          <a:lstStyle/>
          <a:p>
            <a:endParaRPr lang="en-US"/>
          </a:p>
        </p:txBody>
      </p:sp>
      <p:sp>
        <p:nvSpPr>
          <p:cNvPr id="9" name="Text 6"/>
          <p:cNvSpPr txBox="1"/>
          <p:nvPr/>
        </p:nvSpPr>
        <p:spPr>
          <a:xfrm>
            <a:off x="2432304" y="2688336"/>
            <a:ext cx="2274607" cy="822960"/>
          </a:xfrm>
          <a:prstGeom prst="rect">
            <a:avLst/>
          </a:prstGeom>
          <a:noFill/>
          <a:ln/>
        </p:spPr>
        <p:txBody>
          <a:bodyPr wrap="square" lIns="0" tIns="0" rIns="0" bIns="0" rtlCol="0" anchor="t"/>
          <a:lstStyle/>
          <a:p>
            <a:pPr marL="0" indent="0">
              <a:lnSpc>
                <a:spcPct val="135000"/>
              </a:lnSpc>
              <a:buNone/>
            </a:pPr>
            <a:r>
              <a:rPr lang="en-US" sz="1200" dirty="0">
                <a:solidFill>
                  <a:srgbClr val="AAAAAA"/>
                </a:solidFill>
                <a:latin typeface="Arial" pitchFamily="34" charset="0"/>
                <a:ea typeface="Arial" pitchFamily="34" charset="-122"/>
                <a:cs typeface="Arial" pitchFamily="34" charset="-120"/>
              </a:rPr>
              <a:t>A mark that travels. The first mark any artist makes, and the one every other element is built from.</a:t>
            </a:r>
            <a:endParaRPr lang="en-US" sz="1200" dirty="0"/>
          </a:p>
        </p:txBody>
      </p:sp>
      <p:sp>
        <p:nvSpPr>
          <p:cNvPr id="10" name="Shape 7"/>
          <p:cNvSpPr/>
          <p:nvPr/>
        </p:nvSpPr>
        <p:spPr>
          <a:xfrm>
            <a:off x="0" y="4681728"/>
            <a:ext cx="9144000" cy="22860"/>
          </a:xfrm>
          <a:prstGeom prst="rect">
            <a:avLst/>
          </a:prstGeom>
          <a:solidFill>
            <a:srgbClr val="00B8B8"/>
          </a:solidFill>
          <a:ln/>
        </p:spPr>
        <p:txBody>
          <a:bodyPr/>
          <a:lstStyle/>
          <a:p>
            <a:endParaRPr lang="en-US"/>
          </a:p>
        </p:txBody>
      </p:sp>
      <p:sp>
        <p:nvSpPr>
          <p:cNvPr id="11" name="Text 8"/>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DIGITAL ARTS 1A  /  MR. SILVA  /  PIONEER VALLEY HIGH SCHOOL</a:t>
            </a:r>
            <a:endParaRPr lang="en-US" sz="950" dirty="0"/>
          </a:p>
        </p:txBody>
      </p:sp>
      <p:pic>
        <p:nvPicPr>
          <p:cNvPr id="12" name="Picture 11">
            <a:extLst>
              <a:ext uri="{FF2B5EF4-FFF2-40B4-BE49-F238E27FC236}">
                <a16:creationId xmlns:a16="http://schemas.microsoft.com/office/drawing/2014/main" id="{AAB3702A-BDFC-C49B-B27B-82E958A1DFB0}"/>
              </a:ext>
            </a:extLst>
          </p:cNvPr>
          <p:cNvPicPr>
            <a:picLocks noChangeAspect="1"/>
          </p:cNvPicPr>
          <p:nvPr/>
        </p:nvPicPr>
        <p:blipFill>
          <a:blip r:embed="rId4"/>
          <a:srcRect t="855" b="5409"/>
          <a:stretch>
            <a:fillRect/>
          </a:stretch>
        </p:blipFill>
        <p:spPr>
          <a:xfrm>
            <a:off x="5542895" y="284807"/>
            <a:ext cx="3299353" cy="411973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00B8B8"/>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80E0E0"/>
                </a:solidFill>
                <a:latin typeface="Oswald" pitchFamily="34" charset="0"/>
                <a:ea typeface="Oswald" pitchFamily="34" charset="-122"/>
                <a:cs typeface="Oswald" pitchFamily="34" charset="-120"/>
              </a:rPr>
              <a:t>WHAT IS A LINE?</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80E0E0"/>
                </a:solidFill>
                <a:latin typeface="Oswald" pitchFamily="34" charset="0"/>
                <a:ea typeface="Oswald" pitchFamily="34" charset="-122"/>
                <a:cs typeface="Oswald" pitchFamily="34" charset="-120"/>
              </a:rPr>
              <a:t>LINE / 03 / 18</a:t>
            </a:r>
            <a:endParaRPr lang="en-US" sz="900" dirty="0"/>
          </a:p>
        </p:txBody>
      </p:sp>
      <p:sp>
        <p:nvSpPr>
          <p:cNvPr id="8" name="Shape 4"/>
          <p:cNvSpPr/>
          <p:nvPr/>
        </p:nvSpPr>
        <p:spPr>
          <a:xfrm>
            <a:off x="859536" y="699516"/>
            <a:ext cx="457017" cy="22860"/>
          </a:xfrm>
          <a:prstGeom prst="rect">
            <a:avLst/>
          </a:prstGeom>
          <a:solidFill>
            <a:srgbClr val="00B8B8"/>
          </a:solidFill>
          <a:ln/>
        </p:spPr>
        <p:txBody>
          <a:bodyPr/>
          <a:lstStyle/>
          <a:p>
            <a:endParaRPr lang="en-US"/>
          </a:p>
        </p:txBody>
      </p:sp>
      <p:sp>
        <p:nvSpPr>
          <p:cNvPr id="9" name="Shape 5"/>
          <p:cNvSpPr/>
          <p:nvPr/>
        </p:nvSpPr>
        <p:spPr>
          <a:xfrm>
            <a:off x="292608" y="905256"/>
            <a:ext cx="4736592" cy="752551"/>
          </a:xfrm>
          <a:prstGeom prst="rect">
            <a:avLst/>
          </a:prstGeom>
          <a:solidFill>
            <a:srgbClr val="00B8B8">
              <a:alpha val="6000"/>
            </a:srgbClr>
          </a:solidFill>
          <a:ln w="12700">
            <a:solidFill>
              <a:srgbClr val="054444"/>
            </a:solidFill>
            <a:prstDash val="solid"/>
          </a:ln>
        </p:spPr>
        <p:txBody>
          <a:bodyPr/>
          <a:lstStyle/>
          <a:p>
            <a:endParaRPr lang="en-US"/>
          </a:p>
        </p:txBody>
      </p:sp>
      <p:sp>
        <p:nvSpPr>
          <p:cNvPr id="10" name="Shape 6"/>
          <p:cNvSpPr/>
          <p:nvPr/>
        </p:nvSpPr>
        <p:spPr>
          <a:xfrm>
            <a:off x="292608" y="905256"/>
            <a:ext cx="45720" cy="752551"/>
          </a:xfrm>
          <a:prstGeom prst="rect">
            <a:avLst/>
          </a:prstGeom>
          <a:solidFill>
            <a:srgbClr val="00B8B8"/>
          </a:solidFill>
          <a:ln/>
        </p:spPr>
        <p:txBody>
          <a:bodyPr/>
          <a:lstStyle/>
          <a:p>
            <a:endParaRPr lang="en-US"/>
          </a:p>
        </p:txBody>
      </p:sp>
      <p:sp>
        <p:nvSpPr>
          <p:cNvPr id="11" name="Text 7"/>
          <p:cNvSpPr txBox="1"/>
          <p:nvPr/>
        </p:nvSpPr>
        <p:spPr>
          <a:xfrm>
            <a:off x="521208" y="1057961"/>
            <a:ext cx="4340657" cy="484632"/>
          </a:xfrm>
          <a:prstGeom prst="rect">
            <a:avLst/>
          </a:prstGeom>
          <a:noFill/>
          <a:ln/>
        </p:spPr>
        <p:txBody>
          <a:bodyPr wrap="square" lIns="0" tIns="0" rIns="0" bIns="0" rtlCol="0" anchor="t"/>
          <a:lstStyle/>
          <a:p>
            <a:pPr marL="0" indent="0">
              <a:lnSpc>
                <a:spcPct val="135000"/>
              </a:lnSpc>
              <a:buNone/>
            </a:pPr>
            <a:r>
              <a:rPr lang="en-US" sz="1200" dirty="0">
                <a:solidFill>
                  <a:srgbClr val="80E0E0"/>
                </a:solidFill>
                <a:latin typeface="Arial" pitchFamily="34" charset="0"/>
                <a:ea typeface="Arial" pitchFamily="34" charset="-122"/>
                <a:cs typeface="Arial" pitchFamily="34" charset="-120"/>
              </a:rPr>
              <a:t>A line is a mark that moves from one point to another. It has length. It has almost no width.</a:t>
            </a:r>
            <a:endParaRPr lang="en-US" sz="1200" dirty="0"/>
          </a:p>
        </p:txBody>
      </p:sp>
      <p:sp>
        <p:nvSpPr>
          <p:cNvPr id="12" name="Shape 8"/>
          <p:cNvSpPr/>
          <p:nvPr/>
        </p:nvSpPr>
        <p:spPr>
          <a:xfrm>
            <a:off x="292608" y="1840687"/>
            <a:ext cx="310896" cy="310896"/>
          </a:xfrm>
          <a:prstGeom prst="rect">
            <a:avLst/>
          </a:prstGeom>
          <a:solidFill>
            <a:srgbClr val="00B8B8"/>
          </a:solidFill>
          <a:ln/>
        </p:spPr>
        <p:txBody>
          <a:bodyPr/>
          <a:lstStyle/>
          <a:p>
            <a:endParaRPr lang="en-US"/>
          </a:p>
        </p:txBody>
      </p:sp>
      <p:sp>
        <p:nvSpPr>
          <p:cNvPr id="13" name="Text 9"/>
          <p:cNvSpPr txBox="1"/>
          <p:nvPr/>
        </p:nvSpPr>
        <p:spPr>
          <a:xfrm>
            <a:off x="292608" y="1840687"/>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01</a:t>
            </a:r>
            <a:endParaRPr lang="en-US" sz="1100" dirty="0"/>
          </a:p>
        </p:txBody>
      </p:sp>
      <p:sp>
        <p:nvSpPr>
          <p:cNvPr id="14" name="Text 10"/>
          <p:cNvSpPr txBox="1"/>
          <p:nvPr/>
        </p:nvSpPr>
        <p:spPr>
          <a:xfrm>
            <a:off x="768096" y="1822399"/>
            <a:ext cx="4261104"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A LINE HAS DIRECTION</a:t>
            </a:r>
            <a:endParaRPr lang="en-US" sz="1250" dirty="0"/>
          </a:p>
        </p:txBody>
      </p:sp>
      <p:sp>
        <p:nvSpPr>
          <p:cNvPr id="15" name="Text 11"/>
          <p:cNvSpPr txBox="1"/>
          <p:nvPr/>
        </p:nvSpPr>
        <p:spPr>
          <a:xfrm>
            <a:off x="768096" y="2087575"/>
            <a:ext cx="4261104"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Every line goes somewhere. Which way it points changes how the work feels.</a:t>
            </a:r>
            <a:endParaRPr lang="en-US" sz="1050" dirty="0"/>
          </a:p>
        </p:txBody>
      </p:sp>
      <p:sp>
        <p:nvSpPr>
          <p:cNvPr id="16" name="Shape 12"/>
          <p:cNvSpPr/>
          <p:nvPr/>
        </p:nvSpPr>
        <p:spPr>
          <a:xfrm>
            <a:off x="292608" y="2640787"/>
            <a:ext cx="310896" cy="310896"/>
          </a:xfrm>
          <a:prstGeom prst="rect">
            <a:avLst/>
          </a:prstGeom>
          <a:solidFill>
            <a:srgbClr val="00B8B8"/>
          </a:solidFill>
          <a:ln/>
        </p:spPr>
        <p:txBody>
          <a:bodyPr/>
          <a:lstStyle/>
          <a:p>
            <a:endParaRPr lang="en-US"/>
          </a:p>
        </p:txBody>
      </p:sp>
      <p:sp>
        <p:nvSpPr>
          <p:cNvPr id="17" name="Text 13"/>
          <p:cNvSpPr txBox="1"/>
          <p:nvPr/>
        </p:nvSpPr>
        <p:spPr>
          <a:xfrm>
            <a:off x="292608" y="2640787"/>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02</a:t>
            </a:r>
            <a:endParaRPr lang="en-US" sz="1100" dirty="0"/>
          </a:p>
        </p:txBody>
      </p:sp>
      <p:sp>
        <p:nvSpPr>
          <p:cNvPr id="18" name="Text 14"/>
          <p:cNvSpPr txBox="1"/>
          <p:nvPr/>
        </p:nvSpPr>
        <p:spPr>
          <a:xfrm>
            <a:off x="768096" y="2622499"/>
            <a:ext cx="4261104"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A LINE HAS WEIGHT</a:t>
            </a:r>
            <a:endParaRPr lang="en-US" sz="1250" dirty="0"/>
          </a:p>
        </p:txBody>
      </p:sp>
      <p:sp>
        <p:nvSpPr>
          <p:cNvPr id="19" name="Text 15"/>
          <p:cNvSpPr txBox="1"/>
          <p:nvPr/>
        </p:nvSpPr>
        <p:spPr>
          <a:xfrm>
            <a:off x="768096" y="2887675"/>
            <a:ext cx="4261104"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Weight means how thick or thin it is. A heavy line pulls your eye first.</a:t>
            </a:r>
            <a:endParaRPr lang="en-US" sz="1050" dirty="0"/>
          </a:p>
        </p:txBody>
      </p:sp>
      <p:sp>
        <p:nvSpPr>
          <p:cNvPr id="20" name="Shape 16"/>
          <p:cNvSpPr/>
          <p:nvPr/>
        </p:nvSpPr>
        <p:spPr>
          <a:xfrm>
            <a:off x="292608" y="3440887"/>
            <a:ext cx="310896" cy="310896"/>
          </a:xfrm>
          <a:prstGeom prst="rect">
            <a:avLst/>
          </a:prstGeom>
          <a:solidFill>
            <a:srgbClr val="00B8B8"/>
          </a:solidFill>
          <a:ln/>
        </p:spPr>
        <p:txBody>
          <a:bodyPr/>
          <a:lstStyle/>
          <a:p>
            <a:endParaRPr lang="en-US"/>
          </a:p>
        </p:txBody>
      </p:sp>
      <p:sp>
        <p:nvSpPr>
          <p:cNvPr id="21" name="Text 17"/>
          <p:cNvSpPr txBox="1"/>
          <p:nvPr/>
        </p:nvSpPr>
        <p:spPr>
          <a:xfrm>
            <a:off x="292608" y="3440887"/>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03</a:t>
            </a:r>
            <a:endParaRPr lang="en-US" sz="1100" dirty="0"/>
          </a:p>
        </p:txBody>
      </p:sp>
      <p:sp>
        <p:nvSpPr>
          <p:cNvPr id="22" name="Text 18"/>
          <p:cNvSpPr txBox="1"/>
          <p:nvPr/>
        </p:nvSpPr>
        <p:spPr>
          <a:xfrm>
            <a:off x="768096" y="3422599"/>
            <a:ext cx="4261104"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A LINE CAN BE IMPLIED</a:t>
            </a:r>
            <a:endParaRPr lang="en-US" sz="1250" dirty="0"/>
          </a:p>
        </p:txBody>
      </p:sp>
      <p:sp>
        <p:nvSpPr>
          <p:cNvPr id="23" name="Text 19"/>
          <p:cNvSpPr txBox="1"/>
          <p:nvPr/>
        </p:nvSpPr>
        <p:spPr>
          <a:xfrm>
            <a:off x="768096" y="3687775"/>
            <a:ext cx="4261104"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Your eye connects marks that never touch. Artists use it to suggest a jaw or a cheek.</a:t>
            </a:r>
            <a:endParaRPr lang="en-US" sz="1050" dirty="0"/>
          </a:p>
        </p:txBody>
      </p:sp>
      <p:pic>
        <p:nvPicPr>
          <p:cNvPr id="29" name="Picture 28" descr="How to Draw Straight Lines Without a Ruler / Daily Art Therapy / Day 045">
            <a:extLst>
              <a:ext uri="{FF2B5EF4-FFF2-40B4-BE49-F238E27FC236}">
                <a16:creationId xmlns:a16="http://schemas.microsoft.com/office/drawing/2014/main" id="{597BB788-C8EE-5357-9347-4D5FD7AE494B}"/>
              </a:ext>
            </a:extLst>
          </p:cNvPr>
          <p:cNvPicPr>
            <a:picLocks noChangeAspect="1"/>
          </p:cNvPicPr>
          <p:nvPr/>
        </p:nvPicPr>
        <p:blipFill>
          <a:blip r:embed="rId5"/>
          <a:srcRect t="11011" b="15129"/>
          <a:stretch>
            <a:fillRect/>
          </a:stretch>
        </p:blipFill>
        <p:spPr>
          <a:xfrm>
            <a:off x="5193792" y="921464"/>
            <a:ext cx="3784600" cy="1722391"/>
          </a:xfrm>
          <a:prstGeom prst="rect">
            <a:avLst/>
          </a:prstGeom>
        </p:spPr>
      </p:pic>
      <p:pic>
        <p:nvPicPr>
          <p:cNvPr id="30" name="Picture 29">
            <a:extLst>
              <a:ext uri="{FF2B5EF4-FFF2-40B4-BE49-F238E27FC236}">
                <a16:creationId xmlns:a16="http://schemas.microsoft.com/office/drawing/2014/main" id="{D9346D54-10FD-3791-CC5D-6A4401877DC8}"/>
              </a:ext>
            </a:extLst>
          </p:cNvPr>
          <p:cNvPicPr>
            <a:picLocks noChangeAspect="1"/>
          </p:cNvPicPr>
          <p:nvPr/>
        </p:nvPicPr>
        <p:blipFill>
          <a:blip r:embed="rId6"/>
          <a:srcRect t="25280" b="11319"/>
          <a:stretch>
            <a:fillRect/>
          </a:stretch>
        </p:blipFill>
        <p:spPr>
          <a:xfrm>
            <a:off x="5193792" y="2851992"/>
            <a:ext cx="3784600" cy="179958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8B5CF6"/>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C4B5FD"/>
                </a:solidFill>
                <a:latin typeface="Oswald" pitchFamily="34" charset="0"/>
                <a:ea typeface="Oswald" pitchFamily="34" charset="-122"/>
                <a:cs typeface="Oswald" pitchFamily="34" charset="-120"/>
              </a:rPr>
              <a:t>KEY WORDS: LINE</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C4B5FD"/>
                </a:solidFill>
                <a:latin typeface="Oswald" pitchFamily="34" charset="0"/>
                <a:ea typeface="Oswald" pitchFamily="34" charset="-122"/>
                <a:cs typeface="Oswald" pitchFamily="34" charset="-120"/>
              </a:rPr>
              <a:t>KEY WORDS / 04 / 18</a:t>
            </a:r>
            <a:endParaRPr lang="en-US" sz="900" dirty="0"/>
          </a:p>
        </p:txBody>
      </p:sp>
      <p:sp>
        <p:nvSpPr>
          <p:cNvPr id="8" name="Shape 4"/>
          <p:cNvSpPr/>
          <p:nvPr/>
        </p:nvSpPr>
        <p:spPr>
          <a:xfrm>
            <a:off x="859536" y="699516"/>
            <a:ext cx="457017" cy="22860"/>
          </a:xfrm>
          <a:prstGeom prst="rect">
            <a:avLst/>
          </a:prstGeom>
          <a:solidFill>
            <a:srgbClr val="8B5CF6"/>
          </a:solidFill>
          <a:ln/>
        </p:spPr>
        <p:txBody>
          <a:bodyPr/>
          <a:lstStyle/>
          <a:p>
            <a:endParaRPr lang="en-US"/>
          </a:p>
        </p:txBody>
      </p:sp>
      <p:sp>
        <p:nvSpPr>
          <p:cNvPr id="9" name="Shape 5"/>
          <p:cNvSpPr/>
          <p:nvPr/>
        </p:nvSpPr>
        <p:spPr>
          <a:xfrm>
            <a:off x="292608" y="905256"/>
            <a:ext cx="4133088" cy="1389888"/>
          </a:xfrm>
          <a:prstGeom prst="rect">
            <a:avLst/>
          </a:prstGeom>
          <a:solidFill>
            <a:srgbClr val="8B5CF6"/>
          </a:solidFill>
          <a:ln/>
        </p:spPr>
        <p:txBody>
          <a:bodyPr/>
          <a:lstStyle/>
          <a:p>
            <a:endParaRPr lang="en-US"/>
          </a:p>
        </p:txBody>
      </p:sp>
      <p:sp>
        <p:nvSpPr>
          <p:cNvPr id="10" name="Shape 6"/>
          <p:cNvSpPr/>
          <p:nvPr/>
        </p:nvSpPr>
        <p:spPr>
          <a:xfrm>
            <a:off x="307878" y="920526"/>
            <a:ext cx="4102547" cy="213238"/>
          </a:xfrm>
          <a:prstGeom prst="rect">
            <a:avLst/>
          </a:prstGeom>
          <a:solidFill>
            <a:srgbClr val="241D3A"/>
          </a:solidFill>
          <a:ln/>
        </p:spPr>
        <p:txBody>
          <a:bodyPr/>
          <a:lstStyle/>
          <a:p>
            <a:endParaRPr lang="en-US"/>
          </a:p>
        </p:txBody>
      </p:sp>
      <p:sp>
        <p:nvSpPr>
          <p:cNvPr id="11" name="Shape 7"/>
          <p:cNvSpPr/>
          <p:nvPr/>
        </p:nvSpPr>
        <p:spPr>
          <a:xfrm>
            <a:off x="307878" y="1133765"/>
            <a:ext cx="4102547" cy="1146109"/>
          </a:xfrm>
          <a:prstGeom prst="rect">
            <a:avLst/>
          </a:prstGeom>
          <a:solidFill>
            <a:srgbClr val="140F24"/>
          </a:solidFill>
          <a:ln/>
        </p:spPr>
        <p:txBody>
          <a:bodyPr/>
          <a:lstStyle/>
          <a:p>
            <a:endParaRPr lang="en-US"/>
          </a:p>
        </p:txBody>
      </p:sp>
      <p:sp>
        <p:nvSpPr>
          <p:cNvPr id="12" name="Text 8"/>
          <p:cNvSpPr txBox="1"/>
          <p:nvPr/>
        </p:nvSpPr>
        <p:spPr>
          <a:xfrm>
            <a:off x="475488" y="1027146"/>
            <a:ext cx="3767328" cy="27432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Line</a:t>
            </a:r>
            <a:endParaRPr lang="en-US" sz="1150" dirty="0"/>
          </a:p>
        </p:txBody>
      </p:sp>
      <p:sp>
        <p:nvSpPr>
          <p:cNvPr id="13" name="Shape 9"/>
          <p:cNvSpPr/>
          <p:nvPr/>
        </p:nvSpPr>
        <p:spPr>
          <a:xfrm>
            <a:off x="475488" y="1328623"/>
            <a:ext cx="243779" cy="15270"/>
          </a:xfrm>
          <a:prstGeom prst="rect">
            <a:avLst/>
          </a:prstGeom>
          <a:solidFill>
            <a:srgbClr val="8B5CF6"/>
          </a:solidFill>
          <a:ln/>
        </p:spPr>
        <p:txBody>
          <a:bodyPr/>
          <a:lstStyle/>
          <a:p>
            <a:endParaRPr lang="en-US"/>
          </a:p>
        </p:txBody>
      </p:sp>
      <p:sp>
        <p:nvSpPr>
          <p:cNvPr id="14" name="Text 10"/>
          <p:cNvSpPr txBox="1"/>
          <p:nvPr/>
        </p:nvSpPr>
        <p:spPr>
          <a:xfrm>
            <a:off x="475488" y="1438351"/>
            <a:ext cx="3767328" cy="777240"/>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A mark that travels from one point to another. It has length but almost no width.</a:t>
            </a:r>
            <a:endParaRPr lang="en-US" sz="1050" dirty="0"/>
          </a:p>
        </p:txBody>
      </p:sp>
      <p:sp>
        <p:nvSpPr>
          <p:cNvPr id="15" name="Shape 11"/>
          <p:cNvSpPr/>
          <p:nvPr/>
        </p:nvSpPr>
        <p:spPr>
          <a:xfrm>
            <a:off x="4718304" y="905256"/>
            <a:ext cx="4133088" cy="1389888"/>
          </a:xfrm>
          <a:prstGeom prst="rect">
            <a:avLst/>
          </a:prstGeom>
          <a:solidFill>
            <a:srgbClr val="8B5CF6"/>
          </a:solidFill>
          <a:ln/>
        </p:spPr>
        <p:txBody>
          <a:bodyPr/>
          <a:lstStyle/>
          <a:p>
            <a:endParaRPr lang="en-US"/>
          </a:p>
        </p:txBody>
      </p:sp>
      <p:sp>
        <p:nvSpPr>
          <p:cNvPr id="16" name="Shape 12"/>
          <p:cNvSpPr/>
          <p:nvPr/>
        </p:nvSpPr>
        <p:spPr>
          <a:xfrm>
            <a:off x="4733574" y="920526"/>
            <a:ext cx="4102547" cy="213238"/>
          </a:xfrm>
          <a:prstGeom prst="rect">
            <a:avLst/>
          </a:prstGeom>
          <a:solidFill>
            <a:srgbClr val="241D3A"/>
          </a:solidFill>
          <a:ln/>
        </p:spPr>
        <p:txBody>
          <a:bodyPr/>
          <a:lstStyle/>
          <a:p>
            <a:endParaRPr lang="en-US"/>
          </a:p>
        </p:txBody>
      </p:sp>
      <p:sp>
        <p:nvSpPr>
          <p:cNvPr id="17" name="Shape 13"/>
          <p:cNvSpPr/>
          <p:nvPr/>
        </p:nvSpPr>
        <p:spPr>
          <a:xfrm>
            <a:off x="4733574" y="1133765"/>
            <a:ext cx="4102547" cy="1146109"/>
          </a:xfrm>
          <a:prstGeom prst="rect">
            <a:avLst/>
          </a:prstGeom>
          <a:solidFill>
            <a:srgbClr val="140F24"/>
          </a:solidFill>
          <a:ln/>
        </p:spPr>
        <p:txBody>
          <a:bodyPr/>
          <a:lstStyle/>
          <a:p>
            <a:endParaRPr lang="en-US"/>
          </a:p>
        </p:txBody>
      </p:sp>
      <p:sp>
        <p:nvSpPr>
          <p:cNvPr id="18" name="Text 14"/>
          <p:cNvSpPr txBox="1"/>
          <p:nvPr/>
        </p:nvSpPr>
        <p:spPr>
          <a:xfrm>
            <a:off x="4901184" y="1027146"/>
            <a:ext cx="3767328" cy="27432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Contour line</a:t>
            </a:r>
            <a:endParaRPr lang="en-US" sz="1150" dirty="0"/>
          </a:p>
        </p:txBody>
      </p:sp>
      <p:sp>
        <p:nvSpPr>
          <p:cNvPr id="19" name="Shape 15"/>
          <p:cNvSpPr/>
          <p:nvPr/>
        </p:nvSpPr>
        <p:spPr>
          <a:xfrm>
            <a:off x="4901184" y="1328623"/>
            <a:ext cx="243779" cy="15270"/>
          </a:xfrm>
          <a:prstGeom prst="rect">
            <a:avLst/>
          </a:prstGeom>
          <a:solidFill>
            <a:srgbClr val="8B5CF6"/>
          </a:solidFill>
          <a:ln/>
        </p:spPr>
        <p:txBody>
          <a:bodyPr/>
          <a:lstStyle/>
          <a:p>
            <a:endParaRPr lang="en-US"/>
          </a:p>
        </p:txBody>
      </p:sp>
      <p:sp>
        <p:nvSpPr>
          <p:cNvPr id="20" name="Text 16"/>
          <p:cNvSpPr txBox="1"/>
          <p:nvPr/>
        </p:nvSpPr>
        <p:spPr>
          <a:xfrm>
            <a:off x="4901184" y="1438351"/>
            <a:ext cx="3767328" cy="777240"/>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A line that follows the outside edge of an object and describes its shape.</a:t>
            </a:r>
            <a:endParaRPr lang="en-US" sz="1050" dirty="0"/>
          </a:p>
        </p:txBody>
      </p:sp>
      <p:sp>
        <p:nvSpPr>
          <p:cNvPr id="21" name="Shape 17"/>
          <p:cNvSpPr/>
          <p:nvPr/>
        </p:nvSpPr>
        <p:spPr>
          <a:xfrm>
            <a:off x="292608" y="2514600"/>
            <a:ext cx="4133088" cy="1389888"/>
          </a:xfrm>
          <a:prstGeom prst="rect">
            <a:avLst/>
          </a:prstGeom>
          <a:solidFill>
            <a:srgbClr val="8B5CF6"/>
          </a:solidFill>
          <a:ln/>
        </p:spPr>
        <p:txBody>
          <a:bodyPr/>
          <a:lstStyle/>
          <a:p>
            <a:endParaRPr lang="en-US"/>
          </a:p>
        </p:txBody>
      </p:sp>
      <p:sp>
        <p:nvSpPr>
          <p:cNvPr id="22" name="Shape 18"/>
          <p:cNvSpPr/>
          <p:nvPr/>
        </p:nvSpPr>
        <p:spPr>
          <a:xfrm>
            <a:off x="307878" y="2529870"/>
            <a:ext cx="4102547" cy="213238"/>
          </a:xfrm>
          <a:prstGeom prst="rect">
            <a:avLst/>
          </a:prstGeom>
          <a:solidFill>
            <a:srgbClr val="241D3A"/>
          </a:solidFill>
          <a:ln/>
        </p:spPr>
        <p:txBody>
          <a:bodyPr/>
          <a:lstStyle/>
          <a:p>
            <a:endParaRPr lang="en-US"/>
          </a:p>
        </p:txBody>
      </p:sp>
      <p:sp>
        <p:nvSpPr>
          <p:cNvPr id="23" name="Shape 19"/>
          <p:cNvSpPr/>
          <p:nvPr/>
        </p:nvSpPr>
        <p:spPr>
          <a:xfrm>
            <a:off x="307878" y="2743109"/>
            <a:ext cx="4102547" cy="1146109"/>
          </a:xfrm>
          <a:prstGeom prst="rect">
            <a:avLst/>
          </a:prstGeom>
          <a:solidFill>
            <a:srgbClr val="140F24"/>
          </a:solidFill>
          <a:ln/>
        </p:spPr>
        <p:txBody>
          <a:bodyPr/>
          <a:lstStyle/>
          <a:p>
            <a:endParaRPr lang="en-US"/>
          </a:p>
        </p:txBody>
      </p:sp>
      <p:sp>
        <p:nvSpPr>
          <p:cNvPr id="24" name="Text 20"/>
          <p:cNvSpPr txBox="1"/>
          <p:nvPr/>
        </p:nvSpPr>
        <p:spPr>
          <a:xfrm>
            <a:off x="475488" y="2636490"/>
            <a:ext cx="3767328" cy="27432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Implied line</a:t>
            </a:r>
            <a:endParaRPr lang="en-US" sz="1150" dirty="0"/>
          </a:p>
        </p:txBody>
      </p:sp>
      <p:sp>
        <p:nvSpPr>
          <p:cNvPr id="25" name="Shape 21"/>
          <p:cNvSpPr/>
          <p:nvPr/>
        </p:nvSpPr>
        <p:spPr>
          <a:xfrm>
            <a:off x="475488" y="2937967"/>
            <a:ext cx="243779" cy="15270"/>
          </a:xfrm>
          <a:prstGeom prst="rect">
            <a:avLst/>
          </a:prstGeom>
          <a:solidFill>
            <a:srgbClr val="8B5CF6"/>
          </a:solidFill>
          <a:ln/>
        </p:spPr>
        <p:txBody>
          <a:bodyPr/>
          <a:lstStyle/>
          <a:p>
            <a:endParaRPr lang="en-US"/>
          </a:p>
        </p:txBody>
      </p:sp>
      <p:sp>
        <p:nvSpPr>
          <p:cNvPr id="26" name="Text 22"/>
          <p:cNvSpPr txBox="1"/>
          <p:nvPr/>
        </p:nvSpPr>
        <p:spPr>
          <a:xfrm>
            <a:off x="475488" y="3047695"/>
            <a:ext cx="3767328" cy="777240"/>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A line your eye finishes on its own, even though the full mark is not there.</a:t>
            </a:r>
            <a:endParaRPr lang="en-US" sz="1050" dirty="0"/>
          </a:p>
        </p:txBody>
      </p:sp>
      <p:sp>
        <p:nvSpPr>
          <p:cNvPr id="27" name="Shape 23"/>
          <p:cNvSpPr/>
          <p:nvPr/>
        </p:nvSpPr>
        <p:spPr>
          <a:xfrm>
            <a:off x="4718304" y="2514600"/>
            <a:ext cx="4133088" cy="1389888"/>
          </a:xfrm>
          <a:prstGeom prst="rect">
            <a:avLst/>
          </a:prstGeom>
          <a:solidFill>
            <a:srgbClr val="8B5CF6"/>
          </a:solidFill>
          <a:ln/>
        </p:spPr>
        <p:txBody>
          <a:bodyPr/>
          <a:lstStyle/>
          <a:p>
            <a:endParaRPr lang="en-US"/>
          </a:p>
        </p:txBody>
      </p:sp>
      <p:sp>
        <p:nvSpPr>
          <p:cNvPr id="28" name="Shape 24"/>
          <p:cNvSpPr/>
          <p:nvPr/>
        </p:nvSpPr>
        <p:spPr>
          <a:xfrm>
            <a:off x="4733574" y="2529870"/>
            <a:ext cx="4102547" cy="213238"/>
          </a:xfrm>
          <a:prstGeom prst="rect">
            <a:avLst/>
          </a:prstGeom>
          <a:solidFill>
            <a:srgbClr val="241D3A"/>
          </a:solidFill>
          <a:ln/>
        </p:spPr>
        <p:txBody>
          <a:bodyPr/>
          <a:lstStyle/>
          <a:p>
            <a:endParaRPr lang="en-US"/>
          </a:p>
        </p:txBody>
      </p:sp>
      <p:sp>
        <p:nvSpPr>
          <p:cNvPr id="29" name="Shape 25"/>
          <p:cNvSpPr/>
          <p:nvPr/>
        </p:nvSpPr>
        <p:spPr>
          <a:xfrm>
            <a:off x="4733574" y="2743109"/>
            <a:ext cx="4102547" cy="1146109"/>
          </a:xfrm>
          <a:prstGeom prst="rect">
            <a:avLst/>
          </a:prstGeom>
          <a:solidFill>
            <a:srgbClr val="140F24"/>
          </a:solidFill>
          <a:ln/>
        </p:spPr>
        <p:txBody>
          <a:bodyPr/>
          <a:lstStyle/>
          <a:p>
            <a:endParaRPr lang="en-US"/>
          </a:p>
        </p:txBody>
      </p:sp>
      <p:sp>
        <p:nvSpPr>
          <p:cNvPr id="30" name="Text 26"/>
          <p:cNvSpPr txBox="1"/>
          <p:nvPr/>
        </p:nvSpPr>
        <p:spPr>
          <a:xfrm>
            <a:off x="4901184" y="2636490"/>
            <a:ext cx="3767328" cy="27432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Line weight</a:t>
            </a:r>
            <a:endParaRPr lang="en-US" sz="1150" dirty="0"/>
          </a:p>
        </p:txBody>
      </p:sp>
      <p:sp>
        <p:nvSpPr>
          <p:cNvPr id="31" name="Shape 27"/>
          <p:cNvSpPr/>
          <p:nvPr/>
        </p:nvSpPr>
        <p:spPr>
          <a:xfrm>
            <a:off x="4901184" y="2937967"/>
            <a:ext cx="243779" cy="15270"/>
          </a:xfrm>
          <a:prstGeom prst="rect">
            <a:avLst/>
          </a:prstGeom>
          <a:solidFill>
            <a:srgbClr val="8B5CF6"/>
          </a:solidFill>
          <a:ln/>
        </p:spPr>
        <p:txBody>
          <a:bodyPr/>
          <a:lstStyle/>
          <a:p>
            <a:endParaRPr lang="en-US"/>
          </a:p>
        </p:txBody>
      </p:sp>
      <p:sp>
        <p:nvSpPr>
          <p:cNvPr id="32" name="Text 28"/>
          <p:cNvSpPr txBox="1"/>
          <p:nvPr/>
        </p:nvSpPr>
        <p:spPr>
          <a:xfrm>
            <a:off x="4901184" y="3047695"/>
            <a:ext cx="3767328" cy="777240"/>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How thick or thin a line is. Heavier weight pulls more attention to it.</a:t>
            </a:r>
            <a:endParaRPr lang="en-US" sz="1050" dirty="0"/>
          </a:p>
        </p:txBody>
      </p:sp>
      <p:sp>
        <p:nvSpPr>
          <p:cNvPr id="33" name="Shape 29"/>
          <p:cNvSpPr/>
          <p:nvPr/>
        </p:nvSpPr>
        <p:spPr>
          <a:xfrm>
            <a:off x="292608" y="4197096"/>
            <a:ext cx="8558784" cy="521208"/>
          </a:xfrm>
          <a:prstGeom prst="rect">
            <a:avLst/>
          </a:prstGeom>
          <a:solidFill>
            <a:srgbClr val="8B5CF6">
              <a:alpha val="6000"/>
            </a:srgbClr>
          </a:solidFill>
          <a:ln w="12700">
            <a:solidFill>
              <a:srgbClr val="352559"/>
            </a:solidFill>
            <a:prstDash val="solid"/>
          </a:ln>
        </p:spPr>
        <p:txBody>
          <a:bodyPr/>
          <a:lstStyle/>
          <a:p>
            <a:endParaRPr lang="en-US"/>
          </a:p>
        </p:txBody>
      </p:sp>
      <p:sp>
        <p:nvSpPr>
          <p:cNvPr id="34" name="Shape 30"/>
          <p:cNvSpPr/>
          <p:nvPr/>
        </p:nvSpPr>
        <p:spPr>
          <a:xfrm>
            <a:off x="292608" y="4197096"/>
            <a:ext cx="45720" cy="521208"/>
          </a:xfrm>
          <a:prstGeom prst="rect">
            <a:avLst/>
          </a:prstGeom>
          <a:solidFill>
            <a:srgbClr val="8B5CF6"/>
          </a:solidFill>
          <a:ln/>
        </p:spPr>
        <p:txBody>
          <a:bodyPr/>
          <a:lstStyle/>
          <a:p>
            <a:endParaRPr lang="en-US"/>
          </a:p>
        </p:txBody>
      </p:sp>
      <p:sp>
        <p:nvSpPr>
          <p:cNvPr id="35" name="Text 31"/>
          <p:cNvSpPr txBox="1"/>
          <p:nvPr/>
        </p:nvSpPr>
        <p:spPr>
          <a:xfrm>
            <a:off x="521208" y="4349801"/>
            <a:ext cx="8162849" cy="253289"/>
          </a:xfrm>
          <a:prstGeom prst="rect">
            <a:avLst/>
          </a:prstGeom>
          <a:noFill/>
          <a:ln/>
        </p:spPr>
        <p:txBody>
          <a:bodyPr wrap="square" lIns="0" tIns="0" rIns="0" bIns="0" rtlCol="0" anchor="t"/>
          <a:lstStyle/>
          <a:p>
            <a:pPr marL="0" indent="0">
              <a:lnSpc>
                <a:spcPct val="135000"/>
              </a:lnSpc>
              <a:buNone/>
            </a:pPr>
            <a:r>
              <a:rPr lang="en-US" sz="1050" dirty="0">
                <a:solidFill>
                  <a:srgbClr val="FFFFFF"/>
                </a:solidFill>
                <a:latin typeface="Arial" pitchFamily="34" charset="0"/>
                <a:ea typeface="Arial" pitchFamily="34" charset="-122"/>
                <a:cs typeface="Arial" pitchFamily="34" charset="-120"/>
              </a:rPr>
              <a:t>These four words go on your vocabulary sheet. You will use all of them in the critique at the end of this unit.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00B8B8"/>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80E0E0"/>
                </a:solidFill>
                <a:latin typeface="Oswald" pitchFamily="34" charset="0"/>
                <a:ea typeface="Oswald" pitchFamily="34" charset="-122"/>
                <a:cs typeface="Oswald" pitchFamily="34" charset="-120"/>
              </a:rPr>
              <a:t>THE FIVE TYPES OF LINE</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80E0E0"/>
                </a:solidFill>
                <a:latin typeface="Oswald" pitchFamily="34" charset="0"/>
                <a:ea typeface="Oswald" pitchFamily="34" charset="-122"/>
                <a:cs typeface="Oswald" pitchFamily="34" charset="-120"/>
              </a:rPr>
              <a:t>LINE / 05 / 18</a:t>
            </a:r>
            <a:endParaRPr lang="en-US" sz="900" dirty="0"/>
          </a:p>
        </p:txBody>
      </p:sp>
      <p:sp>
        <p:nvSpPr>
          <p:cNvPr id="8" name="Shape 4"/>
          <p:cNvSpPr/>
          <p:nvPr/>
        </p:nvSpPr>
        <p:spPr>
          <a:xfrm>
            <a:off x="859536" y="699516"/>
            <a:ext cx="457017" cy="22860"/>
          </a:xfrm>
          <a:prstGeom prst="rect">
            <a:avLst/>
          </a:prstGeom>
          <a:solidFill>
            <a:srgbClr val="00B8B8"/>
          </a:solidFill>
          <a:ln/>
        </p:spPr>
        <p:txBody>
          <a:bodyPr/>
          <a:lstStyle/>
          <a:p>
            <a:endParaRPr lang="en-US"/>
          </a:p>
        </p:txBody>
      </p:sp>
      <p:sp>
        <p:nvSpPr>
          <p:cNvPr id="9" name="Shape 5"/>
          <p:cNvSpPr/>
          <p:nvPr/>
        </p:nvSpPr>
        <p:spPr>
          <a:xfrm>
            <a:off x="292608" y="923544"/>
            <a:ext cx="310896" cy="310896"/>
          </a:xfrm>
          <a:prstGeom prst="rect">
            <a:avLst/>
          </a:prstGeom>
          <a:solidFill>
            <a:srgbClr val="00B8B8"/>
          </a:solidFill>
          <a:ln/>
        </p:spPr>
        <p:txBody>
          <a:bodyPr/>
          <a:lstStyle/>
          <a:p>
            <a:endParaRPr lang="en-US"/>
          </a:p>
        </p:txBody>
      </p:sp>
      <p:sp>
        <p:nvSpPr>
          <p:cNvPr id="10" name="Text 6"/>
          <p:cNvSpPr txBox="1"/>
          <p:nvPr/>
        </p:nvSpPr>
        <p:spPr>
          <a:xfrm>
            <a:off x="292608" y="923544"/>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01</a:t>
            </a:r>
            <a:endParaRPr lang="en-US" sz="1100" dirty="0"/>
          </a:p>
        </p:txBody>
      </p:sp>
      <p:sp>
        <p:nvSpPr>
          <p:cNvPr id="11" name="Text 7"/>
          <p:cNvSpPr txBox="1"/>
          <p:nvPr/>
        </p:nvSpPr>
        <p:spPr>
          <a:xfrm>
            <a:off x="768096" y="905256"/>
            <a:ext cx="4261104"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HORIZONTAL</a:t>
            </a:r>
            <a:endParaRPr lang="en-US" sz="1250" dirty="0"/>
          </a:p>
        </p:txBody>
      </p:sp>
      <p:sp>
        <p:nvSpPr>
          <p:cNvPr id="12" name="Text 8"/>
          <p:cNvSpPr txBox="1"/>
          <p:nvPr/>
        </p:nvSpPr>
        <p:spPr>
          <a:xfrm>
            <a:off x="768096" y="1170432"/>
            <a:ext cx="4261104" cy="239573"/>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Lies flat, left to right. Feels calm, still, and restful.</a:t>
            </a:r>
            <a:endParaRPr lang="en-US" sz="1050" dirty="0"/>
          </a:p>
        </p:txBody>
      </p:sp>
      <p:sp>
        <p:nvSpPr>
          <p:cNvPr id="13" name="Shape 9"/>
          <p:cNvSpPr/>
          <p:nvPr/>
        </p:nvSpPr>
        <p:spPr>
          <a:xfrm>
            <a:off x="292608" y="1556309"/>
            <a:ext cx="310896" cy="310896"/>
          </a:xfrm>
          <a:prstGeom prst="rect">
            <a:avLst/>
          </a:prstGeom>
          <a:solidFill>
            <a:srgbClr val="00B8B8"/>
          </a:solidFill>
          <a:ln/>
        </p:spPr>
        <p:txBody>
          <a:bodyPr/>
          <a:lstStyle/>
          <a:p>
            <a:endParaRPr lang="en-US"/>
          </a:p>
        </p:txBody>
      </p:sp>
      <p:sp>
        <p:nvSpPr>
          <p:cNvPr id="14" name="Text 10"/>
          <p:cNvSpPr txBox="1"/>
          <p:nvPr/>
        </p:nvSpPr>
        <p:spPr>
          <a:xfrm>
            <a:off x="292608" y="1556309"/>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02</a:t>
            </a:r>
            <a:endParaRPr lang="en-US" sz="1100" dirty="0"/>
          </a:p>
        </p:txBody>
      </p:sp>
      <p:sp>
        <p:nvSpPr>
          <p:cNvPr id="15" name="Text 11"/>
          <p:cNvSpPr txBox="1"/>
          <p:nvPr/>
        </p:nvSpPr>
        <p:spPr>
          <a:xfrm>
            <a:off x="768096" y="1538021"/>
            <a:ext cx="4261104"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VERTICAL</a:t>
            </a:r>
            <a:endParaRPr lang="en-US" sz="1250" dirty="0"/>
          </a:p>
        </p:txBody>
      </p:sp>
      <p:sp>
        <p:nvSpPr>
          <p:cNvPr id="16" name="Text 12"/>
          <p:cNvSpPr txBox="1"/>
          <p:nvPr/>
        </p:nvSpPr>
        <p:spPr>
          <a:xfrm>
            <a:off x="768096" y="1803197"/>
            <a:ext cx="4261104" cy="239573"/>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Stands straight up. Feels tall, strong, and formal.</a:t>
            </a:r>
            <a:endParaRPr lang="en-US" sz="1050" dirty="0"/>
          </a:p>
        </p:txBody>
      </p:sp>
      <p:sp>
        <p:nvSpPr>
          <p:cNvPr id="17" name="Shape 13"/>
          <p:cNvSpPr/>
          <p:nvPr/>
        </p:nvSpPr>
        <p:spPr>
          <a:xfrm>
            <a:off x="292608" y="2189074"/>
            <a:ext cx="310896" cy="310896"/>
          </a:xfrm>
          <a:prstGeom prst="rect">
            <a:avLst/>
          </a:prstGeom>
          <a:solidFill>
            <a:srgbClr val="00B8B8"/>
          </a:solidFill>
          <a:ln/>
        </p:spPr>
        <p:txBody>
          <a:bodyPr/>
          <a:lstStyle/>
          <a:p>
            <a:endParaRPr lang="en-US"/>
          </a:p>
        </p:txBody>
      </p:sp>
      <p:sp>
        <p:nvSpPr>
          <p:cNvPr id="18" name="Text 14"/>
          <p:cNvSpPr txBox="1"/>
          <p:nvPr/>
        </p:nvSpPr>
        <p:spPr>
          <a:xfrm>
            <a:off x="292608" y="2189074"/>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03</a:t>
            </a:r>
            <a:endParaRPr lang="en-US" sz="1100" dirty="0"/>
          </a:p>
        </p:txBody>
      </p:sp>
      <p:sp>
        <p:nvSpPr>
          <p:cNvPr id="19" name="Text 15"/>
          <p:cNvSpPr txBox="1"/>
          <p:nvPr/>
        </p:nvSpPr>
        <p:spPr>
          <a:xfrm>
            <a:off x="768096" y="2170786"/>
            <a:ext cx="4261104"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DIAGONAL</a:t>
            </a:r>
            <a:endParaRPr lang="en-US" sz="1250" dirty="0"/>
          </a:p>
        </p:txBody>
      </p:sp>
      <p:sp>
        <p:nvSpPr>
          <p:cNvPr id="20" name="Text 16"/>
          <p:cNvSpPr txBox="1"/>
          <p:nvPr/>
        </p:nvSpPr>
        <p:spPr>
          <a:xfrm>
            <a:off x="768096" y="2435962"/>
            <a:ext cx="4261104" cy="239573"/>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Leans. Feels like movement, speed, or tension.</a:t>
            </a:r>
            <a:endParaRPr lang="en-US" sz="1050" dirty="0"/>
          </a:p>
        </p:txBody>
      </p:sp>
      <p:sp>
        <p:nvSpPr>
          <p:cNvPr id="21" name="Shape 17"/>
          <p:cNvSpPr/>
          <p:nvPr/>
        </p:nvSpPr>
        <p:spPr>
          <a:xfrm>
            <a:off x="292608" y="2821838"/>
            <a:ext cx="310896" cy="310896"/>
          </a:xfrm>
          <a:prstGeom prst="rect">
            <a:avLst/>
          </a:prstGeom>
          <a:solidFill>
            <a:srgbClr val="00B8B8"/>
          </a:solidFill>
          <a:ln/>
        </p:spPr>
        <p:txBody>
          <a:bodyPr/>
          <a:lstStyle/>
          <a:p>
            <a:endParaRPr lang="en-US"/>
          </a:p>
        </p:txBody>
      </p:sp>
      <p:sp>
        <p:nvSpPr>
          <p:cNvPr id="22" name="Text 18"/>
          <p:cNvSpPr txBox="1"/>
          <p:nvPr/>
        </p:nvSpPr>
        <p:spPr>
          <a:xfrm>
            <a:off x="292608" y="2821838"/>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04</a:t>
            </a:r>
            <a:endParaRPr lang="en-US" sz="1100" dirty="0"/>
          </a:p>
        </p:txBody>
      </p:sp>
      <p:sp>
        <p:nvSpPr>
          <p:cNvPr id="23" name="Text 19"/>
          <p:cNvSpPr txBox="1"/>
          <p:nvPr/>
        </p:nvSpPr>
        <p:spPr>
          <a:xfrm>
            <a:off x="768096" y="2803550"/>
            <a:ext cx="4261104"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CURVED</a:t>
            </a:r>
            <a:endParaRPr lang="en-US" sz="1250" dirty="0"/>
          </a:p>
        </p:txBody>
      </p:sp>
      <p:sp>
        <p:nvSpPr>
          <p:cNvPr id="24" name="Text 20"/>
          <p:cNvSpPr txBox="1"/>
          <p:nvPr/>
        </p:nvSpPr>
        <p:spPr>
          <a:xfrm>
            <a:off x="768096" y="3068726"/>
            <a:ext cx="4261104" cy="239573"/>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Bends smoothly. Feels soft, natural, and flowing.</a:t>
            </a:r>
            <a:endParaRPr lang="en-US" sz="1050" dirty="0"/>
          </a:p>
        </p:txBody>
      </p:sp>
      <p:sp>
        <p:nvSpPr>
          <p:cNvPr id="25" name="Shape 21"/>
          <p:cNvSpPr/>
          <p:nvPr/>
        </p:nvSpPr>
        <p:spPr>
          <a:xfrm>
            <a:off x="292608" y="3454603"/>
            <a:ext cx="310896" cy="310896"/>
          </a:xfrm>
          <a:prstGeom prst="rect">
            <a:avLst/>
          </a:prstGeom>
          <a:solidFill>
            <a:srgbClr val="00B8B8"/>
          </a:solidFill>
          <a:ln/>
        </p:spPr>
        <p:txBody>
          <a:bodyPr/>
          <a:lstStyle/>
          <a:p>
            <a:endParaRPr lang="en-US"/>
          </a:p>
        </p:txBody>
      </p:sp>
      <p:sp>
        <p:nvSpPr>
          <p:cNvPr id="26" name="Text 22"/>
          <p:cNvSpPr txBox="1"/>
          <p:nvPr/>
        </p:nvSpPr>
        <p:spPr>
          <a:xfrm>
            <a:off x="292608" y="3454603"/>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05</a:t>
            </a:r>
            <a:endParaRPr lang="en-US" sz="1100" dirty="0"/>
          </a:p>
        </p:txBody>
      </p:sp>
      <p:sp>
        <p:nvSpPr>
          <p:cNvPr id="27" name="Text 23"/>
          <p:cNvSpPr txBox="1"/>
          <p:nvPr/>
        </p:nvSpPr>
        <p:spPr>
          <a:xfrm>
            <a:off x="768096" y="3436315"/>
            <a:ext cx="4261104"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ZIGZAG</a:t>
            </a:r>
            <a:endParaRPr lang="en-US" sz="1250" dirty="0"/>
          </a:p>
        </p:txBody>
      </p:sp>
      <p:sp>
        <p:nvSpPr>
          <p:cNvPr id="28" name="Text 24"/>
          <p:cNvSpPr txBox="1"/>
          <p:nvPr/>
        </p:nvSpPr>
        <p:spPr>
          <a:xfrm>
            <a:off x="768096" y="3701491"/>
            <a:ext cx="2994435"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Turns sharply again and again. Feels busy, excited, or nervous.</a:t>
            </a:r>
            <a:endParaRPr lang="en-US" sz="1050" dirty="0"/>
          </a:p>
        </p:txBody>
      </p:sp>
      <p:pic>
        <p:nvPicPr>
          <p:cNvPr id="34" name="Picture 33">
            <a:extLst>
              <a:ext uri="{FF2B5EF4-FFF2-40B4-BE49-F238E27FC236}">
                <a16:creationId xmlns:a16="http://schemas.microsoft.com/office/drawing/2014/main" id="{9B184F3A-5FC4-187D-B142-85DC49342FEA}"/>
              </a:ext>
            </a:extLst>
          </p:cNvPr>
          <p:cNvPicPr>
            <a:picLocks noChangeAspect="1"/>
          </p:cNvPicPr>
          <p:nvPr/>
        </p:nvPicPr>
        <p:blipFill>
          <a:blip r:embed="rId5"/>
          <a:stretch>
            <a:fillRect/>
          </a:stretch>
        </p:blipFill>
        <p:spPr>
          <a:xfrm>
            <a:off x="3927123" y="731520"/>
            <a:ext cx="4949962" cy="423999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00B8B8"/>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80E0E0"/>
                </a:solidFill>
                <a:latin typeface="Oswald" pitchFamily="34" charset="0"/>
                <a:ea typeface="Oswald" pitchFamily="34" charset="-122"/>
                <a:cs typeface="Oswald" pitchFamily="34" charset="-120"/>
              </a:rPr>
              <a:t>LINE WEIGHT AND LINE QUALITY</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80E0E0"/>
                </a:solidFill>
                <a:latin typeface="Oswald" pitchFamily="34" charset="0"/>
                <a:ea typeface="Oswald" pitchFamily="34" charset="-122"/>
                <a:cs typeface="Oswald" pitchFamily="34" charset="-120"/>
              </a:rPr>
              <a:t>LINE / 06 / 18</a:t>
            </a:r>
            <a:endParaRPr lang="en-US" sz="900" dirty="0"/>
          </a:p>
        </p:txBody>
      </p:sp>
      <p:sp>
        <p:nvSpPr>
          <p:cNvPr id="8" name="Shape 4"/>
          <p:cNvSpPr/>
          <p:nvPr/>
        </p:nvSpPr>
        <p:spPr>
          <a:xfrm>
            <a:off x="859536" y="699516"/>
            <a:ext cx="457017" cy="22860"/>
          </a:xfrm>
          <a:prstGeom prst="rect">
            <a:avLst/>
          </a:prstGeom>
          <a:solidFill>
            <a:srgbClr val="00B8B8"/>
          </a:solidFill>
          <a:ln/>
        </p:spPr>
        <p:txBody>
          <a:bodyPr/>
          <a:lstStyle/>
          <a:p>
            <a:endParaRPr lang="en-US"/>
          </a:p>
        </p:txBody>
      </p:sp>
      <p:sp>
        <p:nvSpPr>
          <p:cNvPr id="9" name="Shape 5"/>
          <p:cNvSpPr/>
          <p:nvPr/>
        </p:nvSpPr>
        <p:spPr>
          <a:xfrm>
            <a:off x="292608" y="923544"/>
            <a:ext cx="310896" cy="310896"/>
          </a:xfrm>
          <a:prstGeom prst="rect">
            <a:avLst/>
          </a:prstGeom>
          <a:solidFill>
            <a:srgbClr val="00B8B8"/>
          </a:solidFill>
          <a:ln/>
        </p:spPr>
        <p:txBody>
          <a:bodyPr/>
          <a:lstStyle/>
          <a:p>
            <a:endParaRPr lang="en-US"/>
          </a:p>
        </p:txBody>
      </p:sp>
      <p:sp>
        <p:nvSpPr>
          <p:cNvPr id="10" name="Text 6"/>
          <p:cNvSpPr txBox="1"/>
          <p:nvPr/>
        </p:nvSpPr>
        <p:spPr>
          <a:xfrm>
            <a:off x="292608" y="923544"/>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01</a:t>
            </a:r>
            <a:endParaRPr lang="en-US" sz="1100" dirty="0"/>
          </a:p>
        </p:txBody>
      </p:sp>
      <p:sp>
        <p:nvSpPr>
          <p:cNvPr id="11" name="Text 7"/>
          <p:cNvSpPr txBox="1"/>
          <p:nvPr/>
        </p:nvSpPr>
        <p:spPr>
          <a:xfrm>
            <a:off x="768096" y="905256"/>
            <a:ext cx="4261104"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WEIGHT IS THICKNESS</a:t>
            </a:r>
            <a:endParaRPr lang="en-US" sz="1250" dirty="0"/>
          </a:p>
        </p:txBody>
      </p:sp>
      <p:sp>
        <p:nvSpPr>
          <p:cNvPr id="12" name="Text 8"/>
          <p:cNvSpPr txBox="1"/>
          <p:nvPr/>
        </p:nvSpPr>
        <p:spPr>
          <a:xfrm>
            <a:off x="768096" y="1170432"/>
            <a:ext cx="4261104"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A 0.25 pt line whispers. A 12 pt line shouts. Both can be right.</a:t>
            </a:r>
            <a:endParaRPr lang="en-US" sz="1050" dirty="0"/>
          </a:p>
        </p:txBody>
      </p:sp>
      <p:sp>
        <p:nvSpPr>
          <p:cNvPr id="13" name="Shape 9"/>
          <p:cNvSpPr/>
          <p:nvPr/>
        </p:nvSpPr>
        <p:spPr>
          <a:xfrm>
            <a:off x="292608" y="1723644"/>
            <a:ext cx="310896" cy="310896"/>
          </a:xfrm>
          <a:prstGeom prst="rect">
            <a:avLst/>
          </a:prstGeom>
          <a:solidFill>
            <a:srgbClr val="00B8B8"/>
          </a:solidFill>
          <a:ln/>
        </p:spPr>
        <p:txBody>
          <a:bodyPr/>
          <a:lstStyle/>
          <a:p>
            <a:endParaRPr lang="en-US"/>
          </a:p>
        </p:txBody>
      </p:sp>
      <p:sp>
        <p:nvSpPr>
          <p:cNvPr id="14" name="Text 10"/>
          <p:cNvSpPr txBox="1"/>
          <p:nvPr/>
        </p:nvSpPr>
        <p:spPr>
          <a:xfrm>
            <a:off x="292608" y="1723644"/>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02</a:t>
            </a:r>
            <a:endParaRPr lang="en-US" sz="1100" dirty="0"/>
          </a:p>
        </p:txBody>
      </p:sp>
      <p:sp>
        <p:nvSpPr>
          <p:cNvPr id="15" name="Text 11"/>
          <p:cNvSpPr txBox="1"/>
          <p:nvPr/>
        </p:nvSpPr>
        <p:spPr>
          <a:xfrm>
            <a:off x="768096" y="1705356"/>
            <a:ext cx="4261104"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VARY WEIGHT ON PURPOSE</a:t>
            </a:r>
            <a:endParaRPr lang="en-US" sz="1250" dirty="0"/>
          </a:p>
        </p:txBody>
      </p:sp>
      <p:sp>
        <p:nvSpPr>
          <p:cNvPr id="16" name="Text 12"/>
          <p:cNvSpPr txBox="1"/>
          <p:nvPr/>
        </p:nvSpPr>
        <p:spPr>
          <a:xfrm>
            <a:off x="768096" y="1970532"/>
            <a:ext cx="4261104"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Heavier on the outside edge, lighter inside, and a flat drawing starts to look solid.</a:t>
            </a:r>
            <a:endParaRPr lang="en-US" sz="1050" dirty="0"/>
          </a:p>
        </p:txBody>
      </p:sp>
      <p:sp>
        <p:nvSpPr>
          <p:cNvPr id="17" name="Shape 13"/>
          <p:cNvSpPr/>
          <p:nvPr/>
        </p:nvSpPr>
        <p:spPr>
          <a:xfrm>
            <a:off x="292608" y="2523744"/>
            <a:ext cx="310896" cy="310896"/>
          </a:xfrm>
          <a:prstGeom prst="rect">
            <a:avLst/>
          </a:prstGeom>
          <a:solidFill>
            <a:srgbClr val="00B8B8"/>
          </a:solidFill>
          <a:ln/>
        </p:spPr>
        <p:txBody>
          <a:bodyPr/>
          <a:lstStyle/>
          <a:p>
            <a:endParaRPr lang="en-US"/>
          </a:p>
        </p:txBody>
      </p:sp>
      <p:sp>
        <p:nvSpPr>
          <p:cNvPr id="18" name="Text 14"/>
          <p:cNvSpPr txBox="1"/>
          <p:nvPr/>
        </p:nvSpPr>
        <p:spPr>
          <a:xfrm>
            <a:off x="292608" y="2523744"/>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03</a:t>
            </a:r>
            <a:endParaRPr lang="en-US" sz="1100" dirty="0"/>
          </a:p>
        </p:txBody>
      </p:sp>
      <p:sp>
        <p:nvSpPr>
          <p:cNvPr id="19" name="Text 15"/>
          <p:cNvSpPr txBox="1"/>
          <p:nvPr/>
        </p:nvSpPr>
        <p:spPr>
          <a:xfrm>
            <a:off x="768096" y="2505456"/>
            <a:ext cx="4261104"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QUALITY IS THE FEEL</a:t>
            </a:r>
            <a:endParaRPr lang="en-US" sz="1250" dirty="0"/>
          </a:p>
        </p:txBody>
      </p:sp>
      <p:sp>
        <p:nvSpPr>
          <p:cNvPr id="20" name="Text 16"/>
          <p:cNvSpPr txBox="1"/>
          <p:nvPr/>
        </p:nvSpPr>
        <p:spPr>
          <a:xfrm>
            <a:off x="768096" y="2770632"/>
            <a:ext cx="4261104"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Smooth, rough, broken, or shaky. Line quality is the personality of the mark.</a:t>
            </a:r>
            <a:endParaRPr lang="en-US" sz="1050" dirty="0"/>
          </a:p>
        </p:txBody>
      </p:sp>
      <p:sp>
        <p:nvSpPr>
          <p:cNvPr id="21" name="Shape 17"/>
          <p:cNvSpPr/>
          <p:nvPr/>
        </p:nvSpPr>
        <p:spPr>
          <a:xfrm>
            <a:off x="292608" y="3360420"/>
            <a:ext cx="4736592" cy="894283"/>
          </a:xfrm>
          <a:prstGeom prst="rect">
            <a:avLst/>
          </a:prstGeom>
          <a:solidFill>
            <a:srgbClr val="0C1010"/>
          </a:solidFill>
          <a:ln w="12700">
            <a:solidFill>
              <a:srgbClr val="F90101"/>
            </a:solidFill>
            <a:prstDash val="solid"/>
          </a:ln>
        </p:spPr>
        <p:txBody>
          <a:bodyPr/>
          <a:lstStyle/>
          <a:p>
            <a:endParaRPr lang="en-US"/>
          </a:p>
        </p:txBody>
      </p:sp>
      <p:sp>
        <p:nvSpPr>
          <p:cNvPr id="22" name="Shape 18"/>
          <p:cNvSpPr/>
          <p:nvPr/>
        </p:nvSpPr>
        <p:spPr>
          <a:xfrm>
            <a:off x="292608" y="3360420"/>
            <a:ext cx="45720" cy="894283"/>
          </a:xfrm>
          <a:prstGeom prst="rect">
            <a:avLst/>
          </a:prstGeom>
          <a:solidFill>
            <a:srgbClr val="F90101"/>
          </a:solidFill>
          <a:ln/>
        </p:spPr>
        <p:txBody>
          <a:bodyPr/>
          <a:lstStyle/>
          <a:p>
            <a:endParaRPr lang="en-US"/>
          </a:p>
        </p:txBody>
      </p:sp>
      <p:sp>
        <p:nvSpPr>
          <p:cNvPr id="23" name="Text 19"/>
          <p:cNvSpPr txBox="1"/>
          <p:nvPr/>
        </p:nvSpPr>
        <p:spPr>
          <a:xfrm>
            <a:off x="459943" y="3467405"/>
            <a:ext cx="4401007" cy="237744"/>
          </a:xfrm>
          <a:prstGeom prst="rect">
            <a:avLst/>
          </a:prstGeom>
          <a:noFill/>
          <a:ln/>
        </p:spPr>
        <p:txBody>
          <a:bodyPr wrap="square" lIns="0" tIns="0" rIns="0" bIns="0" rtlCol="0" anchor="ctr"/>
          <a:lstStyle/>
          <a:p>
            <a:pPr marL="0" indent="0">
              <a:lnSpc>
                <a:spcPct val="105000"/>
              </a:lnSpc>
              <a:buNone/>
            </a:pPr>
            <a:r>
              <a:rPr lang="en-US" sz="1100" b="1" kern="0" spc="100" dirty="0">
                <a:solidFill>
                  <a:srgbClr val="FF8F8F"/>
                </a:solidFill>
                <a:latin typeface="Oswald" pitchFamily="34" charset="0"/>
                <a:ea typeface="Oswald" pitchFamily="34" charset="-122"/>
                <a:cs typeface="Oswald" pitchFamily="34" charset="-120"/>
              </a:rPr>
              <a:t>A BEGINNER HABIT TO BREAK</a:t>
            </a:r>
            <a:endParaRPr lang="en-US" sz="1100" dirty="0"/>
          </a:p>
        </p:txBody>
      </p:sp>
      <p:sp>
        <p:nvSpPr>
          <p:cNvPr id="24" name="Text 20"/>
          <p:cNvSpPr txBox="1"/>
          <p:nvPr/>
        </p:nvSpPr>
        <p:spPr>
          <a:xfrm>
            <a:off x="459943" y="3741725"/>
            <a:ext cx="4401007" cy="406908"/>
          </a:xfrm>
          <a:prstGeom prst="rect">
            <a:avLst/>
          </a:prstGeom>
          <a:noFill/>
          <a:ln/>
        </p:spPr>
        <p:txBody>
          <a:bodyPr wrap="square" lIns="0" tIns="0" rIns="0" bIns="0" rtlCol="0" anchor="t"/>
          <a:lstStyle/>
          <a:p>
            <a:pPr marL="0" indent="0">
              <a:lnSpc>
                <a:spcPct val="125000"/>
              </a:lnSpc>
              <a:buNone/>
            </a:pPr>
            <a:r>
              <a:rPr lang="en-US" sz="1050" dirty="0">
                <a:solidFill>
                  <a:srgbClr val="FFB0B0"/>
                </a:solidFill>
                <a:latin typeface="Arial" pitchFamily="34" charset="0"/>
                <a:ea typeface="Arial" pitchFamily="34" charset="-122"/>
                <a:cs typeface="Arial" pitchFamily="34" charset="-120"/>
              </a:rPr>
              <a:t>Using one weight for everything makes a drawing look flat and unfinished.</a:t>
            </a:r>
            <a:endParaRPr lang="en-US" sz="1050" dirty="0"/>
          </a:p>
        </p:txBody>
      </p:sp>
      <p:sp>
        <p:nvSpPr>
          <p:cNvPr id="29" name="Text 25"/>
          <p:cNvSpPr txBox="1"/>
          <p:nvPr/>
        </p:nvSpPr>
        <p:spPr>
          <a:xfrm>
            <a:off x="5358384" y="4029761"/>
            <a:ext cx="3493008" cy="237744"/>
          </a:xfrm>
          <a:prstGeom prst="rect">
            <a:avLst/>
          </a:prstGeom>
          <a:noFill/>
          <a:ln/>
        </p:spPr>
        <p:txBody>
          <a:bodyPr wrap="square" lIns="0" tIns="0" rIns="0" bIns="0" rtlCol="0" anchor="t"/>
          <a:lstStyle/>
          <a:p>
            <a:pPr marL="0" indent="0" algn="ctr">
              <a:lnSpc>
                <a:spcPct val="120000"/>
              </a:lnSpc>
              <a:buNone/>
            </a:pPr>
            <a:r>
              <a:rPr lang="en-US" sz="900" i="1" dirty="0">
                <a:solidFill>
                  <a:srgbClr val="777777"/>
                </a:solidFill>
                <a:latin typeface="Arial" pitchFamily="34" charset="0"/>
                <a:ea typeface="Arial" pitchFamily="34" charset="-122"/>
                <a:cs typeface="Arial" pitchFamily="34" charset="-120"/>
              </a:rPr>
              <a:t>Same drawing. Only the line weight changed.</a:t>
            </a:r>
            <a:endParaRPr lang="en-US" sz="900" dirty="0"/>
          </a:p>
        </p:txBody>
      </p:sp>
      <p:pic>
        <p:nvPicPr>
          <p:cNvPr id="32" name="Picture 31" descr="Drawing Weight at PaintingValley.com | Explore collection of Drawing Weight">
            <a:extLst>
              <a:ext uri="{FF2B5EF4-FFF2-40B4-BE49-F238E27FC236}">
                <a16:creationId xmlns:a16="http://schemas.microsoft.com/office/drawing/2014/main" id="{2BFD3D9E-7481-1BCA-3A86-504ADB1A8093}"/>
              </a:ext>
            </a:extLst>
          </p:cNvPr>
          <p:cNvPicPr>
            <a:picLocks noChangeAspect="1"/>
          </p:cNvPicPr>
          <p:nvPr/>
        </p:nvPicPr>
        <p:blipFill>
          <a:blip r:embed="rId5"/>
          <a:srcRect t="50977" r="41571"/>
          <a:stretch>
            <a:fillRect/>
          </a:stretch>
        </p:blipFill>
        <p:spPr>
          <a:xfrm>
            <a:off x="5193792" y="1431068"/>
            <a:ext cx="3804615" cy="242390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00B8B8"/>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80E0E0"/>
                </a:solidFill>
                <a:latin typeface="Oswald" pitchFamily="34" charset="0"/>
                <a:ea typeface="Oswald" pitchFamily="34" charset="-122"/>
                <a:cs typeface="Oswald" pitchFamily="34" charset="-120"/>
              </a:rPr>
              <a:t>THE FOUR JOBS A LINE DOES</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80E0E0"/>
                </a:solidFill>
                <a:latin typeface="Oswald" pitchFamily="34" charset="0"/>
                <a:ea typeface="Oswald" pitchFamily="34" charset="-122"/>
                <a:cs typeface="Oswald" pitchFamily="34" charset="-120"/>
              </a:rPr>
              <a:t>LINE / 07 / 18</a:t>
            </a:r>
            <a:endParaRPr lang="en-US" sz="900" dirty="0"/>
          </a:p>
        </p:txBody>
      </p:sp>
      <p:sp>
        <p:nvSpPr>
          <p:cNvPr id="8" name="Shape 4"/>
          <p:cNvSpPr/>
          <p:nvPr/>
        </p:nvSpPr>
        <p:spPr>
          <a:xfrm>
            <a:off x="859536" y="699516"/>
            <a:ext cx="457017" cy="22860"/>
          </a:xfrm>
          <a:prstGeom prst="rect">
            <a:avLst/>
          </a:prstGeom>
          <a:solidFill>
            <a:srgbClr val="00B8B8"/>
          </a:solidFill>
          <a:ln/>
        </p:spPr>
        <p:txBody>
          <a:bodyPr/>
          <a:lstStyle/>
          <a:p>
            <a:endParaRPr lang="en-US"/>
          </a:p>
        </p:txBody>
      </p:sp>
      <p:sp>
        <p:nvSpPr>
          <p:cNvPr id="9" name="Shape 5"/>
          <p:cNvSpPr/>
          <p:nvPr/>
        </p:nvSpPr>
        <p:spPr>
          <a:xfrm>
            <a:off x="292608" y="905256"/>
            <a:ext cx="4133088" cy="1335024"/>
          </a:xfrm>
          <a:prstGeom prst="rect">
            <a:avLst/>
          </a:prstGeom>
          <a:solidFill>
            <a:srgbClr val="00B8B8"/>
          </a:solidFill>
          <a:ln/>
        </p:spPr>
        <p:txBody>
          <a:bodyPr/>
          <a:lstStyle/>
          <a:p>
            <a:endParaRPr lang="en-US"/>
          </a:p>
        </p:txBody>
      </p:sp>
      <p:sp>
        <p:nvSpPr>
          <p:cNvPr id="10" name="Shape 6"/>
          <p:cNvSpPr/>
          <p:nvPr/>
        </p:nvSpPr>
        <p:spPr>
          <a:xfrm>
            <a:off x="307878" y="920526"/>
            <a:ext cx="4102547" cy="213238"/>
          </a:xfrm>
          <a:prstGeom prst="rect">
            <a:avLst/>
          </a:prstGeom>
          <a:solidFill>
            <a:srgbClr val="094043"/>
          </a:solidFill>
          <a:ln/>
        </p:spPr>
        <p:txBody>
          <a:bodyPr/>
          <a:lstStyle/>
          <a:p>
            <a:endParaRPr lang="en-US"/>
          </a:p>
        </p:txBody>
      </p:sp>
      <p:sp>
        <p:nvSpPr>
          <p:cNvPr id="11" name="Shape 7"/>
          <p:cNvSpPr/>
          <p:nvPr/>
        </p:nvSpPr>
        <p:spPr>
          <a:xfrm>
            <a:off x="307878" y="1133765"/>
            <a:ext cx="4102547" cy="1091245"/>
          </a:xfrm>
          <a:prstGeom prst="rect">
            <a:avLst/>
          </a:prstGeom>
          <a:solidFill>
            <a:srgbClr val="041D1C"/>
          </a:solidFill>
          <a:ln/>
        </p:spPr>
        <p:txBody>
          <a:bodyPr/>
          <a:lstStyle/>
          <a:p>
            <a:endParaRPr lang="en-US"/>
          </a:p>
        </p:txBody>
      </p:sp>
      <p:sp>
        <p:nvSpPr>
          <p:cNvPr id="12" name="Text 8"/>
          <p:cNvSpPr txBox="1"/>
          <p:nvPr/>
        </p:nvSpPr>
        <p:spPr>
          <a:xfrm>
            <a:off x="475488" y="1027146"/>
            <a:ext cx="3767328" cy="274320"/>
          </a:xfrm>
          <a:prstGeom prst="rect">
            <a:avLst/>
          </a:prstGeom>
          <a:noFill/>
          <a:ln/>
        </p:spPr>
        <p:txBody>
          <a:bodyPr wrap="square" lIns="0" tIns="0" rIns="0" bIns="0" rtlCol="0" anchor="ctr"/>
          <a:lstStyle/>
          <a:p>
            <a:pPr marL="0" indent="0">
              <a:lnSpc>
                <a:spcPct val="105000"/>
              </a:lnSpc>
              <a:buNone/>
            </a:pPr>
            <a:r>
              <a:rPr lang="en-US" sz="1250" b="1" dirty="0">
                <a:solidFill>
                  <a:srgbClr val="80E0E0"/>
                </a:solidFill>
                <a:latin typeface="Arial" pitchFamily="34" charset="0"/>
                <a:ea typeface="Arial" pitchFamily="34" charset="-122"/>
                <a:cs typeface="Arial" pitchFamily="34" charset="-120"/>
              </a:rPr>
              <a:t>It leads the eye</a:t>
            </a:r>
            <a:endParaRPr lang="en-US" sz="1250" dirty="0"/>
          </a:p>
        </p:txBody>
      </p:sp>
      <p:sp>
        <p:nvSpPr>
          <p:cNvPr id="13" name="Shape 9"/>
          <p:cNvSpPr/>
          <p:nvPr/>
        </p:nvSpPr>
        <p:spPr>
          <a:xfrm>
            <a:off x="475488" y="1328623"/>
            <a:ext cx="243779" cy="15270"/>
          </a:xfrm>
          <a:prstGeom prst="rect">
            <a:avLst/>
          </a:prstGeom>
          <a:solidFill>
            <a:srgbClr val="00B8B8"/>
          </a:solidFill>
          <a:ln/>
        </p:spPr>
        <p:txBody>
          <a:bodyPr/>
          <a:lstStyle/>
          <a:p>
            <a:endParaRPr lang="en-US"/>
          </a:p>
        </p:txBody>
      </p:sp>
      <p:sp>
        <p:nvSpPr>
          <p:cNvPr id="14" name="Text 10"/>
          <p:cNvSpPr txBox="1"/>
          <p:nvPr/>
        </p:nvSpPr>
        <p:spPr>
          <a:xfrm>
            <a:off x="475488" y="1438351"/>
            <a:ext cx="3767328" cy="722376"/>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A line tells the viewer where to look first and where to go next.</a:t>
            </a:r>
            <a:endParaRPr lang="en-US" sz="1050" dirty="0"/>
          </a:p>
        </p:txBody>
      </p:sp>
      <p:sp>
        <p:nvSpPr>
          <p:cNvPr id="15" name="Shape 11"/>
          <p:cNvSpPr/>
          <p:nvPr/>
        </p:nvSpPr>
        <p:spPr>
          <a:xfrm>
            <a:off x="4718304" y="905256"/>
            <a:ext cx="4133088" cy="1335024"/>
          </a:xfrm>
          <a:prstGeom prst="rect">
            <a:avLst/>
          </a:prstGeom>
          <a:solidFill>
            <a:srgbClr val="00B8B8"/>
          </a:solidFill>
          <a:ln/>
        </p:spPr>
        <p:txBody>
          <a:bodyPr/>
          <a:lstStyle/>
          <a:p>
            <a:endParaRPr lang="en-US"/>
          </a:p>
        </p:txBody>
      </p:sp>
      <p:sp>
        <p:nvSpPr>
          <p:cNvPr id="16" name="Shape 12"/>
          <p:cNvSpPr/>
          <p:nvPr/>
        </p:nvSpPr>
        <p:spPr>
          <a:xfrm>
            <a:off x="4733574" y="920526"/>
            <a:ext cx="4102547" cy="213238"/>
          </a:xfrm>
          <a:prstGeom prst="rect">
            <a:avLst/>
          </a:prstGeom>
          <a:solidFill>
            <a:srgbClr val="094043"/>
          </a:solidFill>
          <a:ln/>
        </p:spPr>
        <p:txBody>
          <a:bodyPr/>
          <a:lstStyle/>
          <a:p>
            <a:endParaRPr lang="en-US"/>
          </a:p>
        </p:txBody>
      </p:sp>
      <p:sp>
        <p:nvSpPr>
          <p:cNvPr id="17" name="Shape 13"/>
          <p:cNvSpPr/>
          <p:nvPr/>
        </p:nvSpPr>
        <p:spPr>
          <a:xfrm>
            <a:off x="4733574" y="1133765"/>
            <a:ext cx="4102547" cy="1091245"/>
          </a:xfrm>
          <a:prstGeom prst="rect">
            <a:avLst/>
          </a:prstGeom>
          <a:solidFill>
            <a:srgbClr val="041D1C"/>
          </a:solidFill>
          <a:ln/>
        </p:spPr>
        <p:txBody>
          <a:bodyPr/>
          <a:lstStyle/>
          <a:p>
            <a:endParaRPr lang="en-US"/>
          </a:p>
        </p:txBody>
      </p:sp>
      <p:sp>
        <p:nvSpPr>
          <p:cNvPr id="18" name="Text 14"/>
          <p:cNvSpPr txBox="1"/>
          <p:nvPr/>
        </p:nvSpPr>
        <p:spPr>
          <a:xfrm>
            <a:off x="4901184" y="1027146"/>
            <a:ext cx="3767328" cy="274320"/>
          </a:xfrm>
          <a:prstGeom prst="rect">
            <a:avLst/>
          </a:prstGeom>
          <a:noFill/>
          <a:ln/>
        </p:spPr>
        <p:txBody>
          <a:bodyPr wrap="square" lIns="0" tIns="0" rIns="0" bIns="0" rtlCol="0" anchor="ctr"/>
          <a:lstStyle/>
          <a:p>
            <a:pPr marL="0" indent="0">
              <a:lnSpc>
                <a:spcPct val="105000"/>
              </a:lnSpc>
              <a:buNone/>
            </a:pPr>
            <a:r>
              <a:rPr lang="en-US" sz="1250" b="1" dirty="0">
                <a:solidFill>
                  <a:srgbClr val="80E0E0"/>
                </a:solidFill>
                <a:latin typeface="Arial" pitchFamily="34" charset="0"/>
                <a:ea typeface="Arial" pitchFamily="34" charset="-122"/>
                <a:cs typeface="Arial" pitchFamily="34" charset="-120"/>
              </a:rPr>
              <a:t>It divides space</a:t>
            </a:r>
            <a:endParaRPr lang="en-US" sz="1250" dirty="0"/>
          </a:p>
        </p:txBody>
      </p:sp>
      <p:sp>
        <p:nvSpPr>
          <p:cNvPr id="19" name="Shape 15"/>
          <p:cNvSpPr/>
          <p:nvPr/>
        </p:nvSpPr>
        <p:spPr>
          <a:xfrm>
            <a:off x="4901184" y="1328623"/>
            <a:ext cx="243779" cy="15270"/>
          </a:xfrm>
          <a:prstGeom prst="rect">
            <a:avLst/>
          </a:prstGeom>
          <a:solidFill>
            <a:srgbClr val="00B8B8"/>
          </a:solidFill>
          <a:ln/>
        </p:spPr>
        <p:txBody>
          <a:bodyPr/>
          <a:lstStyle/>
          <a:p>
            <a:endParaRPr lang="en-US"/>
          </a:p>
        </p:txBody>
      </p:sp>
      <p:sp>
        <p:nvSpPr>
          <p:cNvPr id="20" name="Text 16"/>
          <p:cNvSpPr txBox="1"/>
          <p:nvPr/>
        </p:nvSpPr>
        <p:spPr>
          <a:xfrm>
            <a:off x="4901184" y="1438351"/>
            <a:ext cx="3767328" cy="722376"/>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A rule between two columns is a line doing organizing work.</a:t>
            </a:r>
            <a:endParaRPr lang="en-US" sz="1050" dirty="0"/>
          </a:p>
        </p:txBody>
      </p:sp>
      <p:sp>
        <p:nvSpPr>
          <p:cNvPr id="21" name="Shape 17"/>
          <p:cNvSpPr/>
          <p:nvPr/>
        </p:nvSpPr>
        <p:spPr>
          <a:xfrm>
            <a:off x="292608" y="2459736"/>
            <a:ext cx="4133088" cy="1335024"/>
          </a:xfrm>
          <a:prstGeom prst="rect">
            <a:avLst/>
          </a:prstGeom>
          <a:solidFill>
            <a:srgbClr val="00B8B8"/>
          </a:solidFill>
          <a:ln/>
        </p:spPr>
        <p:txBody>
          <a:bodyPr/>
          <a:lstStyle/>
          <a:p>
            <a:endParaRPr lang="en-US"/>
          </a:p>
        </p:txBody>
      </p:sp>
      <p:sp>
        <p:nvSpPr>
          <p:cNvPr id="22" name="Shape 18"/>
          <p:cNvSpPr/>
          <p:nvPr/>
        </p:nvSpPr>
        <p:spPr>
          <a:xfrm>
            <a:off x="307878" y="2475006"/>
            <a:ext cx="4102547" cy="213238"/>
          </a:xfrm>
          <a:prstGeom prst="rect">
            <a:avLst/>
          </a:prstGeom>
          <a:solidFill>
            <a:srgbClr val="094043"/>
          </a:solidFill>
          <a:ln/>
        </p:spPr>
        <p:txBody>
          <a:bodyPr/>
          <a:lstStyle/>
          <a:p>
            <a:endParaRPr lang="en-US"/>
          </a:p>
        </p:txBody>
      </p:sp>
      <p:sp>
        <p:nvSpPr>
          <p:cNvPr id="23" name="Shape 19"/>
          <p:cNvSpPr/>
          <p:nvPr/>
        </p:nvSpPr>
        <p:spPr>
          <a:xfrm>
            <a:off x="307878" y="2688245"/>
            <a:ext cx="4102547" cy="1091245"/>
          </a:xfrm>
          <a:prstGeom prst="rect">
            <a:avLst/>
          </a:prstGeom>
          <a:solidFill>
            <a:srgbClr val="041D1C"/>
          </a:solidFill>
          <a:ln/>
        </p:spPr>
        <p:txBody>
          <a:bodyPr/>
          <a:lstStyle/>
          <a:p>
            <a:endParaRPr lang="en-US"/>
          </a:p>
        </p:txBody>
      </p:sp>
      <p:sp>
        <p:nvSpPr>
          <p:cNvPr id="24" name="Text 20"/>
          <p:cNvSpPr txBox="1"/>
          <p:nvPr/>
        </p:nvSpPr>
        <p:spPr>
          <a:xfrm>
            <a:off x="475488" y="2581626"/>
            <a:ext cx="3767328" cy="274320"/>
          </a:xfrm>
          <a:prstGeom prst="rect">
            <a:avLst/>
          </a:prstGeom>
          <a:noFill/>
          <a:ln/>
        </p:spPr>
        <p:txBody>
          <a:bodyPr wrap="square" lIns="0" tIns="0" rIns="0" bIns="0" rtlCol="0" anchor="ctr"/>
          <a:lstStyle/>
          <a:p>
            <a:pPr marL="0" indent="0">
              <a:lnSpc>
                <a:spcPct val="105000"/>
              </a:lnSpc>
              <a:buNone/>
            </a:pPr>
            <a:r>
              <a:rPr lang="en-US" sz="1250" b="1" dirty="0">
                <a:solidFill>
                  <a:srgbClr val="80E0E0"/>
                </a:solidFill>
                <a:latin typeface="Arial" pitchFamily="34" charset="0"/>
                <a:ea typeface="Arial" pitchFamily="34" charset="-122"/>
                <a:cs typeface="Arial" pitchFamily="34" charset="-120"/>
              </a:rPr>
              <a:t>It builds texture</a:t>
            </a:r>
            <a:endParaRPr lang="en-US" sz="1250" dirty="0"/>
          </a:p>
        </p:txBody>
      </p:sp>
      <p:sp>
        <p:nvSpPr>
          <p:cNvPr id="25" name="Shape 21"/>
          <p:cNvSpPr/>
          <p:nvPr/>
        </p:nvSpPr>
        <p:spPr>
          <a:xfrm>
            <a:off x="475488" y="2883103"/>
            <a:ext cx="243779" cy="15270"/>
          </a:xfrm>
          <a:prstGeom prst="rect">
            <a:avLst/>
          </a:prstGeom>
          <a:solidFill>
            <a:srgbClr val="00B8B8"/>
          </a:solidFill>
          <a:ln/>
        </p:spPr>
        <p:txBody>
          <a:bodyPr/>
          <a:lstStyle/>
          <a:p>
            <a:endParaRPr lang="en-US"/>
          </a:p>
        </p:txBody>
      </p:sp>
      <p:sp>
        <p:nvSpPr>
          <p:cNvPr id="26" name="Text 22"/>
          <p:cNvSpPr txBox="1"/>
          <p:nvPr/>
        </p:nvSpPr>
        <p:spPr>
          <a:xfrm>
            <a:off x="475488" y="2992831"/>
            <a:ext cx="3767328" cy="722376"/>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Many lines close together read as rough, soft, or woven.</a:t>
            </a:r>
            <a:endParaRPr lang="en-US" sz="1050" dirty="0"/>
          </a:p>
        </p:txBody>
      </p:sp>
      <p:sp>
        <p:nvSpPr>
          <p:cNvPr id="27" name="Shape 23"/>
          <p:cNvSpPr/>
          <p:nvPr/>
        </p:nvSpPr>
        <p:spPr>
          <a:xfrm>
            <a:off x="4718304" y="2459736"/>
            <a:ext cx="4133088" cy="1335024"/>
          </a:xfrm>
          <a:prstGeom prst="rect">
            <a:avLst/>
          </a:prstGeom>
          <a:solidFill>
            <a:srgbClr val="00B8B8"/>
          </a:solidFill>
          <a:ln/>
        </p:spPr>
        <p:txBody>
          <a:bodyPr/>
          <a:lstStyle/>
          <a:p>
            <a:endParaRPr lang="en-US"/>
          </a:p>
        </p:txBody>
      </p:sp>
      <p:sp>
        <p:nvSpPr>
          <p:cNvPr id="28" name="Shape 24"/>
          <p:cNvSpPr/>
          <p:nvPr/>
        </p:nvSpPr>
        <p:spPr>
          <a:xfrm>
            <a:off x="4733574" y="2475006"/>
            <a:ext cx="4102547" cy="213238"/>
          </a:xfrm>
          <a:prstGeom prst="rect">
            <a:avLst/>
          </a:prstGeom>
          <a:solidFill>
            <a:srgbClr val="094043"/>
          </a:solidFill>
          <a:ln/>
        </p:spPr>
        <p:txBody>
          <a:bodyPr/>
          <a:lstStyle/>
          <a:p>
            <a:endParaRPr lang="en-US"/>
          </a:p>
        </p:txBody>
      </p:sp>
      <p:sp>
        <p:nvSpPr>
          <p:cNvPr id="29" name="Shape 25"/>
          <p:cNvSpPr/>
          <p:nvPr/>
        </p:nvSpPr>
        <p:spPr>
          <a:xfrm>
            <a:off x="4733574" y="2688245"/>
            <a:ext cx="4102547" cy="1091245"/>
          </a:xfrm>
          <a:prstGeom prst="rect">
            <a:avLst/>
          </a:prstGeom>
          <a:solidFill>
            <a:srgbClr val="041D1C"/>
          </a:solidFill>
          <a:ln/>
        </p:spPr>
        <p:txBody>
          <a:bodyPr/>
          <a:lstStyle/>
          <a:p>
            <a:endParaRPr lang="en-US"/>
          </a:p>
        </p:txBody>
      </p:sp>
      <p:sp>
        <p:nvSpPr>
          <p:cNvPr id="30" name="Text 26"/>
          <p:cNvSpPr txBox="1"/>
          <p:nvPr/>
        </p:nvSpPr>
        <p:spPr>
          <a:xfrm>
            <a:off x="4901184" y="2581626"/>
            <a:ext cx="3767328" cy="274320"/>
          </a:xfrm>
          <a:prstGeom prst="rect">
            <a:avLst/>
          </a:prstGeom>
          <a:noFill/>
          <a:ln/>
        </p:spPr>
        <p:txBody>
          <a:bodyPr wrap="square" lIns="0" tIns="0" rIns="0" bIns="0" rtlCol="0" anchor="ctr"/>
          <a:lstStyle/>
          <a:p>
            <a:pPr marL="0" indent="0">
              <a:lnSpc>
                <a:spcPct val="105000"/>
              </a:lnSpc>
              <a:buNone/>
            </a:pPr>
            <a:r>
              <a:rPr lang="en-US" sz="1250" b="1" dirty="0">
                <a:solidFill>
                  <a:srgbClr val="80E0E0"/>
                </a:solidFill>
                <a:latin typeface="Arial" pitchFamily="34" charset="0"/>
                <a:ea typeface="Arial" pitchFamily="34" charset="-122"/>
                <a:cs typeface="Arial" pitchFamily="34" charset="-120"/>
              </a:rPr>
              <a:t>It defines edges</a:t>
            </a:r>
            <a:endParaRPr lang="en-US" sz="1250" dirty="0"/>
          </a:p>
        </p:txBody>
      </p:sp>
      <p:sp>
        <p:nvSpPr>
          <p:cNvPr id="31" name="Shape 27"/>
          <p:cNvSpPr/>
          <p:nvPr/>
        </p:nvSpPr>
        <p:spPr>
          <a:xfrm>
            <a:off x="4901184" y="2883103"/>
            <a:ext cx="243779" cy="15270"/>
          </a:xfrm>
          <a:prstGeom prst="rect">
            <a:avLst/>
          </a:prstGeom>
          <a:solidFill>
            <a:srgbClr val="00B8B8"/>
          </a:solidFill>
          <a:ln/>
        </p:spPr>
        <p:txBody>
          <a:bodyPr/>
          <a:lstStyle/>
          <a:p>
            <a:endParaRPr lang="en-US"/>
          </a:p>
        </p:txBody>
      </p:sp>
      <p:sp>
        <p:nvSpPr>
          <p:cNvPr id="32" name="Text 28"/>
          <p:cNvSpPr txBox="1"/>
          <p:nvPr/>
        </p:nvSpPr>
        <p:spPr>
          <a:xfrm>
            <a:off x="4901184" y="2992831"/>
            <a:ext cx="3767328" cy="722376"/>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A closed line becomes the outline of a shape. That is the next section.</a:t>
            </a:r>
            <a:endParaRPr lang="en-US" sz="1050" dirty="0"/>
          </a:p>
        </p:txBody>
      </p:sp>
      <p:sp>
        <p:nvSpPr>
          <p:cNvPr id="33" name="Shape 29"/>
          <p:cNvSpPr/>
          <p:nvPr/>
        </p:nvSpPr>
        <p:spPr>
          <a:xfrm>
            <a:off x="292608" y="4016959"/>
            <a:ext cx="8558784" cy="701345"/>
          </a:xfrm>
          <a:prstGeom prst="rect">
            <a:avLst/>
          </a:prstGeom>
          <a:solidFill>
            <a:srgbClr val="00B8B8">
              <a:alpha val="6000"/>
            </a:srgbClr>
          </a:solidFill>
          <a:ln w="12700">
            <a:solidFill>
              <a:srgbClr val="054444"/>
            </a:solidFill>
            <a:prstDash val="solid"/>
          </a:ln>
        </p:spPr>
        <p:txBody>
          <a:bodyPr/>
          <a:lstStyle/>
          <a:p>
            <a:endParaRPr lang="en-US"/>
          </a:p>
        </p:txBody>
      </p:sp>
      <p:sp>
        <p:nvSpPr>
          <p:cNvPr id="34" name="Shape 30"/>
          <p:cNvSpPr/>
          <p:nvPr/>
        </p:nvSpPr>
        <p:spPr>
          <a:xfrm>
            <a:off x="292608" y="4016959"/>
            <a:ext cx="45720" cy="701345"/>
          </a:xfrm>
          <a:prstGeom prst="rect">
            <a:avLst/>
          </a:prstGeom>
          <a:solidFill>
            <a:srgbClr val="00B8B8"/>
          </a:solidFill>
          <a:ln/>
        </p:spPr>
        <p:txBody>
          <a:bodyPr/>
          <a:lstStyle/>
          <a:p>
            <a:endParaRPr lang="en-US"/>
          </a:p>
        </p:txBody>
      </p:sp>
      <p:sp>
        <p:nvSpPr>
          <p:cNvPr id="35" name="Text 31"/>
          <p:cNvSpPr txBox="1"/>
          <p:nvPr/>
        </p:nvSpPr>
        <p:spPr>
          <a:xfrm>
            <a:off x="521208" y="4169664"/>
            <a:ext cx="8162849" cy="433426"/>
          </a:xfrm>
          <a:prstGeom prst="rect">
            <a:avLst/>
          </a:prstGeom>
          <a:noFill/>
          <a:ln/>
        </p:spPr>
        <p:txBody>
          <a:bodyPr wrap="square" lIns="0" tIns="0" rIns="0" bIns="0" rtlCol="0" anchor="t"/>
          <a:lstStyle/>
          <a:p>
            <a:pPr marL="0" indent="0">
              <a:lnSpc>
                <a:spcPct val="135000"/>
              </a:lnSpc>
              <a:buNone/>
            </a:pPr>
            <a:r>
              <a:rPr lang="en-US" sz="1050" dirty="0">
                <a:solidFill>
                  <a:srgbClr val="FFFFFF"/>
                </a:solidFill>
                <a:latin typeface="Arial" pitchFamily="34" charset="0"/>
                <a:ea typeface="Arial" pitchFamily="34" charset="-122"/>
                <a:cs typeface="Arial" pitchFamily="34" charset="-120"/>
              </a:rPr>
              <a:t>Look at any cartoon character and you will find all four jobs at once. The outline defines the edge, heavier lines pull your eye to the face, and hatching builds texture.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00B8B8"/>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80E0E0"/>
                </a:solidFill>
                <a:latin typeface="Oswald" pitchFamily="34" charset="0"/>
                <a:ea typeface="Oswald" pitchFamily="34" charset="-122"/>
                <a:cs typeface="Oswald" pitchFamily="34" charset="-120"/>
              </a:rPr>
              <a:t>WHAT YOUR LINE SAYS ABOUT THEM</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80E0E0"/>
                </a:solidFill>
                <a:latin typeface="Oswald" pitchFamily="34" charset="0"/>
                <a:ea typeface="Oswald" pitchFamily="34" charset="-122"/>
                <a:cs typeface="Oswald" pitchFamily="34" charset="-120"/>
              </a:rPr>
              <a:t>LINE / 08 / 18</a:t>
            </a:r>
            <a:endParaRPr lang="en-US" sz="900" dirty="0"/>
          </a:p>
        </p:txBody>
      </p:sp>
      <p:sp>
        <p:nvSpPr>
          <p:cNvPr id="8" name="Shape 4"/>
          <p:cNvSpPr/>
          <p:nvPr/>
        </p:nvSpPr>
        <p:spPr>
          <a:xfrm>
            <a:off x="859536" y="699516"/>
            <a:ext cx="457017" cy="22860"/>
          </a:xfrm>
          <a:prstGeom prst="rect">
            <a:avLst/>
          </a:prstGeom>
          <a:solidFill>
            <a:srgbClr val="00B8B8"/>
          </a:solidFill>
          <a:ln/>
        </p:spPr>
        <p:txBody>
          <a:bodyPr/>
          <a:lstStyle/>
          <a:p>
            <a:endParaRPr lang="en-US"/>
          </a:p>
        </p:txBody>
      </p:sp>
      <p:sp>
        <p:nvSpPr>
          <p:cNvPr id="9" name="Shape 5"/>
          <p:cNvSpPr/>
          <p:nvPr/>
        </p:nvSpPr>
        <p:spPr>
          <a:xfrm>
            <a:off x="292608" y="923544"/>
            <a:ext cx="310896" cy="310896"/>
          </a:xfrm>
          <a:prstGeom prst="rect">
            <a:avLst/>
          </a:prstGeom>
          <a:solidFill>
            <a:srgbClr val="00B8B8"/>
          </a:solidFill>
          <a:ln/>
        </p:spPr>
        <p:txBody>
          <a:bodyPr/>
          <a:lstStyle/>
          <a:p>
            <a:endParaRPr lang="en-US"/>
          </a:p>
        </p:txBody>
      </p:sp>
      <p:sp>
        <p:nvSpPr>
          <p:cNvPr id="10" name="Text 6"/>
          <p:cNvSpPr txBox="1"/>
          <p:nvPr/>
        </p:nvSpPr>
        <p:spPr>
          <a:xfrm>
            <a:off x="292608" y="923544"/>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01</a:t>
            </a:r>
            <a:endParaRPr lang="en-US" sz="1100" dirty="0"/>
          </a:p>
        </p:txBody>
      </p:sp>
      <p:sp>
        <p:nvSpPr>
          <p:cNvPr id="11" name="Text 7"/>
          <p:cNvSpPr txBox="1"/>
          <p:nvPr/>
        </p:nvSpPr>
        <p:spPr>
          <a:xfrm>
            <a:off x="768096" y="905256"/>
            <a:ext cx="4261104"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SMOOTH CURVES READ FRIENDLY</a:t>
            </a:r>
            <a:endParaRPr lang="en-US" sz="1250" dirty="0"/>
          </a:p>
        </p:txBody>
      </p:sp>
      <p:sp>
        <p:nvSpPr>
          <p:cNvPr id="12" name="Text 8"/>
          <p:cNvSpPr txBox="1"/>
          <p:nvPr/>
        </p:nvSpPr>
        <p:spPr>
          <a:xfrm>
            <a:off x="768096" y="1170432"/>
            <a:ext cx="4261104"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Rounded, flowing outlines make a character feel calm, safe, and likeable.</a:t>
            </a:r>
            <a:endParaRPr lang="en-US" sz="1050" dirty="0"/>
          </a:p>
        </p:txBody>
      </p:sp>
      <p:sp>
        <p:nvSpPr>
          <p:cNvPr id="13" name="Shape 9"/>
          <p:cNvSpPr/>
          <p:nvPr/>
        </p:nvSpPr>
        <p:spPr>
          <a:xfrm>
            <a:off x="292608" y="1723644"/>
            <a:ext cx="310896" cy="310896"/>
          </a:xfrm>
          <a:prstGeom prst="rect">
            <a:avLst/>
          </a:prstGeom>
          <a:solidFill>
            <a:srgbClr val="00B8B8"/>
          </a:solidFill>
          <a:ln/>
        </p:spPr>
        <p:txBody>
          <a:bodyPr/>
          <a:lstStyle/>
          <a:p>
            <a:endParaRPr lang="en-US"/>
          </a:p>
        </p:txBody>
      </p:sp>
      <p:sp>
        <p:nvSpPr>
          <p:cNvPr id="14" name="Text 10"/>
          <p:cNvSpPr txBox="1"/>
          <p:nvPr/>
        </p:nvSpPr>
        <p:spPr>
          <a:xfrm>
            <a:off x="292608" y="1723644"/>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02</a:t>
            </a:r>
            <a:endParaRPr lang="en-US" sz="1100" dirty="0"/>
          </a:p>
        </p:txBody>
      </p:sp>
      <p:sp>
        <p:nvSpPr>
          <p:cNvPr id="15" name="Text 11"/>
          <p:cNvSpPr txBox="1"/>
          <p:nvPr/>
        </p:nvSpPr>
        <p:spPr>
          <a:xfrm>
            <a:off x="768096" y="1705356"/>
            <a:ext cx="4261104"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SHARP ANGLES READ DANGEROUS</a:t>
            </a:r>
            <a:endParaRPr lang="en-US" sz="1250" dirty="0"/>
          </a:p>
        </p:txBody>
      </p:sp>
      <p:sp>
        <p:nvSpPr>
          <p:cNvPr id="16" name="Text 12"/>
          <p:cNvSpPr txBox="1"/>
          <p:nvPr/>
        </p:nvSpPr>
        <p:spPr>
          <a:xfrm>
            <a:off x="768096" y="1970532"/>
            <a:ext cx="4261104"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Jagged, pointed lines make a character feel tense, sneaky, or threatening.</a:t>
            </a:r>
            <a:endParaRPr lang="en-US" sz="1050" dirty="0"/>
          </a:p>
        </p:txBody>
      </p:sp>
      <p:sp>
        <p:nvSpPr>
          <p:cNvPr id="17" name="Shape 13"/>
          <p:cNvSpPr/>
          <p:nvPr/>
        </p:nvSpPr>
        <p:spPr>
          <a:xfrm>
            <a:off x="292608" y="2523744"/>
            <a:ext cx="310896" cy="310896"/>
          </a:xfrm>
          <a:prstGeom prst="rect">
            <a:avLst/>
          </a:prstGeom>
          <a:solidFill>
            <a:srgbClr val="00B8B8"/>
          </a:solidFill>
          <a:ln/>
        </p:spPr>
        <p:txBody>
          <a:bodyPr/>
          <a:lstStyle/>
          <a:p>
            <a:endParaRPr lang="en-US"/>
          </a:p>
        </p:txBody>
      </p:sp>
      <p:sp>
        <p:nvSpPr>
          <p:cNvPr id="18" name="Text 14"/>
          <p:cNvSpPr txBox="1"/>
          <p:nvPr/>
        </p:nvSpPr>
        <p:spPr>
          <a:xfrm>
            <a:off x="292608" y="2523744"/>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03</a:t>
            </a:r>
            <a:endParaRPr lang="en-US" sz="1100" dirty="0"/>
          </a:p>
        </p:txBody>
      </p:sp>
      <p:sp>
        <p:nvSpPr>
          <p:cNvPr id="19" name="Text 15"/>
          <p:cNvSpPr txBox="1"/>
          <p:nvPr/>
        </p:nvSpPr>
        <p:spPr>
          <a:xfrm>
            <a:off x="768096" y="2505456"/>
            <a:ext cx="4261104"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SHAKY LINES READ NERVOUS</a:t>
            </a:r>
            <a:endParaRPr lang="en-US" sz="1250" dirty="0"/>
          </a:p>
        </p:txBody>
      </p:sp>
      <p:sp>
        <p:nvSpPr>
          <p:cNvPr id="20" name="Text 16"/>
          <p:cNvSpPr txBox="1"/>
          <p:nvPr/>
        </p:nvSpPr>
        <p:spPr>
          <a:xfrm>
            <a:off x="768096" y="2770632"/>
            <a:ext cx="4261104"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A broken or wobbly outline suggests the character is scared, old, or unsure.</a:t>
            </a:r>
            <a:endParaRPr lang="en-US" sz="1050" dirty="0"/>
          </a:p>
        </p:txBody>
      </p:sp>
      <p:sp>
        <p:nvSpPr>
          <p:cNvPr id="21" name="Shape 17"/>
          <p:cNvSpPr/>
          <p:nvPr/>
        </p:nvSpPr>
        <p:spPr>
          <a:xfrm>
            <a:off x="292608" y="3323844"/>
            <a:ext cx="310896" cy="310896"/>
          </a:xfrm>
          <a:prstGeom prst="rect">
            <a:avLst/>
          </a:prstGeom>
          <a:solidFill>
            <a:srgbClr val="00B8B8"/>
          </a:solidFill>
          <a:ln/>
        </p:spPr>
        <p:txBody>
          <a:bodyPr/>
          <a:lstStyle/>
          <a:p>
            <a:endParaRPr lang="en-US"/>
          </a:p>
        </p:txBody>
      </p:sp>
      <p:sp>
        <p:nvSpPr>
          <p:cNvPr id="22" name="Text 18"/>
          <p:cNvSpPr txBox="1"/>
          <p:nvPr/>
        </p:nvSpPr>
        <p:spPr>
          <a:xfrm>
            <a:off x="292608" y="3323844"/>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04</a:t>
            </a:r>
            <a:endParaRPr lang="en-US" sz="1100" dirty="0"/>
          </a:p>
        </p:txBody>
      </p:sp>
      <p:sp>
        <p:nvSpPr>
          <p:cNvPr id="23" name="Text 19"/>
          <p:cNvSpPr txBox="1"/>
          <p:nvPr/>
        </p:nvSpPr>
        <p:spPr>
          <a:xfrm>
            <a:off x="768096" y="3305556"/>
            <a:ext cx="4261104"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HEAVY OUTLINE READS SOLID</a:t>
            </a:r>
            <a:endParaRPr lang="en-US" sz="1250" dirty="0"/>
          </a:p>
        </p:txBody>
      </p:sp>
      <p:sp>
        <p:nvSpPr>
          <p:cNvPr id="24" name="Text 20"/>
          <p:cNvSpPr txBox="1"/>
          <p:nvPr/>
        </p:nvSpPr>
        <p:spPr>
          <a:xfrm>
            <a:off x="768096" y="3570732"/>
            <a:ext cx="4261104"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A thick outer contour makes a character feel heavy, strong, and planted.</a:t>
            </a:r>
            <a:endParaRPr lang="en-US" sz="1050" dirty="0"/>
          </a:p>
        </p:txBody>
      </p:sp>
      <p:sp>
        <p:nvSpPr>
          <p:cNvPr id="29" name="Text 25"/>
          <p:cNvSpPr txBox="1"/>
          <p:nvPr/>
        </p:nvSpPr>
        <p:spPr>
          <a:xfrm>
            <a:off x="5495544" y="4780472"/>
            <a:ext cx="3493008" cy="237744"/>
          </a:xfrm>
          <a:prstGeom prst="rect">
            <a:avLst/>
          </a:prstGeom>
          <a:noFill/>
          <a:ln/>
        </p:spPr>
        <p:txBody>
          <a:bodyPr wrap="square" lIns="0" tIns="0" rIns="0" bIns="0" rtlCol="0" anchor="t"/>
          <a:lstStyle/>
          <a:p>
            <a:pPr marL="0" indent="0" algn="ctr">
              <a:lnSpc>
                <a:spcPct val="120000"/>
              </a:lnSpc>
              <a:buNone/>
            </a:pPr>
            <a:r>
              <a:rPr lang="en-US" sz="900" i="1" dirty="0">
                <a:solidFill>
                  <a:srgbClr val="777777"/>
                </a:solidFill>
                <a:latin typeface="Arial" pitchFamily="34" charset="0"/>
                <a:ea typeface="Arial" pitchFamily="34" charset="-122"/>
                <a:cs typeface="Arial" pitchFamily="34" charset="-120"/>
              </a:rPr>
              <a:t>Pick your line style before you draw.</a:t>
            </a:r>
            <a:endParaRPr lang="en-US" sz="900" dirty="0"/>
          </a:p>
        </p:txBody>
      </p:sp>
      <p:pic>
        <p:nvPicPr>
          <p:cNvPr id="30" name="Picture 29">
            <a:extLst>
              <a:ext uri="{FF2B5EF4-FFF2-40B4-BE49-F238E27FC236}">
                <a16:creationId xmlns:a16="http://schemas.microsoft.com/office/drawing/2014/main" id="{B3210EA7-D43E-3F18-85F3-4DCAC9F8E339}"/>
              </a:ext>
            </a:extLst>
          </p:cNvPr>
          <p:cNvPicPr>
            <a:picLocks noChangeAspect="1"/>
          </p:cNvPicPr>
          <p:nvPr/>
        </p:nvPicPr>
        <p:blipFill>
          <a:blip r:embed="rId5"/>
          <a:srcRect l="46839"/>
          <a:stretch>
            <a:fillRect/>
          </a:stretch>
        </p:blipFill>
        <p:spPr>
          <a:xfrm>
            <a:off x="5673776" y="846944"/>
            <a:ext cx="3146535" cy="382151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00B8B8"/>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80E0E0"/>
                </a:solidFill>
                <a:latin typeface="Oswald" pitchFamily="34" charset="0"/>
                <a:ea typeface="Oswald" pitchFamily="34" charset="-122"/>
                <a:cs typeface="Oswald" pitchFamily="34" charset="-120"/>
              </a:rPr>
              <a:t>LINE IN REAL DESIGN WORK</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80E0E0"/>
                </a:solidFill>
                <a:latin typeface="Oswald" pitchFamily="34" charset="0"/>
                <a:ea typeface="Oswald" pitchFamily="34" charset="-122"/>
                <a:cs typeface="Oswald" pitchFamily="34" charset="-120"/>
              </a:rPr>
              <a:t>LINE / 09 / 18</a:t>
            </a:r>
            <a:endParaRPr lang="en-US" sz="900" dirty="0"/>
          </a:p>
        </p:txBody>
      </p:sp>
      <p:sp>
        <p:nvSpPr>
          <p:cNvPr id="8" name="Shape 4"/>
          <p:cNvSpPr/>
          <p:nvPr/>
        </p:nvSpPr>
        <p:spPr>
          <a:xfrm>
            <a:off x="859536" y="699516"/>
            <a:ext cx="457017" cy="22860"/>
          </a:xfrm>
          <a:prstGeom prst="rect">
            <a:avLst/>
          </a:prstGeom>
          <a:solidFill>
            <a:srgbClr val="00B8B8"/>
          </a:solidFill>
          <a:ln/>
        </p:spPr>
        <p:txBody>
          <a:bodyPr/>
          <a:lstStyle/>
          <a:p>
            <a:endParaRPr lang="en-US"/>
          </a:p>
        </p:txBody>
      </p:sp>
      <p:sp>
        <p:nvSpPr>
          <p:cNvPr id="13" name="Text 9"/>
          <p:cNvSpPr txBox="1"/>
          <p:nvPr/>
        </p:nvSpPr>
        <p:spPr>
          <a:xfrm>
            <a:off x="292608" y="4078224"/>
            <a:ext cx="8558784" cy="237744"/>
          </a:xfrm>
          <a:prstGeom prst="rect">
            <a:avLst/>
          </a:prstGeom>
          <a:noFill/>
          <a:ln/>
        </p:spPr>
        <p:txBody>
          <a:bodyPr wrap="square" lIns="0" tIns="0" rIns="0" bIns="0" rtlCol="0" anchor="t"/>
          <a:lstStyle/>
          <a:p>
            <a:pPr marL="0" indent="0" algn="ctr">
              <a:lnSpc>
                <a:spcPct val="120000"/>
              </a:lnSpc>
              <a:buNone/>
            </a:pPr>
            <a:r>
              <a:rPr lang="en-US" sz="900" i="1" dirty="0">
                <a:solidFill>
                  <a:srgbClr val="777777"/>
                </a:solidFill>
                <a:latin typeface="Arial" pitchFamily="34" charset="0"/>
                <a:ea typeface="Arial" pitchFamily="34" charset="-122"/>
                <a:cs typeface="Arial" pitchFamily="34" charset="-120"/>
              </a:rPr>
              <a:t>Professional work. Look at the line weight and where it changes.</a:t>
            </a:r>
            <a:endParaRPr lang="en-US" sz="900" dirty="0"/>
          </a:p>
        </p:txBody>
      </p:sp>
      <p:sp>
        <p:nvSpPr>
          <p:cNvPr id="14" name="Text 10"/>
          <p:cNvSpPr txBox="1"/>
          <p:nvPr/>
        </p:nvSpPr>
        <p:spPr>
          <a:xfrm>
            <a:off x="859536" y="4407408"/>
            <a:ext cx="7680960" cy="219456"/>
          </a:xfrm>
          <a:prstGeom prst="rect">
            <a:avLst/>
          </a:prstGeom>
          <a:noFill/>
          <a:ln/>
        </p:spPr>
        <p:txBody>
          <a:bodyPr wrap="square" lIns="0" tIns="0" rIns="0" bIns="0" rtlCol="0" anchor="ctr"/>
          <a:lstStyle/>
          <a:p>
            <a:pPr marL="0" indent="0" algn="ctr">
              <a:lnSpc>
                <a:spcPct val="120000"/>
              </a:lnSpc>
              <a:buNone/>
            </a:pPr>
            <a:r>
              <a:rPr lang="en-US" sz="1000" b="1" kern="0" spc="190" dirty="0">
                <a:solidFill>
                  <a:srgbClr val="80E0E0"/>
                </a:solidFill>
                <a:latin typeface="Oswald" pitchFamily="34" charset="0"/>
                <a:ea typeface="Oswald" pitchFamily="34" charset="-122"/>
                <a:cs typeface="Oswald" pitchFamily="34" charset="-120"/>
              </a:rPr>
              <a:t>ASK YOURSELF: WHERE DOES YOUR EYE GO FIRST, AND WHAT SENT IT THERE</a:t>
            </a:r>
            <a:endParaRPr lang="en-US" sz="1000" dirty="0"/>
          </a:p>
        </p:txBody>
      </p:sp>
      <p:pic>
        <p:nvPicPr>
          <p:cNvPr id="15" name="Picture 14">
            <a:extLst>
              <a:ext uri="{FF2B5EF4-FFF2-40B4-BE49-F238E27FC236}">
                <a16:creationId xmlns:a16="http://schemas.microsoft.com/office/drawing/2014/main" id="{F980A347-7834-F6B2-E669-CA9064D4DA90}"/>
              </a:ext>
            </a:extLst>
          </p:cNvPr>
          <p:cNvPicPr>
            <a:picLocks noChangeAspect="1"/>
          </p:cNvPicPr>
          <p:nvPr/>
        </p:nvPicPr>
        <p:blipFill>
          <a:blip r:embed="rId5"/>
          <a:srcRect l="23789" t="16671" r="27442" b="14858"/>
          <a:stretch>
            <a:fillRect/>
          </a:stretch>
        </p:blipFill>
        <p:spPr>
          <a:xfrm>
            <a:off x="239842" y="991762"/>
            <a:ext cx="2518348" cy="3031598"/>
          </a:xfrm>
          <a:prstGeom prst="rect">
            <a:avLst/>
          </a:prstGeom>
        </p:spPr>
      </p:pic>
      <p:pic>
        <p:nvPicPr>
          <p:cNvPr id="16" name="Picture 15">
            <a:extLst>
              <a:ext uri="{FF2B5EF4-FFF2-40B4-BE49-F238E27FC236}">
                <a16:creationId xmlns:a16="http://schemas.microsoft.com/office/drawing/2014/main" id="{DA4299D6-B839-219B-D20A-7EA690BE7EE3}"/>
              </a:ext>
            </a:extLst>
          </p:cNvPr>
          <p:cNvPicPr>
            <a:picLocks noChangeAspect="1"/>
          </p:cNvPicPr>
          <p:nvPr/>
        </p:nvPicPr>
        <p:blipFill>
          <a:blip r:embed="rId6"/>
          <a:stretch>
            <a:fillRect/>
          </a:stretch>
        </p:blipFill>
        <p:spPr>
          <a:xfrm>
            <a:off x="3109951" y="991762"/>
            <a:ext cx="2518348" cy="3043288"/>
          </a:xfrm>
          <a:prstGeom prst="rect">
            <a:avLst/>
          </a:prstGeom>
        </p:spPr>
      </p:pic>
      <p:pic>
        <p:nvPicPr>
          <p:cNvPr id="17" name="Picture 16">
            <a:extLst>
              <a:ext uri="{FF2B5EF4-FFF2-40B4-BE49-F238E27FC236}">
                <a16:creationId xmlns:a16="http://schemas.microsoft.com/office/drawing/2014/main" id="{7B973265-2667-9EBE-952E-C2E729D1AA2D}"/>
              </a:ext>
            </a:extLst>
          </p:cNvPr>
          <p:cNvPicPr>
            <a:picLocks noChangeAspect="1"/>
          </p:cNvPicPr>
          <p:nvPr/>
        </p:nvPicPr>
        <p:blipFill>
          <a:blip r:embed="rId7"/>
          <a:srcRect t="4589" b="13645"/>
          <a:stretch>
            <a:fillRect/>
          </a:stretch>
        </p:blipFill>
        <p:spPr>
          <a:xfrm>
            <a:off x="5917366" y="991762"/>
            <a:ext cx="2986791" cy="305269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47688" y="1394460"/>
            <a:ext cx="3867912" cy="4572000"/>
          </a:xfrm>
          <a:prstGeom prst="rect">
            <a:avLst/>
          </a:prstGeom>
        </p:spPr>
      </p:pic>
      <p:sp>
        <p:nvSpPr>
          <p:cNvPr id="3" name="Shape 0"/>
          <p:cNvSpPr/>
          <p:nvPr/>
        </p:nvSpPr>
        <p:spPr>
          <a:xfrm>
            <a:off x="0" y="0"/>
            <a:ext cx="9144000" cy="5143500"/>
          </a:xfrm>
          <a:prstGeom prst="rect">
            <a:avLst/>
          </a:prstGeom>
          <a:solidFill>
            <a:srgbClr val="04191A">
              <a:alpha val="76000"/>
            </a:srgbClr>
          </a:solidFill>
          <a:ln/>
        </p:spPr>
        <p:txBody>
          <a:bodyPr/>
          <a:lstStyle/>
          <a:p>
            <a:endParaRPr lang="en-US"/>
          </a:p>
        </p:txBody>
      </p:sp>
      <p:sp>
        <p:nvSpPr>
          <p:cNvPr id="4" name="Shape 1"/>
          <p:cNvSpPr/>
          <p:nvPr/>
        </p:nvSpPr>
        <p:spPr>
          <a:xfrm>
            <a:off x="0" y="0"/>
            <a:ext cx="45720" cy="5143500"/>
          </a:xfrm>
          <a:prstGeom prst="rect">
            <a:avLst/>
          </a:prstGeom>
          <a:solidFill>
            <a:srgbClr val="00B8B8"/>
          </a:solidFill>
          <a:ln/>
        </p:spPr>
        <p:txBody>
          <a:bodyPr/>
          <a:lstStyle/>
          <a:p>
            <a:endParaRPr lang="en-US"/>
          </a:p>
        </p:txBody>
      </p:sp>
      <p:sp>
        <p:nvSpPr>
          <p:cNvPr id="5" name="Text 2"/>
          <p:cNvSpPr txBox="1"/>
          <p:nvPr/>
        </p:nvSpPr>
        <p:spPr>
          <a:xfrm>
            <a:off x="292608" y="1005840"/>
            <a:ext cx="2194560" cy="2103120"/>
          </a:xfrm>
          <a:prstGeom prst="rect">
            <a:avLst/>
          </a:prstGeom>
          <a:noFill/>
          <a:ln/>
        </p:spPr>
        <p:txBody>
          <a:bodyPr wrap="square" lIns="0" tIns="0" rIns="0" bIns="0" rtlCol="0" anchor="ctr"/>
          <a:lstStyle/>
          <a:p>
            <a:pPr marL="0" indent="0">
              <a:lnSpc>
                <a:spcPct val="100000"/>
              </a:lnSpc>
              <a:buNone/>
            </a:pPr>
            <a:r>
              <a:rPr lang="en-US" sz="12000" b="1" dirty="0">
                <a:solidFill>
                  <a:srgbClr val="00B8B8"/>
                </a:solidFill>
                <a:latin typeface="Oswald" pitchFamily="34" charset="0"/>
                <a:ea typeface="Oswald" pitchFamily="34" charset="-122"/>
                <a:cs typeface="Oswald" pitchFamily="34" charset="-120"/>
              </a:rPr>
              <a:t>02</a:t>
            </a:r>
            <a:endParaRPr lang="en-US" sz="12000" dirty="0"/>
          </a:p>
        </p:txBody>
      </p:sp>
      <p:sp>
        <p:nvSpPr>
          <p:cNvPr id="6" name="Text 3"/>
          <p:cNvSpPr txBox="1"/>
          <p:nvPr/>
        </p:nvSpPr>
        <p:spPr>
          <a:xfrm>
            <a:off x="2432304" y="1371600"/>
            <a:ext cx="6309360" cy="219456"/>
          </a:xfrm>
          <a:prstGeom prst="rect">
            <a:avLst/>
          </a:prstGeom>
          <a:noFill/>
          <a:ln/>
        </p:spPr>
        <p:txBody>
          <a:bodyPr wrap="square" lIns="0" tIns="0" rIns="0" bIns="0" rtlCol="0" anchor="ctr"/>
          <a:lstStyle/>
          <a:p>
            <a:pPr marL="0" indent="0">
              <a:lnSpc>
                <a:spcPct val="120000"/>
              </a:lnSpc>
              <a:buNone/>
            </a:pPr>
            <a:r>
              <a:rPr lang="en-US" sz="1100" b="1" kern="0" spc="190" dirty="0">
                <a:solidFill>
                  <a:srgbClr val="80E0E0"/>
                </a:solidFill>
                <a:latin typeface="Oswald" pitchFamily="34" charset="0"/>
                <a:ea typeface="Oswald" pitchFamily="34" charset="-122"/>
                <a:cs typeface="Oswald" pitchFamily="34" charset="-120"/>
              </a:rPr>
              <a:t>ELEMENT 02 OF 7</a:t>
            </a:r>
            <a:endParaRPr lang="en-US" sz="1100" dirty="0"/>
          </a:p>
        </p:txBody>
      </p:sp>
      <p:sp>
        <p:nvSpPr>
          <p:cNvPr id="7" name="Text 4"/>
          <p:cNvSpPr txBox="1"/>
          <p:nvPr/>
        </p:nvSpPr>
        <p:spPr>
          <a:xfrm>
            <a:off x="2432304" y="1682496"/>
            <a:ext cx="6309360" cy="749808"/>
          </a:xfrm>
          <a:prstGeom prst="rect">
            <a:avLst/>
          </a:prstGeom>
          <a:noFill/>
          <a:ln/>
        </p:spPr>
        <p:txBody>
          <a:bodyPr wrap="square" lIns="0" tIns="0" rIns="0" bIns="0" rtlCol="0" anchor="ctr"/>
          <a:lstStyle/>
          <a:p>
            <a:pPr marL="0" indent="0">
              <a:lnSpc>
                <a:spcPct val="102000"/>
              </a:lnSpc>
              <a:buNone/>
            </a:pPr>
            <a:r>
              <a:rPr lang="en-US" sz="4000" b="1" kern="0" spc="40" dirty="0">
                <a:solidFill>
                  <a:srgbClr val="FFFFFF"/>
                </a:solidFill>
                <a:latin typeface="Oswald" pitchFamily="34" charset="0"/>
                <a:ea typeface="Oswald" pitchFamily="34" charset="-122"/>
                <a:cs typeface="Oswald" pitchFamily="34" charset="-120"/>
              </a:rPr>
              <a:t>SHAPE</a:t>
            </a:r>
            <a:endParaRPr lang="en-US" sz="4000" dirty="0"/>
          </a:p>
        </p:txBody>
      </p:sp>
      <p:sp>
        <p:nvSpPr>
          <p:cNvPr id="8" name="Shape 5"/>
          <p:cNvSpPr/>
          <p:nvPr/>
        </p:nvSpPr>
        <p:spPr>
          <a:xfrm>
            <a:off x="2432304" y="2487168"/>
            <a:ext cx="457017" cy="30450"/>
          </a:xfrm>
          <a:prstGeom prst="rect">
            <a:avLst/>
          </a:prstGeom>
          <a:solidFill>
            <a:srgbClr val="00B8B8"/>
          </a:solidFill>
          <a:ln/>
        </p:spPr>
        <p:txBody>
          <a:bodyPr/>
          <a:lstStyle/>
          <a:p>
            <a:endParaRPr lang="en-US"/>
          </a:p>
        </p:txBody>
      </p:sp>
      <p:sp>
        <p:nvSpPr>
          <p:cNvPr id="9" name="Text 6"/>
          <p:cNvSpPr txBox="1"/>
          <p:nvPr/>
        </p:nvSpPr>
        <p:spPr>
          <a:xfrm>
            <a:off x="2432305" y="2688336"/>
            <a:ext cx="2963598" cy="822960"/>
          </a:xfrm>
          <a:prstGeom prst="rect">
            <a:avLst/>
          </a:prstGeom>
          <a:noFill/>
          <a:ln/>
        </p:spPr>
        <p:txBody>
          <a:bodyPr wrap="square" lIns="0" tIns="0" rIns="0" bIns="0" rtlCol="0" anchor="t"/>
          <a:lstStyle/>
          <a:p>
            <a:pPr marL="0" indent="0">
              <a:lnSpc>
                <a:spcPct val="135000"/>
              </a:lnSpc>
              <a:buNone/>
            </a:pPr>
            <a:r>
              <a:rPr lang="en-US" sz="1200" dirty="0">
                <a:solidFill>
                  <a:srgbClr val="AAAAAA"/>
                </a:solidFill>
                <a:latin typeface="Arial" pitchFamily="34" charset="0"/>
                <a:ea typeface="Arial" pitchFamily="34" charset="-122"/>
                <a:cs typeface="Arial" pitchFamily="34" charset="-120"/>
              </a:rPr>
              <a:t>What happens when a line comes back around and closes. Flat, enclosed, and the base of every cartoon character you know.</a:t>
            </a:r>
            <a:endParaRPr lang="en-US" sz="1200" dirty="0"/>
          </a:p>
        </p:txBody>
      </p:sp>
      <p:sp>
        <p:nvSpPr>
          <p:cNvPr id="10" name="Shape 7"/>
          <p:cNvSpPr/>
          <p:nvPr/>
        </p:nvSpPr>
        <p:spPr>
          <a:xfrm>
            <a:off x="0" y="4681728"/>
            <a:ext cx="9144000" cy="22860"/>
          </a:xfrm>
          <a:prstGeom prst="rect">
            <a:avLst/>
          </a:prstGeom>
          <a:solidFill>
            <a:srgbClr val="00B8B8"/>
          </a:solidFill>
          <a:ln/>
        </p:spPr>
        <p:txBody>
          <a:bodyPr/>
          <a:lstStyle/>
          <a:p>
            <a:endParaRPr lang="en-US"/>
          </a:p>
        </p:txBody>
      </p:sp>
      <p:sp>
        <p:nvSpPr>
          <p:cNvPr id="11" name="Text 8"/>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DIGITAL ARTS 1A  /  MR. SILVA  /  PIONEER VALLEY HIGH SCHOOL</a:t>
            </a:r>
            <a:endParaRPr lang="en-US" sz="950" dirty="0"/>
          </a:p>
        </p:txBody>
      </p:sp>
      <p:pic>
        <p:nvPicPr>
          <p:cNvPr id="12" name="Picture 11">
            <a:extLst>
              <a:ext uri="{FF2B5EF4-FFF2-40B4-BE49-F238E27FC236}">
                <a16:creationId xmlns:a16="http://schemas.microsoft.com/office/drawing/2014/main" id="{B129A64C-11B9-B5F7-B9F1-7E6DE05A1E92}"/>
              </a:ext>
            </a:extLst>
          </p:cNvPr>
          <p:cNvPicPr>
            <a:picLocks noChangeAspect="1"/>
          </p:cNvPicPr>
          <p:nvPr/>
        </p:nvPicPr>
        <p:blipFill>
          <a:blip r:embed="rId4"/>
          <a:stretch>
            <a:fillRect/>
          </a:stretch>
        </p:blipFill>
        <p:spPr>
          <a:xfrm>
            <a:off x="5603365" y="269174"/>
            <a:ext cx="3333172" cy="416791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00B8B8"/>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80E0E0"/>
                </a:solidFill>
                <a:latin typeface="Oswald" pitchFamily="34" charset="0"/>
                <a:ea typeface="Oswald" pitchFamily="34" charset="-122"/>
                <a:cs typeface="Oswald" pitchFamily="34" charset="-120"/>
              </a:rPr>
              <a:t>WHAT IS A SHAPE?</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80E0E0"/>
                </a:solidFill>
                <a:latin typeface="Oswald" pitchFamily="34" charset="0"/>
                <a:ea typeface="Oswald" pitchFamily="34" charset="-122"/>
                <a:cs typeface="Oswald" pitchFamily="34" charset="-120"/>
              </a:rPr>
              <a:t>SHAPE / 10 / 18</a:t>
            </a:r>
            <a:endParaRPr lang="en-US" sz="900" dirty="0"/>
          </a:p>
        </p:txBody>
      </p:sp>
      <p:sp>
        <p:nvSpPr>
          <p:cNvPr id="8" name="Shape 4"/>
          <p:cNvSpPr/>
          <p:nvPr/>
        </p:nvSpPr>
        <p:spPr>
          <a:xfrm>
            <a:off x="859536" y="699516"/>
            <a:ext cx="457017" cy="22860"/>
          </a:xfrm>
          <a:prstGeom prst="rect">
            <a:avLst/>
          </a:prstGeom>
          <a:solidFill>
            <a:srgbClr val="00B8B8"/>
          </a:solidFill>
          <a:ln/>
        </p:spPr>
        <p:txBody>
          <a:bodyPr/>
          <a:lstStyle/>
          <a:p>
            <a:endParaRPr lang="en-US"/>
          </a:p>
        </p:txBody>
      </p:sp>
      <p:sp>
        <p:nvSpPr>
          <p:cNvPr id="9" name="Shape 5"/>
          <p:cNvSpPr/>
          <p:nvPr/>
        </p:nvSpPr>
        <p:spPr>
          <a:xfrm>
            <a:off x="292608" y="905256"/>
            <a:ext cx="3852172" cy="752551"/>
          </a:xfrm>
          <a:prstGeom prst="rect">
            <a:avLst/>
          </a:prstGeom>
          <a:solidFill>
            <a:srgbClr val="00B8B8">
              <a:alpha val="6000"/>
            </a:srgbClr>
          </a:solidFill>
          <a:ln w="12700">
            <a:solidFill>
              <a:srgbClr val="054444"/>
            </a:solidFill>
            <a:prstDash val="solid"/>
          </a:ln>
        </p:spPr>
        <p:txBody>
          <a:bodyPr/>
          <a:lstStyle/>
          <a:p>
            <a:endParaRPr lang="en-US"/>
          </a:p>
        </p:txBody>
      </p:sp>
      <p:sp>
        <p:nvSpPr>
          <p:cNvPr id="10" name="Shape 6"/>
          <p:cNvSpPr/>
          <p:nvPr/>
        </p:nvSpPr>
        <p:spPr>
          <a:xfrm>
            <a:off x="292608" y="905256"/>
            <a:ext cx="45720" cy="752551"/>
          </a:xfrm>
          <a:prstGeom prst="rect">
            <a:avLst/>
          </a:prstGeom>
          <a:solidFill>
            <a:srgbClr val="00B8B8"/>
          </a:solidFill>
          <a:ln/>
        </p:spPr>
        <p:txBody>
          <a:bodyPr/>
          <a:lstStyle/>
          <a:p>
            <a:endParaRPr lang="en-US"/>
          </a:p>
        </p:txBody>
      </p:sp>
      <p:sp>
        <p:nvSpPr>
          <p:cNvPr id="11" name="Text 7"/>
          <p:cNvSpPr txBox="1"/>
          <p:nvPr/>
        </p:nvSpPr>
        <p:spPr>
          <a:xfrm>
            <a:off x="521209" y="1057961"/>
            <a:ext cx="3530166" cy="484632"/>
          </a:xfrm>
          <a:prstGeom prst="rect">
            <a:avLst/>
          </a:prstGeom>
          <a:noFill/>
          <a:ln/>
        </p:spPr>
        <p:txBody>
          <a:bodyPr wrap="square" lIns="0" tIns="0" rIns="0" bIns="0" rtlCol="0" anchor="t"/>
          <a:lstStyle/>
          <a:p>
            <a:pPr marL="0" indent="0">
              <a:lnSpc>
                <a:spcPct val="135000"/>
              </a:lnSpc>
              <a:buNone/>
            </a:pPr>
            <a:r>
              <a:rPr lang="en-US" sz="1200" dirty="0">
                <a:solidFill>
                  <a:srgbClr val="80E0E0"/>
                </a:solidFill>
                <a:latin typeface="Arial" pitchFamily="34" charset="0"/>
                <a:ea typeface="Arial" pitchFamily="34" charset="-122"/>
                <a:cs typeface="Arial" pitchFamily="34" charset="-120"/>
              </a:rPr>
              <a:t>A shape is a flat, enclosed area. The moment a line meets itself, the space inside becomes a shape.</a:t>
            </a:r>
            <a:endParaRPr lang="en-US" sz="1200" dirty="0"/>
          </a:p>
        </p:txBody>
      </p:sp>
      <p:sp>
        <p:nvSpPr>
          <p:cNvPr id="12" name="Shape 8"/>
          <p:cNvSpPr/>
          <p:nvPr/>
        </p:nvSpPr>
        <p:spPr>
          <a:xfrm>
            <a:off x="292608" y="1840687"/>
            <a:ext cx="310896" cy="310896"/>
          </a:xfrm>
          <a:prstGeom prst="rect">
            <a:avLst/>
          </a:prstGeom>
          <a:solidFill>
            <a:srgbClr val="00B8B8"/>
          </a:solidFill>
          <a:ln/>
        </p:spPr>
        <p:txBody>
          <a:bodyPr/>
          <a:lstStyle/>
          <a:p>
            <a:endParaRPr lang="en-US"/>
          </a:p>
        </p:txBody>
      </p:sp>
      <p:sp>
        <p:nvSpPr>
          <p:cNvPr id="13" name="Text 9"/>
          <p:cNvSpPr txBox="1"/>
          <p:nvPr/>
        </p:nvSpPr>
        <p:spPr>
          <a:xfrm>
            <a:off x="292608" y="1840687"/>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01</a:t>
            </a:r>
            <a:endParaRPr lang="en-US" sz="1100" dirty="0"/>
          </a:p>
        </p:txBody>
      </p:sp>
      <p:sp>
        <p:nvSpPr>
          <p:cNvPr id="14" name="Text 10"/>
          <p:cNvSpPr txBox="1"/>
          <p:nvPr/>
        </p:nvSpPr>
        <p:spPr>
          <a:xfrm>
            <a:off x="768096" y="1822399"/>
            <a:ext cx="4261104"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SHAPES ARE TWO DIMENSIONAL</a:t>
            </a:r>
            <a:endParaRPr lang="en-US" sz="1250" dirty="0"/>
          </a:p>
        </p:txBody>
      </p:sp>
      <p:sp>
        <p:nvSpPr>
          <p:cNvPr id="15" name="Text 11"/>
          <p:cNvSpPr txBox="1"/>
          <p:nvPr/>
        </p:nvSpPr>
        <p:spPr>
          <a:xfrm>
            <a:off x="768096" y="2087575"/>
            <a:ext cx="4261104" cy="239573"/>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A shape has length and width. It does not have depth.</a:t>
            </a:r>
            <a:endParaRPr lang="en-US" sz="1050" dirty="0"/>
          </a:p>
        </p:txBody>
      </p:sp>
      <p:sp>
        <p:nvSpPr>
          <p:cNvPr id="16" name="Shape 12"/>
          <p:cNvSpPr/>
          <p:nvPr/>
        </p:nvSpPr>
        <p:spPr>
          <a:xfrm>
            <a:off x="292608" y="2473452"/>
            <a:ext cx="310896" cy="310896"/>
          </a:xfrm>
          <a:prstGeom prst="rect">
            <a:avLst/>
          </a:prstGeom>
          <a:solidFill>
            <a:srgbClr val="00B8B8"/>
          </a:solidFill>
          <a:ln/>
        </p:spPr>
        <p:txBody>
          <a:bodyPr/>
          <a:lstStyle/>
          <a:p>
            <a:endParaRPr lang="en-US"/>
          </a:p>
        </p:txBody>
      </p:sp>
      <p:sp>
        <p:nvSpPr>
          <p:cNvPr id="17" name="Text 13"/>
          <p:cNvSpPr txBox="1"/>
          <p:nvPr/>
        </p:nvSpPr>
        <p:spPr>
          <a:xfrm>
            <a:off x="292608" y="2473452"/>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02</a:t>
            </a:r>
            <a:endParaRPr lang="en-US" sz="1100" dirty="0"/>
          </a:p>
        </p:txBody>
      </p:sp>
      <p:sp>
        <p:nvSpPr>
          <p:cNvPr id="18" name="Text 14"/>
          <p:cNvSpPr txBox="1"/>
          <p:nvPr/>
        </p:nvSpPr>
        <p:spPr>
          <a:xfrm>
            <a:off x="768096" y="2455164"/>
            <a:ext cx="4261104"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A SHAPE NEEDS A CLOSED EDGE</a:t>
            </a:r>
            <a:endParaRPr lang="en-US" sz="1250" dirty="0"/>
          </a:p>
        </p:txBody>
      </p:sp>
      <p:sp>
        <p:nvSpPr>
          <p:cNvPr id="19" name="Text 15"/>
          <p:cNvSpPr txBox="1"/>
          <p:nvPr/>
        </p:nvSpPr>
        <p:spPr>
          <a:xfrm>
            <a:off x="768096" y="2720340"/>
            <a:ext cx="4261104" cy="239573"/>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That edge can be a drawn line or just a change in color.</a:t>
            </a:r>
            <a:endParaRPr lang="en-US" sz="1050" dirty="0"/>
          </a:p>
        </p:txBody>
      </p:sp>
      <p:sp>
        <p:nvSpPr>
          <p:cNvPr id="20" name="Shape 16"/>
          <p:cNvSpPr/>
          <p:nvPr/>
        </p:nvSpPr>
        <p:spPr>
          <a:xfrm>
            <a:off x="292608" y="3106217"/>
            <a:ext cx="310896" cy="310896"/>
          </a:xfrm>
          <a:prstGeom prst="rect">
            <a:avLst/>
          </a:prstGeom>
          <a:solidFill>
            <a:srgbClr val="00B8B8"/>
          </a:solidFill>
          <a:ln/>
        </p:spPr>
        <p:txBody>
          <a:bodyPr/>
          <a:lstStyle/>
          <a:p>
            <a:endParaRPr lang="en-US"/>
          </a:p>
        </p:txBody>
      </p:sp>
      <p:sp>
        <p:nvSpPr>
          <p:cNvPr id="21" name="Text 17"/>
          <p:cNvSpPr txBox="1"/>
          <p:nvPr/>
        </p:nvSpPr>
        <p:spPr>
          <a:xfrm>
            <a:off x="292608" y="3106217"/>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03</a:t>
            </a:r>
            <a:endParaRPr lang="en-US" sz="1100" dirty="0"/>
          </a:p>
        </p:txBody>
      </p:sp>
      <p:sp>
        <p:nvSpPr>
          <p:cNvPr id="22" name="Text 18"/>
          <p:cNvSpPr txBox="1"/>
          <p:nvPr/>
        </p:nvSpPr>
        <p:spPr>
          <a:xfrm>
            <a:off x="768096" y="3087929"/>
            <a:ext cx="4261104"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SHAPE IS NOT FORM</a:t>
            </a:r>
            <a:endParaRPr lang="en-US" sz="1250" dirty="0"/>
          </a:p>
        </p:txBody>
      </p:sp>
      <p:sp>
        <p:nvSpPr>
          <p:cNvPr id="23" name="Text 19"/>
          <p:cNvSpPr txBox="1"/>
          <p:nvPr/>
        </p:nvSpPr>
        <p:spPr>
          <a:xfrm>
            <a:off x="768096" y="3353105"/>
            <a:ext cx="3283279"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Form is the three dimensional version. Form is coming in Part 2.</a:t>
            </a:r>
            <a:endParaRPr lang="en-US" sz="1050" dirty="0"/>
          </a:p>
        </p:txBody>
      </p:sp>
      <p:sp>
        <p:nvSpPr>
          <p:cNvPr id="28" name="Text 24"/>
          <p:cNvSpPr txBox="1"/>
          <p:nvPr/>
        </p:nvSpPr>
        <p:spPr>
          <a:xfrm>
            <a:off x="5358384" y="4352544"/>
            <a:ext cx="3493008" cy="237744"/>
          </a:xfrm>
          <a:prstGeom prst="rect">
            <a:avLst/>
          </a:prstGeom>
          <a:noFill/>
          <a:ln/>
        </p:spPr>
        <p:txBody>
          <a:bodyPr wrap="square" lIns="0" tIns="0" rIns="0" bIns="0" rtlCol="0" anchor="t"/>
          <a:lstStyle/>
          <a:p>
            <a:pPr marL="0" indent="0" algn="ctr">
              <a:lnSpc>
                <a:spcPct val="120000"/>
              </a:lnSpc>
              <a:buNone/>
            </a:pPr>
            <a:r>
              <a:rPr lang="en-US" sz="900" i="1" dirty="0">
                <a:solidFill>
                  <a:srgbClr val="777777"/>
                </a:solidFill>
                <a:latin typeface="Arial" pitchFamily="34" charset="0"/>
                <a:ea typeface="Arial" pitchFamily="34" charset="-122"/>
                <a:cs typeface="Arial" pitchFamily="34" charset="-120"/>
              </a:rPr>
              <a:t>Close the line and you have made a shape.</a:t>
            </a:r>
            <a:endParaRPr lang="en-US" sz="900" dirty="0"/>
          </a:p>
        </p:txBody>
      </p:sp>
      <p:pic>
        <p:nvPicPr>
          <p:cNvPr id="29" name="Picture 28">
            <a:extLst>
              <a:ext uri="{FF2B5EF4-FFF2-40B4-BE49-F238E27FC236}">
                <a16:creationId xmlns:a16="http://schemas.microsoft.com/office/drawing/2014/main" id="{8D9424B2-5271-B2BC-9BED-7FF638055AE2}"/>
              </a:ext>
            </a:extLst>
          </p:cNvPr>
          <p:cNvPicPr>
            <a:picLocks noChangeAspect="1"/>
          </p:cNvPicPr>
          <p:nvPr/>
        </p:nvPicPr>
        <p:blipFill>
          <a:blip r:embed="rId5"/>
          <a:stretch>
            <a:fillRect/>
          </a:stretch>
        </p:blipFill>
        <p:spPr>
          <a:xfrm>
            <a:off x="4331254" y="901014"/>
            <a:ext cx="4610921" cy="327822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8B5CF6"/>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C4B5FD"/>
                </a:solidFill>
                <a:latin typeface="Oswald" pitchFamily="34" charset="0"/>
                <a:ea typeface="Oswald" pitchFamily="34" charset="-122"/>
                <a:cs typeface="Oswald" pitchFamily="34" charset="-120"/>
              </a:rPr>
              <a:t>KEY WORDS: SHAPE</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C4B5FD"/>
                </a:solidFill>
                <a:latin typeface="Oswald" pitchFamily="34" charset="0"/>
                <a:ea typeface="Oswald" pitchFamily="34" charset="-122"/>
                <a:cs typeface="Oswald" pitchFamily="34" charset="-120"/>
              </a:rPr>
              <a:t>KEY WORDS / 11 / 18</a:t>
            </a:r>
            <a:endParaRPr lang="en-US" sz="900" dirty="0"/>
          </a:p>
        </p:txBody>
      </p:sp>
      <p:sp>
        <p:nvSpPr>
          <p:cNvPr id="8" name="Shape 4"/>
          <p:cNvSpPr/>
          <p:nvPr/>
        </p:nvSpPr>
        <p:spPr>
          <a:xfrm>
            <a:off x="859536" y="699516"/>
            <a:ext cx="457017" cy="22860"/>
          </a:xfrm>
          <a:prstGeom prst="rect">
            <a:avLst/>
          </a:prstGeom>
          <a:solidFill>
            <a:srgbClr val="8B5CF6"/>
          </a:solidFill>
          <a:ln/>
        </p:spPr>
        <p:txBody>
          <a:bodyPr/>
          <a:lstStyle/>
          <a:p>
            <a:endParaRPr lang="en-US"/>
          </a:p>
        </p:txBody>
      </p:sp>
      <p:sp>
        <p:nvSpPr>
          <p:cNvPr id="9" name="Shape 5"/>
          <p:cNvSpPr/>
          <p:nvPr/>
        </p:nvSpPr>
        <p:spPr>
          <a:xfrm>
            <a:off x="292608" y="905256"/>
            <a:ext cx="4133088" cy="1389888"/>
          </a:xfrm>
          <a:prstGeom prst="rect">
            <a:avLst/>
          </a:prstGeom>
          <a:solidFill>
            <a:srgbClr val="8B5CF6"/>
          </a:solidFill>
          <a:ln/>
        </p:spPr>
        <p:txBody>
          <a:bodyPr/>
          <a:lstStyle/>
          <a:p>
            <a:endParaRPr lang="en-US"/>
          </a:p>
        </p:txBody>
      </p:sp>
      <p:sp>
        <p:nvSpPr>
          <p:cNvPr id="10" name="Shape 6"/>
          <p:cNvSpPr/>
          <p:nvPr/>
        </p:nvSpPr>
        <p:spPr>
          <a:xfrm>
            <a:off x="307878" y="920526"/>
            <a:ext cx="4102547" cy="213238"/>
          </a:xfrm>
          <a:prstGeom prst="rect">
            <a:avLst/>
          </a:prstGeom>
          <a:solidFill>
            <a:srgbClr val="241D3A"/>
          </a:solidFill>
          <a:ln/>
        </p:spPr>
        <p:txBody>
          <a:bodyPr/>
          <a:lstStyle/>
          <a:p>
            <a:endParaRPr lang="en-US"/>
          </a:p>
        </p:txBody>
      </p:sp>
      <p:sp>
        <p:nvSpPr>
          <p:cNvPr id="11" name="Shape 7"/>
          <p:cNvSpPr/>
          <p:nvPr/>
        </p:nvSpPr>
        <p:spPr>
          <a:xfrm>
            <a:off x="307878" y="1133765"/>
            <a:ext cx="4102547" cy="1146109"/>
          </a:xfrm>
          <a:prstGeom prst="rect">
            <a:avLst/>
          </a:prstGeom>
          <a:solidFill>
            <a:srgbClr val="140F24"/>
          </a:solidFill>
          <a:ln/>
        </p:spPr>
        <p:txBody>
          <a:bodyPr/>
          <a:lstStyle/>
          <a:p>
            <a:endParaRPr lang="en-US"/>
          </a:p>
        </p:txBody>
      </p:sp>
      <p:sp>
        <p:nvSpPr>
          <p:cNvPr id="12" name="Text 8"/>
          <p:cNvSpPr txBox="1"/>
          <p:nvPr/>
        </p:nvSpPr>
        <p:spPr>
          <a:xfrm>
            <a:off x="475488" y="1027146"/>
            <a:ext cx="3767328" cy="27432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Shape</a:t>
            </a:r>
            <a:endParaRPr lang="en-US" sz="1150" dirty="0"/>
          </a:p>
        </p:txBody>
      </p:sp>
      <p:sp>
        <p:nvSpPr>
          <p:cNvPr id="13" name="Shape 9"/>
          <p:cNvSpPr/>
          <p:nvPr/>
        </p:nvSpPr>
        <p:spPr>
          <a:xfrm>
            <a:off x="475488" y="1328623"/>
            <a:ext cx="243779" cy="15270"/>
          </a:xfrm>
          <a:prstGeom prst="rect">
            <a:avLst/>
          </a:prstGeom>
          <a:solidFill>
            <a:srgbClr val="8B5CF6"/>
          </a:solidFill>
          <a:ln/>
        </p:spPr>
        <p:txBody>
          <a:bodyPr/>
          <a:lstStyle/>
          <a:p>
            <a:endParaRPr lang="en-US"/>
          </a:p>
        </p:txBody>
      </p:sp>
      <p:sp>
        <p:nvSpPr>
          <p:cNvPr id="14" name="Text 10"/>
          <p:cNvSpPr txBox="1"/>
          <p:nvPr/>
        </p:nvSpPr>
        <p:spPr>
          <a:xfrm>
            <a:off x="475488" y="1438351"/>
            <a:ext cx="3767328" cy="777240"/>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A flat enclosed area with length and width but no depth.</a:t>
            </a:r>
            <a:endParaRPr lang="en-US" sz="1050" dirty="0"/>
          </a:p>
        </p:txBody>
      </p:sp>
      <p:sp>
        <p:nvSpPr>
          <p:cNvPr id="15" name="Shape 11"/>
          <p:cNvSpPr/>
          <p:nvPr/>
        </p:nvSpPr>
        <p:spPr>
          <a:xfrm>
            <a:off x="4718304" y="905256"/>
            <a:ext cx="4133088" cy="1389888"/>
          </a:xfrm>
          <a:prstGeom prst="rect">
            <a:avLst/>
          </a:prstGeom>
          <a:solidFill>
            <a:srgbClr val="8B5CF6"/>
          </a:solidFill>
          <a:ln/>
        </p:spPr>
        <p:txBody>
          <a:bodyPr/>
          <a:lstStyle/>
          <a:p>
            <a:endParaRPr lang="en-US"/>
          </a:p>
        </p:txBody>
      </p:sp>
      <p:sp>
        <p:nvSpPr>
          <p:cNvPr id="16" name="Shape 12"/>
          <p:cNvSpPr/>
          <p:nvPr/>
        </p:nvSpPr>
        <p:spPr>
          <a:xfrm>
            <a:off x="4733574" y="920526"/>
            <a:ext cx="4102547" cy="213238"/>
          </a:xfrm>
          <a:prstGeom prst="rect">
            <a:avLst/>
          </a:prstGeom>
          <a:solidFill>
            <a:srgbClr val="241D3A"/>
          </a:solidFill>
          <a:ln/>
        </p:spPr>
        <p:txBody>
          <a:bodyPr/>
          <a:lstStyle/>
          <a:p>
            <a:endParaRPr lang="en-US"/>
          </a:p>
        </p:txBody>
      </p:sp>
      <p:sp>
        <p:nvSpPr>
          <p:cNvPr id="17" name="Shape 13"/>
          <p:cNvSpPr/>
          <p:nvPr/>
        </p:nvSpPr>
        <p:spPr>
          <a:xfrm>
            <a:off x="4733574" y="1133765"/>
            <a:ext cx="4102547" cy="1146109"/>
          </a:xfrm>
          <a:prstGeom prst="rect">
            <a:avLst/>
          </a:prstGeom>
          <a:solidFill>
            <a:srgbClr val="140F24"/>
          </a:solidFill>
          <a:ln/>
        </p:spPr>
        <p:txBody>
          <a:bodyPr/>
          <a:lstStyle/>
          <a:p>
            <a:endParaRPr lang="en-US"/>
          </a:p>
        </p:txBody>
      </p:sp>
      <p:sp>
        <p:nvSpPr>
          <p:cNvPr id="18" name="Text 14"/>
          <p:cNvSpPr txBox="1"/>
          <p:nvPr/>
        </p:nvSpPr>
        <p:spPr>
          <a:xfrm>
            <a:off x="4901184" y="1027146"/>
            <a:ext cx="3767328" cy="27432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Geometric shape</a:t>
            </a:r>
            <a:endParaRPr lang="en-US" sz="1150" dirty="0"/>
          </a:p>
        </p:txBody>
      </p:sp>
      <p:sp>
        <p:nvSpPr>
          <p:cNvPr id="19" name="Shape 15"/>
          <p:cNvSpPr/>
          <p:nvPr/>
        </p:nvSpPr>
        <p:spPr>
          <a:xfrm>
            <a:off x="4901184" y="1328623"/>
            <a:ext cx="243779" cy="15270"/>
          </a:xfrm>
          <a:prstGeom prst="rect">
            <a:avLst/>
          </a:prstGeom>
          <a:solidFill>
            <a:srgbClr val="8B5CF6"/>
          </a:solidFill>
          <a:ln/>
        </p:spPr>
        <p:txBody>
          <a:bodyPr/>
          <a:lstStyle/>
          <a:p>
            <a:endParaRPr lang="en-US"/>
          </a:p>
        </p:txBody>
      </p:sp>
      <p:sp>
        <p:nvSpPr>
          <p:cNvPr id="20" name="Text 16"/>
          <p:cNvSpPr txBox="1"/>
          <p:nvPr/>
        </p:nvSpPr>
        <p:spPr>
          <a:xfrm>
            <a:off x="4901184" y="1438351"/>
            <a:ext cx="3767328" cy="777240"/>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A shape with clean edges and regular measurements, like a circle, square, or triangle.</a:t>
            </a:r>
            <a:endParaRPr lang="en-US" sz="1050" dirty="0"/>
          </a:p>
        </p:txBody>
      </p:sp>
      <p:sp>
        <p:nvSpPr>
          <p:cNvPr id="21" name="Shape 17"/>
          <p:cNvSpPr/>
          <p:nvPr/>
        </p:nvSpPr>
        <p:spPr>
          <a:xfrm>
            <a:off x="292608" y="2514600"/>
            <a:ext cx="4133088" cy="1389888"/>
          </a:xfrm>
          <a:prstGeom prst="rect">
            <a:avLst/>
          </a:prstGeom>
          <a:solidFill>
            <a:srgbClr val="8B5CF6"/>
          </a:solidFill>
          <a:ln/>
        </p:spPr>
        <p:txBody>
          <a:bodyPr/>
          <a:lstStyle/>
          <a:p>
            <a:endParaRPr lang="en-US"/>
          </a:p>
        </p:txBody>
      </p:sp>
      <p:sp>
        <p:nvSpPr>
          <p:cNvPr id="22" name="Shape 18"/>
          <p:cNvSpPr/>
          <p:nvPr/>
        </p:nvSpPr>
        <p:spPr>
          <a:xfrm>
            <a:off x="307878" y="2529870"/>
            <a:ext cx="4102547" cy="213238"/>
          </a:xfrm>
          <a:prstGeom prst="rect">
            <a:avLst/>
          </a:prstGeom>
          <a:solidFill>
            <a:srgbClr val="241D3A"/>
          </a:solidFill>
          <a:ln/>
        </p:spPr>
        <p:txBody>
          <a:bodyPr/>
          <a:lstStyle/>
          <a:p>
            <a:endParaRPr lang="en-US"/>
          </a:p>
        </p:txBody>
      </p:sp>
      <p:sp>
        <p:nvSpPr>
          <p:cNvPr id="23" name="Shape 19"/>
          <p:cNvSpPr/>
          <p:nvPr/>
        </p:nvSpPr>
        <p:spPr>
          <a:xfrm>
            <a:off x="307878" y="2743109"/>
            <a:ext cx="4102547" cy="1146109"/>
          </a:xfrm>
          <a:prstGeom prst="rect">
            <a:avLst/>
          </a:prstGeom>
          <a:solidFill>
            <a:srgbClr val="140F24"/>
          </a:solidFill>
          <a:ln/>
        </p:spPr>
        <p:txBody>
          <a:bodyPr/>
          <a:lstStyle/>
          <a:p>
            <a:endParaRPr lang="en-US"/>
          </a:p>
        </p:txBody>
      </p:sp>
      <p:sp>
        <p:nvSpPr>
          <p:cNvPr id="24" name="Text 20"/>
          <p:cNvSpPr txBox="1"/>
          <p:nvPr/>
        </p:nvSpPr>
        <p:spPr>
          <a:xfrm>
            <a:off x="475488" y="2636490"/>
            <a:ext cx="3767328" cy="27432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Organic shape</a:t>
            </a:r>
            <a:endParaRPr lang="en-US" sz="1150" dirty="0"/>
          </a:p>
        </p:txBody>
      </p:sp>
      <p:sp>
        <p:nvSpPr>
          <p:cNvPr id="25" name="Shape 21"/>
          <p:cNvSpPr/>
          <p:nvPr/>
        </p:nvSpPr>
        <p:spPr>
          <a:xfrm>
            <a:off x="475488" y="2937967"/>
            <a:ext cx="243779" cy="15270"/>
          </a:xfrm>
          <a:prstGeom prst="rect">
            <a:avLst/>
          </a:prstGeom>
          <a:solidFill>
            <a:srgbClr val="8B5CF6"/>
          </a:solidFill>
          <a:ln/>
        </p:spPr>
        <p:txBody>
          <a:bodyPr/>
          <a:lstStyle/>
          <a:p>
            <a:endParaRPr lang="en-US"/>
          </a:p>
        </p:txBody>
      </p:sp>
      <p:sp>
        <p:nvSpPr>
          <p:cNvPr id="26" name="Text 22"/>
          <p:cNvSpPr txBox="1"/>
          <p:nvPr/>
        </p:nvSpPr>
        <p:spPr>
          <a:xfrm>
            <a:off x="475488" y="3047695"/>
            <a:ext cx="3767328" cy="777240"/>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A free, irregular shape. The kind you find in nature, like a leaf or a puddle.</a:t>
            </a:r>
            <a:endParaRPr lang="en-US" sz="1050" dirty="0"/>
          </a:p>
        </p:txBody>
      </p:sp>
      <p:sp>
        <p:nvSpPr>
          <p:cNvPr id="27" name="Shape 23"/>
          <p:cNvSpPr/>
          <p:nvPr/>
        </p:nvSpPr>
        <p:spPr>
          <a:xfrm>
            <a:off x="4718304" y="2514600"/>
            <a:ext cx="4133088" cy="1389888"/>
          </a:xfrm>
          <a:prstGeom prst="rect">
            <a:avLst/>
          </a:prstGeom>
          <a:solidFill>
            <a:srgbClr val="8B5CF6"/>
          </a:solidFill>
          <a:ln/>
        </p:spPr>
        <p:txBody>
          <a:bodyPr/>
          <a:lstStyle/>
          <a:p>
            <a:endParaRPr lang="en-US"/>
          </a:p>
        </p:txBody>
      </p:sp>
      <p:sp>
        <p:nvSpPr>
          <p:cNvPr id="28" name="Shape 24"/>
          <p:cNvSpPr/>
          <p:nvPr/>
        </p:nvSpPr>
        <p:spPr>
          <a:xfrm>
            <a:off x="4733574" y="2529870"/>
            <a:ext cx="4102547" cy="213238"/>
          </a:xfrm>
          <a:prstGeom prst="rect">
            <a:avLst/>
          </a:prstGeom>
          <a:solidFill>
            <a:srgbClr val="241D3A"/>
          </a:solidFill>
          <a:ln/>
        </p:spPr>
        <p:txBody>
          <a:bodyPr/>
          <a:lstStyle/>
          <a:p>
            <a:endParaRPr lang="en-US"/>
          </a:p>
        </p:txBody>
      </p:sp>
      <p:sp>
        <p:nvSpPr>
          <p:cNvPr id="29" name="Shape 25"/>
          <p:cNvSpPr/>
          <p:nvPr/>
        </p:nvSpPr>
        <p:spPr>
          <a:xfrm>
            <a:off x="4733574" y="2743109"/>
            <a:ext cx="4102547" cy="1146109"/>
          </a:xfrm>
          <a:prstGeom prst="rect">
            <a:avLst/>
          </a:prstGeom>
          <a:solidFill>
            <a:srgbClr val="140F24"/>
          </a:solidFill>
          <a:ln/>
        </p:spPr>
        <p:txBody>
          <a:bodyPr/>
          <a:lstStyle/>
          <a:p>
            <a:endParaRPr lang="en-US"/>
          </a:p>
        </p:txBody>
      </p:sp>
      <p:sp>
        <p:nvSpPr>
          <p:cNvPr id="30" name="Text 26"/>
          <p:cNvSpPr txBox="1"/>
          <p:nvPr/>
        </p:nvSpPr>
        <p:spPr>
          <a:xfrm>
            <a:off x="4901184" y="2636490"/>
            <a:ext cx="3767328" cy="274320"/>
          </a:xfrm>
          <a:prstGeom prst="rect">
            <a:avLst/>
          </a:prstGeom>
          <a:noFill/>
          <a:ln/>
        </p:spPr>
        <p:txBody>
          <a:bodyPr wrap="square" lIns="0" tIns="0" rIns="0" bIns="0" rtlCol="0" anchor="ctr"/>
          <a:lstStyle/>
          <a:p>
            <a:pPr marL="0" indent="0">
              <a:lnSpc>
                <a:spcPct val="105000"/>
              </a:lnSpc>
              <a:buNone/>
            </a:pPr>
            <a:r>
              <a:rPr lang="en-US" sz="1150" b="1" dirty="0">
                <a:solidFill>
                  <a:srgbClr val="C4B5FD"/>
                </a:solidFill>
                <a:latin typeface="Arial" pitchFamily="34" charset="0"/>
                <a:ea typeface="Arial" pitchFamily="34" charset="-122"/>
                <a:cs typeface="Arial" pitchFamily="34" charset="-120"/>
              </a:rPr>
              <a:t>Negative space</a:t>
            </a:r>
            <a:endParaRPr lang="en-US" sz="1150" dirty="0"/>
          </a:p>
        </p:txBody>
      </p:sp>
      <p:sp>
        <p:nvSpPr>
          <p:cNvPr id="31" name="Shape 27"/>
          <p:cNvSpPr/>
          <p:nvPr/>
        </p:nvSpPr>
        <p:spPr>
          <a:xfrm>
            <a:off x="4901184" y="2937967"/>
            <a:ext cx="243779" cy="15270"/>
          </a:xfrm>
          <a:prstGeom prst="rect">
            <a:avLst/>
          </a:prstGeom>
          <a:solidFill>
            <a:srgbClr val="8B5CF6"/>
          </a:solidFill>
          <a:ln/>
        </p:spPr>
        <p:txBody>
          <a:bodyPr/>
          <a:lstStyle/>
          <a:p>
            <a:endParaRPr lang="en-US"/>
          </a:p>
        </p:txBody>
      </p:sp>
      <p:sp>
        <p:nvSpPr>
          <p:cNvPr id="32" name="Text 28"/>
          <p:cNvSpPr txBox="1"/>
          <p:nvPr/>
        </p:nvSpPr>
        <p:spPr>
          <a:xfrm>
            <a:off x="4901184" y="3047695"/>
            <a:ext cx="3767328" cy="777240"/>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The empty area around and between shapes. It is part of the design, not leftover room.</a:t>
            </a:r>
            <a:endParaRPr lang="en-US" sz="1050" dirty="0"/>
          </a:p>
        </p:txBody>
      </p:sp>
      <p:sp>
        <p:nvSpPr>
          <p:cNvPr id="33" name="Shape 29"/>
          <p:cNvSpPr/>
          <p:nvPr/>
        </p:nvSpPr>
        <p:spPr>
          <a:xfrm>
            <a:off x="292608" y="4197096"/>
            <a:ext cx="8558784" cy="521208"/>
          </a:xfrm>
          <a:prstGeom prst="rect">
            <a:avLst/>
          </a:prstGeom>
          <a:solidFill>
            <a:srgbClr val="8B5CF6">
              <a:alpha val="6000"/>
            </a:srgbClr>
          </a:solidFill>
          <a:ln w="12700">
            <a:solidFill>
              <a:srgbClr val="352559"/>
            </a:solidFill>
            <a:prstDash val="solid"/>
          </a:ln>
        </p:spPr>
        <p:txBody>
          <a:bodyPr/>
          <a:lstStyle/>
          <a:p>
            <a:endParaRPr lang="en-US"/>
          </a:p>
        </p:txBody>
      </p:sp>
      <p:sp>
        <p:nvSpPr>
          <p:cNvPr id="34" name="Shape 30"/>
          <p:cNvSpPr/>
          <p:nvPr/>
        </p:nvSpPr>
        <p:spPr>
          <a:xfrm>
            <a:off x="292608" y="4197096"/>
            <a:ext cx="45720" cy="521208"/>
          </a:xfrm>
          <a:prstGeom prst="rect">
            <a:avLst/>
          </a:prstGeom>
          <a:solidFill>
            <a:srgbClr val="8B5CF6"/>
          </a:solidFill>
          <a:ln/>
        </p:spPr>
        <p:txBody>
          <a:bodyPr/>
          <a:lstStyle/>
          <a:p>
            <a:endParaRPr lang="en-US"/>
          </a:p>
        </p:txBody>
      </p:sp>
      <p:sp>
        <p:nvSpPr>
          <p:cNvPr id="35" name="Text 31"/>
          <p:cNvSpPr txBox="1"/>
          <p:nvPr/>
        </p:nvSpPr>
        <p:spPr>
          <a:xfrm>
            <a:off x="521208" y="4349801"/>
            <a:ext cx="8162849" cy="253289"/>
          </a:xfrm>
          <a:prstGeom prst="rect">
            <a:avLst/>
          </a:prstGeom>
          <a:noFill/>
          <a:ln/>
        </p:spPr>
        <p:txBody>
          <a:bodyPr wrap="square" lIns="0" tIns="0" rIns="0" bIns="0" rtlCol="0" anchor="t"/>
          <a:lstStyle/>
          <a:p>
            <a:pPr marL="0" indent="0">
              <a:lnSpc>
                <a:spcPct val="135000"/>
              </a:lnSpc>
              <a:buNone/>
            </a:pPr>
            <a:r>
              <a:rPr lang="en-US" sz="1050" dirty="0">
                <a:solidFill>
                  <a:srgbClr val="FFFFFF"/>
                </a:solidFill>
                <a:latin typeface="Arial" pitchFamily="34" charset="0"/>
                <a:ea typeface="Arial" pitchFamily="34" charset="-122"/>
                <a:cs typeface="Arial" pitchFamily="34" charset="-120"/>
              </a:rPr>
              <a:t>Negative space is the one students skip. The gap beside your character’s arm is part of the design.</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00B8B8"/>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80E0E0"/>
                </a:solidFill>
                <a:latin typeface="Oswald" pitchFamily="34" charset="0"/>
                <a:ea typeface="Oswald" pitchFamily="34" charset="-122"/>
                <a:cs typeface="Oswald" pitchFamily="34" charset="-120"/>
              </a:rPr>
              <a:t>GEOMETRIC AND ORGANIC</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80E0E0"/>
                </a:solidFill>
                <a:latin typeface="Oswald" pitchFamily="34" charset="0"/>
                <a:ea typeface="Oswald" pitchFamily="34" charset="-122"/>
                <a:cs typeface="Oswald" pitchFamily="34" charset="-120"/>
              </a:rPr>
              <a:t>SHAPE / 12 / 18</a:t>
            </a:r>
            <a:endParaRPr lang="en-US" sz="900" dirty="0"/>
          </a:p>
        </p:txBody>
      </p:sp>
      <p:sp>
        <p:nvSpPr>
          <p:cNvPr id="8" name="Shape 4"/>
          <p:cNvSpPr/>
          <p:nvPr/>
        </p:nvSpPr>
        <p:spPr>
          <a:xfrm>
            <a:off x="859536" y="699516"/>
            <a:ext cx="457017" cy="22860"/>
          </a:xfrm>
          <a:prstGeom prst="rect">
            <a:avLst/>
          </a:prstGeom>
          <a:solidFill>
            <a:srgbClr val="00B8B8"/>
          </a:solidFill>
          <a:ln/>
        </p:spPr>
        <p:txBody>
          <a:bodyPr/>
          <a:lstStyle/>
          <a:p>
            <a:endParaRPr lang="en-US"/>
          </a:p>
        </p:txBody>
      </p:sp>
      <p:sp>
        <p:nvSpPr>
          <p:cNvPr id="9" name="Shape 5"/>
          <p:cNvSpPr/>
          <p:nvPr/>
        </p:nvSpPr>
        <p:spPr>
          <a:xfrm>
            <a:off x="292608" y="905256"/>
            <a:ext cx="4133088" cy="1481328"/>
          </a:xfrm>
          <a:prstGeom prst="rect">
            <a:avLst/>
          </a:prstGeom>
          <a:solidFill>
            <a:srgbClr val="00B8B8"/>
          </a:solidFill>
          <a:ln/>
        </p:spPr>
        <p:txBody>
          <a:bodyPr/>
          <a:lstStyle/>
          <a:p>
            <a:endParaRPr lang="en-US"/>
          </a:p>
        </p:txBody>
      </p:sp>
      <p:sp>
        <p:nvSpPr>
          <p:cNvPr id="10" name="Shape 6"/>
          <p:cNvSpPr/>
          <p:nvPr/>
        </p:nvSpPr>
        <p:spPr>
          <a:xfrm>
            <a:off x="307878" y="920526"/>
            <a:ext cx="4102547" cy="213238"/>
          </a:xfrm>
          <a:prstGeom prst="rect">
            <a:avLst/>
          </a:prstGeom>
          <a:solidFill>
            <a:srgbClr val="094043"/>
          </a:solidFill>
          <a:ln/>
        </p:spPr>
        <p:txBody>
          <a:bodyPr/>
          <a:lstStyle/>
          <a:p>
            <a:endParaRPr lang="en-US"/>
          </a:p>
        </p:txBody>
      </p:sp>
      <p:sp>
        <p:nvSpPr>
          <p:cNvPr id="11" name="Shape 7"/>
          <p:cNvSpPr/>
          <p:nvPr/>
        </p:nvSpPr>
        <p:spPr>
          <a:xfrm>
            <a:off x="307878" y="1133765"/>
            <a:ext cx="4102547" cy="1237549"/>
          </a:xfrm>
          <a:prstGeom prst="rect">
            <a:avLst/>
          </a:prstGeom>
          <a:solidFill>
            <a:srgbClr val="041D1C"/>
          </a:solidFill>
          <a:ln/>
        </p:spPr>
        <p:txBody>
          <a:bodyPr/>
          <a:lstStyle/>
          <a:p>
            <a:endParaRPr lang="en-US"/>
          </a:p>
        </p:txBody>
      </p:sp>
      <p:sp>
        <p:nvSpPr>
          <p:cNvPr id="12" name="Text 8"/>
          <p:cNvSpPr txBox="1"/>
          <p:nvPr/>
        </p:nvSpPr>
        <p:spPr>
          <a:xfrm>
            <a:off x="475488" y="1027146"/>
            <a:ext cx="3767328" cy="274320"/>
          </a:xfrm>
          <a:prstGeom prst="rect">
            <a:avLst/>
          </a:prstGeom>
          <a:noFill/>
          <a:ln/>
        </p:spPr>
        <p:txBody>
          <a:bodyPr wrap="square" lIns="0" tIns="0" rIns="0" bIns="0" rtlCol="0" anchor="ctr"/>
          <a:lstStyle/>
          <a:p>
            <a:pPr marL="0" indent="0">
              <a:lnSpc>
                <a:spcPct val="105000"/>
              </a:lnSpc>
              <a:buNone/>
            </a:pPr>
            <a:r>
              <a:rPr lang="en-US" sz="1300" b="1" dirty="0">
                <a:solidFill>
                  <a:srgbClr val="80E0E0"/>
                </a:solidFill>
                <a:latin typeface="Arial" pitchFamily="34" charset="0"/>
                <a:ea typeface="Arial" pitchFamily="34" charset="-122"/>
                <a:cs typeface="Arial" pitchFamily="34" charset="-120"/>
              </a:rPr>
              <a:t>Geometric</a:t>
            </a:r>
            <a:endParaRPr lang="en-US" sz="1300" dirty="0"/>
          </a:p>
        </p:txBody>
      </p:sp>
      <p:sp>
        <p:nvSpPr>
          <p:cNvPr id="13" name="Shape 9"/>
          <p:cNvSpPr/>
          <p:nvPr/>
        </p:nvSpPr>
        <p:spPr>
          <a:xfrm>
            <a:off x="475488" y="1328623"/>
            <a:ext cx="243779" cy="15270"/>
          </a:xfrm>
          <a:prstGeom prst="rect">
            <a:avLst/>
          </a:prstGeom>
          <a:solidFill>
            <a:srgbClr val="00B8B8"/>
          </a:solidFill>
          <a:ln/>
        </p:spPr>
        <p:txBody>
          <a:bodyPr/>
          <a:lstStyle/>
          <a:p>
            <a:endParaRPr lang="en-US"/>
          </a:p>
        </p:txBody>
      </p:sp>
      <p:sp>
        <p:nvSpPr>
          <p:cNvPr id="14" name="Text 10"/>
          <p:cNvSpPr txBox="1"/>
          <p:nvPr/>
        </p:nvSpPr>
        <p:spPr>
          <a:xfrm>
            <a:off x="475488" y="1438351"/>
            <a:ext cx="3767328" cy="868680"/>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Clean edges and even measurements. Circles, squares, triangles. They feel built, ordered, and man made.</a:t>
            </a:r>
            <a:endParaRPr lang="en-US" sz="1050" dirty="0"/>
          </a:p>
        </p:txBody>
      </p:sp>
      <p:sp>
        <p:nvSpPr>
          <p:cNvPr id="15" name="Shape 11"/>
          <p:cNvSpPr/>
          <p:nvPr/>
        </p:nvSpPr>
        <p:spPr>
          <a:xfrm>
            <a:off x="4718304" y="905256"/>
            <a:ext cx="4133088" cy="1481328"/>
          </a:xfrm>
          <a:prstGeom prst="rect">
            <a:avLst/>
          </a:prstGeom>
          <a:solidFill>
            <a:srgbClr val="FF6B1A"/>
          </a:solidFill>
          <a:ln/>
        </p:spPr>
        <p:txBody>
          <a:bodyPr/>
          <a:lstStyle/>
          <a:p>
            <a:endParaRPr lang="en-US"/>
          </a:p>
        </p:txBody>
      </p:sp>
      <p:sp>
        <p:nvSpPr>
          <p:cNvPr id="16" name="Shape 12"/>
          <p:cNvSpPr/>
          <p:nvPr/>
        </p:nvSpPr>
        <p:spPr>
          <a:xfrm>
            <a:off x="4733574" y="920526"/>
            <a:ext cx="4102547" cy="213238"/>
          </a:xfrm>
          <a:prstGeom prst="rect">
            <a:avLst/>
          </a:prstGeom>
          <a:solidFill>
            <a:srgbClr val="3A1A06"/>
          </a:solidFill>
          <a:ln/>
        </p:spPr>
        <p:txBody>
          <a:bodyPr/>
          <a:lstStyle/>
          <a:p>
            <a:endParaRPr lang="en-US"/>
          </a:p>
        </p:txBody>
      </p:sp>
      <p:sp>
        <p:nvSpPr>
          <p:cNvPr id="17" name="Shape 13"/>
          <p:cNvSpPr/>
          <p:nvPr/>
        </p:nvSpPr>
        <p:spPr>
          <a:xfrm>
            <a:off x="4733574" y="1133765"/>
            <a:ext cx="4102547" cy="1237549"/>
          </a:xfrm>
          <a:prstGeom prst="rect">
            <a:avLst/>
          </a:prstGeom>
          <a:solidFill>
            <a:srgbClr val="1D0C03"/>
          </a:solidFill>
          <a:ln/>
        </p:spPr>
        <p:txBody>
          <a:bodyPr/>
          <a:lstStyle/>
          <a:p>
            <a:endParaRPr lang="en-US"/>
          </a:p>
        </p:txBody>
      </p:sp>
      <p:sp>
        <p:nvSpPr>
          <p:cNvPr id="18" name="Text 14"/>
          <p:cNvSpPr txBox="1"/>
          <p:nvPr/>
        </p:nvSpPr>
        <p:spPr>
          <a:xfrm>
            <a:off x="4901184" y="1027146"/>
            <a:ext cx="3767328" cy="274320"/>
          </a:xfrm>
          <a:prstGeom prst="rect">
            <a:avLst/>
          </a:prstGeom>
          <a:noFill/>
          <a:ln/>
        </p:spPr>
        <p:txBody>
          <a:bodyPr wrap="square" lIns="0" tIns="0" rIns="0" bIns="0" rtlCol="0" anchor="ctr"/>
          <a:lstStyle/>
          <a:p>
            <a:pPr marL="0" indent="0">
              <a:lnSpc>
                <a:spcPct val="105000"/>
              </a:lnSpc>
              <a:buNone/>
            </a:pPr>
            <a:r>
              <a:rPr lang="en-US" sz="1300" b="1" dirty="0">
                <a:solidFill>
                  <a:srgbClr val="FFB27C"/>
                </a:solidFill>
                <a:latin typeface="Arial" pitchFamily="34" charset="0"/>
                <a:ea typeface="Arial" pitchFamily="34" charset="-122"/>
                <a:cs typeface="Arial" pitchFamily="34" charset="-120"/>
              </a:rPr>
              <a:t>Organic</a:t>
            </a:r>
            <a:endParaRPr lang="en-US" sz="1300" dirty="0"/>
          </a:p>
        </p:txBody>
      </p:sp>
      <p:sp>
        <p:nvSpPr>
          <p:cNvPr id="19" name="Shape 15"/>
          <p:cNvSpPr/>
          <p:nvPr/>
        </p:nvSpPr>
        <p:spPr>
          <a:xfrm>
            <a:off x="4901184" y="1328623"/>
            <a:ext cx="243779" cy="15270"/>
          </a:xfrm>
          <a:prstGeom prst="rect">
            <a:avLst/>
          </a:prstGeom>
          <a:solidFill>
            <a:srgbClr val="FF6B1A"/>
          </a:solidFill>
          <a:ln/>
        </p:spPr>
        <p:txBody>
          <a:bodyPr/>
          <a:lstStyle/>
          <a:p>
            <a:endParaRPr lang="en-US"/>
          </a:p>
        </p:txBody>
      </p:sp>
      <p:sp>
        <p:nvSpPr>
          <p:cNvPr id="20" name="Text 16"/>
          <p:cNvSpPr txBox="1"/>
          <p:nvPr/>
        </p:nvSpPr>
        <p:spPr>
          <a:xfrm>
            <a:off x="4901184" y="1438351"/>
            <a:ext cx="3767328" cy="868680"/>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Free and irregular edges. Leaves, clouds, spills. They feel natural, relaxed, and alive.</a:t>
            </a:r>
            <a:endParaRPr lang="en-US" sz="1050" dirty="0"/>
          </a:p>
        </p:txBody>
      </p:sp>
      <p:sp>
        <p:nvSpPr>
          <p:cNvPr id="21" name="Shape 17"/>
          <p:cNvSpPr/>
          <p:nvPr/>
        </p:nvSpPr>
        <p:spPr>
          <a:xfrm>
            <a:off x="292608" y="2569464"/>
            <a:ext cx="8558784" cy="701345"/>
          </a:xfrm>
          <a:prstGeom prst="rect">
            <a:avLst/>
          </a:prstGeom>
          <a:solidFill>
            <a:srgbClr val="00B8B8">
              <a:alpha val="6000"/>
            </a:srgbClr>
          </a:solidFill>
          <a:ln w="12700">
            <a:solidFill>
              <a:srgbClr val="054444"/>
            </a:solidFill>
            <a:prstDash val="solid"/>
          </a:ln>
        </p:spPr>
        <p:txBody>
          <a:bodyPr/>
          <a:lstStyle/>
          <a:p>
            <a:endParaRPr lang="en-US"/>
          </a:p>
        </p:txBody>
      </p:sp>
      <p:sp>
        <p:nvSpPr>
          <p:cNvPr id="22" name="Shape 18"/>
          <p:cNvSpPr/>
          <p:nvPr/>
        </p:nvSpPr>
        <p:spPr>
          <a:xfrm>
            <a:off x="292608" y="2569464"/>
            <a:ext cx="45720" cy="701345"/>
          </a:xfrm>
          <a:prstGeom prst="rect">
            <a:avLst/>
          </a:prstGeom>
          <a:solidFill>
            <a:srgbClr val="00B8B8"/>
          </a:solidFill>
          <a:ln/>
        </p:spPr>
        <p:txBody>
          <a:bodyPr/>
          <a:lstStyle/>
          <a:p>
            <a:endParaRPr lang="en-US"/>
          </a:p>
        </p:txBody>
      </p:sp>
      <p:sp>
        <p:nvSpPr>
          <p:cNvPr id="23" name="Text 19"/>
          <p:cNvSpPr txBox="1"/>
          <p:nvPr/>
        </p:nvSpPr>
        <p:spPr>
          <a:xfrm>
            <a:off x="521208" y="2722169"/>
            <a:ext cx="8162849" cy="433426"/>
          </a:xfrm>
          <a:prstGeom prst="rect">
            <a:avLst/>
          </a:prstGeom>
          <a:noFill/>
          <a:ln/>
        </p:spPr>
        <p:txBody>
          <a:bodyPr wrap="square" lIns="0" tIns="0" rIns="0" bIns="0" rtlCol="0" anchor="t"/>
          <a:lstStyle/>
          <a:p>
            <a:pPr marL="0" indent="0">
              <a:lnSpc>
                <a:spcPct val="135000"/>
              </a:lnSpc>
              <a:buNone/>
            </a:pPr>
            <a:r>
              <a:rPr lang="en-US" sz="1050" dirty="0">
                <a:solidFill>
                  <a:srgbClr val="FFFFFF"/>
                </a:solidFill>
                <a:latin typeface="Arial" pitchFamily="34" charset="0"/>
                <a:ea typeface="Arial" pitchFamily="34" charset="-122"/>
                <a:cs typeface="Arial" pitchFamily="34" charset="-120"/>
              </a:rPr>
              <a:t>Most characters use both. A robot leans geometric so it reads as built. A friendly animal leans organic so it reads as alive.</a:t>
            </a:r>
            <a:endParaRPr lang="en-US" sz="1050" dirty="0"/>
          </a:p>
        </p:txBody>
      </p:sp>
      <p:sp>
        <p:nvSpPr>
          <p:cNvPr id="24" name="Shape 20"/>
          <p:cNvSpPr/>
          <p:nvPr/>
        </p:nvSpPr>
        <p:spPr>
          <a:xfrm>
            <a:off x="292608" y="3435401"/>
            <a:ext cx="8558784" cy="701345"/>
          </a:xfrm>
          <a:prstGeom prst="rect">
            <a:avLst/>
          </a:prstGeom>
          <a:solidFill>
            <a:srgbClr val="00B8B8">
              <a:alpha val="6000"/>
            </a:srgbClr>
          </a:solidFill>
          <a:ln w="12700">
            <a:solidFill>
              <a:srgbClr val="054444"/>
            </a:solidFill>
            <a:prstDash val="solid"/>
          </a:ln>
        </p:spPr>
        <p:txBody>
          <a:bodyPr/>
          <a:lstStyle/>
          <a:p>
            <a:endParaRPr lang="en-US"/>
          </a:p>
        </p:txBody>
      </p:sp>
      <p:sp>
        <p:nvSpPr>
          <p:cNvPr id="25" name="Shape 21"/>
          <p:cNvSpPr/>
          <p:nvPr/>
        </p:nvSpPr>
        <p:spPr>
          <a:xfrm>
            <a:off x="292608" y="3435401"/>
            <a:ext cx="45720" cy="701345"/>
          </a:xfrm>
          <a:prstGeom prst="rect">
            <a:avLst/>
          </a:prstGeom>
          <a:solidFill>
            <a:srgbClr val="00B8B8"/>
          </a:solidFill>
          <a:ln/>
        </p:spPr>
        <p:txBody>
          <a:bodyPr/>
          <a:lstStyle/>
          <a:p>
            <a:endParaRPr lang="en-US"/>
          </a:p>
        </p:txBody>
      </p:sp>
      <p:sp>
        <p:nvSpPr>
          <p:cNvPr id="26" name="Text 22"/>
          <p:cNvSpPr txBox="1"/>
          <p:nvPr/>
        </p:nvSpPr>
        <p:spPr>
          <a:xfrm>
            <a:off x="521208" y="3588106"/>
            <a:ext cx="8162849" cy="433426"/>
          </a:xfrm>
          <a:prstGeom prst="rect">
            <a:avLst/>
          </a:prstGeom>
          <a:noFill/>
          <a:ln/>
        </p:spPr>
        <p:txBody>
          <a:bodyPr wrap="square" lIns="0" tIns="0" rIns="0" bIns="0" rtlCol="0" anchor="t"/>
          <a:lstStyle/>
          <a:p>
            <a:pPr marL="0" indent="0">
              <a:lnSpc>
                <a:spcPct val="135000"/>
              </a:lnSpc>
              <a:buNone/>
            </a:pPr>
            <a:r>
              <a:rPr lang="en-US" sz="1050" dirty="0">
                <a:solidFill>
                  <a:srgbClr val="FFFFFF"/>
                </a:solidFill>
                <a:latin typeface="Arial" pitchFamily="34" charset="0"/>
                <a:ea typeface="Arial" pitchFamily="34" charset="-122"/>
                <a:cs typeface="Arial" pitchFamily="34" charset="-120"/>
              </a:rPr>
              <a:t>Neither group is better. Pick the one that matches your character. That choice is a real design decision you will defend in critique.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00B8B8"/>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80E0E0"/>
                </a:solidFill>
                <a:latin typeface="Oswald" pitchFamily="34" charset="0"/>
                <a:ea typeface="Oswald" pitchFamily="34" charset="-122"/>
                <a:cs typeface="Oswald" pitchFamily="34" charset="-120"/>
              </a:rPr>
              <a:t>POSITIVE AND NEGATIVE SPACE</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80E0E0"/>
                </a:solidFill>
                <a:latin typeface="Oswald" pitchFamily="34" charset="0"/>
                <a:ea typeface="Oswald" pitchFamily="34" charset="-122"/>
                <a:cs typeface="Oswald" pitchFamily="34" charset="-120"/>
              </a:rPr>
              <a:t>SHAPE / 13 / 18</a:t>
            </a:r>
            <a:endParaRPr lang="en-US" sz="900" dirty="0"/>
          </a:p>
        </p:txBody>
      </p:sp>
      <p:sp>
        <p:nvSpPr>
          <p:cNvPr id="8" name="Shape 4"/>
          <p:cNvSpPr/>
          <p:nvPr/>
        </p:nvSpPr>
        <p:spPr>
          <a:xfrm>
            <a:off x="859536" y="699516"/>
            <a:ext cx="457017" cy="22860"/>
          </a:xfrm>
          <a:prstGeom prst="rect">
            <a:avLst/>
          </a:prstGeom>
          <a:solidFill>
            <a:srgbClr val="00B8B8"/>
          </a:solidFill>
          <a:ln/>
        </p:spPr>
        <p:txBody>
          <a:bodyPr/>
          <a:lstStyle/>
          <a:p>
            <a:endParaRPr lang="en-US"/>
          </a:p>
        </p:txBody>
      </p:sp>
      <p:sp>
        <p:nvSpPr>
          <p:cNvPr id="9" name="Shape 5"/>
          <p:cNvSpPr/>
          <p:nvPr/>
        </p:nvSpPr>
        <p:spPr>
          <a:xfrm>
            <a:off x="292608" y="923544"/>
            <a:ext cx="310896" cy="310896"/>
          </a:xfrm>
          <a:prstGeom prst="rect">
            <a:avLst/>
          </a:prstGeom>
          <a:solidFill>
            <a:srgbClr val="00B8B8"/>
          </a:solidFill>
          <a:ln/>
        </p:spPr>
        <p:txBody>
          <a:bodyPr/>
          <a:lstStyle/>
          <a:p>
            <a:endParaRPr lang="en-US"/>
          </a:p>
        </p:txBody>
      </p:sp>
      <p:sp>
        <p:nvSpPr>
          <p:cNvPr id="10" name="Text 6"/>
          <p:cNvSpPr txBox="1"/>
          <p:nvPr/>
        </p:nvSpPr>
        <p:spPr>
          <a:xfrm>
            <a:off x="292608" y="923544"/>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01</a:t>
            </a:r>
            <a:endParaRPr lang="en-US" sz="1100" dirty="0"/>
          </a:p>
        </p:txBody>
      </p:sp>
      <p:sp>
        <p:nvSpPr>
          <p:cNvPr id="11" name="Text 7"/>
          <p:cNvSpPr txBox="1"/>
          <p:nvPr/>
        </p:nvSpPr>
        <p:spPr>
          <a:xfrm>
            <a:off x="768096" y="905256"/>
            <a:ext cx="4261104"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POSITIVE SPACE IS THE SHAPE</a:t>
            </a:r>
            <a:endParaRPr lang="en-US" sz="1250" dirty="0"/>
          </a:p>
        </p:txBody>
      </p:sp>
      <p:sp>
        <p:nvSpPr>
          <p:cNvPr id="12" name="Text 8"/>
          <p:cNvSpPr txBox="1"/>
          <p:nvPr/>
        </p:nvSpPr>
        <p:spPr>
          <a:xfrm>
            <a:off x="768096" y="1170432"/>
            <a:ext cx="4261104" cy="239573"/>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It is the object itself, the part you drew on purpose.</a:t>
            </a:r>
            <a:endParaRPr lang="en-US" sz="1050" dirty="0"/>
          </a:p>
        </p:txBody>
      </p:sp>
      <p:sp>
        <p:nvSpPr>
          <p:cNvPr id="13" name="Shape 9"/>
          <p:cNvSpPr/>
          <p:nvPr/>
        </p:nvSpPr>
        <p:spPr>
          <a:xfrm>
            <a:off x="292608" y="1556309"/>
            <a:ext cx="310896" cy="310896"/>
          </a:xfrm>
          <a:prstGeom prst="rect">
            <a:avLst/>
          </a:prstGeom>
          <a:solidFill>
            <a:srgbClr val="00B8B8"/>
          </a:solidFill>
          <a:ln/>
        </p:spPr>
        <p:txBody>
          <a:bodyPr/>
          <a:lstStyle/>
          <a:p>
            <a:endParaRPr lang="en-US"/>
          </a:p>
        </p:txBody>
      </p:sp>
      <p:sp>
        <p:nvSpPr>
          <p:cNvPr id="14" name="Text 10"/>
          <p:cNvSpPr txBox="1"/>
          <p:nvPr/>
        </p:nvSpPr>
        <p:spPr>
          <a:xfrm>
            <a:off x="292608" y="1556309"/>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02</a:t>
            </a:r>
            <a:endParaRPr lang="en-US" sz="1100" dirty="0"/>
          </a:p>
        </p:txBody>
      </p:sp>
      <p:sp>
        <p:nvSpPr>
          <p:cNvPr id="15" name="Text 11"/>
          <p:cNvSpPr txBox="1"/>
          <p:nvPr/>
        </p:nvSpPr>
        <p:spPr>
          <a:xfrm>
            <a:off x="768096" y="1538021"/>
            <a:ext cx="4261104"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NEGATIVE SPACE IS AROUND IT</a:t>
            </a:r>
            <a:endParaRPr lang="en-US" sz="1250" dirty="0"/>
          </a:p>
        </p:txBody>
      </p:sp>
      <p:sp>
        <p:nvSpPr>
          <p:cNvPr id="16" name="Text 12"/>
          <p:cNvSpPr txBox="1"/>
          <p:nvPr/>
        </p:nvSpPr>
        <p:spPr>
          <a:xfrm>
            <a:off x="768096" y="1803197"/>
            <a:ext cx="4261104" cy="239573"/>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It is the empty area surrounding and between your shapes.</a:t>
            </a:r>
            <a:endParaRPr lang="en-US" sz="1050" dirty="0"/>
          </a:p>
        </p:txBody>
      </p:sp>
      <p:sp>
        <p:nvSpPr>
          <p:cNvPr id="17" name="Shape 13"/>
          <p:cNvSpPr/>
          <p:nvPr/>
        </p:nvSpPr>
        <p:spPr>
          <a:xfrm>
            <a:off x="292608" y="2189074"/>
            <a:ext cx="310896" cy="310896"/>
          </a:xfrm>
          <a:prstGeom prst="rect">
            <a:avLst/>
          </a:prstGeom>
          <a:solidFill>
            <a:srgbClr val="00B8B8"/>
          </a:solidFill>
          <a:ln/>
        </p:spPr>
        <p:txBody>
          <a:bodyPr/>
          <a:lstStyle/>
          <a:p>
            <a:endParaRPr lang="en-US"/>
          </a:p>
        </p:txBody>
      </p:sp>
      <p:sp>
        <p:nvSpPr>
          <p:cNvPr id="18" name="Text 14"/>
          <p:cNvSpPr txBox="1"/>
          <p:nvPr/>
        </p:nvSpPr>
        <p:spPr>
          <a:xfrm>
            <a:off x="292608" y="2189074"/>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03</a:t>
            </a:r>
            <a:endParaRPr lang="en-US" sz="1100" dirty="0"/>
          </a:p>
        </p:txBody>
      </p:sp>
      <p:sp>
        <p:nvSpPr>
          <p:cNvPr id="19" name="Text 15"/>
          <p:cNvSpPr txBox="1"/>
          <p:nvPr/>
        </p:nvSpPr>
        <p:spPr>
          <a:xfrm>
            <a:off x="768096" y="2170786"/>
            <a:ext cx="4261104"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BOTH ARE DESIGNED</a:t>
            </a:r>
            <a:endParaRPr lang="en-US" sz="1250" dirty="0"/>
          </a:p>
        </p:txBody>
      </p:sp>
      <p:sp>
        <p:nvSpPr>
          <p:cNvPr id="20" name="Text 16"/>
          <p:cNvSpPr txBox="1"/>
          <p:nvPr/>
        </p:nvSpPr>
        <p:spPr>
          <a:xfrm>
            <a:off x="768096" y="2435962"/>
            <a:ext cx="4261104"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The empty part is not leftover. A good designer shapes it as carefully as the object.</a:t>
            </a:r>
            <a:endParaRPr lang="en-US" sz="1050" dirty="0"/>
          </a:p>
        </p:txBody>
      </p:sp>
      <p:sp>
        <p:nvSpPr>
          <p:cNvPr id="21" name="Shape 17"/>
          <p:cNvSpPr/>
          <p:nvPr/>
        </p:nvSpPr>
        <p:spPr>
          <a:xfrm>
            <a:off x="292608" y="3025750"/>
            <a:ext cx="4736592" cy="894283"/>
          </a:xfrm>
          <a:prstGeom prst="rect">
            <a:avLst/>
          </a:prstGeom>
          <a:solidFill>
            <a:srgbClr val="0C1010"/>
          </a:solidFill>
          <a:ln w="12700">
            <a:solidFill>
              <a:srgbClr val="F90101"/>
            </a:solidFill>
            <a:prstDash val="solid"/>
          </a:ln>
        </p:spPr>
        <p:txBody>
          <a:bodyPr/>
          <a:lstStyle/>
          <a:p>
            <a:endParaRPr lang="en-US"/>
          </a:p>
        </p:txBody>
      </p:sp>
      <p:sp>
        <p:nvSpPr>
          <p:cNvPr id="22" name="Shape 18"/>
          <p:cNvSpPr/>
          <p:nvPr/>
        </p:nvSpPr>
        <p:spPr>
          <a:xfrm>
            <a:off x="292608" y="3025750"/>
            <a:ext cx="45720" cy="894283"/>
          </a:xfrm>
          <a:prstGeom prst="rect">
            <a:avLst/>
          </a:prstGeom>
          <a:solidFill>
            <a:srgbClr val="F90101"/>
          </a:solidFill>
          <a:ln/>
        </p:spPr>
        <p:txBody>
          <a:bodyPr/>
          <a:lstStyle/>
          <a:p>
            <a:endParaRPr lang="en-US"/>
          </a:p>
        </p:txBody>
      </p:sp>
      <p:sp>
        <p:nvSpPr>
          <p:cNvPr id="23" name="Text 19"/>
          <p:cNvSpPr txBox="1"/>
          <p:nvPr/>
        </p:nvSpPr>
        <p:spPr>
          <a:xfrm>
            <a:off x="459943" y="3132734"/>
            <a:ext cx="4401007" cy="237744"/>
          </a:xfrm>
          <a:prstGeom prst="rect">
            <a:avLst/>
          </a:prstGeom>
          <a:noFill/>
          <a:ln/>
        </p:spPr>
        <p:txBody>
          <a:bodyPr wrap="square" lIns="0" tIns="0" rIns="0" bIns="0" rtlCol="0" anchor="ctr"/>
          <a:lstStyle/>
          <a:p>
            <a:pPr marL="0" indent="0">
              <a:lnSpc>
                <a:spcPct val="105000"/>
              </a:lnSpc>
              <a:buNone/>
            </a:pPr>
            <a:r>
              <a:rPr lang="en-US" sz="1100" b="1" kern="0" spc="100" dirty="0">
                <a:solidFill>
                  <a:srgbClr val="FF8F8F"/>
                </a:solidFill>
                <a:latin typeface="Oswald" pitchFamily="34" charset="0"/>
                <a:ea typeface="Oswald" pitchFamily="34" charset="-122"/>
                <a:cs typeface="Oswald" pitchFamily="34" charset="-120"/>
              </a:rPr>
              <a:t>THE FAMOUS TRICK</a:t>
            </a:r>
            <a:endParaRPr lang="en-US" sz="1100" dirty="0"/>
          </a:p>
        </p:txBody>
      </p:sp>
      <p:sp>
        <p:nvSpPr>
          <p:cNvPr id="24" name="Text 20"/>
          <p:cNvSpPr txBox="1"/>
          <p:nvPr/>
        </p:nvSpPr>
        <p:spPr>
          <a:xfrm>
            <a:off x="459943" y="3407054"/>
            <a:ext cx="4401007" cy="406908"/>
          </a:xfrm>
          <a:prstGeom prst="rect">
            <a:avLst/>
          </a:prstGeom>
          <a:noFill/>
          <a:ln/>
        </p:spPr>
        <p:txBody>
          <a:bodyPr wrap="square" lIns="0" tIns="0" rIns="0" bIns="0" rtlCol="0" anchor="t"/>
          <a:lstStyle/>
          <a:p>
            <a:pPr marL="0" indent="0">
              <a:lnSpc>
                <a:spcPct val="125000"/>
              </a:lnSpc>
              <a:buNone/>
            </a:pPr>
            <a:r>
              <a:rPr lang="en-US" sz="1050" dirty="0">
                <a:solidFill>
                  <a:srgbClr val="FFB0B0"/>
                </a:solidFill>
                <a:latin typeface="Arial" pitchFamily="34" charset="0"/>
                <a:ea typeface="Arial" pitchFamily="34" charset="-122"/>
                <a:cs typeface="Arial" pitchFamily="34" charset="-120"/>
              </a:rPr>
              <a:t>Some of the best known logos hide a second shape inside the negative space.</a:t>
            </a:r>
            <a:endParaRPr lang="en-US" sz="1050" dirty="0"/>
          </a:p>
        </p:txBody>
      </p:sp>
      <p:sp>
        <p:nvSpPr>
          <p:cNvPr id="29" name="Text 25"/>
          <p:cNvSpPr txBox="1"/>
          <p:nvPr/>
        </p:nvSpPr>
        <p:spPr>
          <a:xfrm>
            <a:off x="5358384" y="4352544"/>
            <a:ext cx="3493008" cy="237744"/>
          </a:xfrm>
          <a:prstGeom prst="rect">
            <a:avLst/>
          </a:prstGeom>
          <a:noFill/>
          <a:ln/>
        </p:spPr>
        <p:txBody>
          <a:bodyPr wrap="square" lIns="0" tIns="0" rIns="0" bIns="0" rtlCol="0" anchor="t"/>
          <a:lstStyle/>
          <a:p>
            <a:pPr marL="0" indent="0" algn="ctr">
              <a:lnSpc>
                <a:spcPct val="120000"/>
              </a:lnSpc>
              <a:buNone/>
            </a:pPr>
            <a:r>
              <a:rPr lang="en-US" sz="900" i="1" dirty="0">
                <a:solidFill>
                  <a:srgbClr val="777777"/>
                </a:solidFill>
                <a:latin typeface="Arial" pitchFamily="34" charset="0"/>
                <a:ea typeface="Arial" pitchFamily="34" charset="-122"/>
                <a:cs typeface="Arial" pitchFamily="34" charset="-120"/>
              </a:rPr>
              <a:t>Look at the white, not just the black.</a:t>
            </a:r>
            <a:endParaRPr lang="en-US" sz="900" dirty="0"/>
          </a:p>
        </p:txBody>
      </p:sp>
      <p:pic>
        <p:nvPicPr>
          <p:cNvPr id="30" name="Picture 29">
            <a:extLst>
              <a:ext uri="{FF2B5EF4-FFF2-40B4-BE49-F238E27FC236}">
                <a16:creationId xmlns:a16="http://schemas.microsoft.com/office/drawing/2014/main" id="{9E81D89F-4363-93C0-602F-01C51EFC3B36}"/>
              </a:ext>
            </a:extLst>
          </p:cNvPr>
          <p:cNvPicPr>
            <a:picLocks noChangeAspect="1"/>
          </p:cNvPicPr>
          <p:nvPr/>
        </p:nvPicPr>
        <p:blipFill>
          <a:blip r:embed="rId5"/>
          <a:stretch>
            <a:fillRect/>
          </a:stretch>
        </p:blipFill>
        <p:spPr>
          <a:xfrm>
            <a:off x="5243911" y="736347"/>
            <a:ext cx="3721954" cy="35879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00B8B8"/>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80E0E0"/>
                </a:solidFill>
                <a:latin typeface="Oswald" pitchFamily="34" charset="0"/>
                <a:ea typeface="Oswald" pitchFamily="34" charset="-122"/>
                <a:cs typeface="Oswald" pitchFamily="34" charset="-120"/>
              </a:rPr>
              <a:t>SHAPE LANGUAGE</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80E0E0"/>
                </a:solidFill>
                <a:latin typeface="Oswald" pitchFamily="34" charset="0"/>
                <a:ea typeface="Oswald" pitchFamily="34" charset="-122"/>
                <a:cs typeface="Oswald" pitchFamily="34" charset="-120"/>
              </a:rPr>
              <a:t>SHAPE / 14 / 18</a:t>
            </a:r>
            <a:endParaRPr lang="en-US" sz="900" dirty="0"/>
          </a:p>
        </p:txBody>
      </p:sp>
      <p:sp>
        <p:nvSpPr>
          <p:cNvPr id="8" name="Shape 4"/>
          <p:cNvSpPr/>
          <p:nvPr/>
        </p:nvSpPr>
        <p:spPr>
          <a:xfrm>
            <a:off x="859536" y="699516"/>
            <a:ext cx="457017" cy="22860"/>
          </a:xfrm>
          <a:prstGeom prst="rect">
            <a:avLst/>
          </a:prstGeom>
          <a:solidFill>
            <a:srgbClr val="00B8B8"/>
          </a:solidFill>
          <a:ln/>
        </p:spPr>
        <p:txBody>
          <a:bodyPr/>
          <a:lstStyle/>
          <a:p>
            <a:endParaRPr lang="en-US"/>
          </a:p>
        </p:txBody>
      </p:sp>
      <p:sp>
        <p:nvSpPr>
          <p:cNvPr id="9" name="Shape 5"/>
          <p:cNvSpPr/>
          <p:nvPr/>
        </p:nvSpPr>
        <p:spPr>
          <a:xfrm>
            <a:off x="292608" y="923544"/>
            <a:ext cx="310896" cy="310896"/>
          </a:xfrm>
          <a:prstGeom prst="rect">
            <a:avLst/>
          </a:prstGeom>
          <a:solidFill>
            <a:srgbClr val="00B8B8"/>
          </a:solidFill>
          <a:ln/>
        </p:spPr>
        <p:txBody>
          <a:bodyPr/>
          <a:lstStyle/>
          <a:p>
            <a:endParaRPr lang="en-US"/>
          </a:p>
        </p:txBody>
      </p:sp>
      <p:sp>
        <p:nvSpPr>
          <p:cNvPr id="10" name="Text 6"/>
          <p:cNvSpPr txBox="1"/>
          <p:nvPr/>
        </p:nvSpPr>
        <p:spPr>
          <a:xfrm>
            <a:off x="292608" y="923544"/>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01</a:t>
            </a:r>
            <a:endParaRPr lang="en-US" sz="1100" dirty="0"/>
          </a:p>
        </p:txBody>
      </p:sp>
      <p:sp>
        <p:nvSpPr>
          <p:cNvPr id="11" name="Text 7"/>
          <p:cNvSpPr txBox="1"/>
          <p:nvPr/>
        </p:nvSpPr>
        <p:spPr>
          <a:xfrm>
            <a:off x="768096" y="905256"/>
            <a:ext cx="4261104"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CIRCLES READ FRIENDLY</a:t>
            </a:r>
            <a:endParaRPr lang="en-US" sz="1250" dirty="0"/>
          </a:p>
        </p:txBody>
      </p:sp>
      <p:sp>
        <p:nvSpPr>
          <p:cNvPr id="12" name="Text 8"/>
          <p:cNvSpPr txBox="1"/>
          <p:nvPr/>
        </p:nvSpPr>
        <p:spPr>
          <a:xfrm>
            <a:off x="768096" y="1170432"/>
            <a:ext cx="4261104"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Round characters feel safe, soft, and likeable. Most heroes and sidekicks are built from circles.</a:t>
            </a:r>
            <a:endParaRPr lang="en-US" sz="1050" dirty="0"/>
          </a:p>
        </p:txBody>
      </p:sp>
      <p:sp>
        <p:nvSpPr>
          <p:cNvPr id="13" name="Shape 9"/>
          <p:cNvSpPr/>
          <p:nvPr/>
        </p:nvSpPr>
        <p:spPr>
          <a:xfrm>
            <a:off x="292608" y="1723644"/>
            <a:ext cx="310896" cy="310896"/>
          </a:xfrm>
          <a:prstGeom prst="rect">
            <a:avLst/>
          </a:prstGeom>
          <a:solidFill>
            <a:srgbClr val="00B8B8"/>
          </a:solidFill>
          <a:ln/>
        </p:spPr>
        <p:txBody>
          <a:bodyPr/>
          <a:lstStyle/>
          <a:p>
            <a:endParaRPr lang="en-US"/>
          </a:p>
        </p:txBody>
      </p:sp>
      <p:sp>
        <p:nvSpPr>
          <p:cNvPr id="14" name="Text 10"/>
          <p:cNvSpPr txBox="1"/>
          <p:nvPr/>
        </p:nvSpPr>
        <p:spPr>
          <a:xfrm>
            <a:off x="292608" y="1723644"/>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02</a:t>
            </a:r>
            <a:endParaRPr lang="en-US" sz="1100" dirty="0"/>
          </a:p>
        </p:txBody>
      </p:sp>
      <p:sp>
        <p:nvSpPr>
          <p:cNvPr id="15" name="Text 11"/>
          <p:cNvSpPr txBox="1"/>
          <p:nvPr/>
        </p:nvSpPr>
        <p:spPr>
          <a:xfrm>
            <a:off x="768096" y="1705356"/>
            <a:ext cx="4261104"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SQUARES READ STRONG</a:t>
            </a:r>
            <a:endParaRPr lang="en-US" sz="1250" dirty="0"/>
          </a:p>
        </p:txBody>
      </p:sp>
      <p:sp>
        <p:nvSpPr>
          <p:cNvPr id="16" name="Text 12"/>
          <p:cNvSpPr txBox="1"/>
          <p:nvPr/>
        </p:nvSpPr>
        <p:spPr>
          <a:xfrm>
            <a:off x="768096" y="1970532"/>
            <a:ext cx="4261104"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Boxy characters feel stable, heavy, and dependable. They are the ones who hold their ground.</a:t>
            </a:r>
            <a:endParaRPr lang="en-US" sz="1050" dirty="0"/>
          </a:p>
        </p:txBody>
      </p:sp>
      <p:sp>
        <p:nvSpPr>
          <p:cNvPr id="17" name="Shape 13"/>
          <p:cNvSpPr/>
          <p:nvPr/>
        </p:nvSpPr>
        <p:spPr>
          <a:xfrm>
            <a:off x="292608" y="2523744"/>
            <a:ext cx="310896" cy="310896"/>
          </a:xfrm>
          <a:prstGeom prst="rect">
            <a:avLst/>
          </a:prstGeom>
          <a:solidFill>
            <a:srgbClr val="00B8B8"/>
          </a:solidFill>
          <a:ln/>
        </p:spPr>
        <p:txBody>
          <a:bodyPr/>
          <a:lstStyle/>
          <a:p>
            <a:endParaRPr lang="en-US"/>
          </a:p>
        </p:txBody>
      </p:sp>
      <p:sp>
        <p:nvSpPr>
          <p:cNvPr id="18" name="Text 14"/>
          <p:cNvSpPr txBox="1"/>
          <p:nvPr/>
        </p:nvSpPr>
        <p:spPr>
          <a:xfrm>
            <a:off x="292608" y="2523744"/>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03</a:t>
            </a:r>
            <a:endParaRPr lang="en-US" sz="1100" dirty="0"/>
          </a:p>
        </p:txBody>
      </p:sp>
      <p:sp>
        <p:nvSpPr>
          <p:cNvPr id="19" name="Text 15"/>
          <p:cNvSpPr txBox="1"/>
          <p:nvPr/>
        </p:nvSpPr>
        <p:spPr>
          <a:xfrm>
            <a:off x="768096" y="2505456"/>
            <a:ext cx="4261104"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TRIANGLES READ DANGEROUS</a:t>
            </a:r>
            <a:endParaRPr lang="en-US" sz="1250" dirty="0"/>
          </a:p>
        </p:txBody>
      </p:sp>
      <p:sp>
        <p:nvSpPr>
          <p:cNvPr id="20" name="Text 16"/>
          <p:cNvSpPr txBox="1"/>
          <p:nvPr/>
        </p:nvSpPr>
        <p:spPr>
          <a:xfrm>
            <a:off x="768096" y="2770632"/>
            <a:ext cx="4261104"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Pointed characters feel sharp, fast, and unsafe. Most villains are built from triangles.</a:t>
            </a:r>
            <a:endParaRPr lang="en-US" sz="1050" dirty="0"/>
          </a:p>
        </p:txBody>
      </p:sp>
      <p:sp>
        <p:nvSpPr>
          <p:cNvPr id="21" name="Shape 17"/>
          <p:cNvSpPr/>
          <p:nvPr/>
        </p:nvSpPr>
        <p:spPr>
          <a:xfrm>
            <a:off x="292608" y="3323844"/>
            <a:ext cx="310896" cy="310896"/>
          </a:xfrm>
          <a:prstGeom prst="rect">
            <a:avLst/>
          </a:prstGeom>
          <a:solidFill>
            <a:srgbClr val="00B8B8"/>
          </a:solidFill>
          <a:ln/>
        </p:spPr>
        <p:txBody>
          <a:bodyPr/>
          <a:lstStyle/>
          <a:p>
            <a:endParaRPr lang="en-US"/>
          </a:p>
        </p:txBody>
      </p:sp>
      <p:sp>
        <p:nvSpPr>
          <p:cNvPr id="22" name="Text 18"/>
          <p:cNvSpPr txBox="1"/>
          <p:nvPr/>
        </p:nvSpPr>
        <p:spPr>
          <a:xfrm>
            <a:off x="292608" y="3323844"/>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04</a:t>
            </a:r>
            <a:endParaRPr lang="en-US" sz="1100" dirty="0"/>
          </a:p>
        </p:txBody>
      </p:sp>
      <p:sp>
        <p:nvSpPr>
          <p:cNvPr id="23" name="Text 19"/>
          <p:cNvSpPr txBox="1"/>
          <p:nvPr/>
        </p:nvSpPr>
        <p:spPr>
          <a:xfrm>
            <a:off x="768096" y="3305556"/>
            <a:ext cx="4261104"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80E0E0"/>
                </a:solidFill>
                <a:latin typeface="Oswald" pitchFamily="34" charset="0"/>
                <a:ea typeface="Oswald" pitchFamily="34" charset="-122"/>
                <a:cs typeface="Oswald" pitchFamily="34" charset="-120"/>
              </a:rPr>
              <a:t>MIX THEM ON PURPOSE</a:t>
            </a:r>
            <a:endParaRPr lang="en-US" sz="1250" dirty="0"/>
          </a:p>
        </p:txBody>
      </p:sp>
      <p:sp>
        <p:nvSpPr>
          <p:cNvPr id="24" name="Text 20"/>
          <p:cNvSpPr txBox="1"/>
          <p:nvPr/>
        </p:nvSpPr>
        <p:spPr>
          <a:xfrm>
            <a:off x="768096" y="3570732"/>
            <a:ext cx="4261104" cy="406908"/>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Pick one shape to dominate your character, then use the other two as accents.</a:t>
            </a:r>
            <a:endParaRPr lang="en-US" sz="1050" dirty="0"/>
          </a:p>
        </p:txBody>
      </p:sp>
      <p:sp>
        <p:nvSpPr>
          <p:cNvPr id="29" name="Text 25"/>
          <p:cNvSpPr txBox="1"/>
          <p:nvPr/>
        </p:nvSpPr>
        <p:spPr>
          <a:xfrm>
            <a:off x="5358384" y="4224528"/>
            <a:ext cx="3493008" cy="237744"/>
          </a:xfrm>
          <a:prstGeom prst="rect">
            <a:avLst/>
          </a:prstGeom>
          <a:noFill/>
          <a:ln/>
        </p:spPr>
        <p:txBody>
          <a:bodyPr wrap="square" lIns="0" tIns="0" rIns="0" bIns="0" rtlCol="0" anchor="t"/>
          <a:lstStyle/>
          <a:p>
            <a:pPr marL="0" indent="0" algn="ctr">
              <a:lnSpc>
                <a:spcPct val="120000"/>
              </a:lnSpc>
              <a:buNone/>
            </a:pPr>
            <a:r>
              <a:rPr lang="en-US" sz="900" i="1" dirty="0">
                <a:solidFill>
                  <a:srgbClr val="777777"/>
                </a:solidFill>
                <a:latin typeface="Arial" pitchFamily="34" charset="0"/>
                <a:ea typeface="Arial" pitchFamily="34" charset="-122"/>
                <a:cs typeface="Arial" pitchFamily="34" charset="-120"/>
              </a:rPr>
              <a:t>Choose your dominant shape before you draw.</a:t>
            </a:r>
            <a:endParaRPr lang="en-US" sz="900" dirty="0"/>
          </a:p>
        </p:txBody>
      </p:sp>
      <p:pic>
        <p:nvPicPr>
          <p:cNvPr id="30" name="Picture 29">
            <a:extLst>
              <a:ext uri="{FF2B5EF4-FFF2-40B4-BE49-F238E27FC236}">
                <a16:creationId xmlns:a16="http://schemas.microsoft.com/office/drawing/2014/main" id="{200F6130-1B5A-50CD-EC02-086F7090289B}"/>
              </a:ext>
            </a:extLst>
          </p:cNvPr>
          <p:cNvPicPr>
            <a:picLocks noChangeAspect="1"/>
          </p:cNvPicPr>
          <p:nvPr/>
        </p:nvPicPr>
        <p:blipFill>
          <a:blip r:embed="rId5"/>
          <a:stretch>
            <a:fillRect/>
          </a:stretch>
        </p:blipFill>
        <p:spPr>
          <a:xfrm>
            <a:off x="5358384" y="848230"/>
            <a:ext cx="3493008" cy="331445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00B8B8"/>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80E0E0"/>
                </a:solidFill>
                <a:latin typeface="Oswald" pitchFamily="34" charset="0"/>
                <a:ea typeface="Oswald" pitchFamily="34" charset="-122"/>
                <a:cs typeface="Oswald" pitchFamily="34" charset="-120"/>
              </a:rPr>
              <a:t>HOW LINE AND SHAPE WORK TOGETHER</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80E0E0"/>
                </a:solidFill>
                <a:latin typeface="Oswald" pitchFamily="34" charset="0"/>
                <a:ea typeface="Oswald" pitchFamily="34" charset="-122"/>
                <a:cs typeface="Oswald" pitchFamily="34" charset="-120"/>
              </a:rPr>
              <a:t>CONTENT / 15 / 18</a:t>
            </a:r>
            <a:endParaRPr lang="en-US" sz="900" dirty="0"/>
          </a:p>
        </p:txBody>
      </p:sp>
      <p:sp>
        <p:nvSpPr>
          <p:cNvPr id="8" name="Shape 4"/>
          <p:cNvSpPr/>
          <p:nvPr/>
        </p:nvSpPr>
        <p:spPr>
          <a:xfrm>
            <a:off x="859536" y="699516"/>
            <a:ext cx="457017" cy="22860"/>
          </a:xfrm>
          <a:prstGeom prst="rect">
            <a:avLst/>
          </a:prstGeom>
          <a:solidFill>
            <a:srgbClr val="00B8B8"/>
          </a:solidFill>
          <a:ln/>
        </p:spPr>
        <p:txBody>
          <a:bodyPr/>
          <a:lstStyle/>
          <a:p>
            <a:endParaRPr lang="en-US"/>
          </a:p>
        </p:txBody>
      </p:sp>
      <p:sp>
        <p:nvSpPr>
          <p:cNvPr id="9" name="Shape 5"/>
          <p:cNvSpPr/>
          <p:nvPr/>
        </p:nvSpPr>
        <p:spPr>
          <a:xfrm>
            <a:off x="292608" y="905256"/>
            <a:ext cx="8558784" cy="752551"/>
          </a:xfrm>
          <a:prstGeom prst="rect">
            <a:avLst/>
          </a:prstGeom>
          <a:solidFill>
            <a:srgbClr val="00B8B8">
              <a:alpha val="6000"/>
            </a:srgbClr>
          </a:solidFill>
          <a:ln w="12700">
            <a:solidFill>
              <a:srgbClr val="054444"/>
            </a:solidFill>
            <a:prstDash val="solid"/>
          </a:ln>
        </p:spPr>
        <p:txBody>
          <a:bodyPr/>
          <a:lstStyle/>
          <a:p>
            <a:endParaRPr lang="en-US"/>
          </a:p>
        </p:txBody>
      </p:sp>
      <p:sp>
        <p:nvSpPr>
          <p:cNvPr id="10" name="Shape 6"/>
          <p:cNvSpPr/>
          <p:nvPr/>
        </p:nvSpPr>
        <p:spPr>
          <a:xfrm>
            <a:off x="292608" y="905256"/>
            <a:ext cx="45720" cy="752551"/>
          </a:xfrm>
          <a:prstGeom prst="rect">
            <a:avLst/>
          </a:prstGeom>
          <a:solidFill>
            <a:srgbClr val="00B8B8"/>
          </a:solidFill>
          <a:ln/>
        </p:spPr>
        <p:txBody>
          <a:bodyPr/>
          <a:lstStyle/>
          <a:p>
            <a:endParaRPr lang="en-US"/>
          </a:p>
        </p:txBody>
      </p:sp>
      <p:sp>
        <p:nvSpPr>
          <p:cNvPr id="11" name="Text 7"/>
          <p:cNvSpPr txBox="1"/>
          <p:nvPr/>
        </p:nvSpPr>
        <p:spPr>
          <a:xfrm>
            <a:off x="521208" y="1057961"/>
            <a:ext cx="8162849" cy="484632"/>
          </a:xfrm>
          <a:prstGeom prst="rect">
            <a:avLst/>
          </a:prstGeom>
          <a:noFill/>
          <a:ln/>
        </p:spPr>
        <p:txBody>
          <a:bodyPr wrap="square" lIns="0" tIns="0" rIns="0" bIns="0" rtlCol="0" anchor="t"/>
          <a:lstStyle/>
          <a:p>
            <a:pPr marL="0" indent="0">
              <a:lnSpc>
                <a:spcPct val="135000"/>
              </a:lnSpc>
              <a:buNone/>
            </a:pPr>
            <a:r>
              <a:rPr lang="en-US" sz="1200" dirty="0">
                <a:solidFill>
                  <a:srgbClr val="80E0E0"/>
                </a:solidFill>
                <a:latin typeface="Arial" pitchFamily="34" charset="0"/>
                <a:ea typeface="Arial" pitchFamily="34" charset="-122"/>
                <a:cs typeface="Arial" pitchFamily="34" charset="-120"/>
              </a:rPr>
              <a:t>Line and shape are not two separate topics. A shape is what a line becomes when it closes. Every character you know started as a shape decision.</a:t>
            </a:r>
            <a:endParaRPr lang="en-US" sz="1200" dirty="0"/>
          </a:p>
        </p:txBody>
      </p:sp>
      <p:sp>
        <p:nvSpPr>
          <p:cNvPr id="12" name="Shape 8"/>
          <p:cNvSpPr/>
          <p:nvPr/>
        </p:nvSpPr>
        <p:spPr>
          <a:xfrm>
            <a:off x="292608" y="1840687"/>
            <a:ext cx="2706624" cy="1426464"/>
          </a:xfrm>
          <a:prstGeom prst="rect">
            <a:avLst/>
          </a:prstGeom>
          <a:solidFill>
            <a:srgbClr val="00B8B8"/>
          </a:solidFill>
          <a:ln/>
        </p:spPr>
        <p:txBody>
          <a:bodyPr/>
          <a:lstStyle/>
          <a:p>
            <a:endParaRPr lang="en-US"/>
          </a:p>
        </p:txBody>
      </p:sp>
      <p:sp>
        <p:nvSpPr>
          <p:cNvPr id="13" name="Shape 9"/>
          <p:cNvSpPr/>
          <p:nvPr/>
        </p:nvSpPr>
        <p:spPr>
          <a:xfrm>
            <a:off x="307878" y="1855958"/>
            <a:ext cx="2676083" cy="213238"/>
          </a:xfrm>
          <a:prstGeom prst="rect">
            <a:avLst/>
          </a:prstGeom>
          <a:solidFill>
            <a:srgbClr val="094043"/>
          </a:solidFill>
          <a:ln/>
        </p:spPr>
        <p:txBody>
          <a:bodyPr/>
          <a:lstStyle/>
          <a:p>
            <a:endParaRPr lang="en-US"/>
          </a:p>
        </p:txBody>
      </p:sp>
      <p:sp>
        <p:nvSpPr>
          <p:cNvPr id="14" name="Shape 10"/>
          <p:cNvSpPr/>
          <p:nvPr/>
        </p:nvSpPr>
        <p:spPr>
          <a:xfrm>
            <a:off x="307878" y="2069196"/>
            <a:ext cx="2676083" cy="1182685"/>
          </a:xfrm>
          <a:prstGeom prst="rect">
            <a:avLst/>
          </a:prstGeom>
          <a:solidFill>
            <a:srgbClr val="041D1C"/>
          </a:solidFill>
          <a:ln/>
        </p:spPr>
        <p:txBody>
          <a:bodyPr/>
          <a:lstStyle/>
          <a:p>
            <a:endParaRPr lang="en-US"/>
          </a:p>
        </p:txBody>
      </p:sp>
      <p:sp>
        <p:nvSpPr>
          <p:cNvPr id="15" name="Text 11"/>
          <p:cNvSpPr txBox="1"/>
          <p:nvPr/>
        </p:nvSpPr>
        <p:spPr>
          <a:xfrm>
            <a:off x="475488" y="1962577"/>
            <a:ext cx="2340864" cy="274320"/>
          </a:xfrm>
          <a:prstGeom prst="rect">
            <a:avLst/>
          </a:prstGeom>
          <a:noFill/>
          <a:ln/>
        </p:spPr>
        <p:txBody>
          <a:bodyPr wrap="square" lIns="0" tIns="0" rIns="0" bIns="0" rtlCol="0" anchor="ctr"/>
          <a:lstStyle/>
          <a:p>
            <a:pPr marL="0" indent="0">
              <a:lnSpc>
                <a:spcPct val="105000"/>
              </a:lnSpc>
              <a:buNone/>
            </a:pPr>
            <a:r>
              <a:rPr lang="en-US" sz="1250" b="1" dirty="0">
                <a:solidFill>
                  <a:srgbClr val="80E0E0"/>
                </a:solidFill>
                <a:latin typeface="Arial" pitchFamily="34" charset="0"/>
                <a:ea typeface="Arial" pitchFamily="34" charset="-122"/>
                <a:cs typeface="Arial" pitchFamily="34" charset="-120"/>
              </a:rPr>
              <a:t>Line makes the edge</a:t>
            </a:r>
            <a:endParaRPr lang="en-US" sz="1250" dirty="0"/>
          </a:p>
        </p:txBody>
      </p:sp>
      <p:sp>
        <p:nvSpPr>
          <p:cNvPr id="16" name="Shape 12"/>
          <p:cNvSpPr/>
          <p:nvPr/>
        </p:nvSpPr>
        <p:spPr>
          <a:xfrm>
            <a:off x="475488" y="2264054"/>
            <a:ext cx="243779" cy="15270"/>
          </a:xfrm>
          <a:prstGeom prst="rect">
            <a:avLst/>
          </a:prstGeom>
          <a:solidFill>
            <a:srgbClr val="00B8B8"/>
          </a:solidFill>
          <a:ln/>
        </p:spPr>
        <p:txBody>
          <a:bodyPr/>
          <a:lstStyle/>
          <a:p>
            <a:endParaRPr lang="en-US"/>
          </a:p>
        </p:txBody>
      </p:sp>
      <p:sp>
        <p:nvSpPr>
          <p:cNvPr id="17" name="Text 13"/>
          <p:cNvSpPr txBox="1"/>
          <p:nvPr/>
        </p:nvSpPr>
        <p:spPr>
          <a:xfrm>
            <a:off x="475488" y="2373782"/>
            <a:ext cx="2340864" cy="813816"/>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The outline decides where the shape stops and the background starts.</a:t>
            </a:r>
            <a:endParaRPr lang="en-US" sz="1050" dirty="0"/>
          </a:p>
        </p:txBody>
      </p:sp>
      <p:sp>
        <p:nvSpPr>
          <p:cNvPr id="18" name="Shape 14"/>
          <p:cNvSpPr/>
          <p:nvPr/>
        </p:nvSpPr>
        <p:spPr>
          <a:xfrm>
            <a:off x="3218688" y="1840687"/>
            <a:ext cx="2706624" cy="1426464"/>
          </a:xfrm>
          <a:prstGeom prst="rect">
            <a:avLst/>
          </a:prstGeom>
          <a:solidFill>
            <a:srgbClr val="00B8B8"/>
          </a:solidFill>
          <a:ln/>
        </p:spPr>
        <p:txBody>
          <a:bodyPr/>
          <a:lstStyle/>
          <a:p>
            <a:endParaRPr lang="en-US"/>
          </a:p>
        </p:txBody>
      </p:sp>
      <p:sp>
        <p:nvSpPr>
          <p:cNvPr id="19" name="Shape 15"/>
          <p:cNvSpPr/>
          <p:nvPr/>
        </p:nvSpPr>
        <p:spPr>
          <a:xfrm>
            <a:off x="3233958" y="1855958"/>
            <a:ext cx="2676083" cy="213238"/>
          </a:xfrm>
          <a:prstGeom prst="rect">
            <a:avLst/>
          </a:prstGeom>
          <a:solidFill>
            <a:srgbClr val="094043"/>
          </a:solidFill>
          <a:ln/>
        </p:spPr>
        <p:txBody>
          <a:bodyPr/>
          <a:lstStyle/>
          <a:p>
            <a:endParaRPr lang="en-US"/>
          </a:p>
        </p:txBody>
      </p:sp>
      <p:sp>
        <p:nvSpPr>
          <p:cNvPr id="20" name="Shape 16"/>
          <p:cNvSpPr/>
          <p:nvPr/>
        </p:nvSpPr>
        <p:spPr>
          <a:xfrm>
            <a:off x="3233958" y="2069196"/>
            <a:ext cx="2676083" cy="1182685"/>
          </a:xfrm>
          <a:prstGeom prst="rect">
            <a:avLst/>
          </a:prstGeom>
          <a:solidFill>
            <a:srgbClr val="041D1C"/>
          </a:solidFill>
          <a:ln/>
        </p:spPr>
        <p:txBody>
          <a:bodyPr/>
          <a:lstStyle/>
          <a:p>
            <a:endParaRPr lang="en-US"/>
          </a:p>
        </p:txBody>
      </p:sp>
      <p:sp>
        <p:nvSpPr>
          <p:cNvPr id="21" name="Text 17"/>
          <p:cNvSpPr txBox="1"/>
          <p:nvPr/>
        </p:nvSpPr>
        <p:spPr>
          <a:xfrm>
            <a:off x="3401568" y="1962577"/>
            <a:ext cx="2340864" cy="274320"/>
          </a:xfrm>
          <a:prstGeom prst="rect">
            <a:avLst/>
          </a:prstGeom>
          <a:noFill/>
          <a:ln/>
        </p:spPr>
        <p:txBody>
          <a:bodyPr wrap="square" lIns="0" tIns="0" rIns="0" bIns="0" rtlCol="0" anchor="ctr"/>
          <a:lstStyle/>
          <a:p>
            <a:pPr marL="0" indent="0">
              <a:lnSpc>
                <a:spcPct val="105000"/>
              </a:lnSpc>
              <a:buNone/>
            </a:pPr>
            <a:r>
              <a:rPr lang="en-US" sz="1250" b="1" dirty="0">
                <a:solidFill>
                  <a:srgbClr val="80E0E0"/>
                </a:solidFill>
                <a:latin typeface="Arial" pitchFamily="34" charset="0"/>
                <a:ea typeface="Arial" pitchFamily="34" charset="-122"/>
                <a:cs typeface="Arial" pitchFamily="34" charset="-120"/>
              </a:rPr>
              <a:t>Shape makes the mass</a:t>
            </a:r>
            <a:endParaRPr lang="en-US" sz="1250" dirty="0"/>
          </a:p>
        </p:txBody>
      </p:sp>
      <p:sp>
        <p:nvSpPr>
          <p:cNvPr id="22" name="Shape 18"/>
          <p:cNvSpPr/>
          <p:nvPr/>
        </p:nvSpPr>
        <p:spPr>
          <a:xfrm>
            <a:off x="3401568" y="2264054"/>
            <a:ext cx="243779" cy="15270"/>
          </a:xfrm>
          <a:prstGeom prst="rect">
            <a:avLst/>
          </a:prstGeom>
          <a:solidFill>
            <a:srgbClr val="00B8B8"/>
          </a:solidFill>
          <a:ln/>
        </p:spPr>
        <p:txBody>
          <a:bodyPr/>
          <a:lstStyle/>
          <a:p>
            <a:endParaRPr lang="en-US"/>
          </a:p>
        </p:txBody>
      </p:sp>
      <p:sp>
        <p:nvSpPr>
          <p:cNvPr id="23" name="Text 19"/>
          <p:cNvSpPr txBox="1"/>
          <p:nvPr/>
        </p:nvSpPr>
        <p:spPr>
          <a:xfrm>
            <a:off x="3401568" y="2373782"/>
            <a:ext cx="2340864" cy="813816"/>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Filled area gives the design weight and presence on the page.</a:t>
            </a:r>
            <a:endParaRPr lang="en-US" sz="1050" dirty="0"/>
          </a:p>
        </p:txBody>
      </p:sp>
      <p:sp>
        <p:nvSpPr>
          <p:cNvPr id="24" name="Shape 20"/>
          <p:cNvSpPr/>
          <p:nvPr/>
        </p:nvSpPr>
        <p:spPr>
          <a:xfrm>
            <a:off x="6144768" y="1840687"/>
            <a:ext cx="2706624" cy="1426464"/>
          </a:xfrm>
          <a:prstGeom prst="rect">
            <a:avLst/>
          </a:prstGeom>
          <a:solidFill>
            <a:srgbClr val="00B8B8"/>
          </a:solidFill>
          <a:ln/>
        </p:spPr>
        <p:txBody>
          <a:bodyPr/>
          <a:lstStyle/>
          <a:p>
            <a:endParaRPr lang="en-US"/>
          </a:p>
        </p:txBody>
      </p:sp>
      <p:sp>
        <p:nvSpPr>
          <p:cNvPr id="25" name="Shape 21"/>
          <p:cNvSpPr/>
          <p:nvPr/>
        </p:nvSpPr>
        <p:spPr>
          <a:xfrm>
            <a:off x="6160038" y="1855958"/>
            <a:ext cx="2676083" cy="213238"/>
          </a:xfrm>
          <a:prstGeom prst="rect">
            <a:avLst/>
          </a:prstGeom>
          <a:solidFill>
            <a:srgbClr val="094043"/>
          </a:solidFill>
          <a:ln/>
        </p:spPr>
        <p:txBody>
          <a:bodyPr/>
          <a:lstStyle/>
          <a:p>
            <a:endParaRPr lang="en-US"/>
          </a:p>
        </p:txBody>
      </p:sp>
      <p:sp>
        <p:nvSpPr>
          <p:cNvPr id="26" name="Shape 22"/>
          <p:cNvSpPr/>
          <p:nvPr/>
        </p:nvSpPr>
        <p:spPr>
          <a:xfrm>
            <a:off x="6160038" y="2069196"/>
            <a:ext cx="2676083" cy="1182685"/>
          </a:xfrm>
          <a:prstGeom prst="rect">
            <a:avLst/>
          </a:prstGeom>
          <a:solidFill>
            <a:srgbClr val="041D1C"/>
          </a:solidFill>
          <a:ln/>
        </p:spPr>
        <p:txBody>
          <a:bodyPr/>
          <a:lstStyle/>
          <a:p>
            <a:endParaRPr lang="en-US"/>
          </a:p>
        </p:txBody>
      </p:sp>
      <p:sp>
        <p:nvSpPr>
          <p:cNvPr id="27" name="Text 23"/>
          <p:cNvSpPr txBox="1"/>
          <p:nvPr/>
        </p:nvSpPr>
        <p:spPr>
          <a:xfrm>
            <a:off x="6327648" y="1962577"/>
            <a:ext cx="2340864" cy="274320"/>
          </a:xfrm>
          <a:prstGeom prst="rect">
            <a:avLst/>
          </a:prstGeom>
          <a:noFill/>
          <a:ln/>
        </p:spPr>
        <p:txBody>
          <a:bodyPr wrap="square" lIns="0" tIns="0" rIns="0" bIns="0" rtlCol="0" anchor="ctr"/>
          <a:lstStyle/>
          <a:p>
            <a:pPr marL="0" indent="0">
              <a:lnSpc>
                <a:spcPct val="105000"/>
              </a:lnSpc>
              <a:buNone/>
            </a:pPr>
            <a:r>
              <a:rPr lang="en-US" sz="1250" b="1" dirty="0">
                <a:solidFill>
                  <a:srgbClr val="80E0E0"/>
                </a:solidFill>
                <a:latin typeface="Arial" pitchFamily="34" charset="0"/>
                <a:ea typeface="Arial" pitchFamily="34" charset="-122"/>
                <a:cs typeface="Arial" pitchFamily="34" charset="-120"/>
              </a:rPr>
              <a:t>Together they read</a:t>
            </a:r>
            <a:endParaRPr lang="en-US" sz="1250" dirty="0"/>
          </a:p>
        </p:txBody>
      </p:sp>
      <p:sp>
        <p:nvSpPr>
          <p:cNvPr id="28" name="Shape 24"/>
          <p:cNvSpPr/>
          <p:nvPr/>
        </p:nvSpPr>
        <p:spPr>
          <a:xfrm>
            <a:off x="6327648" y="2264054"/>
            <a:ext cx="243779" cy="15270"/>
          </a:xfrm>
          <a:prstGeom prst="rect">
            <a:avLst/>
          </a:prstGeom>
          <a:solidFill>
            <a:srgbClr val="00B8B8"/>
          </a:solidFill>
          <a:ln/>
        </p:spPr>
        <p:txBody>
          <a:bodyPr/>
          <a:lstStyle/>
          <a:p>
            <a:endParaRPr lang="en-US"/>
          </a:p>
        </p:txBody>
      </p:sp>
      <p:sp>
        <p:nvSpPr>
          <p:cNvPr id="29" name="Text 25"/>
          <p:cNvSpPr txBox="1"/>
          <p:nvPr/>
        </p:nvSpPr>
        <p:spPr>
          <a:xfrm>
            <a:off x="6327648" y="2373782"/>
            <a:ext cx="2340864" cy="813816"/>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Edge plus mass is how a viewer knows a character in silhouette.</a:t>
            </a:r>
            <a:endParaRPr lang="en-US" sz="1050" dirty="0"/>
          </a:p>
        </p:txBody>
      </p:sp>
      <p:sp>
        <p:nvSpPr>
          <p:cNvPr id="30" name="Shape 26"/>
          <p:cNvSpPr/>
          <p:nvPr/>
        </p:nvSpPr>
        <p:spPr>
          <a:xfrm>
            <a:off x="292608" y="4197096"/>
            <a:ext cx="8558784" cy="521208"/>
          </a:xfrm>
          <a:prstGeom prst="rect">
            <a:avLst/>
          </a:prstGeom>
          <a:solidFill>
            <a:srgbClr val="00B8B8">
              <a:alpha val="6000"/>
            </a:srgbClr>
          </a:solidFill>
          <a:ln w="12700">
            <a:solidFill>
              <a:srgbClr val="054444"/>
            </a:solidFill>
            <a:prstDash val="solid"/>
          </a:ln>
        </p:spPr>
        <p:txBody>
          <a:bodyPr/>
          <a:lstStyle/>
          <a:p>
            <a:endParaRPr lang="en-US"/>
          </a:p>
        </p:txBody>
      </p:sp>
      <p:sp>
        <p:nvSpPr>
          <p:cNvPr id="31" name="Shape 27"/>
          <p:cNvSpPr/>
          <p:nvPr/>
        </p:nvSpPr>
        <p:spPr>
          <a:xfrm>
            <a:off x="292608" y="4197096"/>
            <a:ext cx="45720" cy="521208"/>
          </a:xfrm>
          <a:prstGeom prst="rect">
            <a:avLst/>
          </a:prstGeom>
          <a:solidFill>
            <a:srgbClr val="00B8B8"/>
          </a:solidFill>
          <a:ln/>
        </p:spPr>
        <p:txBody>
          <a:bodyPr/>
          <a:lstStyle/>
          <a:p>
            <a:endParaRPr lang="en-US"/>
          </a:p>
        </p:txBody>
      </p:sp>
      <p:sp>
        <p:nvSpPr>
          <p:cNvPr id="32" name="Text 28"/>
          <p:cNvSpPr txBox="1"/>
          <p:nvPr/>
        </p:nvSpPr>
        <p:spPr>
          <a:xfrm>
            <a:off x="521208" y="4349801"/>
            <a:ext cx="8162849" cy="253289"/>
          </a:xfrm>
          <a:prstGeom prst="rect">
            <a:avLst/>
          </a:prstGeom>
          <a:noFill/>
          <a:ln/>
        </p:spPr>
        <p:txBody>
          <a:bodyPr wrap="square" lIns="0" tIns="0" rIns="0" bIns="0" rtlCol="0" anchor="t"/>
          <a:lstStyle/>
          <a:p>
            <a:pPr marL="0" indent="0">
              <a:lnSpc>
                <a:spcPct val="135000"/>
              </a:lnSpc>
              <a:buNone/>
            </a:pPr>
            <a:r>
              <a:rPr lang="en-US" sz="1050" dirty="0">
                <a:solidFill>
                  <a:srgbClr val="FFFFFF"/>
                </a:solidFill>
                <a:latin typeface="Arial" pitchFamily="34" charset="0"/>
                <a:ea typeface="Arial" pitchFamily="34" charset="-122"/>
                <a:cs typeface="Arial" pitchFamily="34" charset="-120"/>
              </a:rPr>
              <a:t>Fill your character in solid black. If you can still tell who it is, your silhouette is working.</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00C2FF"/>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7DD3FC"/>
                </a:solidFill>
                <a:latin typeface="Oswald" pitchFamily="34" charset="0"/>
                <a:ea typeface="Oswald" pitchFamily="34" charset="-122"/>
                <a:cs typeface="Oswald" pitchFamily="34" charset="-120"/>
              </a:rPr>
              <a:t>CHECK YOURSELF</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7DD3FC"/>
                </a:solidFill>
                <a:latin typeface="Oswald" pitchFamily="34" charset="0"/>
                <a:ea typeface="Oswald" pitchFamily="34" charset="-122"/>
                <a:cs typeface="Oswald" pitchFamily="34" charset="-120"/>
              </a:rPr>
              <a:t>STUDY / 16 / 18</a:t>
            </a:r>
            <a:endParaRPr lang="en-US" sz="900" dirty="0"/>
          </a:p>
        </p:txBody>
      </p:sp>
      <p:sp>
        <p:nvSpPr>
          <p:cNvPr id="8" name="Shape 4"/>
          <p:cNvSpPr/>
          <p:nvPr/>
        </p:nvSpPr>
        <p:spPr>
          <a:xfrm>
            <a:off x="859536" y="699516"/>
            <a:ext cx="457017" cy="22860"/>
          </a:xfrm>
          <a:prstGeom prst="rect">
            <a:avLst/>
          </a:prstGeom>
          <a:solidFill>
            <a:srgbClr val="00C2FF"/>
          </a:solidFill>
          <a:ln/>
        </p:spPr>
        <p:txBody>
          <a:bodyPr/>
          <a:lstStyle/>
          <a:p>
            <a:endParaRPr lang="en-US"/>
          </a:p>
        </p:txBody>
      </p:sp>
      <p:sp>
        <p:nvSpPr>
          <p:cNvPr id="9" name="Shape 5"/>
          <p:cNvSpPr/>
          <p:nvPr/>
        </p:nvSpPr>
        <p:spPr>
          <a:xfrm>
            <a:off x="292608" y="923544"/>
            <a:ext cx="310896" cy="310896"/>
          </a:xfrm>
          <a:prstGeom prst="rect">
            <a:avLst/>
          </a:prstGeom>
          <a:solidFill>
            <a:srgbClr val="00C2FF"/>
          </a:solidFill>
          <a:ln/>
        </p:spPr>
        <p:txBody>
          <a:bodyPr/>
          <a:lstStyle/>
          <a:p>
            <a:endParaRPr lang="en-US"/>
          </a:p>
        </p:txBody>
      </p:sp>
      <p:sp>
        <p:nvSpPr>
          <p:cNvPr id="10" name="Text 6"/>
          <p:cNvSpPr txBox="1"/>
          <p:nvPr/>
        </p:nvSpPr>
        <p:spPr>
          <a:xfrm>
            <a:off x="292608" y="923544"/>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01</a:t>
            </a:r>
            <a:endParaRPr lang="en-US" sz="1100" dirty="0"/>
          </a:p>
        </p:txBody>
      </p:sp>
      <p:sp>
        <p:nvSpPr>
          <p:cNvPr id="11" name="Text 7"/>
          <p:cNvSpPr txBox="1"/>
          <p:nvPr/>
        </p:nvSpPr>
        <p:spPr>
          <a:xfrm>
            <a:off x="768096" y="905256"/>
            <a:ext cx="8083296"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7DD3FC"/>
                </a:solidFill>
                <a:latin typeface="Oswald" pitchFamily="34" charset="0"/>
                <a:ea typeface="Oswald" pitchFamily="34" charset="-122"/>
                <a:cs typeface="Oswald" pitchFamily="34" charset="-120"/>
              </a:rPr>
              <a:t>NAME THE FIVE TYPES OF LINE AND THE FEELING EACH ONE GIVES.</a:t>
            </a:r>
            <a:endParaRPr lang="en-US" sz="1250" dirty="0"/>
          </a:p>
        </p:txBody>
      </p:sp>
      <p:sp>
        <p:nvSpPr>
          <p:cNvPr id="12" name="Shape 8"/>
          <p:cNvSpPr/>
          <p:nvPr/>
        </p:nvSpPr>
        <p:spPr>
          <a:xfrm>
            <a:off x="292608" y="1517904"/>
            <a:ext cx="310896" cy="310896"/>
          </a:xfrm>
          <a:prstGeom prst="rect">
            <a:avLst/>
          </a:prstGeom>
          <a:solidFill>
            <a:srgbClr val="00C2FF"/>
          </a:solidFill>
          <a:ln/>
        </p:spPr>
        <p:txBody>
          <a:bodyPr/>
          <a:lstStyle/>
          <a:p>
            <a:endParaRPr lang="en-US"/>
          </a:p>
        </p:txBody>
      </p:sp>
      <p:sp>
        <p:nvSpPr>
          <p:cNvPr id="13" name="Text 9"/>
          <p:cNvSpPr txBox="1"/>
          <p:nvPr/>
        </p:nvSpPr>
        <p:spPr>
          <a:xfrm>
            <a:off x="292608" y="1517904"/>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02</a:t>
            </a:r>
            <a:endParaRPr lang="en-US" sz="1100" dirty="0"/>
          </a:p>
        </p:txBody>
      </p:sp>
      <p:sp>
        <p:nvSpPr>
          <p:cNvPr id="14" name="Text 10"/>
          <p:cNvSpPr txBox="1"/>
          <p:nvPr/>
        </p:nvSpPr>
        <p:spPr>
          <a:xfrm>
            <a:off x="768096" y="1499616"/>
            <a:ext cx="8083296"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7DD3FC"/>
                </a:solidFill>
                <a:latin typeface="Oswald" pitchFamily="34" charset="0"/>
                <a:ea typeface="Oswald" pitchFamily="34" charset="-122"/>
                <a:cs typeface="Oswald" pitchFamily="34" charset="-120"/>
              </a:rPr>
              <a:t>WHAT IS THE DIFFERENCE BETWEEN A SHAPE AND A FORM?</a:t>
            </a:r>
            <a:endParaRPr lang="en-US" sz="1250" dirty="0"/>
          </a:p>
        </p:txBody>
      </p:sp>
      <p:sp>
        <p:nvSpPr>
          <p:cNvPr id="15" name="Shape 11"/>
          <p:cNvSpPr/>
          <p:nvPr/>
        </p:nvSpPr>
        <p:spPr>
          <a:xfrm>
            <a:off x="292608" y="2112264"/>
            <a:ext cx="310896" cy="310896"/>
          </a:xfrm>
          <a:prstGeom prst="rect">
            <a:avLst/>
          </a:prstGeom>
          <a:solidFill>
            <a:srgbClr val="00C2FF"/>
          </a:solidFill>
          <a:ln/>
        </p:spPr>
        <p:txBody>
          <a:bodyPr/>
          <a:lstStyle/>
          <a:p>
            <a:endParaRPr lang="en-US"/>
          </a:p>
        </p:txBody>
      </p:sp>
      <p:sp>
        <p:nvSpPr>
          <p:cNvPr id="16" name="Text 12"/>
          <p:cNvSpPr txBox="1"/>
          <p:nvPr/>
        </p:nvSpPr>
        <p:spPr>
          <a:xfrm>
            <a:off x="292608" y="2112264"/>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03</a:t>
            </a:r>
            <a:endParaRPr lang="en-US" sz="1100" dirty="0"/>
          </a:p>
        </p:txBody>
      </p:sp>
      <p:sp>
        <p:nvSpPr>
          <p:cNvPr id="17" name="Text 13"/>
          <p:cNvSpPr txBox="1"/>
          <p:nvPr/>
        </p:nvSpPr>
        <p:spPr>
          <a:xfrm>
            <a:off x="768096" y="2093976"/>
            <a:ext cx="8083296"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7DD3FC"/>
                </a:solidFill>
                <a:latin typeface="Oswald" pitchFamily="34" charset="0"/>
                <a:ea typeface="Oswald" pitchFamily="34" charset="-122"/>
                <a:cs typeface="Oswald" pitchFamily="34" charset="-120"/>
              </a:rPr>
              <a:t>IS A MAPLE LEAF GEOMETRIC OR ORGANIC? HOW DO YOU KNOW?</a:t>
            </a:r>
            <a:endParaRPr lang="en-US" sz="1250" dirty="0"/>
          </a:p>
        </p:txBody>
      </p:sp>
      <p:sp>
        <p:nvSpPr>
          <p:cNvPr id="18" name="Shape 14"/>
          <p:cNvSpPr/>
          <p:nvPr/>
        </p:nvSpPr>
        <p:spPr>
          <a:xfrm>
            <a:off x="292608" y="2706624"/>
            <a:ext cx="310896" cy="310896"/>
          </a:xfrm>
          <a:prstGeom prst="rect">
            <a:avLst/>
          </a:prstGeom>
          <a:solidFill>
            <a:srgbClr val="00C2FF"/>
          </a:solidFill>
          <a:ln/>
        </p:spPr>
        <p:txBody>
          <a:bodyPr/>
          <a:lstStyle/>
          <a:p>
            <a:endParaRPr lang="en-US"/>
          </a:p>
        </p:txBody>
      </p:sp>
      <p:sp>
        <p:nvSpPr>
          <p:cNvPr id="19" name="Text 15"/>
          <p:cNvSpPr txBox="1"/>
          <p:nvPr/>
        </p:nvSpPr>
        <p:spPr>
          <a:xfrm>
            <a:off x="292608" y="2706624"/>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04</a:t>
            </a:r>
            <a:endParaRPr lang="en-US" sz="1100" dirty="0"/>
          </a:p>
        </p:txBody>
      </p:sp>
      <p:sp>
        <p:nvSpPr>
          <p:cNvPr id="20" name="Text 16"/>
          <p:cNvSpPr txBox="1"/>
          <p:nvPr/>
        </p:nvSpPr>
        <p:spPr>
          <a:xfrm>
            <a:off x="768096" y="2688336"/>
            <a:ext cx="8083296"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7DD3FC"/>
                </a:solidFill>
                <a:latin typeface="Oswald" pitchFamily="34" charset="0"/>
                <a:ea typeface="Oswald" pitchFamily="34" charset="-122"/>
                <a:cs typeface="Oswald" pitchFamily="34" charset="-120"/>
              </a:rPr>
              <a:t>WHAT IS NEGATIVE SPACE, AND WHY IS IT PART OF THE DESIGN?</a:t>
            </a:r>
            <a:endParaRPr lang="en-US" sz="1250" dirty="0"/>
          </a:p>
        </p:txBody>
      </p:sp>
      <p:sp>
        <p:nvSpPr>
          <p:cNvPr id="21" name="Shape 17"/>
          <p:cNvSpPr/>
          <p:nvPr/>
        </p:nvSpPr>
        <p:spPr>
          <a:xfrm>
            <a:off x="292608" y="3300984"/>
            <a:ext cx="310896" cy="310896"/>
          </a:xfrm>
          <a:prstGeom prst="rect">
            <a:avLst/>
          </a:prstGeom>
          <a:solidFill>
            <a:srgbClr val="00C2FF"/>
          </a:solidFill>
          <a:ln/>
        </p:spPr>
        <p:txBody>
          <a:bodyPr/>
          <a:lstStyle/>
          <a:p>
            <a:endParaRPr lang="en-US"/>
          </a:p>
        </p:txBody>
      </p:sp>
      <p:sp>
        <p:nvSpPr>
          <p:cNvPr id="22" name="Text 18"/>
          <p:cNvSpPr txBox="1"/>
          <p:nvPr/>
        </p:nvSpPr>
        <p:spPr>
          <a:xfrm>
            <a:off x="292608" y="3300984"/>
            <a:ext cx="310896" cy="310896"/>
          </a:xfrm>
          <a:prstGeom prst="rect">
            <a:avLst/>
          </a:prstGeom>
          <a:noFill/>
          <a:ln/>
        </p:spPr>
        <p:txBody>
          <a:bodyPr wrap="square" lIns="0" tIns="0" rIns="0" bIns="0" rtlCol="0" anchor="ctr"/>
          <a:lstStyle/>
          <a:p>
            <a:pPr marL="0" indent="0" algn="ctr">
              <a:lnSpc>
                <a:spcPct val="100000"/>
              </a:lnSpc>
              <a:buNone/>
            </a:pPr>
            <a:r>
              <a:rPr lang="en-US" sz="1100" b="1" kern="0" spc="20" dirty="0">
                <a:solidFill>
                  <a:srgbClr val="080808"/>
                </a:solidFill>
                <a:latin typeface="Oswald" pitchFamily="34" charset="0"/>
                <a:ea typeface="Oswald" pitchFamily="34" charset="-122"/>
                <a:cs typeface="Oswald" pitchFamily="34" charset="-120"/>
              </a:rPr>
              <a:t>05</a:t>
            </a:r>
            <a:endParaRPr lang="en-US" sz="1100" dirty="0"/>
          </a:p>
        </p:txBody>
      </p:sp>
      <p:sp>
        <p:nvSpPr>
          <p:cNvPr id="23" name="Text 19"/>
          <p:cNvSpPr txBox="1"/>
          <p:nvPr/>
        </p:nvSpPr>
        <p:spPr>
          <a:xfrm>
            <a:off x="768096" y="3282696"/>
            <a:ext cx="8083296" cy="256032"/>
          </a:xfrm>
          <a:prstGeom prst="rect">
            <a:avLst/>
          </a:prstGeom>
          <a:noFill/>
          <a:ln/>
        </p:spPr>
        <p:txBody>
          <a:bodyPr wrap="square" lIns="0" tIns="0" rIns="0" bIns="0" rtlCol="0" anchor="ctr"/>
          <a:lstStyle/>
          <a:p>
            <a:pPr marL="0" indent="0">
              <a:lnSpc>
                <a:spcPct val="105000"/>
              </a:lnSpc>
              <a:buNone/>
            </a:pPr>
            <a:r>
              <a:rPr lang="en-US" sz="1250" b="1" kern="0" spc="35" dirty="0">
                <a:solidFill>
                  <a:srgbClr val="7DD3FC"/>
                </a:solidFill>
                <a:latin typeface="Oswald" pitchFamily="34" charset="0"/>
                <a:ea typeface="Oswald" pitchFamily="34" charset="-122"/>
                <a:cs typeface="Oswald" pitchFamily="34" charset="-120"/>
              </a:rPr>
              <a:t>WHAT SHAPE WOULD YOU BUILD A VILLAIN FROM, AND WHY?</a:t>
            </a:r>
            <a:endParaRPr lang="en-US" sz="1250" dirty="0"/>
          </a:p>
        </p:txBody>
      </p:sp>
      <p:sp>
        <p:nvSpPr>
          <p:cNvPr id="24" name="Shape 20"/>
          <p:cNvSpPr/>
          <p:nvPr/>
        </p:nvSpPr>
        <p:spPr>
          <a:xfrm>
            <a:off x="292608" y="4197096"/>
            <a:ext cx="8558784" cy="521208"/>
          </a:xfrm>
          <a:prstGeom prst="rect">
            <a:avLst/>
          </a:prstGeom>
          <a:solidFill>
            <a:srgbClr val="00C2FF">
              <a:alpha val="6000"/>
            </a:srgbClr>
          </a:solidFill>
          <a:ln w="12700">
            <a:solidFill>
              <a:srgbClr val="05475C"/>
            </a:solidFill>
            <a:prstDash val="solid"/>
          </a:ln>
        </p:spPr>
        <p:txBody>
          <a:bodyPr/>
          <a:lstStyle/>
          <a:p>
            <a:endParaRPr lang="en-US"/>
          </a:p>
        </p:txBody>
      </p:sp>
      <p:sp>
        <p:nvSpPr>
          <p:cNvPr id="25" name="Shape 21"/>
          <p:cNvSpPr/>
          <p:nvPr/>
        </p:nvSpPr>
        <p:spPr>
          <a:xfrm>
            <a:off x="292608" y="4197096"/>
            <a:ext cx="45720" cy="521208"/>
          </a:xfrm>
          <a:prstGeom prst="rect">
            <a:avLst/>
          </a:prstGeom>
          <a:solidFill>
            <a:srgbClr val="00C2FF"/>
          </a:solidFill>
          <a:ln/>
        </p:spPr>
        <p:txBody>
          <a:bodyPr/>
          <a:lstStyle/>
          <a:p>
            <a:endParaRPr lang="en-US"/>
          </a:p>
        </p:txBody>
      </p:sp>
      <p:sp>
        <p:nvSpPr>
          <p:cNvPr id="26" name="Text 22"/>
          <p:cNvSpPr txBox="1"/>
          <p:nvPr/>
        </p:nvSpPr>
        <p:spPr>
          <a:xfrm>
            <a:off x="521208" y="4349801"/>
            <a:ext cx="8162849" cy="253289"/>
          </a:xfrm>
          <a:prstGeom prst="rect">
            <a:avLst/>
          </a:prstGeom>
          <a:noFill/>
          <a:ln/>
        </p:spPr>
        <p:txBody>
          <a:bodyPr wrap="square" lIns="0" tIns="0" rIns="0" bIns="0" rtlCol="0" anchor="t"/>
          <a:lstStyle/>
          <a:p>
            <a:pPr marL="0" indent="0">
              <a:lnSpc>
                <a:spcPct val="135000"/>
              </a:lnSpc>
              <a:buNone/>
            </a:pPr>
            <a:r>
              <a:rPr lang="en-US" sz="1050" dirty="0">
                <a:solidFill>
                  <a:srgbClr val="FFFFFF"/>
                </a:solidFill>
                <a:latin typeface="Arial" pitchFamily="34" charset="0"/>
                <a:ea typeface="Arial" pitchFamily="34" charset="-122"/>
                <a:cs typeface="Arial" pitchFamily="34" charset="-120"/>
              </a:rPr>
              <a:t>Say all five answers out loud with a partner before you start sketching.</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00C2FF"/>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7DD3FC"/>
                </a:solidFill>
                <a:latin typeface="Oswald" pitchFamily="34" charset="0"/>
                <a:ea typeface="Oswald" pitchFamily="34" charset="-122"/>
                <a:cs typeface="Oswald" pitchFamily="34" charset="-120"/>
              </a:rPr>
              <a:t>WHAT YOU KNOW NOW</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7DD3FC"/>
                </a:solidFill>
                <a:latin typeface="Oswald" pitchFamily="34" charset="0"/>
                <a:ea typeface="Oswald" pitchFamily="34" charset="-122"/>
                <a:cs typeface="Oswald" pitchFamily="34" charset="-120"/>
              </a:rPr>
              <a:t>RECAP / 17 / 18</a:t>
            </a:r>
            <a:endParaRPr lang="en-US" sz="900" dirty="0"/>
          </a:p>
        </p:txBody>
      </p:sp>
      <p:sp>
        <p:nvSpPr>
          <p:cNvPr id="8" name="Shape 4"/>
          <p:cNvSpPr/>
          <p:nvPr/>
        </p:nvSpPr>
        <p:spPr>
          <a:xfrm>
            <a:off x="859536" y="699516"/>
            <a:ext cx="457017" cy="22860"/>
          </a:xfrm>
          <a:prstGeom prst="rect">
            <a:avLst/>
          </a:prstGeom>
          <a:solidFill>
            <a:srgbClr val="00C2FF"/>
          </a:solidFill>
          <a:ln/>
        </p:spPr>
        <p:txBody>
          <a:bodyPr/>
          <a:lstStyle/>
          <a:p>
            <a:endParaRPr lang="en-US"/>
          </a:p>
        </p:txBody>
      </p:sp>
      <p:sp>
        <p:nvSpPr>
          <p:cNvPr id="9" name="Shape 5"/>
          <p:cNvSpPr/>
          <p:nvPr/>
        </p:nvSpPr>
        <p:spPr>
          <a:xfrm>
            <a:off x="292608" y="905256"/>
            <a:ext cx="4133088" cy="1261872"/>
          </a:xfrm>
          <a:prstGeom prst="rect">
            <a:avLst/>
          </a:prstGeom>
          <a:solidFill>
            <a:srgbClr val="00C2FF"/>
          </a:solidFill>
          <a:ln/>
        </p:spPr>
        <p:txBody>
          <a:bodyPr/>
          <a:lstStyle/>
          <a:p>
            <a:endParaRPr lang="en-US"/>
          </a:p>
        </p:txBody>
      </p:sp>
      <p:sp>
        <p:nvSpPr>
          <p:cNvPr id="10" name="Shape 6"/>
          <p:cNvSpPr/>
          <p:nvPr/>
        </p:nvSpPr>
        <p:spPr>
          <a:xfrm>
            <a:off x="307878" y="920526"/>
            <a:ext cx="4102547" cy="213238"/>
          </a:xfrm>
          <a:prstGeom prst="rect">
            <a:avLst/>
          </a:prstGeom>
          <a:solidFill>
            <a:srgbClr val="0A2A3A"/>
          </a:solidFill>
          <a:ln/>
        </p:spPr>
        <p:txBody>
          <a:bodyPr/>
          <a:lstStyle/>
          <a:p>
            <a:endParaRPr lang="en-US"/>
          </a:p>
        </p:txBody>
      </p:sp>
      <p:sp>
        <p:nvSpPr>
          <p:cNvPr id="11" name="Shape 7"/>
          <p:cNvSpPr/>
          <p:nvPr/>
        </p:nvSpPr>
        <p:spPr>
          <a:xfrm>
            <a:off x="307878" y="1133765"/>
            <a:ext cx="4102547" cy="1018093"/>
          </a:xfrm>
          <a:prstGeom prst="rect">
            <a:avLst/>
          </a:prstGeom>
          <a:solidFill>
            <a:srgbClr val="04161D"/>
          </a:solidFill>
          <a:ln/>
        </p:spPr>
        <p:txBody>
          <a:bodyPr/>
          <a:lstStyle/>
          <a:p>
            <a:endParaRPr lang="en-US"/>
          </a:p>
        </p:txBody>
      </p:sp>
      <p:sp>
        <p:nvSpPr>
          <p:cNvPr id="12" name="Text 8"/>
          <p:cNvSpPr txBox="1"/>
          <p:nvPr/>
        </p:nvSpPr>
        <p:spPr>
          <a:xfrm>
            <a:off x="475488" y="1027146"/>
            <a:ext cx="3767328" cy="274320"/>
          </a:xfrm>
          <a:prstGeom prst="rect">
            <a:avLst/>
          </a:prstGeom>
          <a:noFill/>
          <a:ln/>
        </p:spPr>
        <p:txBody>
          <a:bodyPr wrap="square" lIns="0" tIns="0" rIns="0" bIns="0" rtlCol="0" anchor="ctr"/>
          <a:lstStyle/>
          <a:p>
            <a:pPr marL="0" indent="0">
              <a:lnSpc>
                <a:spcPct val="105000"/>
              </a:lnSpc>
              <a:buNone/>
            </a:pPr>
            <a:r>
              <a:rPr lang="en-US" sz="1150" b="1" dirty="0">
                <a:solidFill>
                  <a:srgbClr val="7DD3FC"/>
                </a:solidFill>
                <a:latin typeface="Arial" pitchFamily="34" charset="0"/>
                <a:ea typeface="Arial" pitchFamily="34" charset="-122"/>
                <a:cs typeface="Arial" pitchFamily="34" charset="-120"/>
              </a:rPr>
              <a:t>Line is a traveling mark</a:t>
            </a:r>
            <a:endParaRPr lang="en-US" sz="1150" dirty="0"/>
          </a:p>
        </p:txBody>
      </p:sp>
      <p:sp>
        <p:nvSpPr>
          <p:cNvPr id="13" name="Shape 9"/>
          <p:cNvSpPr/>
          <p:nvPr/>
        </p:nvSpPr>
        <p:spPr>
          <a:xfrm>
            <a:off x="475488" y="1328623"/>
            <a:ext cx="243779" cy="15270"/>
          </a:xfrm>
          <a:prstGeom prst="rect">
            <a:avLst/>
          </a:prstGeom>
          <a:solidFill>
            <a:srgbClr val="00C2FF"/>
          </a:solidFill>
          <a:ln/>
        </p:spPr>
        <p:txBody>
          <a:bodyPr/>
          <a:lstStyle/>
          <a:p>
            <a:endParaRPr lang="en-US"/>
          </a:p>
        </p:txBody>
      </p:sp>
      <p:sp>
        <p:nvSpPr>
          <p:cNvPr id="14" name="Text 10"/>
          <p:cNvSpPr txBox="1"/>
          <p:nvPr/>
        </p:nvSpPr>
        <p:spPr>
          <a:xfrm>
            <a:off x="475488" y="1438351"/>
            <a:ext cx="3767328" cy="649224"/>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It has direction, weight, and quality. It can be implied.</a:t>
            </a:r>
            <a:endParaRPr lang="en-US" sz="1050" dirty="0"/>
          </a:p>
        </p:txBody>
      </p:sp>
      <p:sp>
        <p:nvSpPr>
          <p:cNvPr id="15" name="Shape 11"/>
          <p:cNvSpPr/>
          <p:nvPr/>
        </p:nvSpPr>
        <p:spPr>
          <a:xfrm>
            <a:off x="4718304" y="905256"/>
            <a:ext cx="4133088" cy="1261872"/>
          </a:xfrm>
          <a:prstGeom prst="rect">
            <a:avLst/>
          </a:prstGeom>
          <a:solidFill>
            <a:srgbClr val="00C2FF"/>
          </a:solidFill>
          <a:ln/>
        </p:spPr>
        <p:txBody>
          <a:bodyPr/>
          <a:lstStyle/>
          <a:p>
            <a:endParaRPr lang="en-US"/>
          </a:p>
        </p:txBody>
      </p:sp>
      <p:sp>
        <p:nvSpPr>
          <p:cNvPr id="16" name="Shape 12"/>
          <p:cNvSpPr/>
          <p:nvPr/>
        </p:nvSpPr>
        <p:spPr>
          <a:xfrm>
            <a:off x="4733574" y="920526"/>
            <a:ext cx="4102547" cy="213238"/>
          </a:xfrm>
          <a:prstGeom prst="rect">
            <a:avLst/>
          </a:prstGeom>
          <a:solidFill>
            <a:srgbClr val="0A2A3A"/>
          </a:solidFill>
          <a:ln/>
        </p:spPr>
        <p:txBody>
          <a:bodyPr/>
          <a:lstStyle/>
          <a:p>
            <a:endParaRPr lang="en-US"/>
          </a:p>
        </p:txBody>
      </p:sp>
      <p:sp>
        <p:nvSpPr>
          <p:cNvPr id="17" name="Shape 13"/>
          <p:cNvSpPr/>
          <p:nvPr/>
        </p:nvSpPr>
        <p:spPr>
          <a:xfrm>
            <a:off x="4733574" y="1133765"/>
            <a:ext cx="4102547" cy="1018093"/>
          </a:xfrm>
          <a:prstGeom prst="rect">
            <a:avLst/>
          </a:prstGeom>
          <a:solidFill>
            <a:srgbClr val="04161D"/>
          </a:solidFill>
          <a:ln/>
        </p:spPr>
        <p:txBody>
          <a:bodyPr/>
          <a:lstStyle/>
          <a:p>
            <a:endParaRPr lang="en-US"/>
          </a:p>
        </p:txBody>
      </p:sp>
      <p:sp>
        <p:nvSpPr>
          <p:cNvPr id="18" name="Text 14"/>
          <p:cNvSpPr txBox="1"/>
          <p:nvPr/>
        </p:nvSpPr>
        <p:spPr>
          <a:xfrm>
            <a:off x="4901184" y="1027146"/>
            <a:ext cx="3767328" cy="274320"/>
          </a:xfrm>
          <a:prstGeom prst="rect">
            <a:avLst/>
          </a:prstGeom>
          <a:noFill/>
          <a:ln/>
        </p:spPr>
        <p:txBody>
          <a:bodyPr wrap="square" lIns="0" tIns="0" rIns="0" bIns="0" rtlCol="0" anchor="ctr"/>
          <a:lstStyle/>
          <a:p>
            <a:pPr marL="0" indent="0">
              <a:lnSpc>
                <a:spcPct val="105000"/>
              </a:lnSpc>
              <a:buNone/>
            </a:pPr>
            <a:r>
              <a:rPr lang="en-US" sz="1150" b="1" dirty="0">
                <a:solidFill>
                  <a:srgbClr val="7DD3FC"/>
                </a:solidFill>
                <a:latin typeface="Arial" pitchFamily="34" charset="0"/>
                <a:ea typeface="Arial" pitchFamily="34" charset="-122"/>
                <a:cs typeface="Arial" pitchFamily="34" charset="-120"/>
              </a:rPr>
              <a:t>Five types of line</a:t>
            </a:r>
            <a:endParaRPr lang="en-US" sz="1150" dirty="0"/>
          </a:p>
        </p:txBody>
      </p:sp>
      <p:sp>
        <p:nvSpPr>
          <p:cNvPr id="19" name="Shape 15"/>
          <p:cNvSpPr/>
          <p:nvPr/>
        </p:nvSpPr>
        <p:spPr>
          <a:xfrm>
            <a:off x="4901184" y="1328623"/>
            <a:ext cx="243779" cy="15270"/>
          </a:xfrm>
          <a:prstGeom prst="rect">
            <a:avLst/>
          </a:prstGeom>
          <a:solidFill>
            <a:srgbClr val="00C2FF"/>
          </a:solidFill>
          <a:ln/>
        </p:spPr>
        <p:txBody>
          <a:bodyPr/>
          <a:lstStyle/>
          <a:p>
            <a:endParaRPr lang="en-US"/>
          </a:p>
        </p:txBody>
      </p:sp>
      <p:sp>
        <p:nvSpPr>
          <p:cNvPr id="20" name="Text 16"/>
          <p:cNvSpPr txBox="1"/>
          <p:nvPr/>
        </p:nvSpPr>
        <p:spPr>
          <a:xfrm>
            <a:off x="4901184" y="1438351"/>
            <a:ext cx="3767328" cy="649224"/>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Horizontal, vertical, diagonal, curved, and zigzag.</a:t>
            </a:r>
            <a:endParaRPr lang="en-US" sz="1050" dirty="0"/>
          </a:p>
        </p:txBody>
      </p:sp>
      <p:sp>
        <p:nvSpPr>
          <p:cNvPr id="21" name="Shape 17"/>
          <p:cNvSpPr/>
          <p:nvPr/>
        </p:nvSpPr>
        <p:spPr>
          <a:xfrm>
            <a:off x="292608" y="2350008"/>
            <a:ext cx="4133088" cy="1261872"/>
          </a:xfrm>
          <a:prstGeom prst="rect">
            <a:avLst/>
          </a:prstGeom>
          <a:solidFill>
            <a:srgbClr val="00C2FF"/>
          </a:solidFill>
          <a:ln/>
        </p:spPr>
        <p:txBody>
          <a:bodyPr/>
          <a:lstStyle/>
          <a:p>
            <a:endParaRPr lang="en-US"/>
          </a:p>
        </p:txBody>
      </p:sp>
      <p:sp>
        <p:nvSpPr>
          <p:cNvPr id="22" name="Shape 18"/>
          <p:cNvSpPr/>
          <p:nvPr/>
        </p:nvSpPr>
        <p:spPr>
          <a:xfrm>
            <a:off x="307878" y="2365278"/>
            <a:ext cx="4102547" cy="213238"/>
          </a:xfrm>
          <a:prstGeom prst="rect">
            <a:avLst/>
          </a:prstGeom>
          <a:solidFill>
            <a:srgbClr val="0A2A3A"/>
          </a:solidFill>
          <a:ln/>
        </p:spPr>
        <p:txBody>
          <a:bodyPr/>
          <a:lstStyle/>
          <a:p>
            <a:endParaRPr lang="en-US"/>
          </a:p>
        </p:txBody>
      </p:sp>
      <p:sp>
        <p:nvSpPr>
          <p:cNvPr id="23" name="Shape 19"/>
          <p:cNvSpPr/>
          <p:nvPr/>
        </p:nvSpPr>
        <p:spPr>
          <a:xfrm>
            <a:off x="307878" y="2578517"/>
            <a:ext cx="4102547" cy="1018093"/>
          </a:xfrm>
          <a:prstGeom prst="rect">
            <a:avLst/>
          </a:prstGeom>
          <a:solidFill>
            <a:srgbClr val="04161D"/>
          </a:solidFill>
          <a:ln/>
        </p:spPr>
        <p:txBody>
          <a:bodyPr/>
          <a:lstStyle/>
          <a:p>
            <a:endParaRPr lang="en-US"/>
          </a:p>
        </p:txBody>
      </p:sp>
      <p:sp>
        <p:nvSpPr>
          <p:cNvPr id="24" name="Text 20"/>
          <p:cNvSpPr txBox="1"/>
          <p:nvPr/>
        </p:nvSpPr>
        <p:spPr>
          <a:xfrm>
            <a:off x="475488" y="2471898"/>
            <a:ext cx="3767328" cy="274320"/>
          </a:xfrm>
          <a:prstGeom prst="rect">
            <a:avLst/>
          </a:prstGeom>
          <a:noFill/>
          <a:ln/>
        </p:spPr>
        <p:txBody>
          <a:bodyPr wrap="square" lIns="0" tIns="0" rIns="0" bIns="0" rtlCol="0" anchor="ctr"/>
          <a:lstStyle/>
          <a:p>
            <a:pPr marL="0" indent="0">
              <a:lnSpc>
                <a:spcPct val="105000"/>
              </a:lnSpc>
              <a:buNone/>
            </a:pPr>
            <a:r>
              <a:rPr lang="en-US" sz="1150" b="1" dirty="0">
                <a:solidFill>
                  <a:srgbClr val="7DD3FC"/>
                </a:solidFill>
                <a:latin typeface="Arial" pitchFamily="34" charset="0"/>
                <a:ea typeface="Arial" pitchFamily="34" charset="-122"/>
                <a:cs typeface="Arial" pitchFamily="34" charset="-120"/>
              </a:rPr>
              <a:t>Shape is a closed area</a:t>
            </a:r>
            <a:endParaRPr lang="en-US" sz="1150" dirty="0"/>
          </a:p>
        </p:txBody>
      </p:sp>
      <p:sp>
        <p:nvSpPr>
          <p:cNvPr id="25" name="Shape 21"/>
          <p:cNvSpPr/>
          <p:nvPr/>
        </p:nvSpPr>
        <p:spPr>
          <a:xfrm>
            <a:off x="475488" y="2773375"/>
            <a:ext cx="243779" cy="15270"/>
          </a:xfrm>
          <a:prstGeom prst="rect">
            <a:avLst/>
          </a:prstGeom>
          <a:solidFill>
            <a:srgbClr val="00C2FF"/>
          </a:solidFill>
          <a:ln/>
        </p:spPr>
        <p:txBody>
          <a:bodyPr/>
          <a:lstStyle/>
          <a:p>
            <a:endParaRPr lang="en-US"/>
          </a:p>
        </p:txBody>
      </p:sp>
      <p:sp>
        <p:nvSpPr>
          <p:cNvPr id="26" name="Text 22"/>
          <p:cNvSpPr txBox="1"/>
          <p:nvPr/>
        </p:nvSpPr>
        <p:spPr>
          <a:xfrm>
            <a:off x="475488" y="2883103"/>
            <a:ext cx="3767328" cy="649224"/>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Flat, two dimensional, and made when a line meets itself.</a:t>
            </a:r>
            <a:endParaRPr lang="en-US" sz="1050" dirty="0"/>
          </a:p>
        </p:txBody>
      </p:sp>
      <p:sp>
        <p:nvSpPr>
          <p:cNvPr id="27" name="Shape 23"/>
          <p:cNvSpPr/>
          <p:nvPr/>
        </p:nvSpPr>
        <p:spPr>
          <a:xfrm>
            <a:off x="4718304" y="2350008"/>
            <a:ext cx="4133088" cy="1261872"/>
          </a:xfrm>
          <a:prstGeom prst="rect">
            <a:avLst/>
          </a:prstGeom>
          <a:solidFill>
            <a:srgbClr val="00C2FF"/>
          </a:solidFill>
          <a:ln/>
        </p:spPr>
        <p:txBody>
          <a:bodyPr/>
          <a:lstStyle/>
          <a:p>
            <a:endParaRPr lang="en-US"/>
          </a:p>
        </p:txBody>
      </p:sp>
      <p:sp>
        <p:nvSpPr>
          <p:cNvPr id="28" name="Shape 24"/>
          <p:cNvSpPr/>
          <p:nvPr/>
        </p:nvSpPr>
        <p:spPr>
          <a:xfrm>
            <a:off x="4733574" y="2365278"/>
            <a:ext cx="4102547" cy="213238"/>
          </a:xfrm>
          <a:prstGeom prst="rect">
            <a:avLst/>
          </a:prstGeom>
          <a:solidFill>
            <a:srgbClr val="0A2A3A"/>
          </a:solidFill>
          <a:ln/>
        </p:spPr>
        <p:txBody>
          <a:bodyPr/>
          <a:lstStyle/>
          <a:p>
            <a:endParaRPr lang="en-US"/>
          </a:p>
        </p:txBody>
      </p:sp>
      <p:sp>
        <p:nvSpPr>
          <p:cNvPr id="29" name="Shape 25"/>
          <p:cNvSpPr/>
          <p:nvPr/>
        </p:nvSpPr>
        <p:spPr>
          <a:xfrm>
            <a:off x="4733574" y="2578517"/>
            <a:ext cx="4102547" cy="1018093"/>
          </a:xfrm>
          <a:prstGeom prst="rect">
            <a:avLst/>
          </a:prstGeom>
          <a:solidFill>
            <a:srgbClr val="04161D"/>
          </a:solidFill>
          <a:ln/>
        </p:spPr>
        <p:txBody>
          <a:bodyPr/>
          <a:lstStyle/>
          <a:p>
            <a:endParaRPr lang="en-US"/>
          </a:p>
        </p:txBody>
      </p:sp>
      <p:sp>
        <p:nvSpPr>
          <p:cNvPr id="30" name="Text 26"/>
          <p:cNvSpPr txBox="1"/>
          <p:nvPr/>
        </p:nvSpPr>
        <p:spPr>
          <a:xfrm>
            <a:off x="4901184" y="2471898"/>
            <a:ext cx="3767328" cy="274320"/>
          </a:xfrm>
          <a:prstGeom prst="rect">
            <a:avLst/>
          </a:prstGeom>
          <a:noFill/>
          <a:ln/>
        </p:spPr>
        <p:txBody>
          <a:bodyPr wrap="square" lIns="0" tIns="0" rIns="0" bIns="0" rtlCol="0" anchor="ctr"/>
          <a:lstStyle/>
          <a:p>
            <a:pPr marL="0" indent="0">
              <a:lnSpc>
                <a:spcPct val="105000"/>
              </a:lnSpc>
              <a:buNone/>
            </a:pPr>
            <a:r>
              <a:rPr lang="en-US" sz="1150" b="1" dirty="0">
                <a:solidFill>
                  <a:srgbClr val="7DD3FC"/>
                </a:solidFill>
                <a:latin typeface="Arial" pitchFamily="34" charset="0"/>
                <a:ea typeface="Arial" pitchFamily="34" charset="-122"/>
                <a:cs typeface="Arial" pitchFamily="34" charset="-120"/>
              </a:rPr>
              <a:t>Geometric or organic</a:t>
            </a:r>
            <a:endParaRPr lang="en-US" sz="1150" dirty="0"/>
          </a:p>
        </p:txBody>
      </p:sp>
      <p:sp>
        <p:nvSpPr>
          <p:cNvPr id="31" name="Shape 27"/>
          <p:cNvSpPr/>
          <p:nvPr/>
        </p:nvSpPr>
        <p:spPr>
          <a:xfrm>
            <a:off x="4901184" y="2773375"/>
            <a:ext cx="243779" cy="15270"/>
          </a:xfrm>
          <a:prstGeom prst="rect">
            <a:avLst/>
          </a:prstGeom>
          <a:solidFill>
            <a:srgbClr val="00C2FF"/>
          </a:solidFill>
          <a:ln/>
        </p:spPr>
        <p:txBody>
          <a:bodyPr/>
          <a:lstStyle/>
          <a:p>
            <a:endParaRPr lang="en-US"/>
          </a:p>
        </p:txBody>
      </p:sp>
      <p:sp>
        <p:nvSpPr>
          <p:cNvPr id="32" name="Text 28"/>
          <p:cNvSpPr txBox="1"/>
          <p:nvPr/>
        </p:nvSpPr>
        <p:spPr>
          <a:xfrm>
            <a:off x="4901184" y="2883103"/>
            <a:ext cx="3767328" cy="649224"/>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Clean and measured, or free and natural. Most work uses both.</a:t>
            </a:r>
            <a:endParaRPr lang="en-US" sz="1050" dirty="0"/>
          </a:p>
        </p:txBody>
      </p:sp>
      <p:sp>
        <p:nvSpPr>
          <p:cNvPr id="33" name="Shape 29"/>
          <p:cNvSpPr/>
          <p:nvPr/>
        </p:nvSpPr>
        <p:spPr>
          <a:xfrm>
            <a:off x="292608" y="4016959"/>
            <a:ext cx="8558784" cy="701345"/>
          </a:xfrm>
          <a:prstGeom prst="rect">
            <a:avLst/>
          </a:prstGeom>
          <a:solidFill>
            <a:srgbClr val="00C2FF">
              <a:alpha val="6000"/>
            </a:srgbClr>
          </a:solidFill>
          <a:ln w="12700">
            <a:solidFill>
              <a:srgbClr val="05475C"/>
            </a:solidFill>
            <a:prstDash val="solid"/>
          </a:ln>
        </p:spPr>
        <p:txBody>
          <a:bodyPr/>
          <a:lstStyle/>
          <a:p>
            <a:endParaRPr lang="en-US"/>
          </a:p>
        </p:txBody>
      </p:sp>
      <p:sp>
        <p:nvSpPr>
          <p:cNvPr id="34" name="Shape 30"/>
          <p:cNvSpPr/>
          <p:nvPr/>
        </p:nvSpPr>
        <p:spPr>
          <a:xfrm>
            <a:off x="292608" y="4016959"/>
            <a:ext cx="45720" cy="701345"/>
          </a:xfrm>
          <a:prstGeom prst="rect">
            <a:avLst/>
          </a:prstGeom>
          <a:solidFill>
            <a:srgbClr val="00C2FF"/>
          </a:solidFill>
          <a:ln/>
        </p:spPr>
        <p:txBody>
          <a:bodyPr/>
          <a:lstStyle/>
          <a:p>
            <a:endParaRPr lang="en-US"/>
          </a:p>
        </p:txBody>
      </p:sp>
      <p:sp>
        <p:nvSpPr>
          <p:cNvPr id="35" name="Text 31"/>
          <p:cNvSpPr txBox="1"/>
          <p:nvPr/>
        </p:nvSpPr>
        <p:spPr>
          <a:xfrm>
            <a:off x="521208" y="4169664"/>
            <a:ext cx="8162849" cy="433426"/>
          </a:xfrm>
          <a:prstGeom prst="rect">
            <a:avLst/>
          </a:prstGeom>
          <a:noFill/>
          <a:ln/>
        </p:spPr>
        <p:txBody>
          <a:bodyPr wrap="square" lIns="0" tIns="0" rIns="0" bIns="0" rtlCol="0" anchor="t"/>
          <a:lstStyle/>
          <a:p>
            <a:pPr marL="0" indent="0">
              <a:lnSpc>
                <a:spcPct val="135000"/>
              </a:lnSpc>
              <a:buNone/>
            </a:pPr>
            <a:r>
              <a:rPr lang="en-US" sz="1050" dirty="0">
                <a:solidFill>
                  <a:srgbClr val="FFFFFF"/>
                </a:solidFill>
                <a:latin typeface="Arial" pitchFamily="34" charset="0"/>
                <a:ea typeface="Arial" pitchFamily="34" charset="-122"/>
                <a:cs typeface="Arial" pitchFamily="34" charset="-120"/>
              </a:rPr>
              <a:t>You also know negative space is designed on purpose, and that shape language tells a viewer who your character is before they read a word.</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636715" y="1897380"/>
            <a:ext cx="3558845" cy="4206240"/>
          </a:xfrm>
          <a:prstGeom prst="rect">
            <a:avLst/>
          </a:prstGeom>
        </p:spPr>
      </p:pic>
      <p:sp>
        <p:nvSpPr>
          <p:cNvPr id="3" name="Shape 0"/>
          <p:cNvSpPr/>
          <p:nvPr/>
        </p:nvSpPr>
        <p:spPr>
          <a:xfrm>
            <a:off x="0" y="0"/>
            <a:ext cx="9144000" cy="676656"/>
          </a:xfrm>
          <a:prstGeom prst="rect">
            <a:avLst/>
          </a:prstGeom>
          <a:solidFill>
            <a:srgbClr val="04191A"/>
          </a:solidFill>
          <a:ln/>
        </p:spPr>
        <p:txBody>
          <a:bodyPr/>
          <a:lstStyle/>
          <a:p>
            <a:endParaRPr lang="en-US"/>
          </a:p>
        </p:txBody>
      </p:sp>
      <p:sp>
        <p:nvSpPr>
          <p:cNvPr id="4" name="Shape 1"/>
          <p:cNvSpPr/>
          <p:nvPr/>
        </p:nvSpPr>
        <p:spPr>
          <a:xfrm>
            <a:off x="0" y="0"/>
            <a:ext cx="38130" cy="676656"/>
          </a:xfrm>
          <a:prstGeom prst="rect">
            <a:avLst/>
          </a:prstGeom>
          <a:solidFill>
            <a:srgbClr val="8B5CF6"/>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292608" y="146304"/>
            <a:ext cx="384048" cy="384048"/>
          </a:xfrm>
          <a:prstGeom prst="rect">
            <a:avLst/>
          </a:prstGeom>
        </p:spPr>
      </p:pic>
      <p:sp>
        <p:nvSpPr>
          <p:cNvPr id="6" name="Text 2"/>
          <p:cNvSpPr txBox="1"/>
          <p:nvPr/>
        </p:nvSpPr>
        <p:spPr>
          <a:xfrm>
            <a:off x="859536" y="54864"/>
            <a:ext cx="6382512" cy="566928"/>
          </a:xfrm>
          <a:prstGeom prst="rect">
            <a:avLst/>
          </a:prstGeom>
          <a:noFill/>
          <a:ln/>
        </p:spPr>
        <p:txBody>
          <a:bodyPr wrap="square" lIns="0" tIns="0" rIns="0" bIns="0" rtlCol="0" anchor="ctr"/>
          <a:lstStyle/>
          <a:p>
            <a:pPr marL="0" indent="0">
              <a:lnSpc>
                <a:spcPct val="105000"/>
              </a:lnSpc>
              <a:buNone/>
            </a:pPr>
            <a:r>
              <a:rPr lang="en-US" sz="1900" b="1" kern="0" spc="20" dirty="0">
                <a:solidFill>
                  <a:srgbClr val="C4B5FD"/>
                </a:solidFill>
                <a:latin typeface="Oswald" pitchFamily="34" charset="0"/>
                <a:ea typeface="Oswald" pitchFamily="34" charset="-122"/>
                <a:cs typeface="Oswald" pitchFamily="34" charset="-120"/>
              </a:rPr>
              <a:t>COMING UP IN PART 2</a:t>
            </a:r>
            <a:endParaRPr lang="en-US" sz="1900" dirty="0"/>
          </a:p>
        </p:txBody>
      </p:sp>
      <p:sp>
        <p:nvSpPr>
          <p:cNvPr id="7" name="Text 3"/>
          <p:cNvSpPr txBox="1"/>
          <p:nvPr/>
        </p:nvSpPr>
        <p:spPr>
          <a:xfrm>
            <a:off x="6400800" y="54864"/>
            <a:ext cx="2450592" cy="566928"/>
          </a:xfrm>
          <a:prstGeom prst="rect">
            <a:avLst/>
          </a:prstGeom>
          <a:noFill/>
          <a:ln/>
        </p:spPr>
        <p:txBody>
          <a:bodyPr wrap="square" lIns="0" tIns="0" rIns="0" bIns="0" rtlCol="0" anchor="ctr"/>
          <a:lstStyle/>
          <a:p>
            <a:pPr marL="0" indent="0" algn="r">
              <a:lnSpc>
                <a:spcPct val="120000"/>
              </a:lnSpc>
              <a:buNone/>
            </a:pPr>
            <a:r>
              <a:rPr lang="en-US" sz="900" b="1" kern="0" spc="130" dirty="0">
                <a:solidFill>
                  <a:srgbClr val="C4B5FD"/>
                </a:solidFill>
                <a:latin typeface="Oswald" pitchFamily="34" charset="0"/>
                <a:ea typeface="Oswald" pitchFamily="34" charset="-122"/>
                <a:cs typeface="Oswald" pitchFamily="34" charset="-120"/>
              </a:rPr>
              <a:t>NEXT MINI LESSON</a:t>
            </a:r>
            <a:endParaRPr lang="en-US" sz="900" dirty="0"/>
          </a:p>
        </p:txBody>
      </p:sp>
      <p:sp>
        <p:nvSpPr>
          <p:cNvPr id="8" name="Shape 4"/>
          <p:cNvSpPr/>
          <p:nvPr/>
        </p:nvSpPr>
        <p:spPr>
          <a:xfrm>
            <a:off x="859536" y="699516"/>
            <a:ext cx="457017" cy="22860"/>
          </a:xfrm>
          <a:prstGeom prst="rect">
            <a:avLst/>
          </a:prstGeom>
          <a:solidFill>
            <a:srgbClr val="8B5CF6"/>
          </a:solidFill>
          <a:ln/>
        </p:spPr>
        <p:txBody>
          <a:bodyPr/>
          <a:lstStyle/>
          <a:p>
            <a:endParaRPr lang="en-US"/>
          </a:p>
        </p:txBody>
      </p:sp>
      <p:sp>
        <p:nvSpPr>
          <p:cNvPr id="9" name="Shape 5"/>
          <p:cNvSpPr/>
          <p:nvPr/>
        </p:nvSpPr>
        <p:spPr>
          <a:xfrm>
            <a:off x="292608" y="905256"/>
            <a:ext cx="8558784" cy="752551"/>
          </a:xfrm>
          <a:prstGeom prst="rect">
            <a:avLst/>
          </a:prstGeom>
          <a:solidFill>
            <a:srgbClr val="8B5CF6">
              <a:alpha val="6000"/>
            </a:srgbClr>
          </a:solidFill>
          <a:ln w="12700">
            <a:solidFill>
              <a:srgbClr val="352559"/>
            </a:solidFill>
            <a:prstDash val="solid"/>
          </a:ln>
        </p:spPr>
        <p:txBody>
          <a:bodyPr/>
          <a:lstStyle/>
          <a:p>
            <a:endParaRPr lang="en-US"/>
          </a:p>
        </p:txBody>
      </p:sp>
      <p:sp>
        <p:nvSpPr>
          <p:cNvPr id="10" name="Shape 6"/>
          <p:cNvSpPr/>
          <p:nvPr/>
        </p:nvSpPr>
        <p:spPr>
          <a:xfrm>
            <a:off x="292608" y="905256"/>
            <a:ext cx="45720" cy="752551"/>
          </a:xfrm>
          <a:prstGeom prst="rect">
            <a:avLst/>
          </a:prstGeom>
          <a:solidFill>
            <a:srgbClr val="8B5CF6"/>
          </a:solidFill>
          <a:ln/>
        </p:spPr>
        <p:txBody>
          <a:bodyPr/>
          <a:lstStyle/>
          <a:p>
            <a:endParaRPr lang="en-US"/>
          </a:p>
        </p:txBody>
      </p:sp>
      <p:sp>
        <p:nvSpPr>
          <p:cNvPr id="11" name="Text 7"/>
          <p:cNvSpPr txBox="1"/>
          <p:nvPr/>
        </p:nvSpPr>
        <p:spPr>
          <a:xfrm>
            <a:off x="521208" y="1057961"/>
            <a:ext cx="8162849" cy="484632"/>
          </a:xfrm>
          <a:prstGeom prst="rect">
            <a:avLst/>
          </a:prstGeom>
          <a:noFill/>
          <a:ln/>
        </p:spPr>
        <p:txBody>
          <a:bodyPr wrap="square" lIns="0" tIns="0" rIns="0" bIns="0" rtlCol="0" anchor="t"/>
          <a:lstStyle/>
          <a:p>
            <a:pPr marL="0" indent="0">
              <a:lnSpc>
                <a:spcPct val="135000"/>
              </a:lnSpc>
              <a:buNone/>
            </a:pPr>
            <a:r>
              <a:rPr lang="en-US" sz="1200" dirty="0">
                <a:solidFill>
                  <a:srgbClr val="C4B5FD"/>
                </a:solidFill>
                <a:latin typeface="Arial" pitchFamily="34" charset="0"/>
                <a:ea typeface="Arial" pitchFamily="34" charset="-122"/>
                <a:cs typeface="Arial" pitchFamily="34" charset="-120"/>
              </a:rPr>
              <a:t>Part 1 was flat. Part 2 adds depth. You will redraw your character with volume, then learn how the space around them works.</a:t>
            </a:r>
            <a:endParaRPr lang="en-US" sz="1200" dirty="0"/>
          </a:p>
        </p:txBody>
      </p:sp>
      <p:sp>
        <p:nvSpPr>
          <p:cNvPr id="12" name="Shape 8"/>
          <p:cNvSpPr/>
          <p:nvPr/>
        </p:nvSpPr>
        <p:spPr>
          <a:xfrm>
            <a:off x="292608" y="1858975"/>
            <a:ext cx="4133088" cy="1737360"/>
          </a:xfrm>
          <a:prstGeom prst="rect">
            <a:avLst/>
          </a:prstGeom>
          <a:solidFill>
            <a:srgbClr val="8B5CF6"/>
          </a:solidFill>
          <a:ln/>
        </p:spPr>
        <p:txBody>
          <a:bodyPr/>
          <a:lstStyle/>
          <a:p>
            <a:endParaRPr lang="en-US"/>
          </a:p>
        </p:txBody>
      </p:sp>
      <p:sp>
        <p:nvSpPr>
          <p:cNvPr id="13" name="Shape 9"/>
          <p:cNvSpPr/>
          <p:nvPr/>
        </p:nvSpPr>
        <p:spPr>
          <a:xfrm>
            <a:off x="307878" y="1874246"/>
            <a:ext cx="4102547" cy="213238"/>
          </a:xfrm>
          <a:prstGeom prst="rect">
            <a:avLst/>
          </a:prstGeom>
          <a:solidFill>
            <a:srgbClr val="241D3A"/>
          </a:solidFill>
          <a:ln/>
        </p:spPr>
        <p:txBody>
          <a:bodyPr/>
          <a:lstStyle/>
          <a:p>
            <a:endParaRPr lang="en-US"/>
          </a:p>
        </p:txBody>
      </p:sp>
      <p:sp>
        <p:nvSpPr>
          <p:cNvPr id="14" name="Shape 10"/>
          <p:cNvSpPr/>
          <p:nvPr/>
        </p:nvSpPr>
        <p:spPr>
          <a:xfrm>
            <a:off x="307878" y="2087484"/>
            <a:ext cx="4102547" cy="1493581"/>
          </a:xfrm>
          <a:prstGeom prst="rect">
            <a:avLst/>
          </a:prstGeom>
          <a:solidFill>
            <a:srgbClr val="140F24"/>
          </a:solidFill>
          <a:ln/>
        </p:spPr>
        <p:txBody>
          <a:bodyPr/>
          <a:lstStyle/>
          <a:p>
            <a:endParaRPr lang="en-US"/>
          </a:p>
        </p:txBody>
      </p:sp>
      <p:sp>
        <p:nvSpPr>
          <p:cNvPr id="15" name="Text 11"/>
          <p:cNvSpPr txBox="1"/>
          <p:nvPr/>
        </p:nvSpPr>
        <p:spPr>
          <a:xfrm>
            <a:off x="475488" y="1980865"/>
            <a:ext cx="3767328" cy="274320"/>
          </a:xfrm>
          <a:prstGeom prst="rect">
            <a:avLst/>
          </a:prstGeom>
          <a:noFill/>
          <a:ln/>
        </p:spPr>
        <p:txBody>
          <a:bodyPr wrap="square" lIns="0" tIns="0" rIns="0" bIns="0" rtlCol="0" anchor="ctr"/>
          <a:lstStyle/>
          <a:p>
            <a:pPr marL="0" indent="0">
              <a:lnSpc>
                <a:spcPct val="105000"/>
              </a:lnSpc>
              <a:buNone/>
            </a:pPr>
            <a:r>
              <a:rPr lang="en-US" sz="1300" b="1" dirty="0">
                <a:solidFill>
                  <a:srgbClr val="C4B5FD"/>
                </a:solidFill>
                <a:latin typeface="Arial" pitchFamily="34" charset="0"/>
                <a:ea typeface="Arial" pitchFamily="34" charset="-122"/>
                <a:cs typeface="Arial" pitchFamily="34" charset="-120"/>
              </a:rPr>
              <a:t>Element 03: Form</a:t>
            </a:r>
            <a:endParaRPr lang="en-US" sz="1300" dirty="0"/>
          </a:p>
        </p:txBody>
      </p:sp>
      <p:sp>
        <p:nvSpPr>
          <p:cNvPr id="16" name="Shape 12"/>
          <p:cNvSpPr/>
          <p:nvPr/>
        </p:nvSpPr>
        <p:spPr>
          <a:xfrm>
            <a:off x="475488" y="2282342"/>
            <a:ext cx="243779" cy="15270"/>
          </a:xfrm>
          <a:prstGeom prst="rect">
            <a:avLst/>
          </a:prstGeom>
          <a:solidFill>
            <a:srgbClr val="8B5CF6"/>
          </a:solidFill>
          <a:ln/>
        </p:spPr>
        <p:txBody>
          <a:bodyPr/>
          <a:lstStyle/>
          <a:p>
            <a:endParaRPr lang="en-US"/>
          </a:p>
        </p:txBody>
      </p:sp>
      <p:sp>
        <p:nvSpPr>
          <p:cNvPr id="17" name="Text 13"/>
          <p:cNvSpPr txBox="1"/>
          <p:nvPr/>
        </p:nvSpPr>
        <p:spPr>
          <a:xfrm>
            <a:off x="475488" y="2392070"/>
            <a:ext cx="3767328" cy="1124712"/>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What happens when a shape gains depth and becomes three dimensional.</a:t>
            </a:r>
            <a:endParaRPr lang="en-US" sz="1050" dirty="0"/>
          </a:p>
        </p:txBody>
      </p:sp>
      <p:sp>
        <p:nvSpPr>
          <p:cNvPr id="18" name="Shape 14"/>
          <p:cNvSpPr/>
          <p:nvPr/>
        </p:nvSpPr>
        <p:spPr>
          <a:xfrm>
            <a:off x="4718304" y="1858975"/>
            <a:ext cx="4133088" cy="1737360"/>
          </a:xfrm>
          <a:prstGeom prst="rect">
            <a:avLst/>
          </a:prstGeom>
          <a:solidFill>
            <a:srgbClr val="8B5CF6"/>
          </a:solidFill>
          <a:ln/>
        </p:spPr>
        <p:txBody>
          <a:bodyPr/>
          <a:lstStyle/>
          <a:p>
            <a:endParaRPr lang="en-US"/>
          </a:p>
        </p:txBody>
      </p:sp>
      <p:sp>
        <p:nvSpPr>
          <p:cNvPr id="19" name="Shape 15"/>
          <p:cNvSpPr/>
          <p:nvPr/>
        </p:nvSpPr>
        <p:spPr>
          <a:xfrm>
            <a:off x="4733574" y="1874246"/>
            <a:ext cx="4102547" cy="213238"/>
          </a:xfrm>
          <a:prstGeom prst="rect">
            <a:avLst/>
          </a:prstGeom>
          <a:solidFill>
            <a:srgbClr val="241D3A"/>
          </a:solidFill>
          <a:ln/>
        </p:spPr>
        <p:txBody>
          <a:bodyPr/>
          <a:lstStyle/>
          <a:p>
            <a:endParaRPr lang="en-US"/>
          </a:p>
        </p:txBody>
      </p:sp>
      <p:sp>
        <p:nvSpPr>
          <p:cNvPr id="20" name="Shape 16"/>
          <p:cNvSpPr/>
          <p:nvPr/>
        </p:nvSpPr>
        <p:spPr>
          <a:xfrm>
            <a:off x="4733574" y="2087484"/>
            <a:ext cx="4102547" cy="1493581"/>
          </a:xfrm>
          <a:prstGeom prst="rect">
            <a:avLst/>
          </a:prstGeom>
          <a:solidFill>
            <a:srgbClr val="140F24"/>
          </a:solidFill>
          <a:ln/>
        </p:spPr>
        <p:txBody>
          <a:bodyPr/>
          <a:lstStyle/>
          <a:p>
            <a:endParaRPr lang="en-US"/>
          </a:p>
        </p:txBody>
      </p:sp>
      <p:sp>
        <p:nvSpPr>
          <p:cNvPr id="21" name="Text 17"/>
          <p:cNvSpPr txBox="1"/>
          <p:nvPr/>
        </p:nvSpPr>
        <p:spPr>
          <a:xfrm>
            <a:off x="4901184" y="1980865"/>
            <a:ext cx="3767328" cy="274320"/>
          </a:xfrm>
          <a:prstGeom prst="rect">
            <a:avLst/>
          </a:prstGeom>
          <a:noFill/>
          <a:ln/>
        </p:spPr>
        <p:txBody>
          <a:bodyPr wrap="square" lIns="0" tIns="0" rIns="0" bIns="0" rtlCol="0" anchor="ctr"/>
          <a:lstStyle/>
          <a:p>
            <a:pPr marL="0" indent="0">
              <a:lnSpc>
                <a:spcPct val="105000"/>
              </a:lnSpc>
              <a:buNone/>
            </a:pPr>
            <a:r>
              <a:rPr lang="en-US" sz="1300" b="1" dirty="0">
                <a:solidFill>
                  <a:srgbClr val="C4B5FD"/>
                </a:solidFill>
                <a:latin typeface="Arial" pitchFamily="34" charset="0"/>
                <a:ea typeface="Arial" pitchFamily="34" charset="-122"/>
                <a:cs typeface="Arial" pitchFamily="34" charset="-120"/>
              </a:rPr>
              <a:t>Element 04: Space</a:t>
            </a:r>
            <a:endParaRPr lang="en-US" sz="1300" dirty="0"/>
          </a:p>
        </p:txBody>
      </p:sp>
      <p:sp>
        <p:nvSpPr>
          <p:cNvPr id="22" name="Shape 18"/>
          <p:cNvSpPr/>
          <p:nvPr/>
        </p:nvSpPr>
        <p:spPr>
          <a:xfrm>
            <a:off x="4901184" y="2282342"/>
            <a:ext cx="243779" cy="15270"/>
          </a:xfrm>
          <a:prstGeom prst="rect">
            <a:avLst/>
          </a:prstGeom>
          <a:solidFill>
            <a:srgbClr val="8B5CF6"/>
          </a:solidFill>
          <a:ln/>
        </p:spPr>
        <p:txBody>
          <a:bodyPr/>
          <a:lstStyle/>
          <a:p>
            <a:endParaRPr lang="en-US"/>
          </a:p>
        </p:txBody>
      </p:sp>
      <p:sp>
        <p:nvSpPr>
          <p:cNvPr id="23" name="Text 19"/>
          <p:cNvSpPr txBox="1"/>
          <p:nvPr/>
        </p:nvSpPr>
        <p:spPr>
          <a:xfrm>
            <a:off x="4901184" y="2392070"/>
            <a:ext cx="3767328" cy="1124712"/>
          </a:xfrm>
          <a:prstGeom prst="rect">
            <a:avLst/>
          </a:prstGeom>
          <a:noFill/>
          <a:ln/>
        </p:spPr>
        <p:txBody>
          <a:bodyPr wrap="square" lIns="0" tIns="0" rIns="0" bIns="0" rtlCol="0" anchor="t"/>
          <a:lstStyle/>
          <a:p>
            <a:pPr marL="0" indent="0">
              <a:lnSpc>
                <a:spcPct val="125000"/>
              </a:lnSpc>
              <a:buNone/>
            </a:pPr>
            <a:r>
              <a:rPr lang="en-US" sz="1050" dirty="0">
                <a:solidFill>
                  <a:srgbClr val="FFFFFF"/>
                </a:solidFill>
                <a:latin typeface="Arial" pitchFamily="34" charset="0"/>
                <a:ea typeface="Arial" pitchFamily="34" charset="-122"/>
                <a:cs typeface="Arial" pitchFamily="34" charset="-120"/>
              </a:rPr>
              <a:t>Foreground, middle ground, and background, and how depth is faked on a flat screen.</a:t>
            </a:r>
            <a:endParaRPr lang="en-US" sz="1050" dirty="0"/>
          </a:p>
        </p:txBody>
      </p:sp>
      <p:sp>
        <p:nvSpPr>
          <p:cNvPr id="24" name="Shape 20"/>
          <p:cNvSpPr/>
          <p:nvPr/>
        </p:nvSpPr>
        <p:spPr>
          <a:xfrm>
            <a:off x="292608" y="3922776"/>
            <a:ext cx="8558784" cy="521208"/>
          </a:xfrm>
          <a:prstGeom prst="rect">
            <a:avLst/>
          </a:prstGeom>
          <a:solidFill>
            <a:srgbClr val="8B5CF6">
              <a:alpha val="6000"/>
            </a:srgbClr>
          </a:solidFill>
          <a:ln w="12700">
            <a:solidFill>
              <a:srgbClr val="352559"/>
            </a:solidFill>
            <a:prstDash val="solid"/>
          </a:ln>
        </p:spPr>
        <p:txBody>
          <a:bodyPr/>
          <a:lstStyle/>
          <a:p>
            <a:endParaRPr lang="en-US"/>
          </a:p>
        </p:txBody>
      </p:sp>
      <p:sp>
        <p:nvSpPr>
          <p:cNvPr id="25" name="Shape 21"/>
          <p:cNvSpPr/>
          <p:nvPr/>
        </p:nvSpPr>
        <p:spPr>
          <a:xfrm>
            <a:off x="292608" y="3922776"/>
            <a:ext cx="45720" cy="521208"/>
          </a:xfrm>
          <a:prstGeom prst="rect">
            <a:avLst/>
          </a:prstGeom>
          <a:solidFill>
            <a:srgbClr val="8B5CF6"/>
          </a:solidFill>
          <a:ln/>
        </p:spPr>
        <p:txBody>
          <a:bodyPr/>
          <a:lstStyle/>
          <a:p>
            <a:endParaRPr lang="en-US"/>
          </a:p>
        </p:txBody>
      </p:sp>
      <p:sp>
        <p:nvSpPr>
          <p:cNvPr id="26" name="Text 22"/>
          <p:cNvSpPr txBox="1"/>
          <p:nvPr/>
        </p:nvSpPr>
        <p:spPr>
          <a:xfrm>
            <a:off x="521208" y="4075481"/>
            <a:ext cx="8162849" cy="253289"/>
          </a:xfrm>
          <a:prstGeom prst="rect">
            <a:avLst/>
          </a:prstGeom>
          <a:noFill/>
          <a:ln/>
        </p:spPr>
        <p:txBody>
          <a:bodyPr wrap="square" lIns="0" tIns="0" rIns="0" bIns="0" rtlCol="0" anchor="t"/>
          <a:lstStyle/>
          <a:p>
            <a:pPr marL="0" indent="0">
              <a:lnSpc>
                <a:spcPct val="135000"/>
              </a:lnSpc>
              <a:buNone/>
            </a:pPr>
            <a:r>
              <a:rPr lang="en-US" sz="1050" dirty="0">
                <a:solidFill>
                  <a:srgbClr val="FFFFFF"/>
                </a:solidFill>
                <a:latin typeface="Arial" pitchFamily="34" charset="0"/>
                <a:ea typeface="Arial" pitchFamily="34" charset="-122"/>
                <a:cs typeface="Arial" pitchFamily="34" charset="-120"/>
              </a:rPr>
              <a:t>Bring your vocabulary sheet and your Round 1 character. Part 2 is Round 2.</a:t>
            </a:r>
            <a:endParaRPr lang="en-US" sz="1050" dirty="0"/>
          </a:p>
        </p:txBody>
      </p:sp>
      <p:sp>
        <p:nvSpPr>
          <p:cNvPr id="27" name="Shape 23"/>
          <p:cNvSpPr/>
          <p:nvPr/>
        </p:nvSpPr>
        <p:spPr>
          <a:xfrm>
            <a:off x="0" y="4681728"/>
            <a:ext cx="9144000" cy="22860"/>
          </a:xfrm>
          <a:prstGeom prst="rect">
            <a:avLst/>
          </a:prstGeom>
          <a:solidFill>
            <a:srgbClr val="8B5CF6"/>
          </a:solidFill>
          <a:ln/>
        </p:spPr>
        <p:txBody>
          <a:bodyPr/>
          <a:lstStyle/>
          <a:p>
            <a:endParaRPr lang="en-US"/>
          </a:p>
        </p:txBody>
      </p:sp>
      <p:sp>
        <p:nvSpPr>
          <p:cNvPr id="28" name="Text 24"/>
          <p:cNvSpPr txBox="1"/>
          <p:nvPr/>
        </p:nvSpPr>
        <p:spPr>
          <a:xfrm>
            <a:off x="292608" y="4809744"/>
            <a:ext cx="8558784" cy="219456"/>
          </a:xfrm>
          <a:prstGeom prst="rect">
            <a:avLst/>
          </a:prstGeom>
          <a:noFill/>
          <a:ln/>
        </p:spPr>
        <p:txBody>
          <a:bodyPr wrap="square" lIns="0" tIns="0" rIns="0" bIns="0" rtlCol="0" anchor="ctr"/>
          <a:lstStyle/>
          <a:p>
            <a:pPr marL="0" indent="0">
              <a:lnSpc>
                <a:spcPct val="120000"/>
              </a:lnSpc>
              <a:buNone/>
            </a:pPr>
            <a:r>
              <a:rPr lang="en-US" sz="950" b="1" kern="0" spc="190" dirty="0">
                <a:solidFill>
                  <a:srgbClr val="777777"/>
                </a:solidFill>
                <a:latin typeface="Oswald" pitchFamily="34" charset="0"/>
                <a:ea typeface="Oswald" pitchFamily="34" charset="-122"/>
                <a:cs typeface="Oswald" pitchFamily="34" charset="-120"/>
              </a:rPr>
              <a:t>DIGITAL ARTS 1A  /  MR. SILVA  /  PIONEER VALLEY HIGH SCHOOL</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122</TotalTime>
  <Words>1982</Words>
  <Application>Microsoft Macintosh PowerPoint</Application>
  <PresentationFormat>On-screen Show (16:9)</PresentationFormat>
  <Paragraphs>258</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Oswald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chris creativesilva.com</cp:lastModifiedBy>
  <cp:revision>3</cp:revision>
  <dcterms:created xsi:type="dcterms:W3CDTF">2026-09-22T16:46:06Z</dcterms:created>
  <dcterms:modified xsi:type="dcterms:W3CDTF">2026-09-25T16:12:57Z</dcterms:modified>
</cp:coreProperties>
</file>