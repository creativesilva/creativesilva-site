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3999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1394460"/>
            <a:ext cx="3867912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33116"/>
            <a:ext cx="9144000" cy="5143500"/>
          </a:xfrm>
          <a:prstGeom prst="rect">
            <a:avLst/>
          </a:prstGeom>
          <a:solidFill>
            <a:srgbClr val="04191A">
              <a:alpha val="8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292608" y="454621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kern="0" spc="19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PHOTOGRAPHY 1  /  CAMERA FUNDAMENTALS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292608" y="689347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400" b="1" kern="0" spc="4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APERTURE</a:t>
            </a:r>
            <a:endParaRPr lang="en-US" sz="4400" dirty="0"/>
          </a:p>
        </p:txBody>
      </p:sp>
      <p:sp>
        <p:nvSpPr>
          <p:cNvPr id="8" name="Shape 4"/>
          <p:cNvSpPr/>
          <p:nvPr/>
        </p:nvSpPr>
        <p:spPr>
          <a:xfrm>
            <a:off x="292608" y="1445282"/>
            <a:ext cx="457017" cy="3045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292608" y="162763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200" b="1" kern="0" spc="9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PART 1: HOW APERTURE WORKS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292608" y="2023110"/>
            <a:ext cx="368650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opening inside your lens, the f-stop numbers, and what they do to your photo.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92608" y="3529584"/>
            <a:ext cx="3127248" cy="658368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07878" y="3544854"/>
            <a:ext cx="3096707" cy="213238"/>
          </a:xfrm>
          <a:prstGeom prst="rect">
            <a:avLst/>
          </a:prstGeom>
          <a:solidFill>
            <a:srgbClr val="094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07878" y="3758093"/>
            <a:ext cx="3096707" cy="414589"/>
          </a:xfrm>
          <a:prstGeom prst="rect">
            <a:avLst/>
          </a:prstGeom>
          <a:solidFill>
            <a:srgbClr val="041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460216" y="3611560"/>
            <a:ext cx="2792029" cy="627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kern="0" spc="12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CANON EOS R50 &amp; 50MM RF 1.8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0" y="4681728"/>
            <a:ext cx="9144000" cy="2286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292608" y="4809744"/>
            <a:ext cx="8558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kern="0" spc="190" dirty="0">
                <a:solidFill>
                  <a:srgbClr val="77777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MR. SILVA  /  PIONEER VALLEY HIGH SCHOOL</a:t>
            </a:r>
            <a:endParaRPr lang="en-US" sz="9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DDE213F-E410-F9EF-C8BC-CCC0C1566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2144" y="1287238"/>
            <a:ext cx="2746309" cy="316691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A7BC4E1-00B3-8BBC-EF13-7F83DD3AED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2982" y="230111"/>
            <a:ext cx="1293907" cy="15331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YOU WILL LEARN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OUTCOMES / 01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68096" y="905256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NAME THE PARTS THAT CONTROL LIGHT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68096" y="1170432"/>
            <a:ext cx="8083296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know what the aperture is and where it sits inside your lens.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92608" y="1556309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292608" y="155630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" y="1538021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READ ANY F-STOP NUMBER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68096" y="1803197"/>
            <a:ext cx="8083296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look at f/1.8 or f/11 and know right away how open the lens is.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92608" y="218907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292608" y="21890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68096" y="2170786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USE THE BACKWARDS RULE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68096" y="2435962"/>
            <a:ext cx="8083296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remember that a small number means a big opening, every time.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92608" y="2821838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292608" y="28218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768096" y="2803550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SET APERTURE ON THE R50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768096" y="3068726"/>
            <a:ext cx="8083296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put the camera in Av mode and choose your own f-stop.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292608" y="3454603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292608" y="345460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768096" y="3436315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KNOW WHAT YOUR LENSES CAN DO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768096" y="3701491"/>
            <a:ext cx="8083296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know the widest aperture on each lens in our kit.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292608" y="4142232"/>
            <a:ext cx="8558784" cy="752551"/>
          </a:xfrm>
          <a:prstGeom prst="rect">
            <a:avLst/>
          </a:prstGeom>
          <a:solidFill>
            <a:srgbClr val="00B8B8">
              <a:alpha val="6000"/>
            </a:srgbClr>
          </a:solidFill>
          <a:ln w="12700">
            <a:solidFill>
              <a:srgbClr val="05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292608" y="4142232"/>
            <a:ext cx="45720" cy="752551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 txBox="1"/>
          <p:nvPr/>
        </p:nvSpPr>
        <p:spPr>
          <a:xfrm>
            <a:off x="521208" y="4294937"/>
            <a:ext cx="816284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Aperture is one of three controls that decide how a photo looks. Part 1 is about light. Part 2 is about focus.</a:t>
            </a:r>
            <a:endParaRPr lang="en-US" sz="12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6966A83-4B30-EB0A-FFB8-E9F27AF4D2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738" t="3812" r="14286" b="13200"/>
          <a:stretch>
            <a:fillRect/>
          </a:stretch>
        </p:blipFill>
        <p:spPr>
          <a:xfrm>
            <a:off x="5388964" y="1109168"/>
            <a:ext cx="3498146" cy="26162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C4B5F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INDUSTRY VOCABULARY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C4B5F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KEY WORDS / 02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05256"/>
            <a:ext cx="4133088" cy="138988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07878" y="920526"/>
            <a:ext cx="4102547" cy="213238"/>
          </a:xfrm>
          <a:prstGeom prst="rect">
            <a:avLst/>
          </a:prstGeom>
          <a:solidFill>
            <a:srgbClr val="24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07878" y="1133765"/>
            <a:ext cx="4102547" cy="1146109"/>
          </a:xfrm>
          <a:prstGeom prst="rect">
            <a:avLst/>
          </a:prstGeom>
          <a:solidFill>
            <a:srgbClr val="140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475488" y="102714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Aperture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75488" y="1328623"/>
            <a:ext cx="243779" cy="1527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475488" y="1438351"/>
            <a:ext cx="3767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opening inside your lens that lets light through. You can make it wider or smaller.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18304" y="905256"/>
            <a:ext cx="4133088" cy="138988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733574" y="920526"/>
            <a:ext cx="4102547" cy="213238"/>
          </a:xfrm>
          <a:prstGeom prst="rect">
            <a:avLst/>
          </a:prstGeom>
          <a:solidFill>
            <a:srgbClr val="24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733574" y="1133765"/>
            <a:ext cx="4102547" cy="1146109"/>
          </a:xfrm>
          <a:prstGeom prst="rect">
            <a:avLst/>
          </a:prstGeom>
          <a:solidFill>
            <a:srgbClr val="140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4901184" y="102714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F-stop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901184" y="1328623"/>
            <a:ext cx="243779" cy="1527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4901184" y="1438351"/>
            <a:ext cx="3767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that tells you how wide the aperture is open. It is written like f/4 or f/5.6.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92608" y="2514600"/>
            <a:ext cx="4133088" cy="138988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307878" y="2529870"/>
            <a:ext cx="4102547" cy="213238"/>
          </a:xfrm>
          <a:prstGeom prst="rect">
            <a:avLst/>
          </a:prstGeom>
          <a:solidFill>
            <a:srgbClr val="24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307878" y="2743109"/>
            <a:ext cx="4102547" cy="1146109"/>
          </a:xfrm>
          <a:prstGeom prst="rect">
            <a:avLst/>
          </a:prstGeom>
          <a:solidFill>
            <a:srgbClr val="140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475488" y="263649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Diaphragm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75488" y="2937967"/>
            <a:ext cx="243779" cy="1527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475488" y="3047695"/>
            <a:ext cx="3767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ring of thin metal blades inside the lens. They slide open and closed to change the aperture.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718304" y="2514600"/>
            <a:ext cx="4133088" cy="138988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4733574" y="2529870"/>
            <a:ext cx="4102547" cy="213238"/>
          </a:xfrm>
          <a:prstGeom prst="rect">
            <a:avLst/>
          </a:prstGeom>
          <a:solidFill>
            <a:srgbClr val="24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4733574" y="2743109"/>
            <a:ext cx="4102547" cy="1146109"/>
          </a:xfrm>
          <a:prstGeom prst="rect">
            <a:avLst/>
          </a:prstGeom>
          <a:solidFill>
            <a:srgbClr val="140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4901184" y="263649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4901184" y="2937967"/>
            <a:ext cx="243779" cy="1527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4901184" y="3047695"/>
            <a:ext cx="3767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full step of light. Move one stop and you either double the light or cut it in half.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292608" y="4016959"/>
            <a:ext cx="8558784" cy="701345"/>
          </a:xfrm>
          <a:prstGeom prst="rect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3525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292608" y="4016959"/>
            <a:ext cx="45720" cy="701345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521208" y="4169664"/>
            <a:ext cx="8162849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four words show up in every camera manual, every lens review, and every job on a set. Learn them now and the rest of the unit reads easily.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C4B5F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INDUSTRY VOCABULARY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C4B5F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KEY WORDS / 03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05256"/>
            <a:ext cx="4133088" cy="138988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07878" y="920526"/>
            <a:ext cx="4102547" cy="213238"/>
          </a:xfrm>
          <a:prstGeom prst="rect">
            <a:avLst/>
          </a:prstGeom>
          <a:solidFill>
            <a:srgbClr val="24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07878" y="1133765"/>
            <a:ext cx="4102547" cy="1146109"/>
          </a:xfrm>
          <a:prstGeom prst="rect">
            <a:avLst/>
          </a:prstGeom>
          <a:solidFill>
            <a:srgbClr val="140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475488" y="102714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aperture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75488" y="1328623"/>
            <a:ext cx="243779" cy="1527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475488" y="1438351"/>
            <a:ext cx="3767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widest a lens can open. It is printed right on the front of the lens.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18304" y="905256"/>
            <a:ext cx="4133088" cy="138988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733574" y="920526"/>
            <a:ext cx="4102547" cy="213238"/>
          </a:xfrm>
          <a:prstGeom prst="rect">
            <a:avLst/>
          </a:prstGeom>
          <a:solidFill>
            <a:srgbClr val="24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733574" y="1133765"/>
            <a:ext cx="4102547" cy="1146109"/>
          </a:xfrm>
          <a:prstGeom prst="rect">
            <a:avLst/>
          </a:prstGeom>
          <a:solidFill>
            <a:srgbClr val="140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4901184" y="102714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lens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901184" y="1328623"/>
            <a:ext cx="243779" cy="1527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4901184" y="1438351"/>
            <a:ext cx="3767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lens with a very wide maximum aperture, like f/1.8. It lets in a lot of light.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92608" y="2514600"/>
            <a:ext cx="4133088" cy="138988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307878" y="2529870"/>
            <a:ext cx="4102547" cy="213238"/>
          </a:xfrm>
          <a:prstGeom prst="rect">
            <a:avLst/>
          </a:prstGeom>
          <a:solidFill>
            <a:srgbClr val="24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307878" y="2743109"/>
            <a:ext cx="4102547" cy="1146109"/>
          </a:xfrm>
          <a:prstGeom prst="rect">
            <a:avLst/>
          </a:prstGeom>
          <a:solidFill>
            <a:srgbClr val="140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475488" y="263649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aperture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75488" y="2937967"/>
            <a:ext cx="243779" cy="1527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475488" y="3047695"/>
            <a:ext cx="3767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zoom lens whose widest opening gets smaller as you zoom in. Most kit lenses work this way.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718304" y="2514600"/>
            <a:ext cx="4133088" cy="138988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4733574" y="2529870"/>
            <a:ext cx="4102547" cy="213238"/>
          </a:xfrm>
          <a:prstGeom prst="rect">
            <a:avLst/>
          </a:prstGeom>
          <a:solidFill>
            <a:srgbClr val="24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4733574" y="2743109"/>
            <a:ext cx="4102547" cy="1146109"/>
          </a:xfrm>
          <a:prstGeom prst="rect">
            <a:avLst/>
          </a:prstGeom>
          <a:solidFill>
            <a:srgbClr val="140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4901184" y="263649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of field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4901184" y="2937967"/>
            <a:ext cx="243779" cy="1527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4901184" y="3047695"/>
            <a:ext cx="3767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of the photo looks sharp from front to back. Part 2 covers this in full.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292608" y="4016959"/>
            <a:ext cx="8558784" cy="701345"/>
          </a:xfrm>
          <a:prstGeom prst="rect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3525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292608" y="4016959"/>
            <a:ext cx="45720" cy="701345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521208" y="4169664"/>
            <a:ext cx="8162849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aperture is the number that decides what a lens can do in a dark room. It is the first thing a photographer checks before picking a lens for a job.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IS APERTURE?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CONTENT / 04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05256"/>
            <a:ext cx="4736592" cy="958291"/>
          </a:xfrm>
          <a:prstGeom prst="rect">
            <a:avLst/>
          </a:prstGeom>
          <a:solidFill>
            <a:srgbClr val="00B8B8">
              <a:alpha val="6000"/>
            </a:srgbClr>
          </a:solidFill>
          <a:ln w="12700">
            <a:solidFill>
              <a:srgbClr val="05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292608" y="905256"/>
            <a:ext cx="45720" cy="958291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521208" y="1057961"/>
            <a:ext cx="4340657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the pupil in your eye. In a dark room it opens wide. In bright sun it shrinks. Your lens does the same thing.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92608" y="2046427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292608" y="204642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768096" y="2028139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 HOLE YOU CONTROL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768096" y="2293315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aperture is an opening inside the lens. You decide how wide it opens.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92608" y="2846527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292608" y="284652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768096" y="2828239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IT SETS HOW MUCH LIGHT GETS IN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768096" y="3093415"/>
            <a:ext cx="4261104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wider opening lets more light reach the sensor.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292608" y="3479292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292608" y="34792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" y="3461004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IT CHANGES WHAT LOOKS SHARP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768096" y="3726180"/>
            <a:ext cx="4261104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Aperture controls depth of field too. That is all of Part 2.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5084064" y="414123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eye and your lens solve the same problem.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2318FB5-ADB4-7551-1F3A-C5F3716A6B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2983"/>
          <a:stretch>
            <a:fillRect/>
          </a:stretch>
        </p:blipFill>
        <p:spPr>
          <a:xfrm>
            <a:off x="5212080" y="912799"/>
            <a:ext cx="3364992" cy="31111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INSIDE THE LENS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CONTENT / 05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68096" y="9052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LOOK FOR THE BLADES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68096" y="1170432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every lens is a ring of thin metal blades called the diaphragm.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92608" y="17236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292608" y="17236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" y="17053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THEY SLIDE, THEY DO NOT SWAP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68096" y="1970532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blades slide across each other to open a bigger or smaller hole.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92608" y="25237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292608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68096" y="25054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SHAPE MATTERS LATER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68096" y="2770632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blades there are changes the look of out of focus lights. That is bokeh.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92608" y="3360420"/>
            <a:ext cx="4736592" cy="701345"/>
          </a:xfrm>
          <a:prstGeom prst="rect">
            <a:avLst/>
          </a:prstGeom>
          <a:solidFill>
            <a:srgbClr val="00B8B8">
              <a:alpha val="6000"/>
            </a:srgbClr>
          </a:solidFill>
          <a:ln w="12700">
            <a:solidFill>
              <a:srgbClr val="05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292608" y="3360420"/>
            <a:ext cx="45720" cy="701345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521208" y="3513125"/>
            <a:ext cx="4340657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lens off the camera and look through the back. You can watch the blades move.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5189894" y="4238244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diaphragm, stopped down. Count the blades.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2E1093F-B361-CA4C-ED6B-42502FB7E3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384" y="905256"/>
            <a:ext cx="3156029" cy="31560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THE F-NUMBER MEANS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CONTENT / 06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68096" y="9052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SLASH IS DOING REAL WORK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68096" y="1170432"/>
            <a:ext cx="3211793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f/4 is written like a fraction on purpose. The opening is about one fourth as wide as the lens is long.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92608" y="17236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292608" y="17236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" y="17053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SO F/2 IS A BIGGER SLICE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68096" y="1970532"/>
            <a:ext cx="3346705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half is bigger than one fourth. That is why f/2 is wider than f/4.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92608" y="25237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292608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68096" y="25054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THAT IS THE WHOLE TRICK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68096" y="2770632"/>
            <a:ext cx="306938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 see it as a fraction, the numbers stop feeling backwards.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358384" y="905256"/>
            <a:ext cx="45720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292608" y="3836822"/>
            <a:ext cx="8558784" cy="881482"/>
          </a:xfrm>
          <a:prstGeom prst="rect">
            <a:avLst/>
          </a:prstGeom>
          <a:solidFill>
            <a:srgbClr val="00B8B8">
              <a:alpha val="6000"/>
            </a:srgbClr>
          </a:solidFill>
          <a:ln w="12700">
            <a:solidFill>
              <a:srgbClr val="05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292608" y="3836822"/>
            <a:ext cx="45720" cy="881482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521208" y="3989527"/>
            <a:ext cx="8162849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it out loud as a fraction. "f four" becomes "one fourth" and the size makes sense. Every lens has its focal length printed on it, and the f-number is measured against that length, which is why f/2 on a short lens and f/2 on a long lens let in the same amount of light.</a:t>
            </a:r>
            <a:endParaRPr lang="en-US" sz="10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5B61BDA-FC74-DA87-5406-9E17ED3B84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423" r="15319"/>
          <a:stretch>
            <a:fillRect/>
          </a:stretch>
        </p:blipFill>
        <p:spPr>
          <a:xfrm>
            <a:off x="4525746" y="676656"/>
            <a:ext cx="2057220" cy="2970320"/>
          </a:xfrm>
          <a:prstGeom prst="rect">
            <a:avLst/>
          </a:prstGeom>
        </p:spPr>
      </p:pic>
      <p:pic>
        <p:nvPicPr>
          <p:cNvPr id="29" name="Picture 28" descr="01">
            <a:extLst>
              <a:ext uri="{FF2B5EF4-FFF2-40B4-BE49-F238E27FC236}">
                <a16:creationId xmlns:a16="http://schemas.microsoft.com/office/drawing/2014/main" id="{3D49F6D9-DA14-CB90-BD7F-0E5A4B23B99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318" t="36462" r="65961" b="45104"/>
          <a:stretch>
            <a:fillRect/>
          </a:stretch>
        </p:blipFill>
        <p:spPr>
          <a:xfrm>
            <a:off x="6793908" y="671109"/>
            <a:ext cx="1992942" cy="19623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E624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FFB3B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BACKWARDS RULE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FFB3B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RULES / 07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E62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292608" y="90525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kern="0" spc="190" dirty="0">
                <a:solidFill>
                  <a:srgbClr val="FFB3B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THIS IS THE ONE THING TO MEMORIZE TODAY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92608" y="1234440"/>
            <a:ext cx="4187952" cy="1481328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07878" y="1249710"/>
            <a:ext cx="4157411" cy="213238"/>
          </a:xfrm>
          <a:prstGeom prst="rect">
            <a:avLst/>
          </a:prstGeom>
          <a:solidFill>
            <a:srgbClr val="094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07878" y="1462949"/>
            <a:ext cx="4157411" cy="1237549"/>
          </a:xfrm>
          <a:prstGeom prst="rect">
            <a:avLst/>
          </a:prstGeom>
          <a:solidFill>
            <a:srgbClr val="041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475488" y="135633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number, big opening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75488" y="1657807"/>
            <a:ext cx="243779" cy="1527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475488" y="1767535"/>
            <a:ext cx="3822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f/1.8 is a wide opening. Lots of light. Good for dark rooms and blurred backgrounds.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718304" y="1234440"/>
            <a:ext cx="4187952" cy="1481328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733574" y="1249710"/>
            <a:ext cx="4157411" cy="213238"/>
          </a:xfrm>
          <a:prstGeom prst="rect">
            <a:avLst/>
          </a:prstGeom>
          <a:solidFill>
            <a:srgbClr val="3A1A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733574" y="1462949"/>
            <a:ext cx="4157411" cy="1237549"/>
          </a:xfrm>
          <a:prstGeom prst="rect">
            <a:avLst/>
          </a:prstGeom>
          <a:solidFill>
            <a:srgbClr val="1D0C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4901184" y="135633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B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number, small opening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901184" y="1657807"/>
            <a:ext cx="243779" cy="1527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4901184" y="1767535"/>
            <a:ext cx="3822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f/16 is a tiny opening. Very little light. Good for bright sun and keeping everything sharp.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292608" y="2898648"/>
            <a:ext cx="8558784" cy="701345"/>
          </a:xfrm>
          <a:prstGeom prst="rect">
            <a:avLst/>
          </a:prstGeom>
          <a:solidFill>
            <a:srgbClr val="E62429">
              <a:alpha val="6000"/>
            </a:srgbClr>
          </a:solidFill>
          <a:ln w="12700">
            <a:solidFill>
              <a:srgbClr val="5312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292608" y="2898648"/>
            <a:ext cx="45720" cy="701345"/>
          </a:xfrm>
          <a:prstGeom prst="rect">
            <a:avLst/>
          </a:prstGeom>
          <a:solidFill>
            <a:srgbClr val="E62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521208" y="3051353"/>
            <a:ext cx="8162849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feels backwards because the number is the bottom of a fraction. A bigger bottom number always means a smaller slice. One sixteenth is smaller than one half.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292608" y="3746297"/>
            <a:ext cx="8558784" cy="726948"/>
          </a:xfrm>
          <a:prstGeom prst="rect">
            <a:avLst/>
          </a:prstGeom>
          <a:solidFill>
            <a:srgbClr val="0C1010"/>
          </a:solidFill>
          <a:ln w="12700">
            <a:solidFill>
              <a:srgbClr val="F901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292608" y="3746297"/>
            <a:ext cx="45720" cy="726948"/>
          </a:xfrm>
          <a:prstGeom prst="rect">
            <a:avLst/>
          </a:prstGeom>
          <a:solidFill>
            <a:srgbClr val="F901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459943" y="3853282"/>
            <a:ext cx="8223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FF8F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REMEMBER THIS ONE LINE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459943" y="4127602"/>
            <a:ext cx="8223199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f-number means big opening. If you take nothing else from today, take that.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SEE THE OPENING CHANGE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CONTENT / 08 / 22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292608" y="4423410"/>
            <a:ext cx="8558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lens, five f-stops. Nothing changes except how much light can get through.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371600" y="4660367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kern="0" spc="19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LEFT TO RIGHT: WIDE OPEN TO STOPPED DOWN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A9A2E7-A904-DE19-A0DD-827FEDC23F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744" b="1782"/>
          <a:stretch>
            <a:fillRect/>
          </a:stretch>
        </p:blipFill>
        <p:spPr>
          <a:xfrm>
            <a:off x="1116347" y="731520"/>
            <a:ext cx="6911306" cy="35752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FULL F-STOP SCALE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REFERENCE / 09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333756" y="1335024"/>
            <a:ext cx="868680" cy="56692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49026" y="1350294"/>
            <a:ext cx="838139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49026" y="1563533"/>
            <a:ext cx="838139" cy="323149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349026" y="1350294"/>
            <a:ext cx="838139" cy="536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f/1.4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1284732" y="1335024"/>
            <a:ext cx="868680" cy="56692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1300002" y="1350294"/>
            <a:ext cx="838139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1300002" y="1563533"/>
            <a:ext cx="838139" cy="323149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1300002" y="1350294"/>
            <a:ext cx="838139" cy="536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f/2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2235708" y="1335024"/>
            <a:ext cx="868680" cy="56692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2250978" y="1350294"/>
            <a:ext cx="838139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250978" y="1563533"/>
            <a:ext cx="838139" cy="323149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2250978" y="1350294"/>
            <a:ext cx="838139" cy="536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f/2.8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186684" y="1335024"/>
            <a:ext cx="868680" cy="56692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3201954" y="1350294"/>
            <a:ext cx="838139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3201954" y="1563533"/>
            <a:ext cx="838139" cy="323149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3201954" y="1350294"/>
            <a:ext cx="838139" cy="536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f/4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4137660" y="1335024"/>
            <a:ext cx="868680" cy="56692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4152930" y="1350294"/>
            <a:ext cx="838139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4152930" y="1563533"/>
            <a:ext cx="838139" cy="323149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4152930" y="1350294"/>
            <a:ext cx="838139" cy="536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f/5.6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5088636" y="1335024"/>
            <a:ext cx="868680" cy="56692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5103906" y="1350294"/>
            <a:ext cx="838139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5103906" y="1563533"/>
            <a:ext cx="838139" cy="323149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5103906" y="1350294"/>
            <a:ext cx="838139" cy="536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f/8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6039612" y="1335024"/>
            <a:ext cx="868680" cy="56692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6054882" y="1350294"/>
            <a:ext cx="838139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6054882" y="1563533"/>
            <a:ext cx="838139" cy="323149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 txBox="1"/>
          <p:nvPr/>
        </p:nvSpPr>
        <p:spPr>
          <a:xfrm>
            <a:off x="6054882" y="1350294"/>
            <a:ext cx="838139" cy="536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f/11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6990588" y="1335024"/>
            <a:ext cx="868680" cy="56692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7005858" y="1350294"/>
            <a:ext cx="838139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7005858" y="1563533"/>
            <a:ext cx="838139" cy="323149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 txBox="1"/>
          <p:nvPr/>
        </p:nvSpPr>
        <p:spPr>
          <a:xfrm>
            <a:off x="7005858" y="1350294"/>
            <a:ext cx="838139" cy="536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f/16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7941564" y="1335024"/>
            <a:ext cx="868680" cy="56692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8"/>
          <p:cNvSpPr/>
          <p:nvPr/>
        </p:nvSpPr>
        <p:spPr>
          <a:xfrm>
            <a:off x="7956834" y="1350294"/>
            <a:ext cx="838139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9"/>
          <p:cNvSpPr/>
          <p:nvPr/>
        </p:nvSpPr>
        <p:spPr>
          <a:xfrm>
            <a:off x="7956834" y="1563533"/>
            <a:ext cx="838139" cy="323149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 txBox="1"/>
          <p:nvPr/>
        </p:nvSpPr>
        <p:spPr>
          <a:xfrm>
            <a:off x="7956834" y="1350294"/>
            <a:ext cx="838139" cy="536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f/22</a:t>
            </a:r>
            <a:endParaRPr lang="en-US" sz="1300" dirty="0"/>
          </a:p>
        </p:txBody>
      </p:sp>
      <p:sp>
        <p:nvSpPr>
          <p:cNvPr id="45" name="Text 41"/>
          <p:cNvSpPr txBox="1"/>
          <p:nvPr/>
        </p:nvSpPr>
        <p:spPr>
          <a:xfrm>
            <a:off x="333756" y="10058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kern="0" spc="190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WIDE OPEN</a:t>
            </a:r>
            <a:endParaRPr lang="en-US" sz="950" dirty="0"/>
          </a:p>
        </p:txBody>
      </p:sp>
      <p:sp>
        <p:nvSpPr>
          <p:cNvPr id="46" name="Text 42"/>
          <p:cNvSpPr txBox="1"/>
          <p:nvPr/>
        </p:nvSpPr>
        <p:spPr>
          <a:xfrm>
            <a:off x="6615684" y="10058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b="1" kern="0" spc="190" dirty="0">
                <a:solidFill>
                  <a:srgbClr val="FFB27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STOPPED DOWN</a:t>
            </a:r>
            <a:endParaRPr lang="en-US" sz="950" dirty="0"/>
          </a:p>
        </p:txBody>
      </p:sp>
      <p:sp>
        <p:nvSpPr>
          <p:cNvPr id="47" name="Text 43"/>
          <p:cNvSpPr txBox="1"/>
          <p:nvPr/>
        </p:nvSpPr>
        <p:spPr>
          <a:xfrm>
            <a:off x="333756" y="19751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kern="0" spc="190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MORE LIGHT</a:t>
            </a:r>
            <a:endParaRPr lang="en-US" sz="950" dirty="0"/>
          </a:p>
        </p:txBody>
      </p:sp>
      <p:sp>
        <p:nvSpPr>
          <p:cNvPr id="48" name="Text 44"/>
          <p:cNvSpPr txBox="1"/>
          <p:nvPr/>
        </p:nvSpPr>
        <p:spPr>
          <a:xfrm>
            <a:off x="6615684" y="19751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b="1" kern="0" spc="190" dirty="0">
                <a:solidFill>
                  <a:srgbClr val="FFB27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LESS LIGHT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292608" y="2395728"/>
            <a:ext cx="8558784" cy="521208"/>
          </a:xfrm>
          <a:prstGeom prst="rect">
            <a:avLst/>
          </a:prstGeom>
          <a:solidFill>
            <a:srgbClr val="00C2FF">
              <a:alpha val="6000"/>
            </a:srgbClr>
          </a:solidFill>
          <a:ln w="12700">
            <a:solidFill>
              <a:srgbClr val="054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6"/>
          <p:cNvSpPr/>
          <p:nvPr/>
        </p:nvSpPr>
        <p:spPr>
          <a:xfrm>
            <a:off x="292608" y="2395728"/>
            <a:ext cx="45720" cy="52120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 txBox="1"/>
          <p:nvPr/>
        </p:nvSpPr>
        <p:spPr>
          <a:xfrm>
            <a:off x="521208" y="2548433"/>
            <a:ext cx="8162849" cy="253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full stops. Every step to the right cuts the light in half. Every step to the left doubles it.</a:t>
            </a:r>
            <a:endParaRPr lang="en-US" sz="1050" dirty="0"/>
          </a:p>
        </p:txBody>
      </p:sp>
      <p:sp>
        <p:nvSpPr>
          <p:cNvPr id="52" name="Shape 48"/>
          <p:cNvSpPr/>
          <p:nvPr/>
        </p:nvSpPr>
        <p:spPr>
          <a:xfrm>
            <a:off x="292608" y="3063240"/>
            <a:ext cx="8558784" cy="701345"/>
          </a:xfrm>
          <a:prstGeom prst="rect">
            <a:avLst/>
          </a:prstGeom>
          <a:solidFill>
            <a:srgbClr val="00C2FF">
              <a:alpha val="6000"/>
            </a:srgbClr>
          </a:solidFill>
          <a:ln w="12700">
            <a:solidFill>
              <a:srgbClr val="054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9"/>
          <p:cNvSpPr/>
          <p:nvPr/>
        </p:nvSpPr>
        <p:spPr>
          <a:xfrm>
            <a:off x="292608" y="3063240"/>
            <a:ext cx="45720" cy="701345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 txBox="1"/>
          <p:nvPr/>
        </p:nvSpPr>
        <p:spPr>
          <a:xfrm>
            <a:off x="521208" y="3215945"/>
            <a:ext cx="8162849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camera moves in one third stops, so you will also see f/3.2 and f/4.5 in between. Those are fine. The full stops above are the ones to memorize.</a:t>
            </a:r>
            <a:endParaRPr lang="en-US" sz="1050" dirty="0"/>
          </a:p>
        </p:txBody>
      </p:sp>
      <p:sp>
        <p:nvSpPr>
          <p:cNvPr id="55" name="Shape 51"/>
          <p:cNvSpPr/>
          <p:nvPr/>
        </p:nvSpPr>
        <p:spPr>
          <a:xfrm>
            <a:off x="292608" y="4041648"/>
            <a:ext cx="8558784" cy="894283"/>
          </a:xfrm>
          <a:prstGeom prst="rect">
            <a:avLst/>
          </a:prstGeom>
          <a:solidFill>
            <a:srgbClr val="0C1010"/>
          </a:solidFill>
          <a:ln w="12700">
            <a:solidFill>
              <a:srgbClr val="F901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2"/>
          <p:cNvSpPr/>
          <p:nvPr/>
        </p:nvSpPr>
        <p:spPr>
          <a:xfrm>
            <a:off x="292608" y="4041648"/>
            <a:ext cx="45720" cy="894283"/>
          </a:xfrm>
          <a:prstGeom prst="rect">
            <a:avLst/>
          </a:prstGeom>
          <a:solidFill>
            <a:srgbClr val="F901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3"/>
          <p:cNvSpPr txBox="1"/>
          <p:nvPr/>
        </p:nvSpPr>
        <p:spPr>
          <a:xfrm>
            <a:off x="459943" y="4148633"/>
            <a:ext cx="8223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FF8F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COUNT IT YOURSELF</a:t>
            </a:r>
            <a:endParaRPr lang="en-US" sz="1100" dirty="0"/>
          </a:p>
        </p:txBody>
      </p:sp>
      <p:sp>
        <p:nvSpPr>
          <p:cNvPr id="58" name="Text 54"/>
          <p:cNvSpPr txBox="1"/>
          <p:nvPr/>
        </p:nvSpPr>
        <p:spPr>
          <a:xfrm>
            <a:off x="459943" y="4422953"/>
            <a:ext cx="8223199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f/4 to f/8 is two full stops, so f/8 gets one quarter of the light. f/4 to f/2 is one stop wider, so f/2 gets twice as much.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ONE STOP DOES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CONTENT / 10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68096" y="9052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ONE STOP WIDER DOUBLES THE LIGHT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68096" y="1170432"/>
            <a:ext cx="4261104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from f/5.6 to f/4 lets in twice as much light.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92608" y="1556309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292608" y="155630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" y="1538021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ONE STOP SMALLER HALVES IT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68096" y="1803197"/>
            <a:ext cx="4261104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from f/4 to f/5.6 cuts the light in half.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92608" y="218907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292608" y="21890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68096" y="217078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STOPS ARE THE SHARED LANGUAGE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68096" y="2435962"/>
            <a:ext cx="4261104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Aperture, shutter speed and ISO are all measured in stops.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92608" y="2858414"/>
            <a:ext cx="4736592" cy="726948"/>
          </a:xfrm>
          <a:prstGeom prst="rect">
            <a:avLst/>
          </a:prstGeom>
          <a:solidFill>
            <a:srgbClr val="0C1010"/>
          </a:solidFill>
          <a:ln w="12700">
            <a:solidFill>
              <a:srgbClr val="F901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292608" y="2858414"/>
            <a:ext cx="45720" cy="726948"/>
          </a:xfrm>
          <a:prstGeom prst="rect">
            <a:avLst/>
          </a:prstGeom>
          <a:solidFill>
            <a:srgbClr val="F901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459943" y="2965399"/>
            <a:ext cx="44010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FF8F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HALF IS A BIG CHANGE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459943" y="3239719"/>
            <a:ext cx="4401007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stops is a quarter of the light. Three stops is an eighth.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358384" y="905256"/>
            <a:ext cx="3493008" cy="1353312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5373654" y="920526"/>
            <a:ext cx="3462467" cy="213238"/>
          </a:xfrm>
          <a:prstGeom prst="rect">
            <a:avLst/>
          </a:prstGeom>
          <a:solidFill>
            <a:srgbClr val="094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5373654" y="1133765"/>
            <a:ext cx="3462467" cy="1109533"/>
          </a:xfrm>
          <a:prstGeom prst="rect">
            <a:avLst/>
          </a:prstGeom>
          <a:solidFill>
            <a:srgbClr val="041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5541264" y="1027146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f/2.8 to f/2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5541264" y="1328623"/>
            <a:ext cx="243779" cy="1527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5541264" y="1438351"/>
            <a:ext cx="31272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stop wider. Twice the light hits the sensor.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5358384" y="2395728"/>
            <a:ext cx="3493008" cy="1353312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5373654" y="2410998"/>
            <a:ext cx="3462467" cy="213238"/>
          </a:xfrm>
          <a:prstGeom prst="rect">
            <a:avLst/>
          </a:prstGeom>
          <a:solidFill>
            <a:srgbClr val="3A1A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5373654" y="2624237"/>
            <a:ext cx="3462467" cy="1109533"/>
          </a:xfrm>
          <a:prstGeom prst="rect">
            <a:avLst/>
          </a:prstGeom>
          <a:solidFill>
            <a:srgbClr val="1D0C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 txBox="1"/>
          <p:nvPr/>
        </p:nvSpPr>
        <p:spPr>
          <a:xfrm>
            <a:off x="5541264" y="251761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B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f/2.8 to f/5.6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5541264" y="2819095"/>
            <a:ext cx="243779" cy="1527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 txBox="1"/>
          <p:nvPr/>
        </p:nvSpPr>
        <p:spPr>
          <a:xfrm>
            <a:off x="5541264" y="2928823"/>
            <a:ext cx="31272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stops smaller. Only one quarter of the light.</a:t>
            </a:r>
            <a:endParaRPr lang="en-US" sz="1050" dirty="0"/>
          </a:p>
        </p:txBody>
      </p:sp>
      <p:sp>
        <p:nvSpPr>
          <p:cNvPr id="37" name="Text 33"/>
          <p:cNvSpPr txBox="1"/>
          <p:nvPr/>
        </p:nvSpPr>
        <p:spPr>
          <a:xfrm>
            <a:off x="5358384" y="411480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the steps on the scale to count the stops.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292608" y="4016959"/>
            <a:ext cx="8558784" cy="701345"/>
          </a:xfrm>
          <a:prstGeom prst="rect">
            <a:avLst/>
          </a:prstGeom>
          <a:solidFill>
            <a:srgbClr val="00B8B8">
              <a:alpha val="6000"/>
            </a:srgbClr>
          </a:solidFill>
          <a:ln w="12700">
            <a:solidFill>
              <a:srgbClr val="05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292608" y="4016959"/>
            <a:ext cx="45720" cy="701345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 txBox="1"/>
          <p:nvPr/>
        </p:nvSpPr>
        <p:spPr>
          <a:xfrm>
            <a:off x="521208" y="4169664"/>
            <a:ext cx="8162849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at f/5.6 and the photo is too dark. Open to f/4 and you have doubled the light. Open again to f/2.8 and you have four times what you started with.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APERTURE NEVER WORKS ALONE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CONTENT / 11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05256"/>
            <a:ext cx="8558784" cy="752551"/>
          </a:xfrm>
          <a:prstGeom prst="rect">
            <a:avLst/>
          </a:prstGeom>
          <a:solidFill>
            <a:srgbClr val="00B8B8">
              <a:alpha val="6000"/>
            </a:srgbClr>
          </a:solidFill>
          <a:ln w="12700">
            <a:solidFill>
              <a:srgbClr val="05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292608" y="905256"/>
            <a:ext cx="45720" cy="752551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521208" y="1057961"/>
            <a:ext cx="816284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photo needs a certain amount of light to look right. Aperture is one of three ways to control it. Change one and you have to change another to stay balanced.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92608" y="1840687"/>
            <a:ext cx="2706624" cy="1481328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07878" y="1855958"/>
            <a:ext cx="2676083" cy="213238"/>
          </a:xfrm>
          <a:prstGeom prst="rect">
            <a:avLst/>
          </a:prstGeom>
          <a:solidFill>
            <a:srgbClr val="094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07878" y="2069196"/>
            <a:ext cx="2676083" cy="1237549"/>
          </a:xfrm>
          <a:prstGeom prst="rect">
            <a:avLst/>
          </a:prstGeom>
          <a:solidFill>
            <a:srgbClr val="041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475488" y="1962577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Aperture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75488" y="2264054"/>
            <a:ext cx="243779" cy="1527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475488" y="2373782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wide the lens opens. Also controls depth of field.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218688" y="1840687"/>
            <a:ext cx="2706624" cy="1481328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233958" y="1855958"/>
            <a:ext cx="2676083" cy="213238"/>
          </a:xfrm>
          <a:prstGeom prst="rect">
            <a:avLst/>
          </a:prstGeom>
          <a:solidFill>
            <a:srgbClr val="094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233958" y="2069196"/>
            <a:ext cx="2676083" cy="1237549"/>
          </a:xfrm>
          <a:prstGeom prst="rect">
            <a:avLst/>
          </a:prstGeom>
          <a:solidFill>
            <a:srgbClr val="041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3401568" y="1962577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Shutter speed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3401568" y="2264054"/>
            <a:ext cx="243779" cy="1527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3401568" y="2373782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long the sensor is exposed. Also controls motion blur.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144768" y="1840687"/>
            <a:ext cx="2706624" cy="1481328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6160038" y="1855958"/>
            <a:ext cx="2676083" cy="213238"/>
          </a:xfrm>
          <a:prstGeom prst="rect">
            <a:avLst/>
          </a:prstGeom>
          <a:solidFill>
            <a:srgbClr val="094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6160038" y="2069196"/>
            <a:ext cx="2676083" cy="1237549"/>
          </a:xfrm>
          <a:prstGeom prst="rect">
            <a:avLst/>
          </a:prstGeom>
          <a:solidFill>
            <a:srgbClr val="041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6327648" y="1962577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327648" y="2264054"/>
            <a:ext cx="243779" cy="1527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 txBox="1"/>
          <p:nvPr/>
        </p:nvSpPr>
        <p:spPr>
          <a:xfrm>
            <a:off x="6327648" y="2373782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sensitive the sensor is. Also controls picture noise.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292608" y="3504895"/>
            <a:ext cx="8558784" cy="701345"/>
          </a:xfrm>
          <a:prstGeom prst="rect">
            <a:avLst/>
          </a:prstGeom>
          <a:solidFill>
            <a:srgbClr val="00B8B8">
              <a:alpha val="6000"/>
            </a:srgbClr>
          </a:solidFill>
          <a:ln w="12700">
            <a:solidFill>
              <a:srgbClr val="05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292608" y="3504895"/>
            <a:ext cx="45720" cy="701345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521208" y="3657600"/>
            <a:ext cx="8162849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Photographers call these three the exposure triangle. Open the aperture one stop and the camera can use a shutter speed one stop faster.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READ WHAT THE CAMERA TELLS YOU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STEP 2 / 14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68096" y="9052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WATCH THE SHUTTER SPEED MOVE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68096" y="1170432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aperture and it gets faster. Close it and it slows down.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92608" y="17236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292608" y="17236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" y="17053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CHECK THE EXPOSURE METER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68096" y="1970532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should sit at zero. If not, the scene is too bright or too dark for that f-stop.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92608" y="25237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292608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06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68096" y="25054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TAKE THE PHOTO AND LOOK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68096" y="2770632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it on screen. Ask if the brightness and the sharp area look the way you wanted.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5321522" y="4211449"/>
            <a:ext cx="3403067" cy="175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 need is on one screen.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8F85240-EF1C-A379-14BF-D32C355F3AA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588" b="18032"/>
          <a:stretch>
            <a:fillRect/>
          </a:stretch>
        </p:blipFill>
        <p:spPr>
          <a:xfrm>
            <a:off x="5321522" y="699516"/>
            <a:ext cx="3275337" cy="34318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E624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FFB3B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TRAP IN AV MODE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FFB3B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WARNING / 15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E62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05256"/>
            <a:ext cx="8558784" cy="726948"/>
          </a:xfrm>
          <a:prstGeom prst="rect">
            <a:avLst/>
          </a:prstGeom>
          <a:solidFill>
            <a:srgbClr val="0C1010"/>
          </a:solidFill>
          <a:ln w="12700">
            <a:solidFill>
              <a:srgbClr val="F901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292608" y="905256"/>
            <a:ext cx="45720" cy="726948"/>
          </a:xfrm>
          <a:prstGeom prst="rect">
            <a:avLst/>
          </a:prstGeom>
          <a:solidFill>
            <a:srgbClr val="F901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459943" y="1012241"/>
            <a:ext cx="8223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FF8F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AV WILL HAND YOU A SHUTTER SPEED TOO SLOW TO HOLD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459943" y="1286561"/>
            <a:ext cx="8223199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photo comes out blurry and it is not the focus, it is camera movement.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92608" y="1815084"/>
            <a:ext cx="4133088" cy="1444752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07878" y="1830354"/>
            <a:ext cx="4102547" cy="213238"/>
          </a:xfrm>
          <a:prstGeom prst="rect">
            <a:avLst/>
          </a:prstGeom>
          <a:solidFill>
            <a:srgbClr val="094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07878" y="2043593"/>
            <a:ext cx="4102547" cy="1200973"/>
          </a:xfrm>
          <a:prstGeom prst="rect">
            <a:avLst/>
          </a:prstGeom>
          <a:solidFill>
            <a:srgbClr val="041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475488" y="193697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safe number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75488" y="2238451"/>
            <a:ext cx="243779" cy="1527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475488" y="2348179"/>
            <a:ext cx="376732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your shutter speed at 1/60 or faster when the camera is in your hands.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718304" y="1815084"/>
            <a:ext cx="4133088" cy="1444752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733574" y="1830354"/>
            <a:ext cx="4102547" cy="213238"/>
          </a:xfrm>
          <a:prstGeom prst="rect">
            <a:avLst/>
          </a:prstGeom>
          <a:solidFill>
            <a:srgbClr val="094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733574" y="2043593"/>
            <a:ext cx="4102547" cy="1200973"/>
          </a:xfrm>
          <a:prstGeom prst="rect">
            <a:avLst/>
          </a:prstGeom>
          <a:solidFill>
            <a:srgbClr val="041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4901184" y="193697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drops below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4901184" y="2238451"/>
            <a:ext cx="243779" cy="1527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4901184" y="2348179"/>
            <a:ext cx="376732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aperture wider, raise the ISO, or put the camera on a tripod.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292608" y="3442716"/>
            <a:ext cx="8558784" cy="701345"/>
          </a:xfrm>
          <a:prstGeom prst="rect">
            <a:avLst/>
          </a:prstGeom>
          <a:solidFill>
            <a:srgbClr val="E62429">
              <a:alpha val="6000"/>
            </a:srgbClr>
          </a:solidFill>
          <a:ln w="12700">
            <a:solidFill>
              <a:srgbClr val="5312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292608" y="3442716"/>
            <a:ext cx="45720" cy="701345"/>
          </a:xfrm>
          <a:prstGeom prst="rect">
            <a:avLst/>
          </a:prstGeom>
          <a:solidFill>
            <a:srgbClr val="E62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521208" y="3595421"/>
            <a:ext cx="8162849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habit: glance at the shutter speed every time you change the f-stop. It takes half a second and it saves the photo.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292608" y="4016959"/>
            <a:ext cx="8558784" cy="701345"/>
          </a:xfrm>
          <a:prstGeom prst="rect">
            <a:avLst/>
          </a:prstGeom>
          <a:solidFill>
            <a:srgbClr val="E62429">
              <a:alpha val="6000"/>
            </a:srgbClr>
          </a:solidFill>
          <a:ln w="12700">
            <a:solidFill>
              <a:srgbClr val="5312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292608" y="4016959"/>
            <a:ext cx="45720" cy="701345"/>
          </a:xfrm>
          <a:prstGeom prst="rect">
            <a:avLst/>
          </a:prstGeom>
          <a:solidFill>
            <a:srgbClr val="E62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521208" y="4169664"/>
            <a:ext cx="8162849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mode is not being careless. You told it the aperture matters most, so shutter speed is the only setting it has left to move.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THREE LENSES IN OUR KIT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REFERENCE / 16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05256"/>
            <a:ext cx="8558784" cy="950976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07878" y="920526"/>
            <a:ext cx="8528243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07878" y="1133765"/>
            <a:ext cx="8528243" cy="707197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475488" y="101196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RF-S 18-45MM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75488" y="132286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kern="0" spc="40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f/4.5 to f/6.3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75488" y="1295430"/>
            <a:ext cx="243779" cy="1527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2977926" y="1027146"/>
            <a:ext cx="5690311" cy="706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kit zoom. Wide to short telephoto. Your everyday lens.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92608" y="1984248"/>
            <a:ext cx="8558784" cy="950976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07878" y="1999518"/>
            <a:ext cx="8528243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07878" y="2212757"/>
            <a:ext cx="8528243" cy="707197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475488" y="209095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RF 50MM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475488" y="240185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kern="0" spc="40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f/1.8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75488" y="2374422"/>
            <a:ext cx="243779" cy="1527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2977926" y="2106138"/>
            <a:ext cx="5690311" cy="706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prime. Does not zoom. By far the widest opening we own.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292608" y="3063240"/>
            <a:ext cx="8558784" cy="950976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307878" y="3078510"/>
            <a:ext cx="8528243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307878" y="3291749"/>
            <a:ext cx="8528243" cy="707197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475488" y="316995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RF-S 55-210MM</a:t>
            </a:r>
            <a:endParaRPr lang="en-US" sz="1250" dirty="0"/>
          </a:p>
        </p:txBody>
      </p:sp>
      <p:sp>
        <p:nvSpPr>
          <p:cNvPr id="27" name="Text 23"/>
          <p:cNvSpPr txBox="1"/>
          <p:nvPr/>
        </p:nvSpPr>
        <p:spPr>
          <a:xfrm>
            <a:off x="475488" y="348084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kern="0" spc="40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f/5 to f/7.1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475488" y="3453414"/>
            <a:ext cx="243779" cy="1527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 txBox="1"/>
          <p:nvPr/>
        </p:nvSpPr>
        <p:spPr>
          <a:xfrm>
            <a:off x="2977926" y="3185130"/>
            <a:ext cx="5690311" cy="706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long zoom. Reaches far. The smallest maximum opening of the three.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292608" y="4142232"/>
            <a:ext cx="8558784" cy="726948"/>
          </a:xfrm>
          <a:prstGeom prst="rect">
            <a:avLst/>
          </a:prstGeom>
          <a:solidFill>
            <a:srgbClr val="0C1010"/>
          </a:solidFill>
          <a:ln w="12700">
            <a:solidFill>
              <a:srgbClr val="F901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292608" y="4142232"/>
            <a:ext cx="45720" cy="726948"/>
          </a:xfrm>
          <a:prstGeom prst="rect">
            <a:avLst/>
          </a:prstGeom>
          <a:solidFill>
            <a:srgbClr val="F901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459943" y="4249217"/>
            <a:ext cx="8223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FF8F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HIGHLIGHTED NUMBER IS THE MAXIMUM APERTURE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459943" y="4523537"/>
            <a:ext cx="8223199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widest that lens will ever open, and it is printed on the front of the barrel.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WHY ZOOMS LIST TWO NUMBERS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CONTENT / 17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68096" y="9052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LOOK AT F/4.5 TO 6.3 AGAIN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68096" y="1170432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not a range you choose. It is what the widest opening becomes as you zoom.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92608" y="17236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292608" y="17236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" y="17053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ZOOMED OUT YOU GET F/4.5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68096" y="1970532"/>
            <a:ext cx="4261104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18mm the lens can open to f/4.5, its widest.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92608" y="2356409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292608" y="235640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68096" y="2338121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ZOOMED IN YOU ONLY GET F/6.3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68096" y="2603297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45mm the widest it will go is f/6.3. You just lost light by zooming.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92608" y="3193085"/>
            <a:ext cx="4736592" cy="894283"/>
          </a:xfrm>
          <a:prstGeom prst="rect">
            <a:avLst/>
          </a:prstGeom>
          <a:solidFill>
            <a:srgbClr val="0C1010"/>
          </a:solidFill>
          <a:ln w="12700">
            <a:solidFill>
              <a:srgbClr val="F901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292608" y="3193085"/>
            <a:ext cx="45720" cy="894283"/>
          </a:xfrm>
          <a:prstGeom prst="rect">
            <a:avLst/>
          </a:prstGeom>
          <a:solidFill>
            <a:srgbClr val="F901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459943" y="3300070"/>
            <a:ext cx="44010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FF8F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THIS ONE SURPRISES PEOPLE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459943" y="3574390"/>
            <a:ext cx="4401007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in during a dark gym and the camera quietly takes light away from you.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358384" y="905256"/>
            <a:ext cx="3493008" cy="131673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5373654" y="920526"/>
            <a:ext cx="3462467" cy="213238"/>
          </a:xfrm>
          <a:prstGeom prst="rect">
            <a:avLst/>
          </a:prstGeom>
          <a:solidFill>
            <a:srgbClr val="094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5373654" y="1133765"/>
            <a:ext cx="3462467" cy="1072957"/>
          </a:xfrm>
          <a:prstGeom prst="rect">
            <a:avLst/>
          </a:prstGeom>
          <a:solidFill>
            <a:srgbClr val="041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5541264" y="1027146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18-45mm zoom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5541264" y="1328623"/>
            <a:ext cx="243779" cy="1527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5541264" y="1438351"/>
            <a:ext cx="31272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f/4.5 at the wide end. f/6.3 at the long end.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5358384" y="2359152"/>
            <a:ext cx="3493008" cy="131673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5373654" y="2374422"/>
            <a:ext cx="3462467" cy="213238"/>
          </a:xfrm>
          <a:prstGeom prst="rect">
            <a:avLst/>
          </a:prstGeom>
          <a:solidFill>
            <a:srgbClr val="094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5373654" y="2587661"/>
            <a:ext cx="3462467" cy="1072957"/>
          </a:xfrm>
          <a:prstGeom prst="rect">
            <a:avLst/>
          </a:prstGeom>
          <a:solidFill>
            <a:srgbClr val="041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 txBox="1"/>
          <p:nvPr/>
        </p:nvSpPr>
        <p:spPr>
          <a:xfrm>
            <a:off x="5541264" y="248104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50mm prime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5541264" y="2782519"/>
            <a:ext cx="243779" cy="1527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 txBox="1"/>
          <p:nvPr/>
        </p:nvSpPr>
        <p:spPr>
          <a:xfrm>
            <a:off x="5541264" y="2892247"/>
            <a:ext cx="31272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f/1.8 at every focal length, because it has only one.</a:t>
            </a:r>
            <a:endParaRPr lang="en-US" sz="1050" dirty="0"/>
          </a:p>
        </p:txBody>
      </p:sp>
      <p:sp>
        <p:nvSpPr>
          <p:cNvPr id="37" name="Text 33"/>
          <p:cNvSpPr txBox="1"/>
          <p:nvPr/>
        </p:nvSpPr>
        <p:spPr>
          <a:xfrm>
            <a:off x="5358384" y="378561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Primes hold their maximum aperture. Zooms often do not.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FAST LENSES AND SLOW LENSES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CONTENT / 18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05256"/>
            <a:ext cx="8558784" cy="752551"/>
          </a:xfrm>
          <a:prstGeom prst="rect">
            <a:avLst/>
          </a:prstGeom>
          <a:solidFill>
            <a:srgbClr val="00B8B8">
              <a:alpha val="6000"/>
            </a:srgbClr>
          </a:solidFill>
          <a:ln w="12700">
            <a:solidFill>
              <a:srgbClr val="05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292608" y="905256"/>
            <a:ext cx="45720" cy="752551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521208" y="1057961"/>
            <a:ext cx="816284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industry a lens is called fast or slow. It has nothing to do with focusing speed. It describes the maximum aperture.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92608" y="1840687"/>
            <a:ext cx="4133088" cy="1517904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07878" y="1855958"/>
            <a:ext cx="4102547" cy="213238"/>
          </a:xfrm>
          <a:prstGeom prst="rect">
            <a:avLst/>
          </a:prstGeom>
          <a:solidFill>
            <a:srgbClr val="094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07878" y="2069196"/>
            <a:ext cx="4102547" cy="1274125"/>
          </a:xfrm>
          <a:prstGeom prst="rect">
            <a:avLst/>
          </a:prstGeom>
          <a:solidFill>
            <a:srgbClr val="041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475488" y="1962577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lens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75488" y="2264054"/>
            <a:ext cx="243779" cy="1527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475488" y="2373782"/>
            <a:ext cx="37673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maximum aperture, around f/1.8 or f/2.8. Lets in a lot of light, so the shutter speed can be fast.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718304" y="1840687"/>
            <a:ext cx="4133088" cy="1517904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733574" y="1855958"/>
            <a:ext cx="4102547" cy="213238"/>
          </a:xfrm>
          <a:prstGeom prst="rect">
            <a:avLst/>
          </a:prstGeom>
          <a:solidFill>
            <a:srgbClr val="3A1A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733574" y="2069196"/>
            <a:ext cx="4102547" cy="1274125"/>
          </a:xfrm>
          <a:prstGeom prst="rect">
            <a:avLst/>
          </a:prstGeom>
          <a:solidFill>
            <a:srgbClr val="1D0C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4901184" y="1962577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B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lens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901184" y="2264054"/>
            <a:ext cx="243779" cy="1527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4901184" y="2373782"/>
            <a:ext cx="37673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maximum aperture, around f/5.6 or f/6.3. Needs more light, so the shutter speed has to be slower.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292608" y="4016959"/>
            <a:ext cx="8558784" cy="701345"/>
          </a:xfrm>
          <a:prstGeom prst="rect">
            <a:avLst/>
          </a:prstGeom>
          <a:solidFill>
            <a:srgbClr val="00B8B8">
              <a:alpha val="6000"/>
            </a:srgbClr>
          </a:solidFill>
          <a:ln w="12700">
            <a:solidFill>
              <a:srgbClr val="05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292608" y="4016959"/>
            <a:ext cx="45720" cy="701345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521208" y="4169664"/>
            <a:ext cx="8162849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RF 50mm f/1.8 is a fast lens. Our 55-210mm at f/7.1 is a slow lens. Same camera, very different results indoors. Look at the front of any lens and you will find its maximum aperture printed there.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WHY THE 50MM IS WORTH GRABBING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CONTENT / 19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68096" y="9052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IT OPENS TO F/1.8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68096" y="1170432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three stops wider than the kit zoom at f/6.3. Eight times more light.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92608" y="17236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292608" y="17236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" y="17053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IT SAVES YOU INDOORS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68096" y="1970532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the only lens in the kit that gets a clean photo without a tripod.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92608" y="25237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292608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68096" y="25054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IT BLURS BACKGROUNDS BEST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68096" y="2770632"/>
            <a:ext cx="4261104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wide opening gives the shallowest depth of field in our kit.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92608" y="3156509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292608" y="315650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768096" y="3138221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YOU ZOOM WITH YOUR FEET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768096" y="3403397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zoom, so you walk closer or step back. That makes you frame on purpose.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358384" y="905256"/>
            <a:ext cx="45720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5511089" y="978408"/>
            <a:ext cx="31885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kern="0" spc="19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IMG-08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5322707" y="411937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50mm f/1.8 STM. The fastest lens we own.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83CDCCE-4F3E-30D8-FE9A-889C222623B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811" t="17643" r="26247" b="17399"/>
          <a:stretch>
            <a:fillRect/>
          </a:stretch>
        </p:blipFill>
        <p:spPr>
          <a:xfrm>
            <a:off x="5322707" y="691834"/>
            <a:ext cx="3493008" cy="33329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APERTURE IN LOW LIGHT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CONTENT / 20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68096" y="9052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OPEN UP BEFORE YOU RAISE ISO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68096" y="1170432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wider aperture adds light for free. Raising ISO adds light and also adds noise.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92608" y="17236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292608" y="17236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" y="17053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THEN CHECK YOUR SHUTTER SPEED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68096" y="1970532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is still under 1/60, you have run out of aperture and ISO is the next move.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92608" y="25237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292608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68096" y="25054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THEN THINK ABOUT SUPPORT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68096" y="2770632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tripod or a steady surface lets you use a slow shutter speed without blur.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92608" y="3360420"/>
            <a:ext cx="4736592" cy="701345"/>
          </a:xfrm>
          <a:prstGeom prst="rect">
            <a:avLst/>
          </a:prstGeom>
          <a:solidFill>
            <a:srgbClr val="00B8B8">
              <a:alpha val="6000"/>
            </a:srgbClr>
          </a:solidFill>
          <a:ln w="12700">
            <a:solidFill>
              <a:srgbClr val="05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292608" y="3360420"/>
            <a:ext cx="45720" cy="701345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521208" y="3513125"/>
            <a:ext cx="4340657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of operations indoors: open the aperture, raise the ISO, add support. In that order.</a:t>
            </a:r>
            <a:endParaRPr lang="en-US" sz="10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A47E7E8-8654-9BEF-7056-0D714EC5F8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197549"/>
            <a:ext cx="2400021" cy="474840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CHECK YOURSELF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STUDY / 21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68096" y="905256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WHICH LETS IN MORE LIGHT, F/2.8 OR F/8?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292608" y="1517904"/>
            <a:ext cx="310896" cy="310896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292608" y="1517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768096" y="1499616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YOU MOVE FROM F/4 TO F/5.6. DID THE LIGHT DOUBLE OR GET CUT IN HALF?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292608" y="2112264"/>
            <a:ext cx="310896" cy="310896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292608" y="2112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768096" y="2093976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IS THE MAXIMUM APERTURE OF OUR RF 50MM PRIME?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292608" y="2706624"/>
            <a:ext cx="310896" cy="310896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292608" y="2706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768096" y="2688336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YOUR KIT ZOOM READS F/4.5 TO 6.3. WHAT HAPPENS WHEN YOU ZOOM IN?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292608" y="3300984"/>
            <a:ext cx="310896" cy="310896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292608" y="330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768096" y="3282696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 AV MODE, WHICH SETTING DO YOU CHOOSE AND WHICH DOES THE CAMERA CHOOSE?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292608" y="3913632"/>
            <a:ext cx="8558784" cy="521208"/>
          </a:xfrm>
          <a:prstGeom prst="rect">
            <a:avLst/>
          </a:prstGeom>
          <a:solidFill>
            <a:srgbClr val="00C2FF">
              <a:alpha val="6000"/>
            </a:srgbClr>
          </a:solidFill>
          <a:ln w="12700">
            <a:solidFill>
              <a:srgbClr val="054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292608" y="3913632"/>
            <a:ext cx="45720" cy="52120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521208" y="4066337"/>
            <a:ext cx="8162849" cy="253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all five out loud with a partner before you pick up a camera.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YOU KNOW NOW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RECAP / 22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05256"/>
            <a:ext cx="4133088" cy="1261872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07878" y="920526"/>
            <a:ext cx="4102547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07878" y="1133765"/>
            <a:ext cx="4102547" cy="1018093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475488" y="102714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Aperture is an opening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75488" y="1328623"/>
            <a:ext cx="243779" cy="1527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475488" y="1438351"/>
            <a:ext cx="37673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ring of blades inside the lens that you open and close.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18304" y="905256"/>
            <a:ext cx="4133088" cy="1261872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733574" y="920526"/>
            <a:ext cx="4102547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733574" y="1133765"/>
            <a:ext cx="4102547" cy="1018093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4901184" y="102714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is a fraction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901184" y="1328623"/>
            <a:ext cx="243779" cy="1527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4901184" y="1438351"/>
            <a:ext cx="37673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f-number means a big opening. Big f-number means a small one.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92608" y="2350008"/>
            <a:ext cx="4133088" cy="1261872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307878" y="2365278"/>
            <a:ext cx="4102547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307878" y="2578517"/>
            <a:ext cx="4102547" cy="1018093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475488" y="247189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are steps of light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75488" y="2773375"/>
            <a:ext cx="243779" cy="1527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475488" y="2883103"/>
            <a:ext cx="37673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stop either doubles the light or cuts it in half.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718304" y="2350008"/>
            <a:ext cx="4133088" cy="1261872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4733574" y="2365278"/>
            <a:ext cx="4102547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4733574" y="2578517"/>
            <a:ext cx="4102547" cy="1018093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4901184" y="247189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puts you in charge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4901184" y="2773375"/>
            <a:ext cx="243779" cy="1527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4901184" y="2883103"/>
            <a:ext cx="37673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set the f-stop. The camera sets the shutter speed.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292608" y="3794760"/>
            <a:ext cx="8558784" cy="521208"/>
          </a:xfrm>
          <a:prstGeom prst="rect">
            <a:avLst/>
          </a:prstGeom>
          <a:solidFill>
            <a:srgbClr val="00C2FF">
              <a:alpha val="6000"/>
            </a:srgbClr>
          </a:solidFill>
          <a:ln w="12700">
            <a:solidFill>
              <a:srgbClr val="054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292608" y="3794760"/>
            <a:ext cx="45720" cy="52120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521208" y="3947465"/>
            <a:ext cx="8162849" cy="253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also know our kit: f/4.5 to 6.3 on the 18-45mm, a fast f/1.8 on the 50mm prime, f/5 to 7.1 on the 55-210mm.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C4B5F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COMING UP IN PART 2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C4B5F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NEXT MODULE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05256"/>
            <a:ext cx="8558784" cy="752551"/>
          </a:xfrm>
          <a:prstGeom prst="rect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3525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292608" y="905256"/>
            <a:ext cx="45720" cy="752551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521208" y="1057961"/>
            <a:ext cx="816284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was about light. Part 2 is about focus. You will learn what depth of field is, how aperture changes it, and how focal length and your distance change it just as much.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92608" y="1858975"/>
            <a:ext cx="2706624" cy="14081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07878" y="1874246"/>
            <a:ext cx="2676083" cy="213238"/>
          </a:xfrm>
          <a:prstGeom prst="rect">
            <a:avLst/>
          </a:prstGeom>
          <a:solidFill>
            <a:srgbClr val="24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07878" y="2087484"/>
            <a:ext cx="2676083" cy="1164397"/>
          </a:xfrm>
          <a:prstGeom prst="rect">
            <a:avLst/>
          </a:prstGeom>
          <a:solidFill>
            <a:srgbClr val="140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475488" y="1980865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of field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75488" y="2282342"/>
            <a:ext cx="243779" cy="1527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475488" y="2392070"/>
            <a:ext cx="234086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 and how to see it in a photo.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218688" y="1858975"/>
            <a:ext cx="2706624" cy="14081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233958" y="1874246"/>
            <a:ext cx="2676083" cy="213238"/>
          </a:xfrm>
          <a:prstGeom prst="rect">
            <a:avLst/>
          </a:prstGeom>
          <a:solidFill>
            <a:srgbClr val="24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233958" y="2087484"/>
            <a:ext cx="2676083" cy="1164397"/>
          </a:xfrm>
          <a:prstGeom prst="rect">
            <a:avLst/>
          </a:prstGeom>
          <a:solidFill>
            <a:srgbClr val="140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3401568" y="1980865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Focal length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3401568" y="2282342"/>
            <a:ext cx="243779" cy="1527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3401568" y="2392070"/>
            <a:ext cx="234086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210mm blurs more than 18mm at the same f-stop.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144768" y="1858975"/>
            <a:ext cx="2706624" cy="14081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6160038" y="1874246"/>
            <a:ext cx="2676083" cy="213238"/>
          </a:xfrm>
          <a:prstGeom prst="rect">
            <a:avLst/>
          </a:prstGeom>
          <a:solidFill>
            <a:srgbClr val="24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6160038" y="2087484"/>
            <a:ext cx="2676083" cy="1164397"/>
          </a:xfrm>
          <a:prstGeom prst="rect">
            <a:avLst/>
          </a:prstGeom>
          <a:solidFill>
            <a:srgbClr val="140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6327648" y="1980865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distance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327648" y="2282342"/>
            <a:ext cx="243779" cy="1527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 txBox="1"/>
          <p:nvPr/>
        </p:nvSpPr>
        <p:spPr>
          <a:xfrm>
            <a:off x="6327648" y="2392070"/>
            <a:ext cx="234086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stepping closer blurs the background too.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292608" y="3742639"/>
            <a:ext cx="8558784" cy="701345"/>
          </a:xfrm>
          <a:prstGeom prst="rect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3525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292608" y="3742639"/>
            <a:ext cx="45720" cy="701345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521208" y="3895344"/>
            <a:ext cx="8162849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camera and bring questions. Part 2 is where aperture stops being a number and starts changing how your photos actually look.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0" y="4681728"/>
            <a:ext cx="9144000" cy="228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 txBox="1"/>
          <p:nvPr/>
        </p:nvSpPr>
        <p:spPr>
          <a:xfrm>
            <a:off x="292608" y="4809744"/>
            <a:ext cx="8558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kern="0" spc="190" dirty="0">
                <a:solidFill>
                  <a:srgbClr val="77777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PHOTOGRAPHY 1  /  MR. SILVA  /  PIONEER VALLEY HIGH SCHOOL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2603</Words>
  <Application>Microsoft Macintosh PowerPoint</Application>
  <PresentationFormat>On-screen Show (16:9)</PresentationFormat>
  <Paragraphs>292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Oswald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chris creativesilva.com</cp:lastModifiedBy>
  <cp:revision>2</cp:revision>
  <dcterms:created xsi:type="dcterms:W3CDTF">2026-09-20T23:05:44Z</dcterms:created>
  <dcterms:modified xsi:type="dcterms:W3CDTF">2026-09-22T15:55:21Z</dcterms:modified>
</cp:coreProperties>
</file>