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474"/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2011680" cy="2011680"/>
          </a:xfrm>
          <a:prstGeom prst="ellipse">
            <a:avLst/>
          </a:prstGeom>
          <a:solidFill>
            <a:srgbClr val="005555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FF6B1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457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ARTES DIGITALES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0515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 del Color</a:t>
            </a:r>
            <a:endParaRPr lang="en-US" sz="5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3172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Entendiendo el Lenguaje del Color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01752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algunos colores se sienten emocionantes?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otros se sienten tranquilos?</a:t>
            </a:r>
            <a:endParaRPr lang="en-US" sz="15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una marca elige verde en lugar de rojo?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Mr. Silva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074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74320" y="3200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01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685800"/>
            <a:ext cx="2926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es la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Color?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74320" y="310896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CC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"El color es lo primero que la gente nota en un diseno."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749040" y="457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teoria del color es un conjunto de reglas que ayuda a artistas y disenadores a usar el color con intencion.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749040" y="12344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lugar de solo elegir colores que te gustan, la teoria del color te da un sistema. Te ayuda a elegir colores que funcionan juntos, envian un mensaje y hacen que la gente sienta algo.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749040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3840480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822192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pintores han usado reglas de color por siglos.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58968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58968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5550408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532120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disenadores eligen colores que van con el mensaje de la marca.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68896" y="2377440"/>
            <a:ext cx="1554480" cy="2377440"/>
          </a:xfrm>
          <a:prstGeom prst="roundRect">
            <a:avLst>
              <a:gd name="adj" fmla="val 7059"/>
            </a:avLst>
          </a:prstGeom>
          <a:solidFill>
            <a:srgbClr val="E0F4F4"/>
          </a:solidFill>
          <a:ln w="12700">
            <a:solidFill>
              <a:srgbClr val="C0E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68896" y="25146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260336" y="3108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242048" y="347472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usan el color para hacer que sientas y compres.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4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02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94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Circulo Cromatico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colores que usaras comienzan aqui.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657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Primarios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Estos son los tres colores base. No puedes mezclar otros colores para crearlos.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3364992"/>
            <a:ext cx="502920" cy="502920"/>
          </a:xfrm>
          <a:prstGeom prst="ellipse">
            <a:avLst/>
          </a:prstGeom>
          <a:solidFill>
            <a:srgbClr val="FF0000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" y="3364992"/>
            <a:ext cx="502920" cy="502920"/>
          </a:xfrm>
          <a:prstGeom prst="ellipse">
            <a:avLst/>
          </a:prstGeom>
          <a:solidFill>
            <a:srgbClr val="FFFF00"/>
          </a:solidFill>
          <a:ln/>
        </p:spPr>
      </p:sp>
      <p:sp>
        <p:nvSpPr>
          <p:cNvPr id="11" name="Shape 9"/>
          <p:cNvSpPr/>
          <p:nvPr/>
        </p:nvSpPr>
        <p:spPr>
          <a:xfrm>
            <a:off x="1655064" y="3364992"/>
            <a:ext cx="502920" cy="502920"/>
          </a:xfrm>
          <a:prstGeom prst="ellipse">
            <a:avLst/>
          </a:prstGeom>
          <a:solidFill>
            <a:srgbClr val="0000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Amarillo  Azul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375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Secundarios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dos colores primarios y obtienes un color secundario.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0" y="3364992"/>
            <a:ext cx="502920" cy="502920"/>
          </a:xfrm>
          <a:prstGeom prst="ellipse">
            <a:avLst/>
          </a:prstGeom>
          <a:solidFill>
            <a:srgbClr val="FF7F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050792" y="3364992"/>
            <a:ext cx="502920" cy="502920"/>
          </a:xfrm>
          <a:prstGeom prst="ellipse">
            <a:avLst/>
          </a:prstGeom>
          <a:solidFill>
            <a:srgbClr val="008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4626864" y="3364992"/>
            <a:ext cx="502920" cy="502920"/>
          </a:xfrm>
          <a:prstGeom prst="ellipse">
            <a:avLst/>
          </a:prstGeom>
          <a:solidFill>
            <a:srgbClr val="7F007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4747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  Verde  Morado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2011680"/>
            <a:ext cx="2743200" cy="27432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21488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Terciarios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46520" y="25146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Mezcla un color primario y uno secundario para obtener un color terciario. Hay seis de ellos.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3364992"/>
            <a:ext cx="347472" cy="347472"/>
          </a:xfrm>
          <a:prstGeom prst="ellipse">
            <a:avLst/>
          </a:prstGeom>
          <a:solidFill>
            <a:srgbClr val="FF4500"/>
          </a:solidFill>
          <a:ln/>
        </p:spPr>
      </p:sp>
      <p:sp>
        <p:nvSpPr>
          <p:cNvPr id="24" name="Shape 22"/>
          <p:cNvSpPr/>
          <p:nvPr/>
        </p:nvSpPr>
        <p:spPr>
          <a:xfrm>
            <a:off x="6867144" y="3364992"/>
            <a:ext cx="347472" cy="347472"/>
          </a:xfrm>
          <a:prstGeom prst="ellipse">
            <a:avLst/>
          </a:prstGeom>
          <a:solidFill>
            <a:srgbClr val="CCCC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287768" y="3364992"/>
            <a:ext cx="347472" cy="347472"/>
          </a:xfrm>
          <a:prstGeom prst="ellipse">
            <a:avLst/>
          </a:prstGeom>
          <a:solidFill>
            <a:srgbClr val="007F3F"/>
          </a:solidFill>
          <a:ln/>
        </p:spPr>
      </p:sp>
      <p:sp>
        <p:nvSpPr>
          <p:cNvPr id="26" name="Shape 24"/>
          <p:cNvSpPr/>
          <p:nvPr/>
        </p:nvSpPr>
        <p:spPr>
          <a:xfrm>
            <a:off x="7708392" y="3364992"/>
            <a:ext cx="347472" cy="347472"/>
          </a:xfrm>
          <a:prstGeom prst="ellipse">
            <a:avLst/>
          </a:prstGeom>
          <a:solidFill>
            <a:srgbClr val="003F7F"/>
          </a:solidFill>
          <a:ln/>
        </p:spPr>
      </p:sp>
      <p:sp>
        <p:nvSpPr>
          <p:cNvPr id="27" name="Shape 25"/>
          <p:cNvSpPr/>
          <p:nvPr/>
        </p:nvSpPr>
        <p:spPr>
          <a:xfrm>
            <a:off x="8129016" y="3364992"/>
            <a:ext cx="347472" cy="347472"/>
          </a:xfrm>
          <a:prstGeom prst="ellipse">
            <a:avLst/>
          </a:prstGeom>
          <a:solidFill>
            <a:srgbClr val="4B0082"/>
          </a:solidFill>
          <a:ln/>
        </p:spPr>
      </p:sp>
      <p:sp>
        <p:nvSpPr>
          <p:cNvPr id="28" name="Shape 26"/>
          <p:cNvSpPr/>
          <p:nvPr/>
        </p:nvSpPr>
        <p:spPr>
          <a:xfrm>
            <a:off x="8549640" y="3364992"/>
            <a:ext cx="347472" cy="347472"/>
          </a:xfrm>
          <a:prstGeom prst="ellipse">
            <a:avLst/>
          </a:prstGeom>
          <a:solidFill>
            <a:srgbClr val="FF1493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46520" y="39776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Rojo-Naranja  Amarillo-Verde  Azul-Verde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Complementarios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E0F4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26187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complementarios se ubican directamente opuestos en el circulo cromatico. Juntos crean un fuerte contraste y hacen que cada uno parezca mas brillante.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57400"/>
            <a:ext cx="1325880" cy="1005840"/>
          </a:xfrm>
          <a:prstGeom prst="rect">
            <a:avLst/>
          </a:prstGeom>
          <a:solidFill>
            <a:srgbClr val="FF0000"/>
          </a:solidFill>
          <a:ln/>
        </p:spPr>
      </p:sp>
      <p:sp>
        <p:nvSpPr>
          <p:cNvPr id="9" name="Shape 7"/>
          <p:cNvSpPr/>
          <p:nvPr/>
        </p:nvSpPr>
        <p:spPr>
          <a:xfrm>
            <a:off x="1691640" y="2057400"/>
            <a:ext cx="1325880" cy="1005840"/>
          </a:xfrm>
          <a:prstGeom prst="rect">
            <a:avLst/>
          </a:prstGeom>
          <a:solidFill>
            <a:srgbClr val="00B30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  +  Verde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Senales de alto y decoraciones navidenas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27832" y="2057400"/>
            <a:ext cx="1325880" cy="1005840"/>
          </a:xfrm>
          <a:prstGeom prst="rect">
            <a:avLst/>
          </a:prstGeom>
          <a:solidFill>
            <a:srgbClr val="0000CC"/>
          </a:solidFill>
          <a:ln/>
        </p:spPr>
      </p:sp>
      <p:sp>
        <p:nvSpPr>
          <p:cNvPr id="14" name="Shape 12"/>
          <p:cNvSpPr/>
          <p:nvPr/>
        </p:nvSpPr>
        <p:spPr>
          <a:xfrm>
            <a:off x="4553712" y="2057400"/>
            <a:ext cx="1325880" cy="1005840"/>
          </a:xfrm>
          <a:prstGeom prst="rect">
            <a:avLst/>
          </a:prstGeom>
          <a:solidFill>
            <a:srgbClr val="FF88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19272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 +  Naranja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319272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Equipos deportivos, carteles llamativos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9904" y="2057400"/>
            <a:ext cx="2651760" cy="2743200"/>
          </a:xfrm>
          <a:prstGeom prst="roundRect">
            <a:avLst>
              <a:gd name="adj" fmla="val 4138"/>
            </a:avLst>
          </a:prstGeom>
          <a:solidFill>
            <a:srgbClr val="F8F8F8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9904" y="2057400"/>
            <a:ext cx="1325880" cy="1005840"/>
          </a:xfrm>
          <a:prstGeom prst="rect">
            <a:avLst/>
          </a:prstGeom>
          <a:solidFill>
            <a:srgbClr val="9900CC"/>
          </a:solidFill>
          <a:ln/>
        </p:spPr>
      </p:sp>
      <p:sp>
        <p:nvSpPr>
          <p:cNvPr id="19" name="Shape 17"/>
          <p:cNvSpPr/>
          <p:nvPr/>
        </p:nvSpPr>
        <p:spPr>
          <a:xfrm>
            <a:off x="7415784" y="2057400"/>
            <a:ext cx="1325880" cy="1005840"/>
          </a:xfrm>
          <a:prstGeom prst="rect">
            <a:avLst/>
          </a:prstGeom>
          <a:solidFill>
            <a:srgbClr val="88AA0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81344" y="3200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  +  Amarillo-Verde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181344" y="3584448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en: Empaque de uvas, bebidas energeticas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Analogos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3931920" cy="3337560"/>
          </a:xfrm>
          <a:prstGeom prst="roundRect">
            <a:avLst>
              <a:gd name="adj" fmla="val 411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64592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son?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057400"/>
            <a:ext cx="34747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analogos son colores que estan uno al lado del otro en el circulo cromatico. Siempre se ven bien juntos porque estan relacionados.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un atardecer. El naranja, el rojo y el amarillo estan todos juntos. Por eso se ve tan hermoso.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colores analogos cuando quieras que tu diseno se sienta tranquilo, natural y armonioso.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1463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Atardecer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28800"/>
            <a:ext cx="914400" cy="594360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9" name="Shape 7"/>
          <p:cNvSpPr/>
          <p:nvPr/>
        </p:nvSpPr>
        <p:spPr>
          <a:xfrm>
            <a:off x="5532120" y="1828800"/>
            <a:ext cx="914400" cy="594360"/>
          </a:xfrm>
          <a:prstGeom prst="rect">
            <a:avLst/>
          </a:prstGeom>
          <a:solidFill>
            <a:srgbClr val="FF7F00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1828800"/>
            <a:ext cx="914400" cy="594360"/>
          </a:xfrm>
          <a:prstGeom prst="rect">
            <a:avLst/>
          </a:prstGeom>
          <a:solidFill>
            <a:srgbClr val="FFBF00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1828800"/>
            <a:ext cx="914400" cy="594360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Oceano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3017520"/>
            <a:ext cx="914400" cy="594360"/>
          </a:xfrm>
          <a:prstGeom prst="rect">
            <a:avLst/>
          </a:prstGeom>
          <a:solidFill>
            <a:srgbClr val="003366"/>
          </a:solidFill>
          <a:ln/>
        </p:spPr>
      </p:sp>
      <p:sp>
        <p:nvSpPr>
          <p:cNvPr id="14" name="Shape 12"/>
          <p:cNvSpPr/>
          <p:nvPr/>
        </p:nvSpPr>
        <p:spPr>
          <a:xfrm>
            <a:off x="5532120" y="3017520"/>
            <a:ext cx="914400" cy="594360"/>
          </a:xfrm>
          <a:prstGeom prst="rect">
            <a:avLst/>
          </a:prstGeom>
          <a:solidFill>
            <a:srgbClr val="0055A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92240" y="3017520"/>
            <a:ext cx="914400" cy="594360"/>
          </a:xfrm>
          <a:prstGeom prst="rect">
            <a:avLst/>
          </a:prstGeom>
          <a:solidFill>
            <a:srgbClr val="0077DD"/>
          </a:solidFill>
          <a:ln/>
        </p:spPr>
      </p:sp>
      <p:sp>
        <p:nvSpPr>
          <p:cNvPr id="16" name="Shape 14"/>
          <p:cNvSpPr/>
          <p:nvPr/>
        </p:nvSpPr>
        <p:spPr>
          <a:xfrm>
            <a:off x="7452360" y="3017520"/>
            <a:ext cx="914400" cy="594360"/>
          </a:xfrm>
          <a:prstGeom prst="rect">
            <a:avLst/>
          </a:prstGeom>
          <a:solidFill>
            <a:srgbClr val="00AA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0" y="38404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Bosque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0" y="4206240"/>
            <a:ext cx="914400" cy="594360"/>
          </a:xfrm>
          <a:prstGeom prst="rect">
            <a:avLst/>
          </a:prstGeom>
          <a:solidFill>
            <a:srgbClr val="1A4D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532120" y="4206240"/>
            <a:ext cx="914400" cy="594360"/>
          </a:xfrm>
          <a:prstGeom prst="rect">
            <a:avLst/>
          </a:prstGeom>
          <a:solidFill>
            <a:srgbClr val="2D7A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206240"/>
            <a:ext cx="914400" cy="594360"/>
          </a:xfrm>
          <a:prstGeom prst="rect">
            <a:avLst/>
          </a:prstGeom>
          <a:solidFill>
            <a:srgbClr val="44AA00"/>
          </a:solidFill>
          <a:ln/>
        </p:spPr>
      </p:sp>
      <p:sp>
        <p:nvSpPr>
          <p:cNvPr id="21" name="Shape 19"/>
          <p:cNvSpPr/>
          <p:nvPr/>
        </p:nvSpPr>
        <p:spPr>
          <a:xfrm>
            <a:off x="7452360" y="4206240"/>
            <a:ext cx="914400" cy="594360"/>
          </a:xfrm>
          <a:prstGeom prst="rect">
            <a:avLst/>
          </a:prstGeom>
          <a:solidFill>
            <a:srgbClr val="66CC33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44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0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03  |  Relaciones de Color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Triadicos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colores espaciados por igual alrededor del circulo cromatico. Audaces, equilibrados y energicos.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371600" y="1737360"/>
            <a:ext cx="1188720" cy="1188720"/>
          </a:xfrm>
          <a:prstGeom prst="ellipse">
            <a:avLst/>
          </a:prstGeom>
          <a:solidFill>
            <a:srgbClr val="FF00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737360"/>
            <a:ext cx="1188720" cy="1188720"/>
          </a:xfrm>
          <a:prstGeom prst="ellipse">
            <a:avLst/>
          </a:prstGeom>
          <a:solidFill>
            <a:srgbClr val="0000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3017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188720" cy="1188720"/>
          </a:xfrm>
          <a:prstGeom prst="ellipse">
            <a:avLst/>
          </a:prstGeom>
          <a:solidFill>
            <a:srgbClr val="FFFF0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46177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Triada Primaria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417320"/>
            <a:ext cx="3017520" cy="3383280"/>
          </a:xfrm>
          <a:prstGeom prst="roundRect">
            <a:avLst>
              <a:gd name="adj" fmla="val 4545"/>
            </a:avLst>
          </a:prstGeom>
          <a:solidFill>
            <a:srgbClr val="E0F4F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943600" y="15727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usar colores triadicos: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20116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Cuando quieres que tu diseno se sienta emocionante y audaz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2670048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 carteles, logos o graficos para redes sociales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0" y="332841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Cuando necesitas que los tres colores resalten por igual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3986784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0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Excelente para marcas infantiles, deportes y juegos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Paletas de Color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paleta de color es un conjunto pequeno de colores que el disenador elige y usa en todo el proyecto.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92024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Monocromatica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3042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color en muchos tonos. Muy limpia y profesional.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0" y="1965960"/>
            <a:ext cx="1097280" cy="685800"/>
          </a:xfrm>
          <a:prstGeom prst="rect">
            <a:avLst/>
          </a:prstGeom>
          <a:solidFill>
            <a:srgbClr val="001A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1965960"/>
            <a:ext cx="1097280" cy="685800"/>
          </a:xfrm>
          <a:prstGeom prst="rect">
            <a:avLst/>
          </a:prstGeom>
          <a:solidFill>
            <a:srgbClr val="003D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94960" y="1965960"/>
            <a:ext cx="1097280" cy="685800"/>
          </a:xfrm>
          <a:prstGeom prst="rect">
            <a:avLst/>
          </a:prstGeom>
          <a:solidFill>
            <a:srgbClr val="0066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965960"/>
            <a:ext cx="1097280" cy="685800"/>
          </a:xfrm>
          <a:prstGeom prst="rect">
            <a:avLst/>
          </a:prstGeom>
          <a:solidFill>
            <a:srgbClr val="3399D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1965960"/>
            <a:ext cx="1097280" cy="685800"/>
          </a:xfrm>
          <a:prstGeom prst="rect">
            <a:avLst/>
          </a:prstGeom>
          <a:solidFill>
            <a:srgbClr val="99CC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92608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Complementaria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310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colores opuestos. Alta energia y contraste.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017520" y="2971800"/>
            <a:ext cx="1097280" cy="685800"/>
          </a:xfrm>
          <a:prstGeom prst="rect">
            <a:avLst/>
          </a:prstGeom>
          <a:solidFill>
            <a:srgbClr val="0033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0" y="2971800"/>
            <a:ext cx="1097280" cy="685800"/>
          </a:xfrm>
          <a:prstGeom prst="rect">
            <a:avLst/>
          </a:prstGeom>
          <a:solidFill>
            <a:srgbClr val="0055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2971800"/>
            <a:ext cx="1097280" cy="685800"/>
          </a:xfrm>
          <a:prstGeom prst="rect">
            <a:avLst/>
          </a:prstGeom>
          <a:solidFill>
            <a:srgbClr val="FF66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2971800"/>
            <a:ext cx="1097280" cy="685800"/>
          </a:xfrm>
          <a:prstGeom prst="rect">
            <a:avLst/>
          </a:prstGeom>
          <a:solidFill>
            <a:srgbClr val="FF88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0" y="2971800"/>
            <a:ext cx="1097280" cy="685800"/>
          </a:xfrm>
          <a:prstGeom prst="rect">
            <a:avLst/>
          </a:prstGeom>
          <a:solidFill>
            <a:srgbClr val="FFAA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93192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+ Acento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Colores de fondo simples con un toque de color audaz.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017520" y="3977640"/>
            <a:ext cx="10972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06240" y="3977640"/>
            <a:ext cx="1097280" cy="685800"/>
          </a:xfrm>
          <a:prstGeom prst="rect">
            <a:avLst/>
          </a:prstGeom>
          <a:solidFill>
            <a:srgbClr val="EEEEE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94960" y="3977640"/>
            <a:ext cx="1097280" cy="68580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3977640"/>
            <a:ext cx="1097280" cy="6858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0" y="3977640"/>
            <a:ext cx="1097280" cy="685800"/>
          </a:xfrm>
          <a:prstGeom prst="rect">
            <a:avLst/>
          </a:prstGeom>
          <a:solidFill>
            <a:srgbClr val="FF33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572000"/>
            <a:ext cx="8412480" cy="384048"/>
          </a:xfrm>
          <a:prstGeom prst="roundRect">
            <a:avLst>
              <a:gd name="adj" fmla="val 19048"/>
            </a:avLst>
          </a:prstGeom>
          <a:solidFill>
            <a:srgbClr val="00747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Clave: Elige 3 a 5 colores y apegate a ellos. Usar demasiados colores hace que un diseno se vea desordenado.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47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D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Psicologia del Color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te hacen sentir cosas. Los disenadores inteligentes usan esto a proposito.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0000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847088"/>
            <a:ext cx="2606040" cy="2103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 |  Urgencia  |  Poder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YouTube, Target, Coca-Cola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FF7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847088"/>
            <a:ext cx="2606040" cy="210312"/>
          </a:xfrm>
          <a:prstGeom prst="rect">
            <a:avLst/>
          </a:prstGeom>
          <a:solidFill>
            <a:srgbClr val="FF77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9184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NARANJA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Diversion  |  Calidez  |  Creatividad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Amazon, Fanta, Nickelodeon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35040" y="164592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164592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CCAA00"/>
          </a:solidFill>
          <a:ln/>
        </p:spPr>
      </p:sp>
      <p:sp>
        <p:nvSpPr>
          <p:cNvPr id="20" name="Shape 18"/>
          <p:cNvSpPr/>
          <p:nvPr/>
        </p:nvSpPr>
        <p:spPr>
          <a:xfrm>
            <a:off x="6035040" y="1847088"/>
            <a:ext cx="2606040" cy="210312"/>
          </a:xfrm>
          <a:prstGeom prst="rect">
            <a:avLst/>
          </a:prstGeom>
          <a:solidFill>
            <a:srgbClr val="CCAA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17007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AMARILLO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126480" y="212140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Felicidad  |  Atencion  |  Precaucion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0" y="248716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McDonald's, IKEA, Snapchat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1A6600"/>
          </a:solidFill>
          <a:ln/>
        </p:spPr>
      </p:sp>
      <p:sp>
        <p:nvSpPr>
          <p:cNvPr id="26" name="Shape 24"/>
          <p:cNvSpPr/>
          <p:nvPr/>
        </p:nvSpPr>
        <p:spPr>
          <a:xfrm>
            <a:off x="365760" y="3538728"/>
            <a:ext cx="2606040" cy="210312"/>
          </a:xfrm>
          <a:prstGeom prst="rect">
            <a:avLst/>
          </a:prstGeom>
          <a:solidFill>
            <a:srgbClr val="1A660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720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  |  Salud  |  Crecimiento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Starbucks, Whole Foods, John Deere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003399"/>
          </a:solidFill>
          <a:ln/>
        </p:spPr>
      </p:sp>
      <p:sp>
        <p:nvSpPr>
          <p:cNvPr id="32" name="Shape 30"/>
          <p:cNvSpPr/>
          <p:nvPr/>
        </p:nvSpPr>
        <p:spPr>
          <a:xfrm>
            <a:off x="3200400" y="3538728"/>
            <a:ext cx="2606040" cy="210312"/>
          </a:xfrm>
          <a:prstGeom prst="rect">
            <a:avLst/>
          </a:prstGeom>
          <a:solidFill>
            <a:srgbClr val="003399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9184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29184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 |  Calma  |  Inteligencia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329184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Facebook, Samsung, Ford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35040" y="3337560"/>
            <a:ext cx="2606040" cy="1508760"/>
          </a:xfrm>
          <a:prstGeom prst="roundRect">
            <a:avLst>
              <a:gd name="adj" fmla="val 6061"/>
            </a:avLst>
          </a:prstGeom>
          <a:solidFill>
            <a:srgbClr val="F8F8F8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35040" y="3337560"/>
            <a:ext cx="2606040" cy="411480"/>
          </a:xfrm>
          <a:prstGeom prst="roundRect">
            <a:avLst>
              <a:gd name="adj" fmla="val 22222"/>
            </a:avLst>
          </a:prstGeom>
          <a:solidFill>
            <a:srgbClr val="660099"/>
          </a:solidFill>
          <a:ln/>
        </p:spPr>
      </p:sp>
      <p:sp>
        <p:nvSpPr>
          <p:cNvPr id="38" name="Shape 36"/>
          <p:cNvSpPr/>
          <p:nvPr/>
        </p:nvSpPr>
        <p:spPr>
          <a:xfrm>
            <a:off x="6035040" y="3538728"/>
            <a:ext cx="2606040" cy="210312"/>
          </a:xfrm>
          <a:prstGeom prst="rect">
            <a:avLst/>
          </a:prstGeom>
          <a:solidFill>
            <a:srgbClr val="66009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126480" y="339242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MORADO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126480" y="3813048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Lujo  |  Misterio  |  Creatividad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6126480" y="417880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Marcas: Cadbury, Hallmark, Twitch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SECCION 05  |  Psicologia del Color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Marcas Usan el Color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08760"/>
            <a:ext cx="2743200" cy="548640"/>
          </a:xfrm>
          <a:prstGeom prst="rect">
            <a:avLst/>
          </a:prstGeom>
          <a:solidFill>
            <a:srgbClr val="DA0B11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2057400"/>
            <a:ext cx="2743200" cy="54864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920240"/>
            <a:ext cx="2743200" cy="274320"/>
          </a:xfrm>
          <a:prstGeom prst="rect">
            <a:avLst/>
          </a:prstGeom>
          <a:solidFill>
            <a:srgbClr val="FFC3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7548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McDonald's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rojo crea hambre y urgencia. El amarillo crea felicidad y energia. Juntos te dan ganas de comer rapido y sentirte bien.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508760"/>
            <a:ext cx="2743200" cy="548640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291840" y="1920240"/>
            <a:ext cx="27432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0156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40156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rojo es audaz, emocionante y energico. El blanco lo mantiene limpio y clasico. Esta combinacion no ha cambiado en mas de 100 anos.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508760"/>
            <a:ext cx="2743200" cy="333756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508760"/>
            <a:ext cx="2743200" cy="5486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0" y="2057400"/>
            <a:ext cx="274320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0" y="2606040"/>
            <a:ext cx="2743200" cy="548640"/>
          </a:xfrm>
          <a:prstGeom prst="rect">
            <a:avLst/>
          </a:prstGeom>
          <a:solidFill>
            <a:srgbClr val="888888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327648" y="269748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27248"/>
            <a:ext cx="25237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negro, el blanco y el plateado dicen: simple, premium y moderno. Sin color = sin distraccion. El producto habla por si solo.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VIENE  |  Seccion 06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4747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de Contacto con el Cliente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1155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 realmente el cliente los colores de una marca?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727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punto de contacto es cualquier momento en que un cliente ve o interactua con una marca. Cada punto de contacto usa los mismos colores. Eso es lo que hace que una marca se sienta familiar.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560320"/>
            <a:ext cx="8412480" cy="411480"/>
          </a:xfrm>
          <a:prstGeom prst="roundRect">
            <a:avLst>
              <a:gd name="adj" fmla="val 17778"/>
            </a:avLst>
          </a:prstGeom>
          <a:solidFill>
            <a:srgbClr val="004D0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6243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Piensa en Starbucks: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☕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Vaso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 y blanco, siempre, en cada ubicacion.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1089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73168" y="32186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34924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App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35021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verde, las mismas fuentes, los mismos iconos que la tienda.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7548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🏪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Tienda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Letrero verde, tonos de madera calidos adentro.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4023360"/>
            <a:ext cx="4023360" cy="777240"/>
          </a:xfrm>
          <a:prstGeom prst="roundRect">
            <a:avLst>
              <a:gd name="adj" fmla="val 11765"/>
            </a:avLst>
          </a:prstGeom>
          <a:solidFill>
            <a:srgbClr val="F0FAF0"/>
          </a:solidFill>
          <a:ln w="12700">
            <a:solidFill>
              <a:srgbClr val="C0E0C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73168" y="413308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🧻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5349240" y="40965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Servilletas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349240" y="4416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las servilletas coinciden con la marca.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F6B1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28600" y="457200"/>
            <a:ext cx="3017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228600" y="228600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E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 proxima sesion, elegiras una marca real y la analizaras.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657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marca que conozcas. Esto es lo que buscaras: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0480" y="105156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40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102412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Nombra los colores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3716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2 a 4 colores usa mas esta marca?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40480" y="205740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8404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343400" y="2029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el tipo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343400" y="237744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colores complementarios, analogos u otro tipo?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0" y="306324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840480" y="30632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la psicologia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343400" y="338328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hacen sentir esos colores? Por que crees que la marca los eligio?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0" y="4069080"/>
            <a:ext cx="411480" cy="411480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840480" y="4069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343400" y="404164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los puntos de contacto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43400" y="438912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ves los colores? App, edificio, empaque, sitio web?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44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05555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474720"/>
            <a:ext cx="2743200" cy="2743200"/>
          </a:xfrm>
          <a:prstGeom prst="ellipse">
            <a:avLst/>
          </a:prstGeom>
          <a:solidFill>
            <a:srgbClr val="00555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3657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Aprendiste Hoy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2618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teoria del color le da a los disenadores un sistema para elegir colores con intencion.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892808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874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circulo cromatico muestra los colores primarios, secundarios y terciarios.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248716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complementarios, los analogos y los triadicos son las principales relaciones de color.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18104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3099816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paleta de color es un conjunto pequeno de colores que se usa de forma consistente en un diseno.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3730752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712464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colores crean sentimientos. Los disenadores usan esto para influir en como reacciona la gente.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343400"/>
            <a:ext cx="256032" cy="256032"/>
          </a:xfrm>
          <a:prstGeom prst="ellipse">
            <a:avLst/>
          </a:prstGeom>
          <a:solidFill>
            <a:srgbClr val="FF6B1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3251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marcas usan el color en cada punto de contacto para que los clientes siempre las reconozcan.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0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Pioneer Valley High School  |  Artes Digitales 1  |  Mr. Silva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2026-08-26T16:14:15Z</dcterms:created>
  <dcterms:modified xsi:type="dcterms:W3CDTF">2026-08-26T16:14:15Z</dcterms:modified>
</cp:coreProperties>
</file>