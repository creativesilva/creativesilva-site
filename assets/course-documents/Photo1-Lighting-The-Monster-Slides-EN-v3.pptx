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085"/>
    <p:restoredTop sz="94610"/>
  </p:normalViewPr>
  <p:slideViewPr>
    <p:cSldViewPr snapToGrid="0" snapToObjects="1">
      <p:cViewPr varScale="1">
        <p:scale>
          <a:sx n="170" d="100"/>
          <a:sy n="170" d="100"/>
        </p:scale>
        <p:origin x="10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1058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20.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3.jpe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5.jpe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2.jpe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47688" y="1394460"/>
            <a:ext cx="3867912" cy="4572000"/>
          </a:xfrm>
          <a:prstGeom prst="rect">
            <a:avLst/>
          </a:prstGeom>
        </p:spPr>
      </p:pic>
      <p:sp>
        <p:nvSpPr>
          <p:cNvPr id="3" name="Shape 0"/>
          <p:cNvSpPr/>
          <p:nvPr/>
        </p:nvSpPr>
        <p:spPr>
          <a:xfrm>
            <a:off x="0" y="230429"/>
            <a:ext cx="9144000" cy="5143500"/>
          </a:xfrm>
          <a:prstGeom prst="rect">
            <a:avLst/>
          </a:prstGeom>
          <a:solidFill>
            <a:srgbClr val="04191A">
              <a:alpha val="84000"/>
            </a:srgbClr>
          </a:solidFill>
          <a:ln/>
        </p:spPr>
        <p:txBody>
          <a:bodyPr/>
          <a:lstStyle/>
          <a:p>
            <a:endParaRPr lang="en-US"/>
          </a:p>
        </p:txBody>
      </p:sp>
      <p:sp>
        <p:nvSpPr>
          <p:cNvPr id="4" name="Shape 1"/>
          <p:cNvSpPr/>
          <p:nvPr/>
        </p:nvSpPr>
        <p:spPr>
          <a:xfrm>
            <a:off x="0" y="0"/>
            <a:ext cx="45720" cy="5143500"/>
          </a:xfrm>
          <a:prstGeom prst="rect">
            <a:avLst/>
          </a:prstGeom>
          <a:solidFill>
            <a:srgbClr val="00B8B8"/>
          </a:solidFill>
          <a:ln/>
        </p:spPr>
        <p:txBody>
          <a:bodyPr/>
          <a:lstStyle/>
          <a:p>
            <a:endParaRPr lang="en-US"/>
          </a:p>
        </p:txBody>
      </p:sp>
      <p:sp>
        <p:nvSpPr>
          <p:cNvPr id="6" name="Text 2"/>
          <p:cNvSpPr txBox="1"/>
          <p:nvPr/>
        </p:nvSpPr>
        <p:spPr>
          <a:xfrm>
            <a:off x="292608" y="454457"/>
            <a:ext cx="5852160" cy="219456"/>
          </a:xfrm>
          <a:prstGeom prst="rect">
            <a:avLst/>
          </a:prstGeom>
          <a:noFill/>
          <a:ln/>
        </p:spPr>
        <p:txBody>
          <a:bodyPr wrap="square" lIns="0" tIns="0" rIns="0" bIns="0" rtlCol="0" anchor="ctr"/>
          <a:lstStyle/>
          <a:p>
            <a:pPr marL="0" indent="0">
              <a:lnSpc>
                <a:spcPct val="120000"/>
              </a:lnSpc>
              <a:buNone/>
            </a:pPr>
            <a:r>
              <a:rPr lang="en-US" sz="1100" b="1" kern="0" spc="190" dirty="0">
                <a:solidFill>
                  <a:srgbClr val="80E0E0"/>
                </a:solidFill>
                <a:latin typeface="Oswald" pitchFamily="34" charset="0"/>
                <a:ea typeface="Oswald" pitchFamily="34" charset="-122"/>
                <a:cs typeface="Oswald" pitchFamily="34" charset="-120"/>
              </a:rPr>
              <a:t>PHOTOGRAPHY 1A  /  LIGHTING</a:t>
            </a:r>
            <a:endParaRPr lang="en-US" sz="1100" dirty="0"/>
          </a:p>
        </p:txBody>
      </p:sp>
      <p:sp>
        <p:nvSpPr>
          <p:cNvPr id="7" name="Text 3"/>
          <p:cNvSpPr txBox="1"/>
          <p:nvPr/>
        </p:nvSpPr>
        <p:spPr>
          <a:xfrm>
            <a:off x="292608" y="689458"/>
            <a:ext cx="6035040" cy="786384"/>
          </a:xfrm>
          <a:prstGeom prst="rect">
            <a:avLst/>
          </a:prstGeom>
          <a:noFill/>
          <a:ln/>
        </p:spPr>
        <p:txBody>
          <a:bodyPr wrap="square" lIns="0" tIns="0" rIns="0" bIns="0" rtlCol="0" anchor="ctr"/>
          <a:lstStyle/>
          <a:p>
            <a:pPr marL="0" indent="0">
              <a:lnSpc>
                <a:spcPct val="102000"/>
              </a:lnSpc>
              <a:buNone/>
            </a:pPr>
            <a:r>
              <a:rPr lang="en-US" sz="4100" b="1" kern="0" spc="40" dirty="0">
                <a:solidFill>
                  <a:srgbClr val="FFFFFF"/>
                </a:solidFill>
                <a:latin typeface="Oswald" pitchFamily="34" charset="0"/>
                <a:ea typeface="Oswald" pitchFamily="34" charset="-122"/>
                <a:cs typeface="Oswald" pitchFamily="34" charset="-120"/>
              </a:rPr>
              <a:t>LIGHTING THE MONSTER</a:t>
            </a:r>
            <a:endParaRPr lang="en-US" sz="4100" dirty="0"/>
          </a:p>
        </p:txBody>
      </p:sp>
      <p:sp>
        <p:nvSpPr>
          <p:cNvPr id="8" name="Shape 4"/>
          <p:cNvSpPr/>
          <p:nvPr/>
        </p:nvSpPr>
        <p:spPr>
          <a:xfrm>
            <a:off x="292608" y="1445666"/>
            <a:ext cx="457200" cy="30175"/>
          </a:xfrm>
          <a:prstGeom prst="rect">
            <a:avLst/>
          </a:prstGeom>
          <a:solidFill>
            <a:srgbClr val="00B8B8"/>
          </a:solidFill>
          <a:ln/>
        </p:spPr>
        <p:txBody>
          <a:bodyPr/>
          <a:lstStyle/>
          <a:p>
            <a:endParaRPr lang="en-US"/>
          </a:p>
        </p:txBody>
      </p:sp>
      <p:sp>
        <p:nvSpPr>
          <p:cNvPr id="9" name="Text 5"/>
          <p:cNvSpPr txBox="1"/>
          <p:nvPr/>
        </p:nvSpPr>
        <p:spPr>
          <a:xfrm>
            <a:off x="292608" y="1627632"/>
            <a:ext cx="6035040" cy="420624"/>
          </a:xfrm>
          <a:prstGeom prst="rect">
            <a:avLst/>
          </a:prstGeom>
          <a:noFill/>
          <a:ln/>
        </p:spPr>
        <p:txBody>
          <a:bodyPr wrap="square" lIns="0" tIns="0" rIns="0" bIns="0" rtlCol="0" anchor="ctr"/>
          <a:lstStyle/>
          <a:p>
            <a:pPr marL="0" indent="0">
              <a:lnSpc>
                <a:spcPct val="105000"/>
              </a:lnSpc>
              <a:buNone/>
            </a:pPr>
            <a:r>
              <a:rPr lang="en-US" sz="2200" b="1" kern="0" spc="90" dirty="0">
                <a:solidFill>
                  <a:srgbClr val="80E0E0"/>
                </a:solidFill>
                <a:latin typeface="Oswald" pitchFamily="34" charset="0"/>
                <a:ea typeface="Oswald" pitchFamily="34" charset="-122"/>
                <a:cs typeface="Oswald" pitchFamily="34" charset="-120"/>
              </a:rPr>
              <a:t>THE CINEMATOGRAPHER’S PLAYBOOK</a:t>
            </a:r>
            <a:endParaRPr lang="en-US" sz="2200" dirty="0"/>
          </a:p>
        </p:txBody>
      </p:sp>
      <p:sp>
        <p:nvSpPr>
          <p:cNvPr id="10" name="Text 6"/>
          <p:cNvSpPr txBox="1"/>
          <p:nvPr/>
        </p:nvSpPr>
        <p:spPr>
          <a:xfrm>
            <a:off x="292608" y="2022653"/>
            <a:ext cx="3686861" cy="690372"/>
          </a:xfrm>
          <a:prstGeom prst="rect">
            <a:avLst/>
          </a:prstGeom>
          <a:noFill/>
          <a:ln/>
        </p:spPr>
        <p:txBody>
          <a:bodyPr wrap="square" lIns="0" tIns="0" rIns="0" bIns="0" rtlCol="0" anchor="t"/>
          <a:lstStyle/>
          <a:p>
            <a:pPr marL="0" indent="0">
              <a:lnSpc>
                <a:spcPct val="135000"/>
              </a:lnSpc>
              <a:buNone/>
            </a:pPr>
            <a:r>
              <a:rPr lang="en-US" sz="1200" dirty="0">
                <a:solidFill>
                  <a:srgbClr val="AAAAAA"/>
                </a:solidFill>
                <a:latin typeface="Arial" pitchFamily="34" charset="0"/>
                <a:ea typeface="Arial" pitchFamily="34" charset="-122"/>
                <a:cs typeface="Arial" pitchFamily="34" charset="-120"/>
              </a:rPr>
              <a:t>One light, one shadow, and a hundred years of horror. How the people behind the camera built fear out of nothing but contrast.</a:t>
            </a:r>
            <a:endParaRPr lang="en-US" sz="1200" dirty="0"/>
          </a:p>
        </p:txBody>
      </p:sp>
      <p:sp>
        <p:nvSpPr>
          <p:cNvPr id="11" name="Shape 7"/>
          <p:cNvSpPr/>
          <p:nvPr/>
        </p:nvSpPr>
        <p:spPr>
          <a:xfrm>
            <a:off x="292608" y="3529584"/>
            <a:ext cx="3127248" cy="658368"/>
          </a:xfrm>
          <a:prstGeom prst="rect">
            <a:avLst/>
          </a:prstGeom>
          <a:solidFill>
            <a:srgbClr val="00B8B8"/>
          </a:solidFill>
          <a:ln/>
        </p:spPr>
        <p:txBody>
          <a:bodyPr/>
          <a:lstStyle/>
          <a:p>
            <a:endParaRPr lang="en-US"/>
          </a:p>
        </p:txBody>
      </p:sp>
      <p:sp>
        <p:nvSpPr>
          <p:cNvPr id="12" name="Shape 8"/>
          <p:cNvSpPr/>
          <p:nvPr/>
        </p:nvSpPr>
        <p:spPr>
          <a:xfrm>
            <a:off x="307878" y="3544854"/>
            <a:ext cx="3096707" cy="213238"/>
          </a:xfrm>
          <a:prstGeom prst="rect">
            <a:avLst/>
          </a:prstGeom>
          <a:solidFill>
            <a:srgbClr val="094043"/>
          </a:solidFill>
          <a:ln/>
        </p:spPr>
        <p:txBody>
          <a:bodyPr/>
          <a:lstStyle/>
          <a:p>
            <a:endParaRPr lang="en-US"/>
          </a:p>
        </p:txBody>
      </p:sp>
      <p:sp>
        <p:nvSpPr>
          <p:cNvPr id="13" name="Shape 9"/>
          <p:cNvSpPr/>
          <p:nvPr/>
        </p:nvSpPr>
        <p:spPr>
          <a:xfrm>
            <a:off x="307878" y="3758093"/>
            <a:ext cx="3096707" cy="414589"/>
          </a:xfrm>
          <a:prstGeom prst="rect">
            <a:avLst/>
          </a:prstGeom>
          <a:solidFill>
            <a:srgbClr val="041D1C"/>
          </a:solidFill>
          <a:ln/>
        </p:spPr>
        <p:txBody>
          <a:bodyPr/>
          <a:lstStyle/>
          <a:p>
            <a:endParaRPr lang="en-US"/>
          </a:p>
        </p:txBody>
      </p:sp>
      <p:sp>
        <p:nvSpPr>
          <p:cNvPr id="14" name="Text 10"/>
          <p:cNvSpPr txBox="1"/>
          <p:nvPr/>
        </p:nvSpPr>
        <p:spPr>
          <a:xfrm>
            <a:off x="307878" y="3544854"/>
            <a:ext cx="3096707" cy="627827"/>
          </a:xfrm>
          <a:prstGeom prst="rect">
            <a:avLst/>
          </a:prstGeom>
          <a:noFill/>
          <a:ln/>
        </p:spPr>
        <p:txBody>
          <a:bodyPr wrap="square" lIns="0" tIns="0" rIns="0" bIns="0" rtlCol="0" anchor="ctr"/>
          <a:lstStyle/>
          <a:p>
            <a:pPr marL="0" indent="0" algn="ctr">
              <a:lnSpc>
                <a:spcPct val="105000"/>
              </a:lnSpc>
              <a:buNone/>
            </a:pPr>
            <a:r>
              <a:rPr lang="en-US" sz="1200" b="1" kern="0" spc="120" dirty="0">
                <a:solidFill>
                  <a:srgbClr val="80E0E0"/>
                </a:solidFill>
                <a:latin typeface="Oswald" pitchFamily="34" charset="0"/>
                <a:ea typeface="Oswald" pitchFamily="34" charset="-122"/>
                <a:cs typeface="Oswald" pitchFamily="34" charset="-120"/>
              </a:rPr>
              <a:t>SHADOW  /  NOIR  /  PORTRAIT</a:t>
            </a:r>
            <a:endParaRPr lang="en-US" sz="1200" dirty="0"/>
          </a:p>
        </p:txBody>
      </p:sp>
      <p:sp>
        <p:nvSpPr>
          <p:cNvPr id="15" name="Shape 11"/>
          <p:cNvSpPr/>
          <p:nvPr/>
        </p:nvSpPr>
        <p:spPr>
          <a:xfrm>
            <a:off x="0" y="4681728"/>
            <a:ext cx="9144000" cy="22860"/>
          </a:xfrm>
          <a:prstGeom prst="rect">
            <a:avLst/>
          </a:prstGeom>
          <a:solidFill>
            <a:srgbClr val="00B8B8"/>
          </a:solidFill>
          <a:ln/>
        </p:spPr>
        <p:txBody>
          <a:bodyPr/>
          <a:lstStyle/>
          <a:p>
            <a:endParaRPr lang="en-US"/>
          </a:p>
        </p:txBody>
      </p:sp>
      <p:sp>
        <p:nvSpPr>
          <p:cNvPr id="16" name="Text 12"/>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18" name="Picture 17" descr="It Chapter Two review: A misfire missing its scares | British GQ">
            <a:extLst>
              <a:ext uri="{FF2B5EF4-FFF2-40B4-BE49-F238E27FC236}">
                <a16:creationId xmlns:a16="http://schemas.microsoft.com/office/drawing/2014/main" id="{79C18575-AD31-1A5D-C91C-3D64774EB61C}"/>
              </a:ext>
            </a:extLst>
          </p:cNvPr>
          <p:cNvPicPr>
            <a:picLocks noChangeAspect="1"/>
          </p:cNvPicPr>
          <p:nvPr/>
        </p:nvPicPr>
        <p:blipFill>
          <a:blip r:embed="rId4"/>
          <a:stretch>
            <a:fillRect/>
          </a:stretch>
        </p:blipFill>
        <p:spPr>
          <a:xfrm>
            <a:off x="5501522" y="1338091"/>
            <a:ext cx="3334600" cy="3334600"/>
          </a:xfrm>
          <a:prstGeom prst="rect">
            <a:avLst/>
          </a:prstGeom>
        </p:spPr>
      </p:pic>
      <p:pic>
        <p:nvPicPr>
          <p:cNvPr id="5" name="Image 1" descr="preencoded.png"/>
          <p:cNvPicPr>
            <a:picLocks noChangeAspect="1"/>
          </p:cNvPicPr>
          <p:nvPr/>
        </p:nvPicPr>
        <p:blipFill>
          <a:blip r:embed="rId5"/>
          <a:stretch>
            <a:fillRect/>
          </a:stretch>
        </p:blipFill>
        <p:spPr>
          <a:xfrm>
            <a:off x="7701991" y="230429"/>
            <a:ext cx="1294790" cy="15334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WHAT A DIRECTOR OF PHOTOGRAPHY DOES</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THE ROLE / 01</a:t>
            </a:r>
            <a:endParaRPr lang="en-US" sz="900" dirty="0"/>
          </a:p>
        </p:txBody>
      </p:sp>
      <p:sp>
        <p:nvSpPr>
          <p:cNvPr id="7" name="Shape 4"/>
          <p:cNvSpPr/>
          <p:nvPr/>
        </p:nvSpPr>
        <p:spPr>
          <a:xfrm>
            <a:off x="859536" y="699516"/>
            <a:ext cx="457017" cy="22860"/>
          </a:xfrm>
          <a:prstGeom prst="rect">
            <a:avLst/>
          </a:prstGeom>
          <a:solidFill>
            <a:srgbClr val="00B8B8"/>
          </a:solidFill>
          <a:ln/>
        </p:spPr>
        <p:txBody>
          <a:bodyPr/>
          <a:lstStyle/>
          <a:p>
            <a:endParaRPr lang="en-US"/>
          </a:p>
        </p:txBody>
      </p:sp>
      <p:sp>
        <p:nvSpPr>
          <p:cNvPr id="8" name="Shape 5"/>
          <p:cNvSpPr/>
          <p:nvPr/>
        </p:nvSpPr>
        <p:spPr>
          <a:xfrm>
            <a:off x="292608" y="978408"/>
            <a:ext cx="8558784" cy="752551"/>
          </a:xfrm>
          <a:prstGeom prst="rect">
            <a:avLst/>
          </a:prstGeom>
          <a:solidFill>
            <a:srgbClr val="00B8B8">
              <a:alpha val="6000"/>
            </a:srgbClr>
          </a:solidFill>
          <a:ln w="12700">
            <a:solidFill>
              <a:srgbClr val="054444"/>
            </a:solidFill>
            <a:prstDash val="solid"/>
          </a:ln>
        </p:spPr>
        <p:txBody>
          <a:bodyPr/>
          <a:lstStyle/>
          <a:p>
            <a:endParaRPr lang="en-US"/>
          </a:p>
        </p:txBody>
      </p:sp>
      <p:sp>
        <p:nvSpPr>
          <p:cNvPr id="9" name="Shape 6"/>
          <p:cNvSpPr/>
          <p:nvPr/>
        </p:nvSpPr>
        <p:spPr>
          <a:xfrm>
            <a:off x="292608" y="978408"/>
            <a:ext cx="45720" cy="752551"/>
          </a:xfrm>
          <a:prstGeom prst="rect">
            <a:avLst/>
          </a:prstGeom>
          <a:solidFill>
            <a:srgbClr val="00B8B8"/>
          </a:solidFill>
          <a:ln/>
        </p:spPr>
        <p:txBody>
          <a:bodyPr/>
          <a:lstStyle/>
          <a:p>
            <a:endParaRPr lang="en-US"/>
          </a:p>
        </p:txBody>
      </p:sp>
      <p:sp>
        <p:nvSpPr>
          <p:cNvPr id="10" name="Text 7"/>
          <p:cNvSpPr txBox="1"/>
          <p:nvPr/>
        </p:nvSpPr>
        <p:spPr>
          <a:xfrm>
            <a:off x="521208" y="1131113"/>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80E0E0"/>
                </a:solidFill>
                <a:latin typeface="Arial" pitchFamily="34" charset="0"/>
                <a:ea typeface="Arial" pitchFamily="34" charset="-122"/>
                <a:cs typeface="Arial" pitchFamily="34" charset="-120"/>
              </a:rPr>
              <a:t>The director decides what happens in the scene. The Director of Photography, or DP, decides what it looks like. Every shadow on an actor’s face was somebody’s decision.</a:t>
            </a:r>
            <a:endParaRPr lang="en-US" sz="1200" dirty="0"/>
          </a:p>
        </p:txBody>
      </p:sp>
      <p:sp>
        <p:nvSpPr>
          <p:cNvPr id="11" name="Shape 8"/>
          <p:cNvSpPr/>
          <p:nvPr/>
        </p:nvSpPr>
        <p:spPr>
          <a:xfrm>
            <a:off x="292608" y="1913839"/>
            <a:ext cx="4160520" cy="1188720"/>
          </a:xfrm>
          <a:prstGeom prst="rect">
            <a:avLst/>
          </a:prstGeom>
          <a:solidFill>
            <a:srgbClr val="00B8B8"/>
          </a:solidFill>
          <a:ln/>
        </p:spPr>
        <p:txBody>
          <a:bodyPr/>
          <a:lstStyle/>
          <a:p>
            <a:endParaRPr lang="en-US"/>
          </a:p>
        </p:txBody>
      </p:sp>
      <p:sp>
        <p:nvSpPr>
          <p:cNvPr id="12" name="Shape 9"/>
          <p:cNvSpPr/>
          <p:nvPr/>
        </p:nvSpPr>
        <p:spPr>
          <a:xfrm>
            <a:off x="307878" y="1929110"/>
            <a:ext cx="4129979" cy="213238"/>
          </a:xfrm>
          <a:prstGeom prst="rect">
            <a:avLst/>
          </a:prstGeom>
          <a:solidFill>
            <a:srgbClr val="094043"/>
          </a:solidFill>
          <a:ln/>
        </p:spPr>
        <p:txBody>
          <a:bodyPr/>
          <a:lstStyle/>
          <a:p>
            <a:endParaRPr lang="en-US"/>
          </a:p>
        </p:txBody>
      </p:sp>
      <p:sp>
        <p:nvSpPr>
          <p:cNvPr id="13" name="Shape 10"/>
          <p:cNvSpPr/>
          <p:nvPr/>
        </p:nvSpPr>
        <p:spPr>
          <a:xfrm>
            <a:off x="307878" y="2142348"/>
            <a:ext cx="4129979" cy="944941"/>
          </a:xfrm>
          <a:prstGeom prst="rect">
            <a:avLst/>
          </a:prstGeom>
          <a:solidFill>
            <a:srgbClr val="041D1C"/>
          </a:solidFill>
          <a:ln/>
        </p:spPr>
        <p:txBody>
          <a:bodyPr/>
          <a:lstStyle/>
          <a:p>
            <a:endParaRPr lang="en-US"/>
          </a:p>
        </p:txBody>
      </p:sp>
      <p:sp>
        <p:nvSpPr>
          <p:cNvPr id="14" name="Text 11"/>
          <p:cNvSpPr txBox="1"/>
          <p:nvPr/>
        </p:nvSpPr>
        <p:spPr>
          <a:xfrm>
            <a:off x="475488" y="2020550"/>
            <a:ext cx="3794760" cy="256032"/>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Designs the lighting</a:t>
            </a:r>
            <a:endParaRPr lang="en-US" sz="1200" dirty="0"/>
          </a:p>
        </p:txBody>
      </p:sp>
      <p:sp>
        <p:nvSpPr>
          <p:cNvPr id="15" name="Shape 12"/>
          <p:cNvSpPr/>
          <p:nvPr/>
        </p:nvSpPr>
        <p:spPr>
          <a:xfrm>
            <a:off x="475488" y="2304288"/>
            <a:ext cx="243779" cy="15270"/>
          </a:xfrm>
          <a:prstGeom prst="rect">
            <a:avLst/>
          </a:prstGeom>
          <a:solidFill>
            <a:srgbClr val="00B8B8"/>
          </a:solidFill>
          <a:ln/>
        </p:spPr>
        <p:txBody>
          <a:bodyPr/>
          <a:lstStyle/>
          <a:p>
            <a:endParaRPr lang="en-US"/>
          </a:p>
        </p:txBody>
      </p:sp>
      <p:sp>
        <p:nvSpPr>
          <p:cNvPr id="16" name="Text 13"/>
          <p:cNvSpPr txBox="1"/>
          <p:nvPr/>
        </p:nvSpPr>
        <p:spPr>
          <a:xfrm>
            <a:off x="475488" y="2441448"/>
            <a:ext cx="3794760" cy="548640"/>
          </a:xfrm>
          <a:prstGeom prst="rect">
            <a:avLst/>
          </a:prstGeom>
          <a:noFill/>
          <a:ln/>
        </p:spPr>
        <p:txBody>
          <a:bodyPr wrap="square" lIns="0" tIns="0" rIns="0" bIns="0" rtlCol="0" anchor="t"/>
          <a:lstStyle/>
          <a:p>
            <a:pPr marL="0" indent="0">
              <a:lnSpc>
                <a:spcPct val="130000"/>
              </a:lnSpc>
              <a:buNone/>
            </a:pPr>
            <a:r>
              <a:rPr lang="en-US" sz="1050" dirty="0">
                <a:solidFill>
                  <a:srgbClr val="FFFFFF"/>
                </a:solidFill>
                <a:latin typeface="Arial" pitchFamily="34" charset="0"/>
                <a:ea typeface="Arial" pitchFamily="34" charset="-122"/>
                <a:cs typeface="Arial" pitchFamily="34" charset="-120"/>
              </a:rPr>
              <a:t>Picks every light, where it sits, how hard it is, and what color it is. This is the biggest part of the job.</a:t>
            </a:r>
            <a:endParaRPr lang="en-US" sz="1050" dirty="0"/>
          </a:p>
        </p:txBody>
      </p:sp>
      <p:sp>
        <p:nvSpPr>
          <p:cNvPr id="17" name="Shape 14"/>
          <p:cNvSpPr/>
          <p:nvPr/>
        </p:nvSpPr>
        <p:spPr>
          <a:xfrm>
            <a:off x="4690872" y="1913839"/>
            <a:ext cx="4160520" cy="1188720"/>
          </a:xfrm>
          <a:prstGeom prst="rect">
            <a:avLst/>
          </a:prstGeom>
          <a:solidFill>
            <a:srgbClr val="00B8B8"/>
          </a:solidFill>
          <a:ln/>
        </p:spPr>
        <p:txBody>
          <a:bodyPr/>
          <a:lstStyle/>
          <a:p>
            <a:endParaRPr lang="en-US"/>
          </a:p>
        </p:txBody>
      </p:sp>
      <p:sp>
        <p:nvSpPr>
          <p:cNvPr id="18" name="Shape 15"/>
          <p:cNvSpPr/>
          <p:nvPr/>
        </p:nvSpPr>
        <p:spPr>
          <a:xfrm>
            <a:off x="4706142" y="1929110"/>
            <a:ext cx="4129979" cy="213238"/>
          </a:xfrm>
          <a:prstGeom prst="rect">
            <a:avLst/>
          </a:prstGeom>
          <a:solidFill>
            <a:srgbClr val="094043"/>
          </a:solidFill>
          <a:ln/>
        </p:spPr>
        <p:txBody>
          <a:bodyPr/>
          <a:lstStyle/>
          <a:p>
            <a:endParaRPr lang="en-US"/>
          </a:p>
        </p:txBody>
      </p:sp>
      <p:sp>
        <p:nvSpPr>
          <p:cNvPr id="19" name="Shape 16"/>
          <p:cNvSpPr/>
          <p:nvPr/>
        </p:nvSpPr>
        <p:spPr>
          <a:xfrm>
            <a:off x="4706142" y="2142348"/>
            <a:ext cx="4129979" cy="944941"/>
          </a:xfrm>
          <a:prstGeom prst="rect">
            <a:avLst/>
          </a:prstGeom>
          <a:solidFill>
            <a:srgbClr val="041D1C"/>
          </a:solidFill>
          <a:ln/>
        </p:spPr>
        <p:txBody>
          <a:bodyPr/>
          <a:lstStyle/>
          <a:p>
            <a:endParaRPr lang="en-US"/>
          </a:p>
        </p:txBody>
      </p:sp>
      <p:sp>
        <p:nvSpPr>
          <p:cNvPr id="20" name="Text 17"/>
          <p:cNvSpPr txBox="1"/>
          <p:nvPr/>
        </p:nvSpPr>
        <p:spPr>
          <a:xfrm>
            <a:off x="4873752" y="2020550"/>
            <a:ext cx="3794760" cy="256032"/>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Chooses the lens and exposure</a:t>
            </a:r>
            <a:endParaRPr lang="en-US" sz="1200" dirty="0"/>
          </a:p>
        </p:txBody>
      </p:sp>
      <p:sp>
        <p:nvSpPr>
          <p:cNvPr id="21" name="Shape 18"/>
          <p:cNvSpPr/>
          <p:nvPr/>
        </p:nvSpPr>
        <p:spPr>
          <a:xfrm>
            <a:off x="4873752" y="2304288"/>
            <a:ext cx="243779" cy="15270"/>
          </a:xfrm>
          <a:prstGeom prst="rect">
            <a:avLst/>
          </a:prstGeom>
          <a:solidFill>
            <a:srgbClr val="00B8B8"/>
          </a:solidFill>
          <a:ln/>
        </p:spPr>
        <p:txBody>
          <a:bodyPr/>
          <a:lstStyle/>
          <a:p>
            <a:endParaRPr lang="en-US"/>
          </a:p>
        </p:txBody>
      </p:sp>
      <p:sp>
        <p:nvSpPr>
          <p:cNvPr id="22" name="Text 19"/>
          <p:cNvSpPr txBox="1"/>
          <p:nvPr/>
        </p:nvSpPr>
        <p:spPr>
          <a:xfrm>
            <a:off x="4873752" y="2441448"/>
            <a:ext cx="3794760" cy="548640"/>
          </a:xfrm>
          <a:prstGeom prst="rect">
            <a:avLst/>
          </a:prstGeom>
          <a:noFill/>
          <a:ln/>
        </p:spPr>
        <p:txBody>
          <a:bodyPr wrap="square" lIns="0" tIns="0" rIns="0" bIns="0" rtlCol="0" anchor="t"/>
          <a:lstStyle/>
          <a:p>
            <a:pPr marL="0" indent="0">
              <a:lnSpc>
                <a:spcPct val="130000"/>
              </a:lnSpc>
              <a:buNone/>
            </a:pPr>
            <a:r>
              <a:rPr lang="en-US" sz="1050" dirty="0">
                <a:solidFill>
                  <a:srgbClr val="FFFFFF"/>
                </a:solidFill>
                <a:latin typeface="Arial" pitchFamily="34" charset="0"/>
                <a:ea typeface="Arial" pitchFamily="34" charset="-122"/>
                <a:cs typeface="Arial" pitchFamily="34" charset="-120"/>
              </a:rPr>
              <a:t>Decides how much of the scene is sharp, how dark the image is allowed to get, and what the camera sees.</a:t>
            </a:r>
            <a:endParaRPr lang="en-US" sz="1050" dirty="0"/>
          </a:p>
        </p:txBody>
      </p:sp>
      <p:sp>
        <p:nvSpPr>
          <p:cNvPr id="23" name="Shape 20"/>
          <p:cNvSpPr/>
          <p:nvPr/>
        </p:nvSpPr>
        <p:spPr>
          <a:xfrm>
            <a:off x="292608" y="3285439"/>
            <a:ext cx="4160520" cy="1188720"/>
          </a:xfrm>
          <a:prstGeom prst="rect">
            <a:avLst/>
          </a:prstGeom>
          <a:solidFill>
            <a:srgbClr val="00B8B8"/>
          </a:solidFill>
          <a:ln/>
        </p:spPr>
        <p:txBody>
          <a:bodyPr/>
          <a:lstStyle/>
          <a:p>
            <a:endParaRPr lang="en-US"/>
          </a:p>
        </p:txBody>
      </p:sp>
      <p:sp>
        <p:nvSpPr>
          <p:cNvPr id="24" name="Shape 21"/>
          <p:cNvSpPr/>
          <p:nvPr/>
        </p:nvSpPr>
        <p:spPr>
          <a:xfrm>
            <a:off x="307878" y="3300710"/>
            <a:ext cx="4129979" cy="213238"/>
          </a:xfrm>
          <a:prstGeom prst="rect">
            <a:avLst/>
          </a:prstGeom>
          <a:solidFill>
            <a:srgbClr val="094043"/>
          </a:solidFill>
          <a:ln/>
        </p:spPr>
        <p:txBody>
          <a:bodyPr/>
          <a:lstStyle/>
          <a:p>
            <a:endParaRPr lang="en-US"/>
          </a:p>
        </p:txBody>
      </p:sp>
      <p:sp>
        <p:nvSpPr>
          <p:cNvPr id="25" name="Shape 22"/>
          <p:cNvSpPr/>
          <p:nvPr/>
        </p:nvSpPr>
        <p:spPr>
          <a:xfrm>
            <a:off x="307878" y="3513948"/>
            <a:ext cx="4129979" cy="944941"/>
          </a:xfrm>
          <a:prstGeom prst="rect">
            <a:avLst/>
          </a:prstGeom>
          <a:solidFill>
            <a:srgbClr val="041D1C"/>
          </a:solidFill>
          <a:ln/>
        </p:spPr>
        <p:txBody>
          <a:bodyPr/>
          <a:lstStyle/>
          <a:p>
            <a:endParaRPr lang="en-US"/>
          </a:p>
        </p:txBody>
      </p:sp>
      <p:sp>
        <p:nvSpPr>
          <p:cNvPr id="26" name="Text 23"/>
          <p:cNvSpPr txBox="1"/>
          <p:nvPr/>
        </p:nvSpPr>
        <p:spPr>
          <a:xfrm>
            <a:off x="475488" y="3392150"/>
            <a:ext cx="3794760" cy="256032"/>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Runs the camera and grip crew</a:t>
            </a:r>
            <a:endParaRPr lang="en-US" sz="1200" dirty="0"/>
          </a:p>
        </p:txBody>
      </p:sp>
      <p:sp>
        <p:nvSpPr>
          <p:cNvPr id="27" name="Shape 24"/>
          <p:cNvSpPr/>
          <p:nvPr/>
        </p:nvSpPr>
        <p:spPr>
          <a:xfrm>
            <a:off x="475488" y="3675888"/>
            <a:ext cx="243779" cy="15270"/>
          </a:xfrm>
          <a:prstGeom prst="rect">
            <a:avLst/>
          </a:prstGeom>
          <a:solidFill>
            <a:srgbClr val="00B8B8"/>
          </a:solidFill>
          <a:ln/>
        </p:spPr>
        <p:txBody>
          <a:bodyPr/>
          <a:lstStyle/>
          <a:p>
            <a:endParaRPr lang="en-US"/>
          </a:p>
        </p:txBody>
      </p:sp>
      <p:sp>
        <p:nvSpPr>
          <p:cNvPr id="28" name="Text 25"/>
          <p:cNvSpPr txBox="1"/>
          <p:nvPr/>
        </p:nvSpPr>
        <p:spPr>
          <a:xfrm>
            <a:off x="475488" y="3813048"/>
            <a:ext cx="3794760" cy="548640"/>
          </a:xfrm>
          <a:prstGeom prst="rect">
            <a:avLst/>
          </a:prstGeom>
          <a:noFill/>
          <a:ln/>
        </p:spPr>
        <p:txBody>
          <a:bodyPr wrap="square" lIns="0" tIns="0" rIns="0" bIns="0" rtlCol="0" anchor="t"/>
          <a:lstStyle/>
          <a:p>
            <a:pPr marL="0" indent="0">
              <a:lnSpc>
                <a:spcPct val="130000"/>
              </a:lnSpc>
              <a:buNone/>
            </a:pPr>
            <a:r>
              <a:rPr lang="en-US" sz="1050" dirty="0">
                <a:solidFill>
                  <a:srgbClr val="FFFFFF"/>
                </a:solidFill>
                <a:latin typeface="Arial" pitchFamily="34" charset="0"/>
                <a:ea typeface="Arial" pitchFamily="34" charset="-122"/>
                <a:cs typeface="Arial" pitchFamily="34" charset="-120"/>
              </a:rPr>
              <a:t>Gaffers, electricians, and grips build what the DP designs. On a big film that is dozens of people.</a:t>
            </a:r>
            <a:endParaRPr lang="en-US" sz="1050" dirty="0"/>
          </a:p>
        </p:txBody>
      </p:sp>
      <p:sp>
        <p:nvSpPr>
          <p:cNvPr id="29" name="Shape 26"/>
          <p:cNvSpPr/>
          <p:nvPr/>
        </p:nvSpPr>
        <p:spPr>
          <a:xfrm>
            <a:off x="4690872" y="3285439"/>
            <a:ext cx="4160520" cy="1188720"/>
          </a:xfrm>
          <a:prstGeom prst="rect">
            <a:avLst/>
          </a:prstGeom>
          <a:solidFill>
            <a:srgbClr val="00B8B8"/>
          </a:solidFill>
          <a:ln/>
        </p:spPr>
        <p:txBody>
          <a:bodyPr/>
          <a:lstStyle/>
          <a:p>
            <a:endParaRPr lang="en-US"/>
          </a:p>
        </p:txBody>
      </p:sp>
      <p:sp>
        <p:nvSpPr>
          <p:cNvPr id="30" name="Shape 27"/>
          <p:cNvSpPr/>
          <p:nvPr/>
        </p:nvSpPr>
        <p:spPr>
          <a:xfrm>
            <a:off x="4706142" y="3300710"/>
            <a:ext cx="4129979" cy="213238"/>
          </a:xfrm>
          <a:prstGeom prst="rect">
            <a:avLst/>
          </a:prstGeom>
          <a:solidFill>
            <a:srgbClr val="094043"/>
          </a:solidFill>
          <a:ln/>
        </p:spPr>
        <p:txBody>
          <a:bodyPr/>
          <a:lstStyle/>
          <a:p>
            <a:endParaRPr lang="en-US"/>
          </a:p>
        </p:txBody>
      </p:sp>
      <p:sp>
        <p:nvSpPr>
          <p:cNvPr id="31" name="Shape 28"/>
          <p:cNvSpPr/>
          <p:nvPr/>
        </p:nvSpPr>
        <p:spPr>
          <a:xfrm>
            <a:off x="4706142" y="3513948"/>
            <a:ext cx="4129979" cy="944941"/>
          </a:xfrm>
          <a:prstGeom prst="rect">
            <a:avLst/>
          </a:prstGeom>
          <a:solidFill>
            <a:srgbClr val="041D1C"/>
          </a:solidFill>
          <a:ln/>
        </p:spPr>
        <p:txBody>
          <a:bodyPr/>
          <a:lstStyle/>
          <a:p>
            <a:endParaRPr lang="en-US"/>
          </a:p>
        </p:txBody>
      </p:sp>
      <p:sp>
        <p:nvSpPr>
          <p:cNvPr id="32" name="Text 29"/>
          <p:cNvSpPr txBox="1"/>
          <p:nvPr/>
        </p:nvSpPr>
        <p:spPr>
          <a:xfrm>
            <a:off x="4873752" y="3392150"/>
            <a:ext cx="3794760" cy="256032"/>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Protects the mood</a:t>
            </a:r>
            <a:endParaRPr lang="en-US" sz="1200" dirty="0"/>
          </a:p>
        </p:txBody>
      </p:sp>
      <p:sp>
        <p:nvSpPr>
          <p:cNvPr id="33" name="Shape 30"/>
          <p:cNvSpPr/>
          <p:nvPr/>
        </p:nvSpPr>
        <p:spPr>
          <a:xfrm>
            <a:off x="4873752" y="3675888"/>
            <a:ext cx="243779" cy="15270"/>
          </a:xfrm>
          <a:prstGeom prst="rect">
            <a:avLst/>
          </a:prstGeom>
          <a:solidFill>
            <a:srgbClr val="00B8B8"/>
          </a:solidFill>
          <a:ln/>
        </p:spPr>
        <p:txBody>
          <a:bodyPr/>
          <a:lstStyle/>
          <a:p>
            <a:endParaRPr lang="en-US"/>
          </a:p>
        </p:txBody>
      </p:sp>
      <p:sp>
        <p:nvSpPr>
          <p:cNvPr id="34" name="Text 31"/>
          <p:cNvSpPr txBox="1"/>
          <p:nvPr/>
        </p:nvSpPr>
        <p:spPr>
          <a:xfrm>
            <a:off x="4873752" y="3813048"/>
            <a:ext cx="3794760" cy="548640"/>
          </a:xfrm>
          <a:prstGeom prst="rect">
            <a:avLst/>
          </a:prstGeom>
          <a:noFill/>
          <a:ln/>
        </p:spPr>
        <p:txBody>
          <a:bodyPr wrap="square" lIns="0" tIns="0" rIns="0" bIns="0" rtlCol="0" anchor="t"/>
          <a:lstStyle/>
          <a:p>
            <a:pPr marL="0" indent="0">
              <a:lnSpc>
                <a:spcPct val="130000"/>
              </a:lnSpc>
              <a:buNone/>
            </a:pPr>
            <a:r>
              <a:rPr lang="en-US" sz="1050" dirty="0">
                <a:solidFill>
                  <a:srgbClr val="FFFFFF"/>
                </a:solidFill>
                <a:latin typeface="Arial" pitchFamily="34" charset="0"/>
                <a:ea typeface="Arial" pitchFamily="34" charset="-122"/>
                <a:cs typeface="Arial" pitchFamily="34" charset="-120"/>
              </a:rPr>
              <a:t>If the story is about dread, the DP makes sure every frame feels like dread, even the quiet ones.</a:t>
            </a:r>
            <a:endParaRPr lang="en-US" sz="1050" dirty="0"/>
          </a:p>
        </p:txBody>
      </p:sp>
      <p:sp>
        <p:nvSpPr>
          <p:cNvPr id="35" name="Shape 32"/>
          <p:cNvSpPr/>
          <p:nvPr/>
        </p:nvSpPr>
        <p:spPr>
          <a:xfrm>
            <a:off x="0" y="4681728"/>
            <a:ext cx="9144000" cy="22860"/>
          </a:xfrm>
          <a:prstGeom prst="rect">
            <a:avLst/>
          </a:prstGeom>
          <a:solidFill>
            <a:srgbClr val="00B8B8"/>
          </a:solidFill>
          <a:ln/>
        </p:spPr>
        <p:txBody>
          <a:bodyPr/>
          <a:lstStyle/>
          <a:p>
            <a:endParaRPr lang="en-US"/>
          </a:p>
        </p:txBody>
      </p:sp>
      <p:sp>
        <p:nvSpPr>
          <p:cNvPr id="36" name="Text 33"/>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00C2FF"/>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7DD3FC"/>
                </a:solidFill>
                <a:latin typeface="Oswald" pitchFamily="34" charset="0"/>
                <a:ea typeface="Oswald" pitchFamily="34" charset="-122"/>
                <a:cs typeface="Oswald" pitchFamily="34" charset="-120"/>
              </a:rPr>
              <a:t>THE ONLY FOUR THINGS A LIGHT CAN DO</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7DD3FC"/>
                </a:solidFill>
                <a:latin typeface="Oswald" pitchFamily="34" charset="0"/>
                <a:ea typeface="Oswald" pitchFamily="34" charset="-122"/>
                <a:cs typeface="Oswald" pitchFamily="34" charset="-120"/>
              </a:rPr>
              <a:t>TOOLS / 02</a:t>
            </a:r>
            <a:endParaRPr lang="en-US" sz="900" dirty="0"/>
          </a:p>
        </p:txBody>
      </p:sp>
      <p:sp>
        <p:nvSpPr>
          <p:cNvPr id="7" name="Shape 4"/>
          <p:cNvSpPr/>
          <p:nvPr/>
        </p:nvSpPr>
        <p:spPr>
          <a:xfrm>
            <a:off x="859536" y="699516"/>
            <a:ext cx="457017" cy="22860"/>
          </a:xfrm>
          <a:prstGeom prst="rect">
            <a:avLst/>
          </a:prstGeom>
          <a:solidFill>
            <a:srgbClr val="00C2FF"/>
          </a:solidFill>
          <a:ln/>
        </p:spPr>
        <p:txBody>
          <a:bodyPr/>
          <a:lstStyle/>
          <a:p>
            <a:endParaRPr lang="en-US"/>
          </a:p>
        </p:txBody>
      </p:sp>
      <p:sp>
        <p:nvSpPr>
          <p:cNvPr id="8" name="Shape 5"/>
          <p:cNvSpPr/>
          <p:nvPr/>
        </p:nvSpPr>
        <p:spPr>
          <a:xfrm>
            <a:off x="292608" y="978408"/>
            <a:ext cx="8558784" cy="752551"/>
          </a:xfrm>
          <a:prstGeom prst="rect">
            <a:avLst/>
          </a:prstGeom>
          <a:solidFill>
            <a:srgbClr val="00C2FF">
              <a:alpha val="6000"/>
            </a:srgbClr>
          </a:solidFill>
          <a:ln w="12700">
            <a:solidFill>
              <a:srgbClr val="05475C"/>
            </a:solidFill>
            <a:prstDash val="solid"/>
          </a:ln>
        </p:spPr>
        <p:txBody>
          <a:bodyPr/>
          <a:lstStyle/>
          <a:p>
            <a:endParaRPr lang="en-US"/>
          </a:p>
        </p:txBody>
      </p:sp>
      <p:sp>
        <p:nvSpPr>
          <p:cNvPr id="9" name="Shape 6"/>
          <p:cNvSpPr/>
          <p:nvPr/>
        </p:nvSpPr>
        <p:spPr>
          <a:xfrm>
            <a:off x="292608" y="978408"/>
            <a:ext cx="45720" cy="752551"/>
          </a:xfrm>
          <a:prstGeom prst="rect">
            <a:avLst/>
          </a:prstGeom>
          <a:solidFill>
            <a:srgbClr val="00C2FF"/>
          </a:solidFill>
          <a:ln/>
        </p:spPr>
        <p:txBody>
          <a:bodyPr/>
          <a:lstStyle/>
          <a:p>
            <a:endParaRPr lang="en-US"/>
          </a:p>
        </p:txBody>
      </p:sp>
      <p:sp>
        <p:nvSpPr>
          <p:cNvPr id="10" name="Text 7"/>
          <p:cNvSpPr txBox="1"/>
          <p:nvPr/>
        </p:nvSpPr>
        <p:spPr>
          <a:xfrm>
            <a:off x="521208" y="1131113"/>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7DD3FC"/>
                </a:solidFill>
                <a:latin typeface="Arial" pitchFamily="34" charset="0"/>
                <a:ea typeface="Arial" pitchFamily="34" charset="-122"/>
                <a:cs typeface="Arial" pitchFamily="34" charset="-120"/>
              </a:rPr>
              <a:t>Every lighting choice in every film ever made comes down to four dials. Learn these four and you can read any image on earth.</a:t>
            </a:r>
            <a:endParaRPr lang="en-US" sz="1200" dirty="0"/>
          </a:p>
        </p:txBody>
      </p:sp>
      <p:sp>
        <p:nvSpPr>
          <p:cNvPr id="11" name="Shape 8"/>
          <p:cNvSpPr/>
          <p:nvPr/>
        </p:nvSpPr>
        <p:spPr>
          <a:xfrm>
            <a:off x="292608" y="1895551"/>
            <a:ext cx="2002536" cy="1700784"/>
          </a:xfrm>
          <a:prstGeom prst="rect">
            <a:avLst/>
          </a:prstGeom>
          <a:solidFill>
            <a:srgbClr val="00C2FF"/>
          </a:solidFill>
          <a:ln/>
        </p:spPr>
        <p:txBody>
          <a:bodyPr/>
          <a:lstStyle/>
          <a:p>
            <a:endParaRPr lang="en-US"/>
          </a:p>
        </p:txBody>
      </p:sp>
      <p:sp>
        <p:nvSpPr>
          <p:cNvPr id="12" name="Shape 9"/>
          <p:cNvSpPr/>
          <p:nvPr/>
        </p:nvSpPr>
        <p:spPr>
          <a:xfrm>
            <a:off x="307878" y="1910822"/>
            <a:ext cx="1971995" cy="213238"/>
          </a:xfrm>
          <a:prstGeom prst="rect">
            <a:avLst/>
          </a:prstGeom>
          <a:solidFill>
            <a:srgbClr val="0A2A3A"/>
          </a:solidFill>
          <a:ln/>
        </p:spPr>
        <p:txBody>
          <a:bodyPr/>
          <a:lstStyle/>
          <a:p>
            <a:endParaRPr lang="en-US"/>
          </a:p>
        </p:txBody>
      </p:sp>
      <p:sp>
        <p:nvSpPr>
          <p:cNvPr id="13" name="Shape 10"/>
          <p:cNvSpPr/>
          <p:nvPr/>
        </p:nvSpPr>
        <p:spPr>
          <a:xfrm>
            <a:off x="307878" y="2124060"/>
            <a:ext cx="1971995" cy="1457005"/>
          </a:xfrm>
          <a:prstGeom prst="rect">
            <a:avLst/>
          </a:prstGeom>
          <a:solidFill>
            <a:srgbClr val="04161D"/>
          </a:solidFill>
          <a:ln/>
        </p:spPr>
        <p:txBody>
          <a:bodyPr/>
          <a:lstStyle/>
          <a:p>
            <a:endParaRPr lang="en-US"/>
          </a:p>
        </p:txBody>
      </p:sp>
      <p:sp>
        <p:nvSpPr>
          <p:cNvPr id="14" name="Text 11"/>
          <p:cNvSpPr txBox="1"/>
          <p:nvPr/>
        </p:nvSpPr>
        <p:spPr>
          <a:xfrm>
            <a:off x="444947" y="2002262"/>
            <a:ext cx="1698041" cy="256032"/>
          </a:xfrm>
          <a:prstGeom prst="rect">
            <a:avLst/>
          </a:prstGeom>
          <a:noFill/>
          <a:ln/>
        </p:spPr>
        <p:txBody>
          <a:bodyPr wrap="square" lIns="0" tIns="0" rIns="0" bIns="0" rtlCol="0" anchor="ctr"/>
          <a:lstStyle/>
          <a:p>
            <a:pPr marL="0" indent="0">
              <a:lnSpc>
                <a:spcPct val="105000"/>
              </a:lnSpc>
              <a:buNone/>
            </a:pPr>
            <a:r>
              <a:rPr lang="en-US" sz="1300" b="1" dirty="0">
                <a:solidFill>
                  <a:srgbClr val="7DD3FC"/>
                </a:solidFill>
                <a:latin typeface="Arial" pitchFamily="34" charset="0"/>
                <a:ea typeface="Arial" pitchFamily="34" charset="-122"/>
                <a:cs typeface="Arial" pitchFamily="34" charset="-120"/>
              </a:rPr>
              <a:t>Quality</a:t>
            </a:r>
            <a:endParaRPr lang="en-US" sz="1300" dirty="0"/>
          </a:p>
        </p:txBody>
      </p:sp>
      <p:sp>
        <p:nvSpPr>
          <p:cNvPr id="15" name="Shape 12"/>
          <p:cNvSpPr/>
          <p:nvPr/>
        </p:nvSpPr>
        <p:spPr>
          <a:xfrm>
            <a:off x="444947" y="2295144"/>
            <a:ext cx="228509" cy="15270"/>
          </a:xfrm>
          <a:prstGeom prst="rect">
            <a:avLst/>
          </a:prstGeom>
          <a:solidFill>
            <a:srgbClr val="00C2FF"/>
          </a:solidFill>
          <a:ln/>
        </p:spPr>
        <p:txBody>
          <a:bodyPr/>
          <a:lstStyle/>
          <a:p>
            <a:endParaRPr lang="en-US"/>
          </a:p>
        </p:txBody>
      </p:sp>
      <p:sp>
        <p:nvSpPr>
          <p:cNvPr id="16" name="Text 13"/>
          <p:cNvSpPr txBox="1"/>
          <p:nvPr/>
        </p:nvSpPr>
        <p:spPr>
          <a:xfrm>
            <a:off x="444947" y="2441448"/>
            <a:ext cx="1698041" cy="1042416"/>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How sharp the shadow edge is. Hard light cuts. Soft light wraps. Decided by how big the light looks from where the subject is standing.</a:t>
            </a:r>
            <a:endParaRPr lang="en-US" sz="1000" dirty="0"/>
          </a:p>
        </p:txBody>
      </p:sp>
      <p:sp>
        <p:nvSpPr>
          <p:cNvPr id="17" name="Shape 14"/>
          <p:cNvSpPr/>
          <p:nvPr/>
        </p:nvSpPr>
        <p:spPr>
          <a:xfrm>
            <a:off x="2478024" y="1895551"/>
            <a:ext cx="2002536" cy="1700784"/>
          </a:xfrm>
          <a:prstGeom prst="rect">
            <a:avLst/>
          </a:prstGeom>
          <a:solidFill>
            <a:srgbClr val="00C2FF"/>
          </a:solidFill>
          <a:ln/>
        </p:spPr>
        <p:txBody>
          <a:bodyPr/>
          <a:lstStyle/>
          <a:p>
            <a:endParaRPr lang="en-US"/>
          </a:p>
        </p:txBody>
      </p:sp>
      <p:sp>
        <p:nvSpPr>
          <p:cNvPr id="18" name="Shape 15"/>
          <p:cNvSpPr/>
          <p:nvPr/>
        </p:nvSpPr>
        <p:spPr>
          <a:xfrm>
            <a:off x="2493294" y="1910822"/>
            <a:ext cx="1971995" cy="213238"/>
          </a:xfrm>
          <a:prstGeom prst="rect">
            <a:avLst/>
          </a:prstGeom>
          <a:solidFill>
            <a:srgbClr val="0A2A3A"/>
          </a:solidFill>
          <a:ln/>
        </p:spPr>
        <p:txBody>
          <a:bodyPr/>
          <a:lstStyle/>
          <a:p>
            <a:endParaRPr lang="en-US"/>
          </a:p>
        </p:txBody>
      </p:sp>
      <p:sp>
        <p:nvSpPr>
          <p:cNvPr id="19" name="Shape 16"/>
          <p:cNvSpPr/>
          <p:nvPr/>
        </p:nvSpPr>
        <p:spPr>
          <a:xfrm>
            <a:off x="2493294" y="2124060"/>
            <a:ext cx="1971995" cy="1457005"/>
          </a:xfrm>
          <a:prstGeom prst="rect">
            <a:avLst/>
          </a:prstGeom>
          <a:solidFill>
            <a:srgbClr val="04161D"/>
          </a:solidFill>
          <a:ln/>
        </p:spPr>
        <p:txBody>
          <a:bodyPr/>
          <a:lstStyle/>
          <a:p>
            <a:endParaRPr lang="en-US"/>
          </a:p>
        </p:txBody>
      </p:sp>
      <p:sp>
        <p:nvSpPr>
          <p:cNvPr id="20" name="Text 17"/>
          <p:cNvSpPr txBox="1"/>
          <p:nvPr/>
        </p:nvSpPr>
        <p:spPr>
          <a:xfrm>
            <a:off x="2630363" y="2002262"/>
            <a:ext cx="1698041" cy="256032"/>
          </a:xfrm>
          <a:prstGeom prst="rect">
            <a:avLst/>
          </a:prstGeom>
          <a:noFill/>
          <a:ln/>
        </p:spPr>
        <p:txBody>
          <a:bodyPr wrap="square" lIns="0" tIns="0" rIns="0" bIns="0" rtlCol="0" anchor="ctr"/>
          <a:lstStyle/>
          <a:p>
            <a:pPr marL="0" indent="0">
              <a:lnSpc>
                <a:spcPct val="105000"/>
              </a:lnSpc>
              <a:buNone/>
            </a:pPr>
            <a:r>
              <a:rPr lang="en-US" sz="1300" b="1" dirty="0">
                <a:solidFill>
                  <a:srgbClr val="7DD3FC"/>
                </a:solidFill>
                <a:latin typeface="Arial" pitchFamily="34" charset="0"/>
                <a:ea typeface="Arial" pitchFamily="34" charset="-122"/>
                <a:cs typeface="Arial" pitchFamily="34" charset="-120"/>
              </a:rPr>
              <a:t>Direction</a:t>
            </a:r>
            <a:endParaRPr lang="en-US" sz="1300" dirty="0"/>
          </a:p>
        </p:txBody>
      </p:sp>
      <p:sp>
        <p:nvSpPr>
          <p:cNvPr id="21" name="Shape 18"/>
          <p:cNvSpPr/>
          <p:nvPr/>
        </p:nvSpPr>
        <p:spPr>
          <a:xfrm>
            <a:off x="2630363" y="2295144"/>
            <a:ext cx="228509" cy="15270"/>
          </a:xfrm>
          <a:prstGeom prst="rect">
            <a:avLst/>
          </a:prstGeom>
          <a:solidFill>
            <a:srgbClr val="00C2FF"/>
          </a:solidFill>
          <a:ln/>
        </p:spPr>
        <p:txBody>
          <a:bodyPr/>
          <a:lstStyle/>
          <a:p>
            <a:endParaRPr lang="en-US"/>
          </a:p>
        </p:txBody>
      </p:sp>
      <p:sp>
        <p:nvSpPr>
          <p:cNvPr id="22" name="Text 19"/>
          <p:cNvSpPr txBox="1"/>
          <p:nvPr/>
        </p:nvSpPr>
        <p:spPr>
          <a:xfrm>
            <a:off x="2630363" y="2441448"/>
            <a:ext cx="1698041" cy="1042416"/>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Where the light comes from. Front, side, behind, above, below. Direction is where almost all the drama lives.</a:t>
            </a:r>
            <a:endParaRPr lang="en-US" sz="1000" dirty="0"/>
          </a:p>
        </p:txBody>
      </p:sp>
      <p:sp>
        <p:nvSpPr>
          <p:cNvPr id="23" name="Shape 20"/>
          <p:cNvSpPr/>
          <p:nvPr/>
        </p:nvSpPr>
        <p:spPr>
          <a:xfrm>
            <a:off x="4663440" y="1895551"/>
            <a:ext cx="2002536" cy="1700784"/>
          </a:xfrm>
          <a:prstGeom prst="rect">
            <a:avLst/>
          </a:prstGeom>
          <a:solidFill>
            <a:srgbClr val="00C2FF"/>
          </a:solidFill>
          <a:ln/>
        </p:spPr>
        <p:txBody>
          <a:bodyPr/>
          <a:lstStyle/>
          <a:p>
            <a:endParaRPr lang="en-US"/>
          </a:p>
        </p:txBody>
      </p:sp>
      <p:sp>
        <p:nvSpPr>
          <p:cNvPr id="24" name="Shape 21"/>
          <p:cNvSpPr/>
          <p:nvPr/>
        </p:nvSpPr>
        <p:spPr>
          <a:xfrm>
            <a:off x="4678710" y="1910822"/>
            <a:ext cx="1971995" cy="213238"/>
          </a:xfrm>
          <a:prstGeom prst="rect">
            <a:avLst/>
          </a:prstGeom>
          <a:solidFill>
            <a:srgbClr val="0A2A3A"/>
          </a:solidFill>
          <a:ln/>
        </p:spPr>
        <p:txBody>
          <a:bodyPr/>
          <a:lstStyle/>
          <a:p>
            <a:endParaRPr lang="en-US"/>
          </a:p>
        </p:txBody>
      </p:sp>
      <p:sp>
        <p:nvSpPr>
          <p:cNvPr id="25" name="Shape 22"/>
          <p:cNvSpPr/>
          <p:nvPr/>
        </p:nvSpPr>
        <p:spPr>
          <a:xfrm>
            <a:off x="4678710" y="2124060"/>
            <a:ext cx="1971995" cy="1457005"/>
          </a:xfrm>
          <a:prstGeom prst="rect">
            <a:avLst/>
          </a:prstGeom>
          <a:solidFill>
            <a:srgbClr val="04161D"/>
          </a:solidFill>
          <a:ln/>
        </p:spPr>
        <p:txBody>
          <a:bodyPr/>
          <a:lstStyle/>
          <a:p>
            <a:endParaRPr lang="en-US"/>
          </a:p>
        </p:txBody>
      </p:sp>
      <p:sp>
        <p:nvSpPr>
          <p:cNvPr id="26" name="Text 23"/>
          <p:cNvSpPr txBox="1"/>
          <p:nvPr/>
        </p:nvSpPr>
        <p:spPr>
          <a:xfrm>
            <a:off x="4815779" y="2002262"/>
            <a:ext cx="1698041" cy="256032"/>
          </a:xfrm>
          <a:prstGeom prst="rect">
            <a:avLst/>
          </a:prstGeom>
          <a:noFill/>
          <a:ln/>
        </p:spPr>
        <p:txBody>
          <a:bodyPr wrap="square" lIns="0" tIns="0" rIns="0" bIns="0" rtlCol="0" anchor="ctr"/>
          <a:lstStyle/>
          <a:p>
            <a:pPr marL="0" indent="0">
              <a:lnSpc>
                <a:spcPct val="105000"/>
              </a:lnSpc>
              <a:buNone/>
            </a:pPr>
            <a:r>
              <a:rPr lang="en-US" sz="1300" b="1" dirty="0">
                <a:solidFill>
                  <a:srgbClr val="7DD3FC"/>
                </a:solidFill>
                <a:latin typeface="Arial" pitchFamily="34" charset="0"/>
                <a:ea typeface="Arial" pitchFamily="34" charset="-122"/>
                <a:cs typeface="Arial" pitchFamily="34" charset="-120"/>
              </a:rPr>
              <a:t>Intensity</a:t>
            </a:r>
            <a:endParaRPr lang="en-US" sz="1300" dirty="0"/>
          </a:p>
        </p:txBody>
      </p:sp>
      <p:sp>
        <p:nvSpPr>
          <p:cNvPr id="27" name="Shape 24"/>
          <p:cNvSpPr/>
          <p:nvPr/>
        </p:nvSpPr>
        <p:spPr>
          <a:xfrm>
            <a:off x="4815779" y="2295144"/>
            <a:ext cx="228509" cy="15270"/>
          </a:xfrm>
          <a:prstGeom prst="rect">
            <a:avLst/>
          </a:prstGeom>
          <a:solidFill>
            <a:srgbClr val="00C2FF"/>
          </a:solidFill>
          <a:ln/>
        </p:spPr>
        <p:txBody>
          <a:bodyPr/>
          <a:lstStyle/>
          <a:p>
            <a:endParaRPr lang="en-US"/>
          </a:p>
        </p:txBody>
      </p:sp>
      <p:sp>
        <p:nvSpPr>
          <p:cNvPr id="28" name="Text 25"/>
          <p:cNvSpPr txBox="1"/>
          <p:nvPr/>
        </p:nvSpPr>
        <p:spPr>
          <a:xfrm>
            <a:off x="4815779" y="2441448"/>
            <a:ext cx="1698041" cy="1042416"/>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How bright it is compared to everything else. Not how bright it feels. Brightness only means something next to darkness.</a:t>
            </a:r>
            <a:endParaRPr lang="en-US" sz="1000" dirty="0"/>
          </a:p>
        </p:txBody>
      </p:sp>
      <p:sp>
        <p:nvSpPr>
          <p:cNvPr id="29" name="Shape 26"/>
          <p:cNvSpPr/>
          <p:nvPr/>
        </p:nvSpPr>
        <p:spPr>
          <a:xfrm>
            <a:off x="6848856" y="1895551"/>
            <a:ext cx="2002536" cy="1700784"/>
          </a:xfrm>
          <a:prstGeom prst="rect">
            <a:avLst/>
          </a:prstGeom>
          <a:solidFill>
            <a:srgbClr val="00C2FF"/>
          </a:solidFill>
          <a:ln/>
        </p:spPr>
        <p:txBody>
          <a:bodyPr/>
          <a:lstStyle/>
          <a:p>
            <a:endParaRPr lang="en-US"/>
          </a:p>
        </p:txBody>
      </p:sp>
      <p:sp>
        <p:nvSpPr>
          <p:cNvPr id="30" name="Shape 27"/>
          <p:cNvSpPr/>
          <p:nvPr/>
        </p:nvSpPr>
        <p:spPr>
          <a:xfrm>
            <a:off x="6864126" y="1910822"/>
            <a:ext cx="1971995" cy="213238"/>
          </a:xfrm>
          <a:prstGeom prst="rect">
            <a:avLst/>
          </a:prstGeom>
          <a:solidFill>
            <a:srgbClr val="0A2A3A"/>
          </a:solidFill>
          <a:ln/>
        </p:spPr>
        <p:txBody>
          <a:bodyPr/>
          <a:lstStyle/>
          <a:p>
            <a:endParaRPr lang="en-US"/>
          </a:p>
        </p:txBody>
      </p:sp>
      <p:sp>
        <p:nvSpPr>
          <p:cNvPr id="31" name="Shape 28"/>
          <p:cNvSpPr/>
          <p:nvPr/>
        </p:nvSpPr>
        <p:spPr>
          <a:xfrm>
            <a:off x="6864126" y="2124060"/>
            <a:ext cx="1971995" cy="1457005"/>
          </a:xfrm>
          <a:prstGeom prst="rect">
            <a:avLst/>
          </a:prstGeom>
          <a:solidFill>
            <a:srgbClr val="04161D"/>
          </a:solidFill>
          <a:ln/>
        </p:spPr>
        <p:txBody>
          <a:bodyPr/>
          <a:lstStyle/>
          <a:p>
            <a:endParaRPr lang="en-US"/>
          </a:p>
        </p:txBody>
      </p:sp>
      <p:sp>
        <p:nvSpPr>
          <p:cNvPr id="32" name="Text 29"/>
          <p:cNvSpPr txBox="1"/>
          <p:nvPr/>
        </p:nvSpPr>
        <p:spPr>
          <a:xfrm>
            <a:off x="7001195" y="2002262"/>
            <a:ext cx="1698041" cy="256032"/>
          </a:xfrm>
          <a:prstGeom prst="rect">
            <a:avLst/>
          </a:prstGeom>
          <a:noFill/>
          <a:ln/>
        </p:spPr>
        <p:txBody>
          <a:bodyPr wrap="square" lIns="0" tIns="0" rIns="0" bIns="0" rtlCol="0" anchor="ctr"/>
          <a:lstStyle/>
          <a:p>
            <a:pPr marL="0" indent="0">
              <a:lnSpc>
                <a:spcPct val="105000"/>
              </a:lnSpc>
              <a:buNone/>
            </a:pPr>
            <a:r>
              <a:rPr lang="en-US" sz="1300" b="1" dirty="0">
                <a:solidFill>
                  <a:srgbClr val="7DD3FC"/>
                </a:solidFill>
                <a:latin typeface="Arial" pitchFamily="34" charset="0"/>
                <a:ea typeface="Arial" pitchFamily="34" charset="-122"/>
                <a:cs typeface="Arial" pitchFamily="34" charset="-120"/>
              </a:rPr>
              <a:t>Color</a:t>
            </a:r>
            <a:endParaRPr lang="en-US" sz="1300" dirty="0"/>
          </a:p>
        </p:txBody>
      </p:sp>
      <p:sp>
        <p:nvSpPr>
          <p:cNvPr id="33" name="Shape 30"/>
          <p:cNvSpPr/>
          <p:nvPr/>
        </p:nvSpPr>
        <p:spPr>
          <a:xfrm>
            <a:off x="7001195" y="2295144"/>
            <a:ext cx="228509" cy="15270"/>
          </a:xfrm>
          <a:prstGeom prst="rect">
            <a:avLst/>
          </a:prstGeom>
          <a:solidFill>
            <a:srgbClr val="00C2FF"/>
          </a:solidFill>
          <a:ln/>
        </p:spPr>
        <p:txBody>
          <a:bodyPr/>
          <a:lstStyle/>
          <a:p>
            <a:endParaRPr lang="en-US"/>
          </a:p>
        </p:txBody>
      </p:sp>
      <p:sp>
        <p:nvSpPr>
          <p:cNvPr id="34" name="Text 31"/>
          <p:cNvSpPr txBox="1"/>
          <p:nvPr/>
        </p:nvSpPr>
        <p:spPr>
          <a:xfrm>
            <a:off x="7001195" y="2441448"/>
            <a:ext cx="1698041" cy="1042416"/>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What hue the light is. Your eye reads color as temperature and emotion before it reads anything else.</a:t>
            </a:r>
            <a:endParaRPr lang="en-US" sz="1000" dirty="0"/>
          </a:p>
        </p:txBody>
      </p:sp>
      <p:sp>
        <p:nvSpPr>
          <p:cNvPr id="35" name="Shape 32"/>
          <p:cNvSpPr/>
          <p:nvPr/>
        </p:nvSpPr>
        <p:spPr>
          <a:xfrm>
            <a:off x="292608" y="4050792"/>
            <a:ext cx="8558784" cy="521208"/>
          </a:xfrm>
          <a:prstGeom prst="rect">
            <a:avLst/>
          </a:prstGeom>
          <a:solidFill>
            <a:srgbClr val="00B8B8">
              <a:alpha val="6000"/>
            </a:srgbClr>
          </a:solidFill>
          <a:ln w="12700">
            <a:solidFill>
              <a:srgbClr val="054444"/>
            </a:solidFill>
            <a:prstDash val="solid"/>
          </a:ln>
        </p:spPr>
        <p:txBody>
          <a:bodyPr/>
          <a:lstStyle/>
          <a:p>
            <a:endParaRPr lang="en-US"/>
          </a:p>
        </p:txBody>
      </p:sp>
      <p:sp>
        <p:nvSpPr>
          <p:cNvPr id="36" name="Shape 33"/>
          <p:cNvSpPr/>
          <p:nvPr/>
        </p:nvSpPr>
        <p:spPr>
          <a:xfrm>
            <a:off x="292608" y="4050792"/>
            <a:ext cx="45720" cy="521208"/>
          </a:xfrm>
          <a:prstGeom prst="rect">
            <a:avLst/>
          </a:prstGeom>
          <a:solidFill>
            <a:srgbClr val="00B8B8"/>
          </a:solidFill>
          <a:ln/>
        </p:spPr>
        <p:txBody>
          <a:bodyPr/>
          <a:lstStyle/>
          <a:p>
            <a:endParaRPr lang="en-US"/>
          </a:p>
        </p:txBody>
      </p:sp>
      <p:sp>
        <p:nvSpPr>
          <p:cNvPr id="37" name="Text 34"/>
          <p:cNvSpPr txBox="1"/>
          <p:nvPr/>
        </p:nvSpPr>
        <p:spPr>
          <a:xfrm>
            <a:off x="521208" y="4203497"/>
            <a:ext cx="8162849" cy="253289"/>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Change one dial and the whole mood changes. That is the entire craft, repeated a few thousand times.</a:t>
            </a:r>
            <a:endParaRPr lang="en-US" sz="1050" dirty="0"/>
          </a:p>
        </p:txBody>
      </p:sp>
      <p:sp>
        <p:nvSpPr>
          <p:cNvPr id="38" name="Shape 35"/>
          <p:cNvSpPr/>
          <p:nvPr/>
        </p:nvSpPr>
        <p:spPr>
          <a:xfrm>
            <a:off x="0" y="4681728"/>
            <a:ext cx="9144000" cy="22860"/>
          </a:xfrm>
          <a:prstGeom prst="rect">
            <a:avLst/>
          </a:prstGeom>
          <a:solidFill>
            <a:srgbClr val="00C2FF"/>
          </a:solidFill>
          <a:ln/>
        </p:spPr>
        <p:txBody>
          <a:bodyPr/>
          <a:lstStyle/>
          <a:p>
            <a:endParaRPr lang="en-US"/>
          </a:p>
        </p:txBody>
      </p:sp>
      <p:sp>
        <p:nvSpPr>
          <p:cNvPr id="39" name="Text 36"/>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47688" y="1394460"/>
            <a:ext cx="3867912" cy="4572000"/>
          </a:xfrm>
          <a:prstGeom prst="rect">
            <a:avLst/>
          </a:prstGeom>
        </p:spPr>
      </p:pic>
      <p:sp>
        <p:nvSpPr>
          <p:cNvPr id="3" name="Shape 0"/>
          <p:cNvSpPr/>
          <p:nvPr/>
        </p:nvSpPr>
        <p:spPr>
          <a:xfrm>
            <a:off x="0" y="0"/>
            <a:ext cx="9144000" cy="5143500"/>
          </a:xfrm>
          <a:prstGeom prst="rect">
            <a:avLst/>
          </a:prstGeom>
          <a:solidFill>
            <a:srgbClr val="04191A">
              <a:alpha val="76000"/>
            </a:srgbClr>
          </a:solidFill>
          <a:ln/>
        </p:spPr>
        <p:txBody>
          <a:bodyPr/>
          <a:lstStyle/>
          <a:p>
            <a:endParaRPr lang="en-US"/>
          </a:p>
        </p:txBody>
      </p:sp>
      <p:sp>
        <p:nvSpPr>
          <p:cNvPr id="4" name="Shape 1"/>
          <p:cNvSpPr/>
          <p:nvPr/>
        </p:nvSpPr>
        <p:spPr>
          <a:xfrm>
            <a:off x="0" y="0"/>
            <a:ext cx="45720" cy="5143500"/>
          </a:xfrm>
          <a:prstGeom prst="rect">
            <a:avLst/>
          </a:prstGeom>
          <a:solidFill>
            <a:srgbClr val="00B8B8"/>
          </a:solidFill>
          <a:ln/>
        </p:spPr>
        <p:txBody>
          <a:bodyPr/>
          <a:lstStyle/>
          <a:p>
            <a:endParaRPr lang="en-US"/>
          </a:p>
        </p:txBody>
      </p:sp>
      <p:sp>
        <p:nvSpPr>
          <p:cNvPr id="5" name="Text 2"/>
          <p:cNvSpPr txBox="1"/>
          <p:nvPr/>
        </p:nvSpPr>
        <p:spPr>
          <a:xfrm>
            <a:off x="292608" y="1005840"/>
            <a:ext cx="2194560" cy="2103120"/>
          </a:xfrm>
          <a:prstGeom prst="rect">
            <a:avLst/>
          </a:prstGeom>
          <a:noFill/>
          <a:ln/>
        </p:spPr>
        <p:txBody>
          <a:bodyPr wrap="square" lIns="0" tIns="0" rIns="0" bIns="0" rtlCol="0" anchor="ctr"/>
          <a:lstStyle/>
          <a:p>
            <a:pPr marL="0" indent="0">
              <a:lnSpc>
                <a:spcPct val="100000"/>
              </a:lnSpc>
              <a:buNone/>
            </a:pPr>
            <a:r>
              <a:rPr lang="en-US" sz="12000" b="1" dirty="0">
                <a:solidFill>
                  <a:srgbClr val="00B8B8"/>
                </a:solidFill>
                <a:latin typeface="Oswald" pitchFamily="34" charset="0"/>
                <a:ea typeface="Oswald" pitchFamily="34" charset="-122"/>
                <a:cs typeface="Oswald" pitchFamily="34" charset="-120"/>
              </a:rPr>
              <a:t>01</a:t>
            </a:r>
            <a:endParaRPr lang="en-US" sz="12000" dirty="0"/>
          </a:p>
        </p:txBody>
      </p:sp>
      <p:sp>
        <p:nvSpPr>
          <p:cNvPr id="6" name="Text 3"/>
          <p:cNvSpPr txBox="1"/>
          <p:nvPr/>
        </p:nvSpPr>
        <p:spPr>
          <a:xfrm>
            <a:off x="2432304" y="1371600"/>
            <a:ext cx="6309360" cy="219456"/>
          </a:xfrm>
          <a:prstGeom prst="rect">
            <a:avLst/>
          </a:prstGeom>
          <a:noFill/>
          <a:ln/>
        </p:spPr>
        <p:txBody>
          <a:bodyPr wrap="square" lIns="0" tIns="0" rIns="0" bIns="0" rtlCol="0" anchor="ctr"/>
          <a:lstStyle/>
          <a:p>
            <a:pPr marL="0" indent="0">
              <a:lnSpc>
                <a:spcPct val="120000"/>
              </a:lnSpc>
              <a:buNone/>
            </a:pPr>
            <a:r>
              <a:rPr lang="en-US" sz="1100" b="1" kern="0" spc="190" dirty="0">
                <a:solidFill>
                  <a:srgbClr val="80E0E0"/>
                </a:solidFill>
                <a:latin typeface="Oswald" pitchFamily="34" charset="0"/>
                <a:ea typeface="Oswald" pitchFamily="34" charset="-122"/>
                <a:cs typeface="Oswald" pitchFamily="34" charset="-120"/>
              </a:rPr>
              <a:t>WHERE THE LOOK CAME FROM</a:t>
            </a:r>
            <a:endParaRPr lang="en-US" sz="1100" dirty="0"/>
          </a:p>
        </p:txBody>
      </p:sp>
      <p:sp>
        <p:nvSpPr>
          <p:cNvPr id="7" name="Text 4"/>
          <p:cNvSpPr txBox="1"/>
          <p:nvPr/>
        </p:nvSpPr>
        <p:spPr>
          <a:xfrm>
            <a:off x="2432304" y="1682496"/>
            <a:ext cx="6309360" cy="749808"/>
          </a:xfrm>
          <a:prstGeom prst="rect">
            <a:avLst/>
          </a:prstGeom>
          <a:noFill/>
          <a:ln/>
        </p:spPr>
        <p:txBody>
          <a:bodyPr wrap="square" lIns="0" tIns="0" rIns="0" bIns="0" rtlCol="0" anchor="ctr"/>
          <a:lstStyle/>
          <a:p>
            <a:pPr marL="0" indent="0">
              <a:lnSpc>
                <a:spcPct val="102000"/>
              </a:lnSpc>
              <a:buNone/>
            </a:pPr>
            <a:r>
              <a:rPr lang="en-US" sz="4000" b="1" kern="0" spc="40" dirty="0">
                <a:solidFill>
                  <a:srgbClr val="FFFFFF"/>
                </a:solidFill>
                <a:latin typeface="Oswald" pitchFamily="34" charset="0"/>
                <a:ea typeface="Oswald" pitchFamily="34" charset="-122"/>
                <a:cs typeface="Oswald" pitchFamily="34" charset="-120"/>
              </a:rPr>
              <a:t>THE SHADOW TRADITION</a:t>
            </a:r>
            <a:endParaRPr lang="en-US" sz="4000" dirty="0"/>
          </a:p>
        </p:txBody>
      </p:sp>
      <p:sp>
        <p:nvSpPr>
          <p:cNvPr id="8" name="Shape 5"/>
          <p:cNvSpPr/>
          <p:nvPr/>
        </p:nvSpPr>
        <p:spPr>
          <a:xfrm>
            <a:off x="2432304" y="2487168"/>
            <a:ext cx="457017" cy="30450"/>
          </a:xfrm>
          <a:prstGeom prst="rect">
            <a:avLst/>
          </a:prstGeom>
          <a:solidFill>
            <a:srgbClr val="00B8B8"/>
          </a:solidFill>
          <a:ln/>
        </p:spPr>
        <p:txBody>
          <a:bodyPr/>
          <a:lstStyle/>
          <a:p>
            <a:endParaRPr lang="en-US"/>
          </a:p>
        </p:txBody>
      </p:sp>
      <p:sp>
        <p:nvSpPr>
          <p:cNvPr id="9" name="Text 6"/>
          <p:cNvSpPr txBox="1"/>
          <p:nvPr/>
        </p:nvSpPr>
        <p:spPr>
          <a:xfrm>
            <a:off x="2432304" y="2688336"/>
            <a:ext cx="6035040" cy="822960"/>
          </a:xfrm>
          <a:prstGeom prst="rect">
            <a:avLst/>
          </a:prstGeom>
          <a:noFill/>
          <a:ln/>
        </p:spPr>
        <p:txBody>
          <a:bodyPr wrap="square" lIns="0" tIns="0" rIns="0" bIns="0" rtlCol="0" anchor="t"/>
          <a:lstStyle/>
          <a:p>
            <a:pPr marL="0" indent="0">
              <a:lnSpc>
                <a:spcPct val="135000"/>
              </a:lnSpc>
              <a:buNone/>
            </a:pPr>
            <a:r>
              <a:rPr lang="en-US" sz="1200" dirty="0">
                <a:solidFill>
                  <a:srgbClr val="AAAAAA"/>
                </a:solidFill>
                <a:latin typeface="Arial" pitchFamily="34" charset="0"/>
                <a:ea typeface="Arial" pitchFamily="34" charset="-122"/>
                <a:cs typeface="Arial" pitchFamily="34" charset="-120"/>
              </a:rPr>
              <a:t>A hundred years ago a handful of camera operators figured out that what you hide scares people more than what you show. Horror has been stealing from them ever since.</a:t>
            </a:r>
            <a:endParaRPr lang="en-US" sz="1200" dirty="0"/>
          </a:p>
        </p:txBody>
      </p:sp>
      <p:sp>
        <p:nvSpPr>
          <p:cNvPr id="10" name="Shape 7"/>
          <p:cNvSpPr/>
          <p:nvPr/>
        </p:nvSpPr>
        <p:spPr>
          <a:xfrm>
            <a:off x="0" y="4681728"/>
            <a:ext cx="9144000" cy="22860"/>
          </a:xfrm>
          <a:prstGeom prst="rect">
            <a:avLst/>
          </a:prstGeom>
          <a:solidFill>
            <a:srgbClr val="00B8B8"/>
          </a:solidFill>
          <a:ln/>
        </p:spPr>
        <p:txBody>
          <a:bodyPr/>
          <a:lstStyle/>
          <a:p>
            <a:endParaRPr lang="en-US"/>
          </a:p>
        </p:txBody>
      </p:sp>
      <p:sp>
        <p:nvSpPr>
          <p:cNvPr id="11" name="Text 8"/>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IT STARTED WITH PAINTED SHADOWS</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ORIGINS / 03</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9" name="Text 5"/>
          <p:cNvSpPr txBox="1"/>
          <p:nvPr/>
        </p:nvSpPr>
        <p:spPr>
          <a:xfrm>
            <a:off x="292608" y="996696"/>
            <a:ext cx="4608576" cy="731520"/>
          </a:xfrm>
          <a:prstGeom prst="rect">
            <a:avLst/>
          </a:prstGeom>
          <a:noFill/>
          <a:ln/>
        </p:spPr>
        <p:txBody>
          <a:bodyPr wrap="square" lIns="0" tIns="0" rIns="0" bIns="0" rtlCol="0" anchor="t"/>
          <a:lstStyle/>
          <a:p>
            <a:pPr marL="0" indent="0">
              <a:lnSpc>
                <a:spcPct val="135000"/>
              </a:lnSpc>
              <a:buNone/>
            </a:pPr>
            <a:r>
              <a:rPr lang="en-US" sz="1150" dirty="0">
                <a:solidFill>
                  <a:srgbClr val="FFFFFF"/>
                </a:solidFill>
                <a:latin typeface="Arial" pitchFamily="34" charset="0"/>
                <a:ea typeface="Arial" pitchFamily="34" charset="-122"/>
                <a:cs typeface="Arial" pitchFamily="34" charset="-120"/>
              </a:rPr>
              <a:t>In Germany in the 1920s, film studios had almost no money and almost no electricity to spare. So they painted shadows directly onto the sets, bent the walls on purpose, and lit actors with one hard lamp.</a:t>
            </a:r>
            <a:endParaRPr lang="en-US" sz="1150" dirty="0"/>
          </a:p>
        </p:txBody>
      </p:sp>
      <p:sp>
        <p:nvSpPr>
          <p:cNvPr id="10" name="Shape 6"/>
          <p:cNvSpPr/>
          <p:nvPr/>
        </p:nvSpPr>
        <p:spPr>
          <a:xfrm>
            <a:off x="292608" y="1801368"/>
            <a:ext cx="310896" cy="310896"/>
          </a:xfrm>
          <a:prstGeom prst="rect">
            <a:avLst/>
          </a:prstGeom>
          <a:solidFill>
            <a:srgbClr val="00B8B8"/>
          </a:solidFill>
          <a:ln/>
        </p:spPr>
        <p:txBody>
          <a:bodyPr/>
          <a:lstStyle/>
          <a:p>
            <a:endParaRPr lang="en-US"/>
          </a:p>
        </p:txBody>
      </p:sp>
      <p:sp>
        <p:nvSpPr>
          <p:cNvPr id="11" name="Text 7"/>
          <p:cNvSpPr txBox="1"/>
          <p:nvPr/>
        </p:nvSpPr>
        <p:spPr>
          <a:xfrm>
            <a:off x="292608" y="1801368"/>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2" name="Text 8"/>
          <p:cNvSpPr txBox="1"/>
          <p:nvPr/>
        </p:nvSpPr>
        <p:spPr>
          <a:xfrm>
            <a:off x="768096" y="1783080"/>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THE CABINET OF DR. CALIGARI, 1920</a:t>
            </a:r>
            <a:endParaRPr lang="en-US" sz="1250" dirty="0"/>
          </a:p>
        </p:txBody>
      </p:sp>
      <p:sp>
        <p:nvSpPr>
          <p:cNvPr id="13" name="Text 9"/>
          <p:cNvSpPr txBox="1"/>
          <p:nvPr/>
        </p:nvSpPr>
        <p:spPr>
          <a:xfrm>
            <a:off x="768096" y="2048256"/>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Crooked sets and painted-on shadows. Nothing in the frame is square, and that is the point.</a:t>
            </a:r>
            <a:endParaRPr lang="en-US" sz="1050" dirty="0"/>
          </a:p>
        </p:txBody>
      </p:sp>
      <p:sp>
        <p:nvSpPr>
          <p:cNvPr id="14" name="Shape 10"/>
          <p:cNvSpPr/>
          <p:nvPr/>
        </p:nvSpPr>
        <p:spPr>
          <a:xfrm>
            <a:off x="292608" y="2601468"/>
            <a:ext cx="310896" cy="310896"/>
          </a:xfrm>
          <a:prstGeom prst="rect">
            <a:avLst/>
          </a:prstGeom>
          <a:solidFill>
            <a:srgbClr val="00B8B8"/>
          </a:solidFill>
          <a:ln/>
        </p:spPr>
        <p:txBody>
          <a:bodyPr/>
          <a:lstStyle/>
          <a:p>
            <a:endParaRPr lang="en-US"/>
          </a:p>
        </p:txBody>
      </p:sp>
      <p:sp>
        <p:nvSpPr>
          <p:cNvPr id="15" name="Text 11"/>
          <p:cNvSpPr txBox="1"/>
          <p:nvPr/>
        </p:nvSpPr>
        <p:spPr>
          <a:xfrm>
            <a:off x="292608" y="2601468"/>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6" name="Text 12"/>
          <p:cNvSpPr txBox="1"/>
          <p:nvPr/>
        </p:nvSpPr>
        <p:spPr>
          <a:xfrm>
            <a:off x="768096" y="2583180"/>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NOSFERATU, 1922</a:t>
            </a:r>
            <a:endParaRPr lang="en-US" sz="1250" dirty="0"/>
          </a:p>
        </p:txBody>
      </p:sp>
      <p:sp>
        <p:nvSpPr>
          <p:cNvPr id="17" name="Text 13"/>
          <p:cNvSpPr txBox="1"/>
          <p:nvPr/>
        </p:nvSpPr>
        <p:spPr>
          <a:xfrm>
            <a:off x="768096" y="2848356"/>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The shadow of the vampire climbing the staircase. You never see him, only what he blocks.</a:t>
            </a:r>
            <a:endParaRPr lang="en-US" sz="1050" dirty="0"/>
          </a:p>
        </p:txBody>
      </p:sp>
      <p:sp>
        <p:nvSpPr>
          <p:cNvPr id="18" name="Shape 14"/>
          <p:cNvSpPr/>
          <p:nvPr/>
        </p:nvSpPr>
        <p:spPr>
          <a:xfrm>
            <a:off x="292608" y="3401568"/>
            <a:ext cx="310896" cy="310896"/>
          </a:xfrm>
          <a:prstGeom prst="rect">
            <a:avLst/>
          </a:prstGeom>
          <a:solidFill>
            <a:srgbClr val="00B8B8"/>
          </a:solidFill>
          <a:ln/>
        </p:spPr>
        <p:txBody>
          <a:bodyPr/>
          <a:lstStyle/>
          <a:p>
            <a:endParaRPr lang="en-US"/>
          </a:p>
        </p:txBody>
      </p:sp>
      <p:sp>
        <p:nvSpPr>
          <p:cNvPr id="19" name="Text 15"/>
          <p:cNvSpPr txBox="1"/>
          <p:nvPr/>
        </p:nvSpPr>
        <p:spPr>
          <a:xfrm>
            <a:off x="292608" y="3401568"/>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20" name="Text 16"/>
          <p:cNvSpPr txBox="1"/>
          <p:nvPr/>
        </p:nvSpPr>
        <p:spPr>
          <a:xfrm>
            <a:off x="768096" y="3383280"/>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WHY IT STILL WORKS</a:t>
            </a:r>
            <a:endParaRPr lang="en-US" sz="1250" dirty="0"/>
          </a:p>
        </p:txBody>
      </p:sp>
      <p:sp>
        <p:nvSpPr>
          <p:cNvPr id="21" name="Text 17"/>
          <p:cNvSpPr txBox="1"/>
          <p:nvPr/>
        </p:nvSpPr>
        <p:spPr>
          <a:xfrm>
            <a:off x="768096" y="3648456"/>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Your brain finishes the picture. A shape you cannot fully see is always scarier than one you can.</a:t>
            </a:r>
            <a:endParaRPr lang="en-US" sz="1050" dirty="0"/>
          </a:p>
        </p:txBody>
      </p:sp>
      <p:sp>
        <p:nvSpPr>
          <p:cNvPr id="26" name="Shape 22"/>
          <p:cNvSpPr/>
          <p:nvPr/>
        </p:nvSpPr>
        <p:spPr>
          <a:xfrm>
            <a:off x="0" y="4681728"/>
            <a:ext cx="9144000" cy="22860"/>
          </a:xfrm>
          <a:prstGeom prst="rect">
            <a:avLst/>
          </a:prstGeom>
          <a:solidFill>
            <a:srgbClr val="00B8B8"/>
          </a:solidFill>
          <a:ln/>
        </p:spPr>
        <p:txBody>
          <a:bodyPr/>
          <a:lstStyle/>
          <a:p>
            <a:endParaRPr lang="en-US"/>
          </a:p>
        </p:txBody>
      </p:sp>
      <p:sp>
        <p:nvSpPr>
          <p:cNvPr id="27" name="Text 23"/>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28" name="Picture 27" descr="Is Murnau’s Nosferatu Still Scary A Century Later? - Luddite Robot">
            <a:extLst>
              <a:ext uri="{FF2B5EF4-FFF2-40B4-BE49-F238E27FC236}">
                <a16:creationId xmlns:a16="http://schemas.microsoft.com/office/drawing/2014/main" id="{8C2CACCC-733B-9361-4698-E735E59FF330}"/>
              </a:ext>
            </a:extLst>
          </p:cNvPr>
          <p:cNvPicPr>
            <a:picLocks noChangeAspect="1"/>
          </p:cNvPicPr>
          <p:nvPr/>
        </p:nvPicPr>
        <p:blipFill>
          <a:blip r:embed="rId5"/>
          <a:srcRect l="8593"/>
          <a:stretch>
            <a:fillRect/>
          </a:stretch>
        </p:blipFill>
        <p:spPr>
          <a:xfrm>
            <a:off x="5598353" y="2444876"/>
            <a:ext cx="3253038" cy="2224279"/>
          </a:xfrm>
          <a:prstGeom prst="rect">
            <a:avLst/>
          </a:prstGeom>
        </p:spPr>
      </p:pic>
      <p:pic>
        <p:nvPicPr>
          <p:cNvPr id="29" name="Picture 28" descr="31 Days of Horror: The Cabinet of Dr. Caligari (1920)">
            <a:extLst>
              <a:ext uri="{FF2B5EF4-FFF2-40B4-BE49-F238E27FC236}">
                <a16:creationId xmlns:a16="http://schemas.microsoft.com/office/drawing/2014/main" id="{7C446783-7315-CC60-7499-BCB61FB197A4}"/>
              </a:ext>
            </a:extLst>
          </p:cNvPr>
          <p:cNvPicPr>
            <a:picLocks noChangeAspect="1"/>
          </p:cNvPicPr>
          <p:nvPr/>
        </p:nvPicPr>
        <p:blipFill>
          <a:blip r:embed="rId6"/>
          <a:stretch>
            <a:fillRect/>
          </a:stretch>
        </p:blipFill>
        <p:spPr>
          <a:xfrm>
            <a:off x="5598354" y="699516"/>
            <a:ext cx="3253038" cy="1805436"/>
          </a:xfrm>
          <a:prstGeom prst="rect">
            <a:avLst/>
          </a:prstGeom>
        </p:spPr>
      </p:pic>
      <p:sp>
        <p:nvSpPr>
          <p:cNvPr id="7000" name="CaptionBar7000"/>
          <p:cNvSpPr/>
          <p:nvPr/>
        </p:nvSpPr>
        <p:spPr>
          <a:xfrm>
            <a:off x="5598354" y="2181069"/>
            <a:ext cx="3253038" cy="331378"/>
          </a:xfrm>
          <a:prstGeom prst="rect">
            <a:avLst/>
          </a:prstGeom>
          <a:solidFill>
            <a:srgbClr val="000000">
              <a:alpha val="78000"/>
            </a:srgbClr>
          </a:solidFill>
          <a:ln>
            <a:noFill/>
          </a:ln>
        </p:spPr>
        <p:txBody>
          <a:bodyPr/>
          <a:lstStyle/>
          <a:p>
            <a:endParaRPr/>
          </a:p>
        </p:txBody>
      </p:sp>
      <p:sp>
        <p:nvSpPr>
          <p:cNvPr id="7001" name="Caption7001"/>
          <p:cNvSpPr txBox="1"/>
          <p:nvPr/>
        </p:nvSpPr>
        <p:spPr>
          <a:xfrm>
            <a:off x="5698938" y="2181069"/>
            <a:ext cx="3051870" cy="331378"/>
          </a:xfrm>
          <a:prstGeom prst="rect">
            <a:avLst/>
          </a:prstGeom>
          <a:noFill/>
        </p:spPr>
        <p:txBody>
          <a:bodyPr wrap="square" lIns="0" tIns="0" rIns="0" bIns="0" anchor="ctr">
            <a:noAutofit/>
          </a:bodyPr>
          <a:lstStyle/>
          <a:p>
            <a:pPr algn="ctr">
              <a:lnSpc>
                <a:spcPct val="115000"/>
              </a:lnSpc>
            </a:pPr>
            <a:r>
              <a:rPr lang="en-US" sz="900" b="1" dirty="0">
                <a:solidFill>
                  <a:srgbClr val="FFFFFF"/>
                </a:solidFill>
                <a:latin typeface="Arial"/>
                <a:cs typeface="Arial"/>
              </a:rPr>
              <a:t>The Cabinet of Dr. Caligari, 1920. The shadows are painted onto the set.</a:t>
            </a:r>
          </a:p>
        </p:txBody>
      </p:sp>
      <p:sp>
        <p:nvSpPr>
          <p:cNvPr id="7002" name="CaptionBar7002"/>
          <p:cNvSpPr/>
          <p:nvPr/>
        </p:nvSpPr>
        <p:spPr>
          <a:xfrm>
            <a:off x="5598352" y="4389120"/>
            <a:ext cx="3253040" cy="274320"/>
          </a:xfrm>
          <a:prstGeom prst="rect">
            <a:avLst/>
          </a:prstGeom>
          <a:solidFill>
            <a:srgbClr val="000000">
              <a:alpha val="78000"/>
            </a:srgbClr>
          </a:solidFill>
          <a:ln>
            <a:noFill/>
          </a:ln>
        </p:spPr>
        <p:txBody>
          <a:bodyPr/>
          <a:lstStyle/>
          <a:p>
            <a:endParaRPr/>
          </a:p>
        </p:txBody>
      </p:sp>
      <p:sp>
        <p:nvSpPr>
          <p:cNvPr id="7003" name="Caption7003"/>
          <p:cNvSpPr txBox="1"/>
          <p:nvPr/>
        </p:nvSpPr>
        <p:spPr>
          <a:xfrm>
            <a:off x="5698938" y="4389120"/>
            <a:ext cx="2952760" cy="274320"/>
          </a:xfrm>
          <a:prstGeom prst="rect">
            <a:avLst/>
          </a:prstGeom>
          <a:noFill/>
        </p:spPr>
        <p:txBody>
          <a:bodyPr wrap="square" lIns="0" tIns="0" rIns="0" bIns="0" anchor="ctr">
            <a:noAutofit/>
          </a:bodyPr>
          <a:lstStyle/>
          <a:p>
            <a:pPr algn="ctr">
              <a:lnSpc>
                <a:spcPct val="115000"/>
              </a:lnSpc>
            </a:pPr>
            <a:r>
              <a:rPr lang="en-US" sz="900" b="1" dirty="0">
                <a:solidFill>
                  <a:srgbClr val="FFFFFF"/>
                </a:solidFill>
                <a:latin typeface="Arial"/>
                <a:cs typeface="Arial"/>
              </a:rPr>
              <a:t>Nosferatu, 1922. The shadow arrives before the vampire does.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HOLLYWOOD HIRED THOSE CAMERA CREWS</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MONSTERS / 04</a:t>
            </a:r>
            <a:endParaRPr lang="en-US" sz="900" dirty="0"/>
          </a:p>
        </p:txBody>
      </p:sp>
      <p:sp>
        <p:nvSpPr>
          <p:cNvPr id="8" name="Shape 5"/>
          <p:cNvSpPr/>
          <p:nvPr/>
        </p:nvSpPr>
        <p:spPr>
          <a:xfrm>
            <a:off x="292608" y="745202"/>
            <a:ext cx="8558784" cy="752551"/>
          </a:xfrm>
          <a:prstGeom prst="rect">
            <a:avLst/>
          </a:prstGeom>
          <a:solidFill>
            <a:srgbClr val="00B8B8">
              <a:alpha val="6000"/>
            </a:srgbClr>
          </a:solidFill>
          <a:ln w="12700">
            <a:solidFill>
              <a:srgbClr val="054444"/>
            </a:solidFill>
            <a:prstDash val="solid"/>
          </a:ln>
        </p:spPr>
        <p:txBody>
          <a:bodyPr/>
          <a:lstStyle/>
          <a:p>
            <a:endParaRPr lang="en-US"/>
          </a:p>
        </p:txBody>
      </p:sp>
      <p:sp>
        <p:nvSpPr>
          <p:cNvPr id="9" name="Shape 6"/>
          <p:cNvSpPr/>
          <p:nvPr/>
        </p:nvSpPr>
        <p:spPr>
          <a:xfrm>
            <a:off x="292608" y="745202"/>
            <a:ext cx="45720" cy="752551"/>
          </a:xfrm>
          <a:prstGeom prst="rect">
            <a:avLst/>
          </a:prstGeom>
          <a:solidFill>
            <a:srgbClr val="00B8B8"/>
          </a:solidFill>
          <a:ln/>
        </p:spPr>
        <p:txBody>
          <a:bodyPr/>
          <a:lstStyle/>
          <a:p>
            <a:endParaRPr lang="en-US"/>
          </a:p>
        </p:txBody>
      </p:sp>
      <p:sp>
        <p:nvSpPr>
          <p:cNvPr id="10" name="Text 7"/>
          <p:cNvSpPr txBox="1"/>
          <p:nvPr/>
        </p:nvSpPr>
        <p:spPr>
          <a:xfrm>
            <a:off x="521208" y="897907"/>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80E0E0"/>
                </a:solidFill>
                <a:latin typeface="Arial" pitchFamily="34" charset="0"/>
                <a:ea typeface="Arial" pitchFamily="34" charset="-122"/>
                <a:cs typeface="Arial" pitchFamily="34" charset="-120"/>
              </a:rPr>
              <a:t>Universal Pictures brought the German crews to California and handed them the monsters. These are the images every Halloween decoration still copies.</a:t>
            </a:r>
            <a:endParaRPr lang="en-US" sz="1200" dirty="0"/>
          </a:p>
        </p:txBody>
      </p:sp>
      <p:sp>
        <p:nvSpPr>
          <p:cNvPr id="11" name="Shape 8"/>
          <p:cNvSpPr/>
          <p:nvPr/>
        </p:nvSpPr>
        <p:spPr>
          <a:xfrm>
            <a:off x="292608" y="1662345"/>
            <a:ext cx="2706624" cy="960120"/>
          </a:xfrm>
          <a:prstGeom prst="rect">
            <a:avLst/>
          </a:prstGeom>
          <a:solidFill>
            <a:srgbClr val="00B8B8"/>
          </a:solidFill>
          <a:ln/>
        </p:spPr>
        <p:txBody>
          <a:bodyPr/>
          <a:lstStyle/>
          <a:p>
            <a:endParaRPr lang="en-US"/>
          </a:p>
        </p:txBody>
      </p:sp>
      <p:sp>
        <p:nvSpPr>
          <p:cNvPr id="12" name="Shape 9"/>
          <p:cNvSpPr/>
          <p:nvPr/>
        </p:nvSpPr>
        <p:spPr>
          <a:xfrm>
            <a:off x="307878" y="1677616"/>
            <a:ext cx="2676083" cy="213238"/>
          </a:xfrm>
          <a:prstGeom prst="rect">
            <a:avLst/>
          </a:prstGeom>
          <a:solidFill>
            <a:srgbClr val="094043"/>
          </a:solidFill>
          <a:ln/>
        </p:spPr>
        <p:txBody>
          <a:bodyPr/>
          <a:lstStyle/>
          <a:p>
            <a:endParaRPr lang="en-US"/>
          </a:p>
        </p:txBody>
      </p:sp>
      <p:sp>
        <p:nvSpPr>
          <p:cNvPr id="13" name="Shape 10"/>
          <p:cNvSpPr/>
          <p:nvPr/>
        </p:nvSpPr>
        <p:spPr>
          <a:xfrm>
            <a:off x="307878" y="1886622"/>
            <a:ext cx="2676083" cy="719550"/>
          </a:xfrm>
          <a:prstGeom prst="rect">
            <a:avLst/>
          </a:prstGeom>
          <a:solidFill>
            <a:srgbClr val="041D1C"/>
          </a:solidFill>
          <a:ln/>
        </p:spPr>
        <p:txBody>
          <a:bodyPr/>
          <a:lstStyle/>
          <a:p>
            <a:endParaRPr lang="en-US"/>
          </a:p>
        </p:txBody>
      </p:sp>
      <p:sp>
        <p:nvSpPr>
          <p:cNvPr id="14" name="Text 11"/>
          <p:cNvSpPr txBox="1"/>
          <p:nvPr/>
        </p:nvSpPr>
        <p:spPr>
          <a:xfrm>
            <a:off x="460218" y="1723277"/>
            <a:ext cx="2371039" cy="246888"/>
          </a:xfrm>
          <a:prstGeom prst="rect">
            <a:avLst/>
          </a:prstGeom>
          <a:noFill/>
          <a:ln/>
        </p:spPr>
        <p:txBody>
          <a:bodyPr wrap="square" lIns="0" tIns="0" rIns="0" bIns="0" rtlCol="0" anchor="ctr"/>
          <a:lstStyle/>
          <a:p>
            <a:pPr marL="0" indent="0">
              <a:lnSpc>
                <a:spcPct val="105000"/>
              </a:lnSpc>
              <a:buNone/>
            </a:pPr>
            <a:r>
              <a:rPr lang="en-US" sz="1250" b="1" dirty="0">
                <a:solidFill>
                  <a:srgbClr val="80E0E0"/>
                </a:solidFill>
                <a:latin typeface="Arial" pitchFamily="34" charset="0"/>
                <a:ea typeface="Arial" pitchFamily="34" charset="-122"/>
                <a:cs typeface="Arial" pitchFamily="34" charset="-120"/>
              </a:rPr>
              <a:t>Frankenstein</a:t>
            </a:r>
            <a:endParaRPr lang="en-US" sz="1250" dirty="0"/>
          </a:p>
        </p:txBody>
      </p:sp>
      <p:sp>
        <p:nvSpPr>
          <p:cNvPr id="15" name="Text 12"/>
          <p:cNvSpPr txBox="1"/>
          <p:nvPr/>
        </p:nvSpPr>
        <p:spPr>
          <a:xfrm>
            <a:off x="1531251" y="1764334"/>
            <a:ext cx="818249" cy="201168"/>
          </a:xfrm>
          <a:prstGeom prst="rect">
            <a:avLst/>
          </a:prstGeom>
          <a:noFill/>
          <a:ln/>
        </p:spPr>
        <p:txBody>
          <a:bodyPr wrap="square" lIns="0" tIns="0" rIns="0" bIns="0" rtlCol="0" anchor="t"/>
          <a:lstStyle/>
          <a:p>
            <a:pPr marL="0" indent="0">
              <a:lnSpc>
                <a:spcPct val="125000"/>
              </a:lnSpc>
              <a:buNone/>
            </a:pPr>
            <a:r>
              <a:rPr lang="en-US" sz="950" dirty="0">
                <a:solidFill>
                  <a:schemeClr val="bg1"/>
                </a:solidFill>
                <a:latin typeface="Arial" pitchFamily="34" charset="0"/>
                <a:ea typeface="Arial" pitchFamily="34" charset="-122"/>
                <a:cs typeface="Arial" pitchFamily="34" charset="-120"/>
              </a:rPr>
              <a:t>1931</a:t>
            </a:r>
            <a:endParaRPr lang="en-US" sz="950" dirty="0">
              <a:solidFill>
                <a:schemeClr val="bg1"/>
              </a:solidFill>
            </a:endParaRPr>
          </a:p>
        </p:txBody>
      </p:sp>
      <p:sp>
        <p:nvSpPr>
          <p:cNvPr id="17" name="Text 14"/>
          <p:cNvSpPr txBox="1"/>
          <p:nvPr/>
        </p:nvSpPr>
        <p:spPr>
          <a:xfrm>
            <a:off x="467853" y="1965400"/>
            <a:ext cx="2371039" cy="74980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Photographed by Arthur Edeson. Hard light from below, and a brow that throws the eyes into pure black.</a:t>
            </a:r>
            <a:endParaRPr lang="en-US" sz="1000" dirty="0"/>
          </a:p>
        </p:txBody>
      </p:sp>
      <p:sp>
        <p:nvSpPr>
          <p:cNvPr id="18" name="Shape 15"/>
          <p:cNvSpPr/>
          <p:nvPr/>
        </p:nvSpPr>
        <p:spPr>
          <a:xfrm>
            <a:off x="3218688" y="1662345"/>
            <a:ext cx="2706624" cy="960120"/>
          </a:xfrm>
          <a:prstGeom prst="rect">
            <a:avLst/>
          </a:prstGeom>
          <a:solidFill>
            <a:srgbClr val="00B8B8"/>
          </a:solidFill>
          <a:ln/>
        </p:spPr>
        <p:txBody>
          <a:bodyPr/>
          <a:lstStyle/>
          <a:p>
            <a:endParaRPr lang="en-US"/>
          </a:p>
        </p:txBody>
      </p:sp>
      <p:sp>
        <p:nvSpPr>
          <p:cNvPr id="19" name="Shape 16"/>
          <p:cNvSpPr/>
          <p:nvPr/>
        </p:nvSpPr>
        <p:spPr>
          <a:xfrm>
            <a:off x="3233958" y="1677616"/>
            <a:ext cx="2676083" cy="213238"/>
          </a:xfrm>
          <a:prstGeom prst="rect">
            <a:avLst/>
          </a:prstGeom>
          <a:solidFill>
            <a:srgbClr val="094043"/>
          </a:solidFill>
          <a:ln/>
        </p:spPr>
        <p:txBody>
          <a:bodyPr/>
          <a:lstStyle/>
          <a:p>
            <a:endParaRPr lang="en-US"/>
          </a:p>
        </p:txBody>
      </p:sp>
      <p:sp>
        <p:nvSpPr>
          <p:cNvPr id="20" name="Shape 17"/>
          <p:cNvSpPr/>
          <p:nvPr/>
        </p:nvSpPr>
        <p:spPr>
          <a:xfrm>
            <a:off x="3233958" y="1886622"/>
            <a:ext cx="2676083" cy="719550"/>
          </a:xfrm>
          <a:prstGeom prst="rect">
            <a:avLst/>
          </a:prstGeom>
          <a:solidFill>
            <a:srgbClr val="041D1C"/>
          </a:solidFill>
          <a:ln/>
        </p:spPr>
        <p:txBody>
          <a:bodyPr/>
          <a:lstStyle/>
          <a:p>
            <a:endParaRPr lang="en-US"/>
          </a:p>
        </p:txBody>
      </p:sp>
      <p:sp>
        <p:nvSpPr>
          <p:cNvPr id="21" name="Text 18"/>
          <p:cNvSpPr txBox="1"/>
          <p:nvPr/>
        </p:nvSpPr>
        <p:spPr>
          <a:xfrm>
            <a:off x="3386298" y="1723277"/>
            <a:ext cx="2371039" cy="246888"/>
          </a:xfrm>
          <a:prstGeom prst="rect">
            <a:avLst/>
          </a:prstGeom>
          <a:noFill/>
          <a:ln/>
        </p:spPr>
        <p:txBody>
          <a:bodyPr wrap="square" lIns="0" tIns="0" rIns="0" bIns="0" rtlCol="0" anchor="ctr"/>
          <a:lstStyle/>
          <a:p>
            <a:pPr marL="0" indent="0">
              <a:lnSpc>
                <a:spcPct val="105000"/>
              </a:lnSpc>
              <a:buNone/>
            </a:pPr>
            <a:r>
              <a:rPr lang="en-US" sz="1250" b="1" dirty="0">
                <a:solidFill>
                  <a:srgbClr val="80E0E0"/>
                </a:solidFill>
                <a:latin typeface="Arial" pitchFamily="34" charset="0"/>
                <a:ea typeface="Arial" pitchFamily="34" charset="-122"/>
                <a:cs typeface="Arial" pitchFamily="34" charset="-120"/>
              </a:rPr>
              <a:t>Dracula</a:t>
            </a:r>
            <a:endParaRPr lang="en-US" sz="1250" dirty="0"/>
          </a:p>
        </p:txBody>
      </p:sp>
      <p:sp>
        <p:nvSpPr>
          <p:cNvPr id="22" name="Text 19"/>
          <p:cNvSpPr txBox="1"/>
          <p:nvPr/>
        </p:nvSpPr>
        <p:spPr>
          <a:xfrm>
            <a:off x="4054994" y="1759182"/>
            <a:ext cx="639602" cy="201168"/>
          </a:xfrm>
          <a:prstGeom prst="rect">
            <a:avLst/>
          </a:prstGeom>
          <a:noFill/>
          <a:ln/>
        </p:spPr>
        <p:txBody>
          <a:bodyPr wrap="square" lIns="0" tIns="0" rIns="0" bIns="0" rtlCol="0" anchor="t"/>
          <a:lstStyle/>
          <a:p>
            <a:pPr marL="0" indent="0">
              <a:lnSpc>
                <a:spcPct val="125000"/>
              </a:lnSpc>
              <a:buNone/>
            </a:pPr>
            <a:r>
              <a:rPr lang="en-US" sz="950" dirty="0">
                <a:solidFill>
                  <a:schemeClr val="bg1"/>
                </a:solidFill>
                <a:latin typeface="Arial" pitchFamily="34" charset="0"/>
                <a:ea typeface="Arial" pitchFamily="34" charset="-122"/>
                <a:cs typeface="Arial" pitchFamily="34" charset="-120"/>
              </a:rPr>
              <a:t>1931</a:t>
            </a:r>
            <a:endParaRPr lang="en-US" sz="950" dirty="0">
              <a:solidFill>
                <a:schemeClr val="bg1"/>
              </a:solidFill>
            </a:endParaRPr>
          </a:p>
        </p:txBody>
      </p:sp>
      <p:sp>
        <p:nvSpPr>
          <p:cNvPr id="24" name="Text 21"/>
          <p:cNvSpPr txBox="1"/>
          <p:nvPr/>
        </p:nvSpPr>
        <p:spPr>
          <a:xfrm>
            <a:off x="3386298" y="1953340"/>
            <a:ext cx="2371039" cy="74980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Photographed by Karl Freund, straight from Germany. Two pinpoints aimed only at Lugosi’s eyes.</a:t>
            </a:r>
            <a:endParaRPr lang="en-US" sz="1000" dirty="0"/>
          </a:p>
        </p:txBody>
      </p:sp>
      <p:sp>
        <p:nvSpPr>
          <p:cNvPr id="25" name="Shape 22"/>
          <p:cNvSpPr/>
          <p:nvPr/>
        </p:nvSpPr>
        <p:spPr>
          <a:xfrm>
            <a:off x="6144768" y="1662345"/>
            <a:ext cx="2706624" cy="977189"/>
          </a:xfrm>
          <a:prstGeom prst="rect">
            <a:avLst/>
          </a:prstGeom>
          <a:solidFill>
            <a:srgbClr val="00B8B8"/>
          </a:solidFill>
          <a:ln/>
        </p:spPr>
        <p:txBody>
          <a:bodyPr/>
          <a:lstStyle/>
          <a:p>
            <a:endParaRPr lang="en-US"/>
          </a:p>
        </p:txBody>
      </p:sp>
      <p:sp>
        <p:nvSpPr>
          <p:cNvPr id="26" name="Shape 23"/>
          <p:cNvSpPr/>
          <p:nvPr/>
        </p:nvSpPr>
        <p:spPr>
          <a:xfrm>
            <a:off x="6160038" y="1677616"/>
            <a:ext cx="2676083" cy="213238"/>
          </a:xfrm>
          <a:prstGeom prst="rect">
            <a:avLst/>
          </a:prstGeom>
          <a:solidFill>
            <a:srgbClr val="094043"/>
          </a:solidFill>
          <a:ln/>
        </p:spPr>
        <p:txBody>
          <a:bodyPr/>
          <a:lstStyle/>
          <a:p>
            <a:endParaRPr lang="en-US"/>
          </a:p>
        </p:txBody>
      </p:sp>
      <p:sp>
        <p:nvSpPr>
          <p:cNvPr id="27" name="Shape 24"/>
          <p:cNvSpPr/>
          <p:nvPr/>
        </p:nvSpPr>
        <p:spPr>
          <a:xfrm>
            <a:off x="6160038" y="1886621"/>
            <a:ext cx="2676083" cy="731611"/>
          </a:xfrm>
          <a:prstGeom prst="rect">
            <a:avLst/>
          </a:prstGeom>
          <a:solidFill>
            <a:srgbClr val="041D1C"/>
          </a:solidFill>
          <a:ln/>
        </p:spPr>
        <p:txBody>
          <a:bodyPr/>
          <a:lstStyle/>
          <a:p>
            <a:endParaRPr lang="en-US"/>
          </a:p>
        </p:txBody>
      </p:sp>
      <p:sp>
        <p:nvSpPr>
          <p:cNvPr id="28" name="Text 25"/>
          <p:cNvSpPr txBox="1"/>
          <p:nvPr/>
        </p:nvSpPr>
        <p:spPr>
          <a:xfrm>
            <a:off x="6312378" y="1723277"/>
            <a:ext cx="2371039" cy="246888"/>
          </a:xfrm>
          <a:prstGeom prst="rect">
            <a:avLst/>
          </a:prstGeom>
          <a:noFill/>
          <a:ln/>
        </p:spPr>
        <p:txBody>
          <a:bodyPr wrap="square" lIns="0" tIns="0" rIns="0" bIns="0" rtlCol="0" anchor="ctr"/>
          <a:lstStyle/>
          <a:p>
            <a:pPr marL="0" indent="0">
              <a:lnSpc>
                <a:spcPct val="105000"/>
              </a:lnSpc>
              <a:buNone/>
            </a:pPr>
            <a:r>
              <a:rPr lang="en-US" sz="1250" b="1" dirty="0">
                <a:solidFill>
                  <a:srgbClr val="80E0E0"/>
                </a:solidFill>
                <a:latin typeface="Arial" pitchFamily="34" charset="0"/>
                <a:ea typeface="Arial" pitchFamily="34" charset="-122"/>
                <a:cs typeface="Arial" pitchFamily="34" charset="-120"/>
              </a:rPr>
              <a:t>Bride of Frankenstein</a:t>
            </a:r>
            <a:endParaRPr lang="en-US" sz="1250" dirty="0"/>
          </a:p>
        </p:txBody>
      </p:sp>
      <p:sp>
        <p:nvSpPr>
          <p:cNvPr id="29" name="Text 26"/>
          <p:cNvSpPr txBox="1"/>
          <p:nvPr/>
        </p:nvSpPr>
        <p:spPr>
          <a:xfrm>
            <a:off x="8018670" y="1752172"/>
            <a:ext cx="448255" cy="201168"/>
          </a:xfrm>
          <a:prstGeom prst="rect">
            <a:avLst/>
          </a:prstGeom>
          <a:noFill/>
          <a:ln/>
        </p:spPr>
        <p:txBody>
          <a:bodyPr wrap="square" lIns="0" tIns="0" rIns="0" bIns="0" rtlCol="0" anchor="t"/>
          <a:lstStyle/>
          <a:p>
            <a:pPr marL="0" indent="0">
              <a:lnSpc>
                <a:spcPct val="125000"/>
              </a:lnSpc>
              <a:buNone/>
            </a:pPr>
            <a:r>
              <a:rPr lang="en-US" sz="950" dirty="0">
                <a:solidFill>
                  <a:schemeClr val="bg1"/>
                </a:solidFill>
                <a:latin typeface="Arial" pitchFamily="34" charset="0"/>
                <a:ea typeface="Arial" pitchFamily="34" charset="-122"/>
                <a:cs typeface="Arial" pitchFamily="34" charset="-120"/>
              </a:rPr>
              <a:t>1935</a:t>
            </a:r>
            <a:endParaRPr lang="en-US" sz="950" dirty="0">
              <a:solidFill>
                <a:schemeClr val="bg1"/>
              </a:solidFill>
            </a:endParaRPr>
          </a:p>
        </p:txBody>
      </p:sp>
      <p:sp>
        <p:nvSpPr>
          <p:cNvPr id="31" name="Text 28"/>
          <p:cNvSpPr txBox="1"/>
          <p:nvPr/>
        </p:nvSpPr>
        <p:spPr>
          <a:xfrm>
            <a:off x="6312378" y="1953340"/>
            <a:ext cx="2371039" cy="74980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Photographed by John J. Mescall. Higher contrast, the Bride rimmed in light against near black.</a:t>
            </a:r>
            <a:endParaRPr lang="en-US" sz="1000" dirty="0"/>
          </a:p>
        </p:txBody>
      </p:sp>
      <p:pic>
        <p:nvPicPr>
          <p:cNvPr id="38" name="Picture 37" descr="Universal Horror">
            <a:extLst>
              <a:ext uri="{FF2B5EF4-FFF2-40B4-BE49-F238E27FC236}">
                <a16:creationId xmlns:a16="http://schemas.microsoft.com/office/drawing/2014/main" id="{55B06082-0250-D04A-E47F-EA394317C45A}"/>
              </a:ext>
            </a:extLst>
          </p:cNvPr>
          <p:cNvPicPr>
            <a:picLocks noChangeAspect="1"/>
          </p:cNvPicPr>
          <p:nvPr/>
        </p:nvPicPr>
        <p:blipFill>
          <a:blip r:embed="rId4"/>
          <a:srcRect r="11832"/>
          <a:stretch>
            <a:fillRect/>
          </a:stretch>
        </p:blipFill>
        <p:spPr>
          <a:xfrm>
            <a:off x="61627" y="2658960"/>
            <a:ext cx="3183489" cy="2469351"/>
          </a:xfrm>
          <a:prstGeom prst="rect">
            <a:avLst/>
          </a:prstGeom>
        </p:spPr>
      </p:pic>
      <p:pic>
        <p:nvPicPr>
          <p:cNvPr id="39" name="Picture 38" descr="Bela and Boris Episode 2: Bela and the Vampires — You Must Remember This">
            <a:extLst>
              <a:ext uri="{FF2B5EF4-FFF2-40B4-BE49-F238E27FC236}">
                <a16:creationId xmlns:a16="http://schemas.microsoft.com/office/drawing/2014/main" id="{C86E8A1D-044B-2A87-6DCC-6721A8365672}"/>
              </a:ext>
            </a:extLst>
          </p:cNvPr>
          <p:cNvPicPr>
            <a:picLocks noChangeAspect="1"/>
          </p:cNvPicPr>
          <p:nvPr/>
        </p:nvPicPr>
        <p:blipFill>
          <a:blip r:embed="rId5"/>
          <a:stretch>
            <a:fillRect/>
          </a:stretch>
        </p:blipFill>
        <p:spPr>
          <a:xfrm>
            <a:off x="3323128" y="2684886"/>
            <a:ext cx="2458614" cy="2458614"/>
          </a:xfrm>
          <a:prstGeom prst="rect">
            <a:avLst/>
          </a:prstGeom>
        </p:spPr>
      </p:pic>
      <p:pic>
        <p:nvPicPr>
          <p:cNvPr id="40" name="Picture 39" descr="Bride of Frankenstein (1935)">
            <a:extLst>
              <a:ext uri="{FF2B5EF4-FFF2-40B4-BE49-F238E27FC236}">
                <a16:creationId xmlns:a16="http://schemas.microsoft.com/office/drawing/2014/main" id="{2394967A-FE6A-8543-9995-A1F86E335201}"/>
              </a:ext>
            </a:extLst>
          </p:cNvPr>
          <p:cNvPicPr>
            <a:picLocks noChangeAspect="1"/>
          </p:cNvPicPr>
          <p:nvPr/>
        </p:nvPicPr>
        <p:blipFill>
          <a:blip r:embed="rId6"/>
          <a:srcRect l="4454" t="3599" r="4218" b="20799"/>
          <a:stretch>
            <a:fillRect/>
          </a:stretch>
        </p:blipFill>
        <p:spPr>
          <a:xfrm>
            <a:off x="6440576" y="2680718"/>
            <a:ext cx="2371039" cy="2440987"/>
          </a:xfrm>
          <a:prstGeom prst="rect">
            <a:avLst/>
          </a:prstGeom>
        </p:spPr>
      </p:pic>
      <p:sp>
        <p:nvSpPr>
          <p:cNvPr id="7004" name="CaptionBar7004"/>
          <p:cNvSpPr/>
          <p:nvPr/>
        </p:nvSpPr>
        <p:spPr>
          <a:xfrm>
            <a:off x="61627" y="4653211"/>
            <a:ext cx="3183489" cy="355180"/>
          </a:xfrm>
          <a:prstGeom prst="rect">
            <a:avLst/>
          </a:prstGeom>
          <a:solidFill>
            <a:srgbClr val="000000">
              <a:alpha val="78000"/>
            </a:srgbClr>
          </a:solidFill>
          <a:ln>
            <a:noFill/>
          </a:ln>
        </p:spPr>
        <p:txBody>
          <a:bodyPr/>
          <a:lstStyle/>
          <a:p>
            <a:endParaRPr/>
          </a:p>
        </p:txBody>
      </p:sp>
      <p:sp>
        <p:nvSpPr>
          <p:cNvPr id="7005" name="Caption7005"/>
          <p:cNvSpPr txBox="1"/>
          <p:nvPr/>
        </p:nvSpPr>
        <p:spPr>
          <a:xfrm>
            <a:off x="297770" y="4667650"/>
            <a:ext cx="2711201" cy="266852"/>
          </a:xfrm>
          <a:prstGeom prst="rect">
            <a:avLst/>
          </a:prstGeom>
          <a:noFill/>
        </p:spPr>
        <p:txBody>
          <a:bodyPr wrap="square" lIns="0" tIns="0" rIns="0" bIns="0" anchor="ctr">
            <a:noAutofit/>
          </a:bodyPr>
          <a:lstStyle/>
          <a:p>
            <a:pPr algn="ctr"/>
            <a:r>
              <a:rPr lang="en-US" sz="900" b="1" dirty="0">
                <a:solidFill>
                  <a:srgbClr val="FFFFFF"/>
                </a:solidFill>
                <a:latin typeface="Arial"/>
                <a:cs typeface="Arial"/>
              </a:rPr>
              <a:t>Frankenstein, 1931. Hard light from below. The brow erases the eyes.</a:t>
            </a:r>
          </a:p>
        </p:txBody>
      </p:sp>
      <p:sp>
        <p:nvSpPr>
          <p:cNvPr id="7006" name="CaptionBar7006"/>
          <p:cNvSpPr/>
          <p:nvPr/>
        </p:nvSpPr>
        <p:spPr>
          <a:xfrm>
            <a:off x="3323128" y="4653211"/>
            <a:ext cx="2458614" cy="355180"/>
          </a:xfrm>
          <a:prstGeom prst="rect">
            <a:avLst/>
          </a:prstGeom>
          <a:solidFill>
            <a:srgbClr val="000000">
              <a:alpha val="78000"/>
            </a:srgbClr>
          </a:solidFill>
          <a:ln>
            <a:noFill/>
          </a:ln>
        </p:spPr>
        <p:txBody>
          <a:bodyPr/>
          <a:lstStyle/>
          <a:p>
            <a:endParaRPr/>
          </a:p>
        </p:txBody>
      </p:sp>
      <p:sp>
        <p:nvSpPr>
          <p:cNvPr id="7007" name="Caption7007"/>
          <p:cNvSpPr txBox="1"/>
          <p:nvPr/>
        </p:nvSpPr>
        <p:spPr>
          <a:xfrm>
            <a:off x="3526323" y="4682383"/>
            <a:ext cx="2052224" cy="266852"/>
          </a:xfrm>
          <a:prstGeom prst="rect">
            <a:avLst/>
          </a:prstGeom>
          <a:noFill/>
        </p:spPr>
        <p:txBody>
          <a:bodyPr wrap="square" lIns="0" tIns="0" rIns="0" bIns="0" anchor="ctr">
            <a:noAutofit/>
          </a:bodyPr>
          <a:lstStyle/>
          <a:p>
            <a:pPr algn="ctr"/>
            <a:r>
              <a:rPr lang="en-US" sz="900" b="1" dirty="0">
                <a:solidFill>
                  <a:srgbClr val="FFFFFF"/>
                </a:solidFill>
                <a:latin typeface="Arial"/>
                <a:cs typeface="Arial"/>
              </a:rPr>
              <a:t>Dracula, 1931. Two pinpoints of light, aimed only at the eyes.</a:t>
            </a:r>
          </a:p>
        </p:txBody>
      </p:sp>
      <p:sp>
        <p:nvSpPr>
          <p:cNvPr id="7008" name="CaptionBar7008"/>
          <p:cNvSpPr/>
          <p:nvPr/>
        </p:nvSpPr>
        <p:spPr>
          <a:xfrm>
            <a:off x="6440576" y="4653211"/>
            <a:ext cx="2371039" cy="355180"/>
          </a:xfrm>
          <a:prstGeom prst="rect">
            <a:avLst/>
          </a:prstGeom>
          <a:solidFill>
            <a:srgbClr val="000000">
              <a:alpha val="78000"/>
            </a:srgbClr>
          </a:solidFill>
          <a:ln>
            <a:noFill/>
          </a:ln>
        </p:spPr>
        <p:txBody>
          <a:bodyPr/>
          <a:lstStyle/>
          <a:p>
            <a:endParaRPr/>
          </a:p>
        </p:txBody>
      </p:sp>
      <p:sp>
        <p:nvSpPr>
          <p:cNvPr id="7009" name="Caption7009"/>
          <p:cNvSpPr txBox="1"/>
          <p:nvPr/>
        </p:nvSpPr>
        <p:spPr>
          <a:xfrm>
            <a:off x="6639790" y="4682383"/>
            <a:ext cx="1972610" cy="266852"/>
          </a:xfrm>
          <a:prstGeom prst="rect">
            <a:avLst/>
          </a:prstGeom>
          <a:noFill/>
        </p:spPr>
        <p:txBody>
          <a:bodyPr wrap="square" lIns="0" tIns="0" rIns="0" bIns="0" anchor="ctr">
            <a:noAutofit/>
          </a:bodyPr>
          <a:lstStyle/>
          <a:p>
            <a:pPr algn="ctr"/>
            <a:r>
              <a:rPr lang="en-US" sz="900" b="1" dirty="0">
                <a:solidFill>
                  <a:srgbClr val="FFFFFF"/>
                </a:solidFill>
                <a:latin typeface="Arial"/>
                <a:cs typeface="Arial"/>
              </a:rPr>
              <a:t>Bride of Frankenstein, 1935. Rim light carving her off a black field.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00C2FF"/>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7DD3FC"/>
                </a:solidFill>
                <a:latin typeface="Oswald" pitchFamily="34" charset="0"/>
                <a:ea typeface="Oswald" pitchFamily="34" charset="-122"/>
                <a:cs typeface="Oswald" pitchFamily="34" charset="-120"/>
              </a:rPr>
              <a:t>THEN THE DETECTIVES TOOK IT OVER</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7DD3FC"/>
                </a:solidFill>
                <a:latin typeface="Oswald" pitchFamily="34" charset="0"/>
                <a:ea typeface="Oswald" pitchFamily="34" charset="-122"/>
                <a:cs typeface="Oswald" pitchFamily="34" charset="-120"/>
              </a:rPr>
              <a:t>FILM NOIR / 05</a:t>
            </a:r>
            <a:endParaRPr lang="en-US" sz="900" dirty="0"/>
          </a:p>
        </p:txBody>
      </p:sp>
      <p:sp>
        <p:nvSpPr>
          <p:cNvPr id="8" name="Shape 5"/>
          <p:cNvSpPr/>
          <p:nvPr/>
        </p:nvSpPr>
        <p:spPr>
          <a:xfrm>
            <a:off x="292608" y="758277"/>
            <a:ext cx="8558784" cy="752551"/>
          </a:xfrm>
          <a:prstGeom prst="rect">
            <a:avLst/>
          </a:prstGeom>
          <a:solidFill>
            <a:srgbClr val="00C2FF">
              <a:alpha val="6000"/>
            </a:srgbClr>
          </a:solidFill>
          <a:ln w="12700">
            <a:solidFill>
              <a:srgbClr val="05475C"/>
            </a:solidFill>
            <a:prstDash val="solid"/>
          </a:ln>
        </p:spPr>
        <p:txBody>
          <a:bodyPr/>
          <a:lstStyle/>
          <a:p>
            <a:endParaRPr lang="en-US"/>
          </a:p>
        </p:txBody>
      </p:sp>
      <p:sp>
        <p:nvSpPr>
          <p:cNvPr id="9" name="Shape 6"/>
          <p:cNvSpPr/>
          <p:nvPr/>
        </p:nvSpPr>
        <p:spPr>
          <a:xfrm>
            <a:off x="292608" y="758277"/>
            <a:ext cx="45720" cy="752551"/>
          </a:xfrm>
          <a:prstGeom prst="rect">
            <a:avLst/>
          </a:prstGeom>
          <a:solidFill>
            <a:srgbClr val="00C2FF"/>
          </a:solidFill>
          <a:ln/>
        </p:spPr>
        <p:txBody>
          <a:bodyPr/>
          <a:lstStyle/>
          <a:p>
            <a:endParaRPr lang="en-US"/>
          </a:p>
        </p:txBody>
      </p:sp>
      <p:sp>
        <p:nvSpPr>
          <p:cNvPr id="10" name="Text 7"/>
          <p:cNvSpPr txBox="1"/>
          <p:nvPr/>
        </p:nvSpPr>
        <p:spPr>
          <a:xfrm>
            <a:off x="521208" y="910982"/>
            <a:ext cx="8162849" cy="484633"/>
          </a:xfrm>
          <a:prstGeom prst="rect">
            <a:avLst/>
          </a:prstGeom>
          <a:noFill/>
          <a:ln/>
        </p:spPr>
        <p:txBody>
          <a:bodyPr wrap="square" lIns="0" tIns="0" rIns="0" bIns="0" rtlCol="0" anchor="t"/>
          <a:lstStyle/>
          <a:p>
            <a:pPr marL="0" indent="0">
              <a:lnSpc>
                <a:spcPct val="135000"/>
              </a:lnSpc>
              <a:buNone/>
            </a:pPr>
            <a:r>
              <a:rPr lang="en-US" sz="1200" dirty="0">
                <a:solidFill>
                  <a:srgbClr val="7DD3FC"/>
                </a:solidFill>
                <a:latin typeface="Arial" pitchFamily="34" charset="0"/>
                <a:ea typeface="Arial" pitchFamily="34" charset="-122"/>
                <a:cs typeface="Arial" pitchFamily="34" charset="-120"/>
              </a:rPr>
              <a:t>By the 1940s the same lighting moved out of the castle and into the city. Crime, wet streets, and venetian blinds. The French called it film noir, which just means black film.</a:t>
            </a:r>
            <a:endParaRPr lang="en-US" sz="1200" dirty="0"/>
          </a:p>
        </p:txBody>
      </p:sp>
      <p:sp>
        <p:nvSpPr>
          <p:cNvPr id="11" name="Shape 8"/>
          <p:cNvSpPr/>
          <p:nvPr/>
        </p:nvSpPr>
        <p:spPr>
          <a:xfrm>
            <a:off x="292608" y="1578054"/>
            <a:ext cx="4160520" cy="841248"/>
          </a:xfrm>
          <a:prstGeom prst="rect">
            <a:avLst/>
          </a:prstGeom>
          <a:solidFill>
            <a:srgbClr val="00C2FF"/>
          </a:solidFill>
          <a:ln/>
        </p:spPr>
        <p:txBody>
          <a:bodyPr/>
          <a:lstStyle/>
          <a:p>
            <a:endParaRPr lang="en-US"/>
          </a:p>
        </p:txBody>
      </p:sp>
      <p:sp>
        <p:nvSpPr>
          <p:cNvPr id="12" name="Shape 9"/>
          <p:cNvSpPr/>
          <p:nvPr/>
        </p:nvSpPr>
        <p:spPr>
          <a:xfrm>
            <a:off x="307878" y="1593325"/>
            <a:ext cx="4129979" cy="213238"/>
          </a:xfrm>
          <a:prstGeom prst="rect">
            <a:avLst/>
          </a:prstGeom>
          <a:solidFill>
            <a:srgbClr val="0A2A3A"/>
          </a:solidFill>
          <a:ln/>
        </p:spPr>
        <p:txBody>
          <a:bodyPr/>
          <a:lstStyle/>
          <a:p>
            <a:endParaRPr lang="en-US"/>
          </a:p>
        </p:txBody>
      </p:sp>
      <p:sp>
        <p:nvSpPr>
          <p:cNvPr id="13" name="Shape 10"/>
          <p:cNvSpPr/>
          <p:nvPr/>
        </p:nvSpPr>
        <p:spPr>
          <a:xfrm>
            <a:off x="307878" y="1806563"/>
            <a:ext cx="4129979" cy="597469"/>
          </a:xfrm>
          <a:prstGeom prst="rect">
            <a:avLst/>
          </a:prstGeom>
          <a:solidFill>
            <a:srgbClr val="04161D"/>
          </a:solidFill>
          <a:ln/>
        </p:spPr>
        <p:txBody>
          <a:bodyPr/>
          <a:lstStyle/>
          <a:p>
            <a:endParaRPr lang="en-US"/>
          </a:p>
        </p:txBody>
      </p:sp>
      <p:sp>
        <p:nvSpPr>
          <p:cNvPr id="14" name="Text 11"/>
          <p:cNvSpPr txBox="1"/>
          <p:nvPr/>
        </p:nvSpPr>
        <p:spPr>
          <a:xfrm>
            <a:off x="460218" y="1669494"/>
            <a:ext cx="3824935" cy="237744"/>
          </a:xfrm>
          <a:prstGeom prst="rect">
            <a:avLst/>
          </a:prstGeom>
          <a:noFill/>
          <a:ln/>
        </p:spPr>
        <p:txBody>
          <a:bodyPr wrap="square" lIns="0" tIns="0" rIns="0" bIns="0" rtlCol="0" anchor="ctr"/>
          <a:lstStyle/>
          <a:p>
            <a:pPr marL="0" indent="0">
              <a:lnSpc>
                <a:spcPct val="105000"/>
              </a:lnSpc>
              <a:buNone/>
            </a:pPr>
            <a:r>
              <a:rPr lang="en-US" sz="1150" b="1" dirty="0">
                <a:solidFill>
                  <a:srgbClr val="7DD3FC"/>
                </a:solidFill>
                <a:latin typeface="Arial" pitchFamily="34" charset="0"/>
                <a:ea typeface="Arial" pitchFamily="34" charset="-122"/>
                <a:cs typeface="Arial" pitchFamily="34" charset="-120"/>
              </a:rPr>
              <a:t>Double Indemnity, 1944</a:t>
            </a:r>
            <a:endParaRPr lang="en-US" sz="1150" dirty="0"/>
          </a:p>
        </p:txBody>
      </p:sp>
      <p:sp>
        <p:nvSpPr>
          <p:cNvPr id="15" name="Text 12"/>
          <p:cNvSpPr txBox="1"/>
          <p:nvPr/>
        </p:nvSpPr>
        <p:spPr>
          <a:xfrm>
            <a:off x="460218" y="1943814"/>
            <a:ext cx="3824935" cy="420624"/>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John F. Seitz. Blind slats thrown across the walls and faces in long hard bars.</a:t>
            </a:r>
            <a:endParaRPr lang="en-US" sz="1000" dirty="0"/>
          </a:p>
        </p:txBody>
      </p:sp>
      <p:sp>
        <p:nvSpPr>
          <p:cNvPr id="16" name="Shape 13"/>
          <p:cNvSpPr/>
          <p:nvPr/>
        </p:nvSpPr>
        <p:spPr>
          <a:xfrm>
            <a:off x="4690872" y="1578054"/>
            <a:ext cx="4160520" cy="841248"/>
          </a:xfrm>
          <a:prstGeom prst="rect">
            <a:avLst/>
          </a:prstGeom>
          <a:solidFill>
            <a:srgbClr val="00C2FF"/>
          </a:solidFill>
          <a:ln/>
        </p:spPr>
        <p:txBody>
          <a:bodyPr/>
          <a:lstStyle/>
          <a:p>
            <a:endParaRPr lang="en-US"/>
          </a:p>
        </p:txBody>
      </p:sp>
      <p:sp>
        <p:nvSpPr>
          <p:cNvPr id="17" name="Shape 14"/>
          <p:cNvSpPr/>
          <p:nvPr/>
        </p:nvSpPr>
        <p:spPr>
          <a:xfrm>
            <a:off x="4706142" y="1593325"/>
            <a:ext cx="4129979" cy="213238"/>
          </a:xfrm>
          <a:prstGeom prst="rect">
            <a:avLst/>
          </a:prstGeom>
          <a:solidFill>
            <a:srgbClr val="0A2A3A"/>
          </a:solidFill>
          <a:ln/>
        </p:spPr>
        <p:txBody>
          <a:bodyPr/>
          <a:lstStyle/>
          <a:p>
            <a:endParaRPr lang="en-US"/>
          </a:p>
        </p:txBody>
      </p:sp>
      <p:sp>
        <p:nvSpPr>
          <p:cNvPr id="18" name="Shape 15"/>
          <p:cNvSpPr/>
          <p:nvPr/>
        </p:nvSpPr>
        <p:spPr>
          <a:xfrm>
            <a:off x="4706142" y="1806563"/>
            <a:ext cx="4129979" cy="597469"/>
          </a:xfrm>
          <a:prstGeom prst="rect">
            <a:avLst/>
          </a:prstGeom>
          <a:solidFill>
            <a:srgbClr val="04161D"/>
          </a:solidFill>
          <a:ln/>
        </p:spPr>
        <p:txBody>
          <a:bodyPr/>
          <a:lstStyle/>
          <a:p>
            <a:endParaRPr lang="en-US"/>
          </a:p>
        </p:txBody>
      </p:sp>
      <p:sp>
        <p:nvSpPr>
          <p:cNvPr id="19" name="Text 16"/>
          <p:cNvSpPr txBox="1"/>
          <p:nvPr/>
        </p:nvSpPr>
        <p:spPr>
          <a:xfrm>
            <a:off x="4858482" y="1669494"/>
            <a:ext cx="3824935" cy="237744"/>
          </a:xfrm>
          <a:prstGeom prst="rect">
            <a:avLst/>
          </a:prstGeom>
          <a:noFill/>
          <a:ln/>
        </p:spPr>
        <p:txBody>
          <a:bodyPr wrap="square" lIns="0" tIns="0" rIns="0" bIns="0" rtlCol="0" anchor="ctr"/>
          <a:lstStyle/>
          <a:p>
            <a:pPr marL="0" indent="0">
              <a:lnSpc>
                <a:spcPct val="105000"/>
              </a:lnSpc>
              <a:buNone/>
            </a:pPr>
            <a:r>
              <a:rPr lang="en-US" sz="1150" b="1" dirty="0">
                <a:solidFill>
                  <a:srgbClr val="7DD3FC"/>
                </a:solidFill>
                <a:latin typeface="Arial" pitchFamily="34" charset="0"/>
                <a:ea typeface="Arial" pitchFamily="34" charset="-122"/>
                <a:cs typeface="Arial" pitchFamily="34" charset="-120"/>
              </a:rPr>
              <a:t>Out of the Past, 1947</a:t>
            </a:r>
            <a:endParaRPr lang="en-US" sz="1150" dirty="0"/>
          </a:p>
        </p:txBody>
      </p:sp>
      <p:sp>
        <p:nvSpPr>
          <p:cNvPr id="20" name="Text 17"/>
          <p:cNvSpPr txBox="1"/>
          <p:nvPr/>
        </p:nvSpPr>
        <p:spPr>
          <a:xfrm>
            <a:off x="4858482" y="1943814"/>
            <a:ext cx="3824935" cy="420624"/>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Nicholas Musuraca. Faces half swallowed, shadow side left completely black.</a:t>
            </a:r>
            <a:endParaRPr lang="en-US" sz="1000" dirty="0"/>
          </a:p>
        </p:txBody>
      </p:sp>
      <p:sp>
        <p:nvSpPr>
          <p:cNvPr id="21" name="Shape 18"/>
          <p:cNvSpPr/>
          <p:nvPr/>
        </p:nvSpPr>
        <p:spPr>
          <a:xfrm>
            <a:off x="292608" y="2476706"/>
            <a:ext cx="4160520" cy="841248"/>
          </a:xfrm>
          <a:prstGeom prst="rect">
            <a:avLst/>
          </a:prstGeom>
          <a:solidFill>
            <a:srgbClr val="00C2FF"/>
          </a:solidFill>
          <a:ln/>
        </p:spPr>
        <p:txBody>
          <a:bodyPr/>
          <a:lstStyle/>
          <a:p>
            <a:endParaRPr lang="en-US"/>
          </a:p>
        </p:txBody>
      </p:sp>
      <p:sp>
        <p:nvSpPr>
          <p:cNvPr id="22" name="Shape 19"/>
          <p:cNvSpPr/>
          <p:nvPr/>
        </p:nvSpPr>
        <p:spPr>
          <a:xfrm>
            <a:off x="307878" y="2491977"/>
            <a:ext cx="4129979" cy="213238"/>
          </a:xfrm>
          <a:prstGeom prst="rect">
            <a:avLst/>
          </a:prstGeom>
          <a:solidFill>
            <a:srgbClr val="0A2A3A"/>
          </a:solidFill>
          <a:ln/>
        </p:spPr>
        <p:txBody>
          <a:bodyPr/>
          <a:lstStyle/>
          <a:p>
            <a:endParaRPr lang="en-US"/>
          </a:p>
        </p:txBody>
      </p:sp>
      <p:sp>
        <p:nvSpPr>
          <p:cNvPr id="23" name="Shape 20"/>
          <p:cNvSpPr/>
          <p:nvPr/>
        </p:nvSpPr>
        <p:spPr>
          <a:xfrm>
            <a:off x="307878" y="2705215"/>
            <a:ext cx="4129979" cy="597469"/>
          </a:xfrm>
          <a:prstGeom prst="rect">
            <a:avLst/>
          </a:prstGeom>
          <a:solidFill>
            <a:srgbClr val="04161D"/>
          </a:solidFill>
          <a:ln/>
        </p:spPr>
        <p:txBody>
          <a:bodyPr/>
          <a:lstStyle/>
          <a:p>
            <a:endParaRPr lang="en-US"/>
          </a:p>
        </p:txBody>
      </p:sp>
      <p:sp>
        <p:nvSpPr>
          <p:cNvPr id="24" name="Text 21"/>
          <p:cNvSpPr txBox="1"/>
          <p:nvPr/>
        </p:nvSpPr>
        <p:spPr>
          <a:xfrm>
            <a:off x="460218" y="2568146"/>
            <a:ext cx="3824935" cy="237744"/>
          </a:xfrm>
          <a:prstGeom prst="rect">
            <a:avLst/>
          </a:prstGeom>
          <a:noFill/>
          <a:ln/>
        </p:spPr>
        <p:txBody>
          <a:bodyPr wrap="square" lIns="0" tIns="0" rIns="0" bIns="0" rtlCol="0" anchor="ctr"/>
          <a:lstStyle/>
          <a:p>
            <a:pPr marL="0" indent="0">
              <a:lnSpc>
                <a:spcPct val="105000"/>
              </a:lnSpc>
              <a:buNone/>
            </a:pPr>
            <a:r>
              <a:rPr lang="en-US" sz="1150" b="1" dirty="0">
                <a:solidFill>
                  <a:srgbClr val="7DD3FC"/>
                </a:solidFill>
                <a:latin typeface="Arial" pitchFamily="34" charset="0"/>
                <a:ea typeface="Arial" pitchFamily="34" charset="-122"/>
                <a:cs typeface="Arial" pitchFamily="34" charset="-120"/>
              </a:rPr>
              <a:t>T-Men, 1947 and The Big Combo, 1955</a:t>
            </a:r>
            <a:endParaRPr lang="en-US" sz="1150" dirty="0"/>
          </a:p>
        </p:txBody>
      </p:sp>
      <p:sp>
        <p:nvSpPr>
          <p:cNvPr id="25" name="Text 22"/>
          <p:cNvSpPr txBox="1"/>
          <p:nvPr/>
        </p:nvSpPr>
        <p:spPr>
          <a:xfrm>
            <a:off x="460218" y="2842466"/>
            <a:ext cx="3824935" cy="420624"/>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John Alton. The most extreme of them all. Sometimes a single light in a black room.</a:t>
            </a:r>
            <a:endParaRPr lang="en-US" sz="1000" dirty="0"/>
          </a:p>
        </p:txBody>
      </p:sp>
      <p:sp>
        <p:nvSpPr>
          <p:cNvPr id="26" name="Shape 23"/>
          <p:cNvSpPr/>
          <p:nvPr/>
        </p:nvSpPr>
        <p:spPr>
          <a:xfrm>
            <a:off x="4690872" y="2476706"/>
            <a:ext cx="4160520" cy="841248"/>
          </a:xfrm>
          <a:prstGeom prst="rect">
            <a:avLst/>
          </a:prstGeom>
          <a:solidFill>
            <a:srgbClr val="00C2FF"/>
          </a:solidFill>
          <a:ln/>
        </p:spPr>
        <p:txBody>
          <a:bodyPr/>
          <a:lstStyle/>
          <a:p>
            <a:endParaRPr lang="en-US"/>
          </a:p>
        </p:txBody>
      </p:sp>
      <p:sp>
        <p:nvSpPr>
          <p:cNvPr id="27" name="Shape 24"/>
          <p:cNvSpPr/>
          <p:nvPr/>
        </p:nvSpPr>
        <p:spPr>
          <a:xfrm>
            <a:off x="4706142" y="2491977"/>
            <a:ext cx="4129979" cy="213238"/>
          </a:xfrm>
          <a:prstGeom prst="rect">
            <a:avLst/>
          </a:prstGeom>
          <a:solidFill>
            <a:srgbClr val="0A2A3A"/>
          </a:solidFill>
          <a:ln/>
        </p:spPr>
        <p:txBody>
          <a:bodyPr/>
          <a:lstStyle/>
          <a:p>
            <a:endParaRPr lang="en-US"/>
          </a:p>
        </p:txBody>
      </p:sp>
      <p:sp>
        <p:nvSpPr>
          <p:cNvPr id="28" name="Shape 25"/>
          <p:cNvSpPr/>
          <p:nvPr/>
        </p:nvSpPr>
        <p:spPr>
          <a:xfrm>
            <a:off x="4706142" y="2705215"/>
            <a:ext cx="4129979" cy="597469"/>
          </a:xfrm>
          <a:prstGeom prst="rect">
            <a:avLst/>
          </a:prstGeom>
          <a:solidFill>
            <a:srgbClr val="04161D"/>
          </a:solidFill>
          <a:ln/>
        </p:spPr>
        <p:txBody>
          <a:bodyPr/>
          <a:lstStyle/>
          <a:p>
            <a:endParaRPr lang="en-US"/>
          </a:p>
        </p:txBody>
      </p:sp>
      <p:sp>
        <p:nvSpPr>
          <p:cNvPr id="29" name="Text 26"/>
          <p:cNvSpPr txBox="1"/>
          <p:nvPr/>
        </p:nvSpPr>
        <p:spPr>
          <a:xfrm>
            <a:off x="4858482" y="2568146"/>
            <a:ext cx="3824935" cy="237744"/>
          </a:xfrm>
          <a:prstGeom prst="rect">
            <a:avLst/>
          </a:prstGeom>
          <a:noFill/>
          <a:ln/>
        </p:spPr>
        <p:txBody>
          <a:bodyPr wrap="square" lIns="0" tIns="0" rIns="0" bIns="0" rtlCol="0" anchor="ctr"/>
          <a:lstStyle/>
          <a:p>
            <a:pPr marL="0" indent="0">
              <a:lnSpc>
                <a:spcPct val="105000"/>
              </a:lnSpc>
              <a:buNone/>
            </a:pPr>
            <a:r>
              <a:rPr lang="en-US" sz="1150" b="1" dirty="0">
                <a:solidFill>
                  <a:srgbClr val="7DD3FC"/>
                </a:solidFill>
                <a:latin typeface="Arial" pitchFamily="34" charset="0"/>
                <a:ea typeface="Arial" pitchFamily="34" charset="-122"/>
                <a:cs typeface="Arial" pitchFamily="34" charset="-120"/>
              </a:rPr>
              <a:t>Touch of Evil, 1958</a:t>
            </a:r>
            <a:endParaRPr lang="en-US" sz="1150" dirty="0"/>
          </a:p>
        </p:txBody>
      </p:sp>
      <p:sp>
        <p:nvSpPr>
          <p:cNvPr id="30" name="Text 27"/>
          <p:cNvSpPr txBox="1"/>
          <p:nvPr/>
        </p:nvSpPr>
        <p:spPr>
          <a:xfrm>
            <a:off x="4858482" y="2842466"/>
            <a:ext cx="3824935" cy="420624"/>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Russell Metty. Wide lenses, low angles, and light that never once looks accidental.</a:t>
            </a:r>
            <a:endParaRPr lang="en-US" sz="1000" dirty="0"/>
          </a:p>
        </p:txBody>
      </p:sp>
      <p:pic>
        <p:nvPicPr>
          <p:cNvPr id="37" name="Picture 36" descr="Cine negro: qué es y cuáles son las mejores películas del género | GQ">
            <a:extLst>
              <a:ext uri="{FF2B5EF4-FFF2-40B4-BE49-F238E27FC236}">
                <a16:creationId xmlns:a16="http://schemas.microsoft.com/office/drawing/2014/main" id="{BA4A8A88-48B6-B9A0-2C7A-41225C11DBD2}"/>
              </a:ext>
            </a:extLst>
          </p:cNvPr>
          <p:cNvPicPr>
            <a:picLocks noChangeAspect="1"/>
          </p:cNvPicPr>
          <p:nvPr/>
        </p:nvPicPr>
        <p:blipFill>
          <a:blip r:embed="rId4"/>
          <a:stretch>
            <a:fillRect/>
          </a:stretch>
        </p:blipFill>
        <p:spPr>
          <a:xfrm>
            <a:off x="285764" y="3392178"/>
            <a:ext cx="1714870" cy="1714870"/>
          </a:xfrm>
          <a:prstGeom prst="rect">
            <a:avLst/>
          </a:prstGeom>
        </p:spPr>
      </p:pic>
      <p:pic>
        <p:nvPicPr>
          <p:cNvPr id="38" name="Picture 37" descr="Barton MacLane - Actor, Writer">
            <a:extLst>
              <a:ext uri="{FF2B5EF4-FFF2-40B4-BE49-F238E27FC236}">
                <a16:creationId xmlns:a16="http://schemas.microsoft.com/office/drawing/2014/main" id="{3F1CBEDC-1400-CDFD-C019-81EC24F05C14}"/>
              </a:ext>
            </a:extLst>
          </p:cNvPr>
          <p:cNvPicPr>
            <a:picLocks noChangeAspect="1"/>
          </p:cNvPicPr>
          <p:nvPr/>
        </p:nvPicPr>
        <p:blipFill>
          <a:blip r:embed="rId5"/>
          <a:stretch>
            <a:fillRect/>
          </a:stretch>
        </p:blipFill>
        <p:spPr>
          <a:xfrm>
            <a:off x="2011154" y="3397540"/>
            <a:ext cx="2140951" cy="1704196"/>
          </a:xfrm>
          <a:prstGeom prst="rect">
            <a:avLst/>
          </a:prstGeom>
        </p:spPr>
      </p:pic>
      <p:pic>
        <p:nvPicPr>
          <p:cNvPr id="39" name="Picture 38" descr="Out of the Past (1947) | Фильм нуар, Фильмы, Фотографии">
            <a:extLst>
              <a:ext uri="{FF2B5EF4-FFF2-40B4-BE49-F238E27FC236}">
                <a16:creationId xmlns:a16="http://schemas.microsoft.com/office/drawing/2014/main" id="{71A4DF2F-2877-3FE5-3A8A-0D54FD5212C4}"/>
              </a:ext>
            </a:extLst>
          </p:cNvPr>
          <p:cNvPicPr>
            <a:picLocks noChangeAspect="1"/>
          </p:cNvPicPr>
          <p:nvPr/>
        </p:nvPicPr>
        <p:blipFill>
          <a:blip r:embed="rId6"/>
          <a:stretch>
            <a:fillRect/>
          </a:stretch>
        </p:blipFill>
        <p:spPr>
          <a:xfrm>
            <a:off x="4159932" y="3394644"/>
            <a:ext cx="2317585" cy="1704195"/>
          </a:xfrm>
          <a:prstGeom prst="rect">
            <a:avLst/>
          </a:prstGeom>
        </p:spPr>
      </p:pic>
      <p:pic>
        <p:nvPicPr>
          <p:cNvPr id="40" name="Picture 39" descr="Out of the Past. 1947. Directed by Jacques Tourneur | MoMA">
            <a:extLst>
              <a:ext uri="{FF2B5EF4-FFF2-40B4-BE49-F238E27FC236}">
                <a16:creationId xmlns:a16="http://schemas.microsoft.com/office/drawing/2014/main" id="{45A07242-2D8F-95E9-8C69-DFADA4B7E3ED}"/>
              </a:ext>
            </a:extLst>
          </p:cNvPr>
          <p:cNvPicPr>
            <a:picLocks noChangeAspect="1"/>
          </p:cNvPicPr>
          <p:nvPr/>
        </p:nvPicPr>
        <p:blipFill>
          <a:blip r:embed="rId7"/>
          <a:stretch>
            <a:fillRect/>
          </a:stretch>
        </p:blipFill>
        <p:spPr>
          <a:xfrm>
            <a:off x="6485508" y="3391748"/>
            <a:ext cx="2350613" cy="1704195"/>
          </a:xfrm>
          <a:prstGeom prst="rect">
            <a:avLst/>
          </a:prstGeom>
        </p:spPr>
      </p:pic>
      <p:sp>
        <p:nvSpPr>
          <p:cNvPr id="7010" name="CaptionBar7010"/>
          <p:cNvSpPr/>
          <p:nvPr/>
        </p:nvSpPr>
        <p:spPr>
          <a:xfrm>
            <a:off x="285764" y="4686183"/>
            <a:ext cx="1714870" cy="344180"/>
          </a:xfrm>
          <a:prstGeom prst="rect">
            <a:avLst/>
          </a:prstGeom>
          <a:solidFill>
            <a:srgbClr val="000000">
              <a:alpha val="78000"/>
            </a:srgbClr>
          </a:solidFill>
          <a:ln>
            <a:noFill/>
          </a:ln>
        </p:spPr>
        <p:txBody>
          <a:bodyPr/>
          <a:lstStyle/>
          <a:p>
            <a:endParaRPr/>
          </a:p>
        </p:txBody>
      </p:sp>
      <p:sp>
        <p:nvSpPr>
          <p:cNvPr id="7011" name="Caption7011"/>
          <p:cNvSpPr txBox="1"/>
          <p:nvPr/>
        </p:nvSpPr>
        <p:spPr>
          <a:xfrm>
            <a:off x="386348" y="4721127"/>
            <a:ext cx="1513702" cy="293537"/>
          </a:xfrm>
          <a:prstGeom prst="rect">
            <a:avLst/>
          </a:prstGeom>
          <a:noFill/>
        </p:spPr>
        <p:txBody>
          <a:bodyPr wrap="square" lIns="0" tIns="0" rIns="0" bIns="0" anchor="ctr">
            <a:noAutofit/>
          </a:bodyPr>
          <a:lstStyle/>
          <a:p>
            <a:pPr algn="ctr"/>
            <a:r>
              <a:rPr lang="en-US" sz="900" b="1" dirty="0">
                <a:solidFill>
                  <a:srgbClr val="FFFFFF"/>
                </a:solidFill>
                <a:latin typeface="Arial"/>
                <a:cs typeface="Arial"/>
              </a:rPr>
              <a:t>Window light on brick. The pattern does the work.</a:t>
            </a:r>
          </a:p>
        </p:txBody>
      </p:sp>
      <p:sp>
        <p:nvSpPr>
          <p:cNvPr id="7012" name="CaptionBar7012"/>
          <p:cNvSpPr/>
          <p:nvPr/>
        </p:nvSpPr>
        <p:spPr>
          <a:xfrm>
            <a:off x="2011154" y="4686183"/>
            <a:ext cx="2140951" cy="344180"/>
          </a:xfrm>
          <a:prstGeom prst="rect">
            <a:avLst/>
          </a:prstGeom>
          <a:solidFill>
            <a:srgbClr val="000000">
              <a:alpha val="78000"/>
            </a:srgbClr>
          </a:solidFill>
          <a:ln>
            <a:noFill/>
          </a:ln>
        </p:spPr>
        <p:txBody>
          <a:bodyPr/>
          <a:lstStyle/>
          <a:p>
            <a:endParaRPr/>
          </a:p>
        </p:txBody>
      </p:sp>
      <p:sp>
        <p:nvSpPr>
          <p:cNvPr id="7013" name="Caption7013"/>
          <p:cNvSpPr txBox="1"/>
          <p:nvPr/>
        </p:nvSpPr>
        <p:spPr>
          <a:xfrm>
            <a:off x="2111738" y="4721127"/>
            <a:ext cx="1939783" cy="293537"/>
          </a:xfrm>
          <a:prstGeom prst="rect">
            <a:avLst/>
          </a:prstGeom>
          <a:noFill/>
        </p:spPr>
        <p:txBody>
          <a:bodyPr wrap="square" lIns="0" tIns="0" rIns="0" bIns="0" anchor="ctr">
            <a:noAutofit/>
          </a:bodyPr>
          <a:lstStyle/>
          <a:p>
            <a:pPr algn="ctr"/>
            <a:r>
              <a:rPr lang="en-US" sz="900" b="1" dirty="0">
                <a:solidFill>
                  <a:srgbClr val="FFFFFF"/>
                </a:solidFill>
                <a:latin typeface="Arial"/>
                <a:cs typeface="Arial"/>
              </a:rPr>
              <a:t>One face lit, the rest of the room left in shadow.</a:t>
            </a:r>
          </a:p>
        </p:txBody>
      </p:sp>
      <p:sp>
        <p:nvSpPr>
          <p:cNvPr id="7014" name="CaptionBar7014"/>
          <p:cNvSpPr/>
          <p:nvPr/>
        </p:nvSpPr>
        <p:spPr>
          <a:xfrm>
            <a:off x="4159932" y="4686183"/>
            <a:ext cx="2317585" cy="344180"/>
          </a:xfrm>
          <a:prstGeom prst="rect">
            <a:avLst/>
          </a:prstGeom>
          <a:solidFill>
            <a:srgbClr val="000000">
              <a:alpha val="78000"/>
            </a:srgbClr>
          </a:solidFill>
          <a:ln>
            <a:noFill/>
          </a:ln>
        </p:spPr>
        <p:txBody>
          <a:bodyPr/>
          <a:lstStyle/>
          <a:p>
            <a:endParaRPr/>
          </a:p>
        </p:txBody>
      </p:sp>
      <p:sp>
        <p:nvSpPr>
          <p:cNvPr id="7015" name="Caption7015"/>
          <p:cNvSpPr txBox="1"/>
          <p:nvPr/>
        </p:nvSpPr>
        <p:spPr>
          <a:xfrm>
            <a:off x="4260516" y="4721127"/>
            <a:ext cx="2116417" cy="293537"/>
          </a:xfrm>
          <a:prstGeom prst="rect">
            <a:avLst/>
          </a:prstGeom>
          <a:noFill/>
        </p:spPr>
        <p:txBody>
          <a:bodyPr wrap="square" lIns="0" tIns="0" rIns="0" bIns="0" anchor="ctr">
            <a:noAutofit/>
          </a:bodyPr>
          <a:lstStyle/>
          <a:p>
            <a:pPr algn="ctr"/>
            <a:r>
              <a:rPr lang="en-US" sz="900" b="1" dirty="0">
                <a:solidFill>
                  <a:srgbClr val="FFFFFF"/>
                </a:solidFill>
                <a:latin typeface="Arial"/>
                <a:cs typeface="Arial"/>
              </a:rPr>
              <a:t>Side light. Half a face, and a hat that is pure black shape.</a:t>
            </a:r>
          </a:p>
        </p:txBody>
      </p:sp>
      <p:sp>
        <p:nvSpPr>
          <p:cNvPr id="7016" name="CaptionBar7016"/>
          <p:cNvSpPr/>
          <p:nvPr/>
        </p:nvSpPr>
        <p:spPr>
          <a:xfrm>
            <a:off x="6485508" y="4686183"/>
            <a:ext cx="2350613" cy="344180"/>
          </a:xfrm>
          <a:prstGeom prst="rect">
            <a:avLst/>
          </a:prstGeom>
          <a:solidFill>
            <a:srgbClr val="000000">
              <a:alpha val="78000"/>
            </a:srgbClr>
          </a:solidFill>
          <a:ln>
            <a:noFill/>
          </a:ln>
        </p:spPr>
        <p:txBody>
          <a:bodyPr/>
          <a:lstStyle/>
          <a:p>
            <a:endParaRPr/>
          </a:p>
        </p:txBody>
      </p:sp>
      <p:sp>
        <p:nvSpPr>
          <p:cNvPr id="7017" name="Caption7017"/>
          <p:cNvSpPr txBox="1"/>
          <p:nvPr/>
        </p:nvSpPr>
        <p:spPr>
          <a:xfrm>
            <a:off x="6586092" y="4721127"/>
            <a:ext cx="2149445" cy="293537"/>
          </a:xfrm>
          <a:prstGeom prst="rect">
            <a:avLst/>
          </a:prstGeom>
          <a:noFill/>
        </p:spPr>
        <p:txBody>
          <a:bodyPr wrap="square" lIns="0" tIns="0" rIns="0" bIns="0" anchor="ctr">
            <a:noAutofit/>
          </a:bodyPr>
          <a:lstStyle/>
          <a:p>
            <a:pPr algn="ctr"/>
            <a:r>
              <a:rPr lang="en-US" sz="900" b="1" dirty="0">
                <a:solidFill>
                  <a:srgbClr val="FFFFFF"/>
                </a:solidFill>
                <a:latin typeface="Arial"/>
                <a:cs typeface="Arial"/>
              </a:rPr>
              <a:t>No fill at all. The shadows are allowed to go completely black.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THE BRIDGE BETWEEN THEM</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ONE FILM / 06</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9" name="Text 5"/>
          <p:cNvSpPr txBox="1"/>
          <p:nvPr/>
        </p:nvSpPr>
        <p:spPr>
          <a:xfrm>
            <a:off x="292608" y="1014984"/>
            <a:ext cx="4608576" cy="475488"/>
          </a:xfrm>
          <a:prstGeom prst="rect">
            <a:avLst/>
          </a:prstGeom>
          <a:noFill/>
          <a:ln/>
        </p:spPr>
        <p:txBody>
          <a:bodyPr wrap="square" lIns="0" tIns="0" rIns="0" bIns="0" rtlCol="0" anchor="ctr"/>
          <a:lstStyle/>
          <a:p>
            <a:pPr marL="0" indent="0">
              <a:lnSpc>
                <a:spcPct val="102000"/>
              </a:lnSpc>
              <a:buNone/>
            </a:pPr>
            <a:r>
              <a:rPr lang="en-US" sz="2600" b="1" kern="0" spc="40" dirty="0">
                <a:solidFill>
                  <a:srgbClr val="FFFFFF"/>
                </a:solidFill>
                <a:latin typeface="Oswald" pitchFamily="34" charset="0"/>
                <a:ea typeface="Oswald" pitchFamily="34" charset="-122"/>
                <a:cs typeface="Oswald" pitchFamily="34" charset="-120"/>
              </a:rPr>
              <a:t>THE NIGHT OF THE HUNTER</a:t>
            </a:r>
            <a:endParaRPr lang="en-US" sz="2600" dirty="0"/>
          </a:p>
        </p:txBody>
      </p:sp>
      <p:sp>
        <p:nvSpPr>
          <p:cNvPr id="10" name="Text 6"/>
          <p:cNvSpPr txBox="1"/>
          <p:nvPr/>
        </p:nvSpPr>
        <p:spPr>
          <a:xfrm>
            <a:off x="292608" y="1527048"/>
            <a:ext cx="4608576" cy="219456"/>
          </a:xfrm>
          <a:prstGeom prst="rect">
            <a:avLst/>
          </a:prstGeom>
          <a:noFill/>
          <a:ln/>
        </p:spPr>
        <p:txBody>
          <a:bodyPr wrap="square" lIns="0" tIns="0" rIns="0" bIns="0" rtlCol="0" anchor="t"/>
          <a:lstStyle/>
          <a:p>
            <a:pPr marL="0" indent="0">
              <a:lnSpc>
                <a:spcPct val="125000"/>
              </a:lnSpc>
              <a:buNone/>
            </a:pPr>
            <a:r>
              <a:rPr lang="en-US" sz="1050" dirty="0">
                <a:solidFill>
                  <a:srgbClr val="AAAAAA"/>
                </a:solidFill>
                <a:latin typeface="Arial" pitchFamily="34" charset="0"/>
                <a:ea typeface="Arial" pitchFamily="34" charset="-122"/>
                <a:cs typeface="Arial" pitchFamily="34" charset="-120"/>
              </a:rPr>
              <a:t>1955  /  Photographed by Stanley Cortez  /  Directed by Charles Laughton</a:t>
            </a:r>
            <a:endParaRPr lang="en-US" sz="1050" dirty="0"/>
          </a:p>
        </p:txBody>
      </p:sp>
      <p:sp>
        <p:nvSpPr>
          <p:cNvPr id="11" name="Shape 7"/>
          <p:cNvSpPr/>
          <p:nvPr/>
        </p:nvSpPr>
        <p:spPr>
          <a:xfrm>
            <a:off x="292608" y="1856232"/>
            <a:ext cx="4608576" cy="1061618"/>
          </a:xfrm>
          <a:prstGeom prst="rect">
            <a:avLst/>
          </a:prstGeom>
          <a:solidFill>
            <a:srgbClr val="00B8B8">
              <a:alpha val="6000"/>
            </a:srgbClr>
          </a:solidFill>
          <a:ln w="12700">
            <a:solidFill>
              <a:srgbClr val="054444"/>
            </a:solidFill>
            <a:prstDash val="solid"/>
          </a:ln>
        </p:spPr>
        <p:txBody>
          <a:bodyPr/>
          <a:lstStyle/>
          <a:p>
            <a:endParaRPr lang="en-US"/>
          </a:p>
        </p:txBody>
      </p:sp>
      <p:sp>
        <p:nvSpPr>
          <p:cNvPr id="12" name="Shape 8"/>
          <p:cNvSpPr/>
          <p:nvPr/>
        </p:nvSpPr>
        <p:spPr>
          <a:xfrm>
            <a:off x="292608" y="1856232"/>
            <a:ext cx="45720" cy="1061618"/>
          </a:xfrm>
          <a:prstGeom prst="rect">
            <a:avLst/>
          </a:prstGeom>
          <a:solidFill>
            <a:srgbClr val="00B8B8"/>
          </a:solidFill>
          <a:ln/>
        </p:spPr>
        <p:txBody>
          <a:bodyPr/>
          <a:lstStyle/>
          <a:p>
            <a:endParaRPr lang="en-US"/>
          </a:p>
        </p:txBody>
      </p:sp>
      <p:sp>
        <p:nvSpPr>
          <p:cNvPr id="13" name="Text 9"/>
          <p:cNvSpPr txBox="1"/>
          <p:nvPr/>
        </p:nvSpPr>
        <p:spPr>
          <a:xfrm>
            <a:off x="521208" y="2008937"/>
            <a:ext cx="4212641" cy="793699"/>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A horror film lit like a nightmare and a crime film at the same time. Cortez kept almost the entire movie in near darkness and used one hard source, so the villain is often just a black cutout with a hat.</a:t>
            </a:r>
            <a:endParaRPr lang="en-US" sz="1050" dirty="0"/>
          </a:p>
        </p:txBody>
      </p:sp>
      <p:sp>
        <p:nvSpPr>
          <p:cNvPr id="14" name="Shape 10"/>
          <p:cNvSpPr/>
          <p:nvPr/>
        </p:nvSpPr>
        <p:spPr>
          <a:xfrm>
            <a:off x="292608" y="3064154"/>
            <a:ext cx="4608576" cy="701345"/>
          </a:xfrm>
          <a:prstGeom prst="rect">
            <a:avLst/>
          </a:prstGeom>
          <a:solidFill>
            <a:srgbClr val="00B8B8">
              <a:alpha val="6000"/>
            </a:srgbClr>
          </a:solidFill>
          <a:ln w="12700">
            <a:solidFill>
              <a:srgbClr val="054444"/>
            </a:solidFill>
            <a:prstDash val="solid"/>
          </a:ln>
        </p:spPr>
        <p:txBody>
          <a:bodyPr/>
          <a:lstStyle/>
          <a:p>
            <a:endParaRPr lang="en-US"/>
          </a:p>
        </p:txBody>
      </p:sp>
      <p:sp>
        <p:nvSpPr>
          <p:cNvPr id="15" name="Shape 11"/>
          <p:cNvSpPr/>
          <p:nvPr/>
        </p:nvSpPr>
        <p:spPr>
          <a:xfrm>
            <a:off x="292608" y="3064154"/>
            <a:ext cx="45720" cy="701345"/>
          </a:xfrm>
          <a:prstGeom prst="rect">
            <a:avLst/>
          </a:prstGeom>
          <a:solidFill>
            <a:srgbClr val="00B8B8"/>
          </a:solidFill>
          <a:ln/>
        </p:spPr>
        <p:txBody>
          <a:bodyPr/>
          <a:lstStyle/>
          <a:p>
            <a:endParaRPr lang="en-US"/>
          </a:p>
        </p:txBody>
      </p:sp>
      <p:sp>
        <p:nvSpPr>
          <p:cNvPr id="16" name="Text 12"/>
          <p:cNvSpPr txBox="1"/>
          <p:nvPr/>
        </p:nvSpPr>
        <p:spPr>
          <a:xfrm>
            <a:off x="521208" y="3216859"/>
            <a:ext cx="4212641" cy="433426"/>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Watch what it teaches: a silhouette can act. You do not need to see a face to feel threatened by it.</a:t>
            </a:r>
            <a:endParaRPr lang="en-US" sz="1050" dirty="0"/>
          </a:p>
        </p:txBody>
      </p:sp>
      <p:sp>
        <p:nvSpPr>
          <p:cNvPr id="21" name="Shape 17"/>
          <p:cNvSpPr/>
          <p:nvPr/>
        </p:nvSpPr>
        <p:spPr>
          <a:xfrm>
            <a:off x="0" y="4681728"/>
            <a:ext cx="9144000" cy="22860"/>
          </a:xfrm>
          <a:prstGeom prst="rect">
            <a:avLst/>
          </a:prstGeom>
          <a:solidFill>
            <a:srgbClr val="00B8B8"/>
          </a:solidFill>
          <a:ln/>
        </p:spPr>
        <p:txBody>
          <a:bodyPr/>
          <a:lstStyle/>
          <a:p>
            <a:endParaRPr lang="en-US"/>
          </a:p>
        </p:txBody>
      </p:sp>
      <p:sp>
        <p:nvSpPr>
          <p:cNvPr id="22" name="Text 18"/>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23" name="Picture 22" descr="Night of the Hunter (1955) – Mise en Scene | filmutopia">
            <a:extLst>
              <a:ext uri="{FF2B5EF4-FFF2-40B4-BE49-F238E27FC236}">
                <a16:creationId xmlns:a16="http://schemas.microsoft.com/office/drawing/2014/main" id="{7D66A5A7-BE6D-4B13-E507-3178046EF354}"/>
              </a:ext>
            </a:extLst>
          </p:cNvPr>
          <p:cNvPicPr>
            <a:picLocks noChangeAspect="1"/>
          </p:cNvPicPr>
          <p:nvPr/>
        </p:nvPicPr>
        <p:blipFill>
          <a:blip r:embed="rId5"/>
          <a:srcRect r="30811"/>
          <a:stretch>
            <a:fillRect/>
          </a:stretch>
        </p:blipFill>
        <p:spPr>
          <a:xfrm>
            <a:off x="5084064" y="910655"/>
            <a:ext cx="3839007" cy="3485801"/>
          </a:xfrm>
          <a:prstGeom prst="rect">
            <a:avLst/>
          </a:prstGeom>
        </p:spPr>
      </p:pic>
      <p:sp>
        <p:nvSpPr>
          <p:cNvPr id="7018" name="CaptionBar7018"/>
          <p:cNvSpPr/>
          <p:nvPr/>
        </p:nvSpPr>
        <p:spPr>
          <a:xfrm>
            <a:off x="5084064" y="3966688"/>
            <a:ext cx="3839007" cy="429768"/>
          </a:xfrm>
          <a:prstGeom prst="rect">
            <a:avLst/>
          </a:prstGeom>
          <a:solidFill>
            <a:srgbClr val="000000">
              <a:alpha val="78000"/>
            </a:srgbClr>
          </a:solidFill>
          <a:ln>
            <a:noFill/>
          </a:ln>
        </p:spPr>
        <p:txBody>
          <a:bodyPr/>
          <a:lstStyle/>
          <a:p>
            <a:endParaRPr/>
          </a:p>
        </p:txBody>
      </p:sp>
      <p:sp>
        <p:nvSpPr>
          <p:cNvPr id="7019" name="Caption7019"/>
          <p:cNvSpPr txBox="1"/>
          <p:nvPr/>
        </p:nvSpPr>
        <p:spPr>
          <a:xfrm>
            <a:off x="5184648" y="3966688"/>
            <a:ext cx="3637839" cy="429768"/>
          </a:xfrm>
          <a:prstGeom prst="rect">
            <a:avLst/>
          </a:prstGeom>
          <a:noFill/>
        </p:spPr>
        <p:txBody>
          <a:bodyPr wrap="square" lIns="0" tIns="0" rIns="0" bIns="0" anchor="ctr">
            <a:noAutofit/>
          </a:bodyPr>
          <a:lstStyle/>
          <a:p>
            <a:pPr algn="ctr">
              <a:lnSpc>
                <a:spcPct val="115000"/>
              </a:lnSpc>
            </a:pPr>
            <a:r>
              <a:rPr lang="en-US" sz="900" b="1" dirty="0">
                <a:solidFill>
                  <a:srgbClr val="FFFFFF"/>
                </a:solidFill>
                <a:latin typeface="Arial"/>
                <a:cs typeface="Arial"/>
              </a:rPr>
              <a:t>Silhouette on the horizon. You read the threat without seeing a face.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FF6B1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FFB27C"/>
                </a:solidFill>
                <a:latin typeface="Oswald" pitchFamily="34" charset="0"/>
                <a:ea typeface="Oswald" pitchFamily="34" charset="-122"/>
                <a:cs typeface="Oswald" pitchFamily="34" charset="-120"/>
              </a:rPr>
              <a:t>IT NEVER WENT AWAY</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FFB27C"/>
                </a:solidFill>
                <a:latin typeface="Oswald" pitchFamily="34" charset="0"/>
                <a:ea typeface="Oswald" pitchFamily="34" charset="-122"/>
                <a:cs typeface="Oswald" pitchFamily="34" charset="-120"/>
              </a:rPr>
              <a:t>TODAY / 07</a:t>
            </a:r>
            <a:endParaRPr lang="en-US" sz="900" dirty="0"/>
          </a:p>
        </p:txBody>
      </p:sp>
      <p:sp>
        <p:nvSpPr>
          <p:cNvPr id="8" name="Shape 5"/>
          <p:cNvSpPr/>
          <p:nvPr/>
        </p:nvSpPr>
        <p:spPr>
          <a:xfrm>
            <a:off x="292608" y="731520"/>
            <a:ext cx="8558784" cy="546811"/>
          </a:xfrm>
          <a:prstGeom prst="rect">
            <a:avLst/>
          </a:prstGeom>
          <a:solidFill>
            <a:srgbClr val="FF6B1A">
              <a:alpha val="6000"/>
            </a:srgbClr>
          </a:solidFill>
          <a:ln w="12700">
            <a:solidFill>
              <a:srgbClr val="5C2A0E"/>
            </a:solidFill>
            <a:prstDash val="solid"/>
          </a:ln>
        </p:spPr>
        <p:txBody>
          <a:bodyPr/>
          <a:lstStyle/>
          <a:p>
            <a:endParaRPr lang="en-US"/>
          </a:p>
        </p:txBody>
      </p:sp>
      <p:sp>
        <p:nvSpPr>
          <p:cNvPr id="9" name="Shape 6"/>
          <p:cNvSpPr/>
          <p:nvPr/>
        </p:nvSpPr>
        <p:spPr>
          <a:xfrm>
            <a:off x="292608" y="731520"/>
            <a:ext cx="45720" cy="546811"/>
          </a:xfrm>
          <a:prstGeom prst="rect">
            <a:avLst/>
          </a:prstGeom>
          <a:solidFill>
            <a:srgbClr val="FF6B1A"/>
          </a:solidFill>
          <a:ln/>
        </p:spPr>
        <p:txBody>
          <a:bodyPr/>
          <a:lstStyle/>
          <a:p>
            <a:endParaRPr lang="en-US"/>
          </a:p>
        </p:txBody>
      </p:sp>
      <p:sp>
        <p:nvSpPr>
          <p:cNvPr id="10" name="Text 7"/>
          <p:cNvSpPr txBox="1"/>
          <p:nvPr/>
        </p:nvSpPr>
        <p:spPr>
          <a:xfrm>
            <a:off x="521208" y="884225"/>
            <a:ext cx="8162849" cy="278892"/>
          </a:xfrm>
          <a:prstGeom prst="rect">
            <a:avLst/>
          </a:prstGeom>
          <a:noFill/>
          <a:ln/>
        </p:spPr>
        <p:txBody>
          <a:bodyPr wrap="square" lIns="0" tIns="0" rIns="0" bIns="0" rtlCol="0" anchor="t"/>
          <a:lstStyle/>
          <a:p>
            <a:pPr marL="0" indent="0">
              <a:lnSpc>
                <a:spcPct val="135000"/>
              </a:lnSpc>
              <a:buNone/>
            </a:pPr>
            <a:r>
              <a:rPr lang="en-US" sz="1200" dirty="0">
                <a:solidFill>
                  <a:srgbClr val="FFB27C"/>
                </a:solidFill>
                <a:latin typeface="Arial" pitchFamily="34" charset="0"/>
                <a:ea typeface="Arial" pitchFamily="34" charset="-122"/>
                <a:cs typeface="Arial" pitchFamily="34" charset="-120"/>
              </a:rPr>
              <a:t>Every one of these is running the same playbook that was written in 1931.</a:t>
            </a:r>
            <a:endParaRPr lang="en-US" sz="1200" dirty="0"/>
          </a:p>
        </p:txBody>
      </p:sp>
      <p:sp>
        <p:nvSpPr>
          <p:cNvPr id="11" name="Shape 8"/>
          <p:cNvSpPr/>
          <p:nvPr/>
        </p:nvSpPr>
        <p:spPr>
          <a:xfrm>
            <a:off x="292608" y="1368216"/>
            <a:ext cx="4160520" cy="896112"/>
          </a:xfrm>
          <a:prstGeom prst="rect">
            <a:avLst/>
          </a:prstGeom>
          <a:solidFill>
            <a:srgbClr val="FF6B1A"/>
          </a:solidFill>
          <a:ln/>
        </p:spPr>
        <p:txBody>
          <a:bodyPr/>
          <a:lstStyle/>
          <a:p>
            <a:endParaRPr lang="en-US"/>
          </a:p>
        </p:txBody>
      </p:sp>
      <p:sp>
        <p:nvSpPr>
          <p:cNvPr id="12" name="Shape 9"/>
          <p:cNvSpPr/>
          <p:nvPr/>
        </p:nvSpPr>
        <p:spPr>
          <a:xfrm>
            <a:off x="307878" y="1383487"/>
            <a:ext cx="4129979" cy="213238"/>
          </a:xfrm>
          <a:prstGeom prst="rect">
            <a:avLst/>
          </a:prstGeom>
          <a:solidFill>
            <a:srgbClr val="3A1A06"/>
          </a:solidFill>
          <a:ln/>
        </p:spPr>
        <p:txBody>
          <a:bodyPr/>
          <a:lstStyle/>
          <a:p>
            <a:endParaRPr lang="en-US"/>
          </a:p>
        </p:txBody>
      </p:sp>
      <p:sp>
        <p:nvSpPr>
          <p:cNvPr id="13" name="Shape 10"/>
          <p:cNvSpPr/>
          <p:nvPr/>
        </p:nvSpPr>
        <p:spPr>
          <a:xfrm>
            <a:off x="307878" y="1596725"/>
            <a:ext cx="4129979" cy="652333"/>
          </a:xfrm>
          <a:prstGeom prst="rect">
            <a:avLst/>
          </a:prstGeom>
          <a:solidFill>
            <a:srgbClr val="1D0C03"/>
          </a:solidFill>
          <a:ln/>
        </p:spPr>
        <p:txBody>
          <a:bodyPr/>
          <a:lstStyle/>
          <a:p>
            <a:endParaRPr lang="en-US"/>
          </a:p>
        </p:txBody>
      </p:sp>
      <p:sp>
        <p:nvSpPr>
          <p:cNvPr id="14" name="Text 11"/>
          <p:cNvSpPr txBox="1"/>
          <p:nvPr/>
        </p:nvSpPr>
        <p:spPr>
          <a:xfrm>
            <a:off x="460218" y="1459656"/>
            <a:ext cx="3824935" cy="237744"/>
          </a:xfrm>
          <a:prstGeom prst="rect">
            <a:avLst/>
          </a:prstGeom>
          <a:noFill/>
          <a:ln/>
        </p:spPr>
        <p:txBody>
          <a:bodyPr wrap="square" lIns="0" tIns="0" rIns="0" bIns="0" rtlCol="0" anchor="ctr"/>
          <a:lstStyle/>
          <a:p>
            <a:pPr marL="0" indent="0">
              <a:lnSpc>
                <a:spcPct val="105000"/>
              </a:lnSpc>
              <a:buNone/>
            </a:pPr>
            <a:r>
              <a:rPr lang="en-US" sz="1150" b="1" dirty="0">
                <a:solidFill>
                  <a:srgbClr val="FFB27C"/>
                </a:solidFill>
                <a:latin typeface="Arial" pitchFamily="34" charset="0"/>
                <a:ea typeface="Arial" pitchFamily="34" charset="-122"/>
                <a:cs typeface="Arial" pitchFamily="34" charset="-120"/>
              </a:rPr>
              <a:t>Nosferatu, 2024</a:t>
            </a:r>
            <a:endParaRPr lang="en-US" sz="1150" dirty="0"/>
          </a:p>
        </p:txBody>
      </p:sp>
      <p:sp>
        <p:nvSpPr>
          <p:cNvPr id="15" name="Text 12"/>
          <p:cNvSpPr txBox="1"/>
          <p:nvPr/>
        </p:nvSpPr>
        <p:spPr>
          <a:xfrm>
            <a:off x="460218" y="1733976"/>
            <a:ext cx="3824935" cy="475488"/>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Jarin Blaschke used real candle flames and bounced moonlight. Orlok stays backlit, mostly in silhouette.</a:t>
            </a:r>
            <a:endParaRPr lang="en-US" sz="1000" dirty="0"/>
          </a:p>
        </p:txBody>
      </p:sp>
      <p:sp>
        <p:nvSpPr>
          <p:cNvPr id="16" name="Shape 13"/>
          <p:cNvSpPr/>
          <p:nvPr/>
        </p:nvSpPr>
        <p:spPr>
          <a:xfrm>
            <a:off x="4690872" y="1368216"/>
            <a:ext cx="4160520" cy="896112"/>
          </a:xfrm>
          <a:prstGeom prst="rect">
            <a:avLst/>
          </a:prstGeom>
          <a:solidFill>
            <a:srgbClr val="FF6B1A"/>
          </a:solidFill>
          <a:ln/>
        </p:spPr>
        <p:txBody>
          <a:bodyPr/>
          <a:lstStyle/>
          <a:p>
            <a:endParaRPr lang="en-US"/>
          </a:p>
        </p:txBody>
      </p:sp>
      <p:sp>
        <p:nvSpPr>
          <p:cNvPr id="17" name="Shape 14"/>
          <p:cNvSpPr/>
          <p:nvPr/>
        </p:nvSpPr>
        <p:spPr>
          <a:xfrm>
            <a:off x="4706142" y="1383487"/>
            <a:ext cx="4129979" cy="213238"/>
          </a:xfrm>
          <a:prstGeom prst="rect">
            <a:avLst/>
          </a:prstGeom>
          <a:solidFill>
            <a:srgbClr val="3A1A06"/>
          </a:solidFill>
          <a:ln/>
        </p:spPr>
        <p:txBody>
          <a:bodyPr/>
          <a:lstStyle/>
          <a:p>
            <a:endParaRPr lang="en-US"/>
          </a:p>
        </p:txBody>
      </p:sp>
      <p:sp>
        <p:nvSpPr>
          <p:cNvPr id="18" name="Shape 15"/>
          <p:cNvSpPr/>
          <p:nvPr/>
        </p:nvSpPr>
        <p:spPr>
          <a:xfrm>
            <a:off x="4706142" y="1596725"/>
            <a:ext cx="4129979" cy="652333"/>
          </a:xfrm>
          <a:prstGeom prst="rect">
            <a:avLst/>
          </a:prstGeom>
          <a:solidFill>
            <a:srgbClr val="1D0C03"/>
          </a:solidFill>
          <a:ln/>
        </p:spPr>
        <p:txBody>
          <a:bodyPr/>
          <a:lstStyle/>
          <a:p>
            <a:endParaRPr lang="en-US"/>
          </a:p>
        </p:txBody>
      </p:sp>
      <p:sp>
        <p:nvSpPr>
          <p:cNvPr id="19" name="Text 16"/>
          <p:cNvSpPr txBox="1"/>
          <p:nvPr/>
        </p:nvSpPr>
        <p:spPr>
          <a:xfrm>
            <a:off x="4858482" y="1459656"/>
            <a:ext cx="3824935" cy="237744"/>
          </a:xfrm>
          <a:prstGeom prst="rect">
            <a:avLst/>
          </a:prstGeom>
          <a:noFill/>
          <a:ln/>
        </p:spPr>
        <p:txBody>
          <a:bodyPr wrap="square" lIns="0" tIns="0" rIns="0" bIns="0" rtlCol="0" anchor="ctr"/>
          <a:lstStyle/>
          <a:p>
            <a:pPr marL="0" indent="0">
              <a:lnSpc>
                <a:spcPct val="105000"/>
              </a:lnSpc>
              <a:buNone/>
            </a:pPr>
            <a:r>
              <a:rPr lang="en-US" sz="1150" b="1" dirty="0">
                <a:solidFill>
                  <a:srgbClr val="FFB27C"/>
                </a:solidFill>
                <a:latin typeface="Arial" pitchFamily="34" charset="0"/>
                <a:ea typeface="Arial" pitchFamily="34" charset="-122"/>
                <a:cs typeface="Arial" pitchFamily="34" charset="-120"/>
              </a:rPr>
              <a:t>The Batman, 2022</a:t>
            </a:r>
            <a:endParaRPr lang="en-US" sz="1150" dirty="0"/>
          </a:p>
        </p:txBody>
      </p:sp>
      <p:sp>
        <p:nvSpPr>
          <p:cNvPr id="20" name="Text 17"/>
          <p:cNvSpPr txBox="1"/>
          <p:nvPr/>
        </p:nvSpPr>
        <p:spPr>
          <a:xfrm>
            <a:off x="4858482" y="1733976"/>
            <a:ext cx="3824935" cy="475488"/>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Greig Fraser kept the hero in shadow and let the lights already in the room do the work.</a:t>
            </a:r>
            <a:endParaRPr lang="en-US" sz="1000" dirty="0"/>
          </a:p>
        </p:txBody>
      </p:sp>
      <p:sp>
        <p:nvSpPr>
          <p:cNvPr id="21" name="Shape 18"/>
          <p:cNvSpPr/>
          <p:nvPr/>
        </p:nvSpPr>
        <p:spPr>
          <a:xfrm>
            <a:off x="292608" y="2338942"/>
            <a:ext cx="4160520" cy="896112"/>
          </a:xfrm>
          <a:prstGeom prst="rect">
            <a:avLst/>
          </a:prstGeom>
          <a:solidFill>
            <a:srgbClr val="FF6B1A"/>
          </a:solidFill>
          <a:ln/>
        </p:spPr>
        <p:txBody>
          <a:bodyPr/>
          <a:lstStyle/>
          <a:p>
            <a:endParaRPr lang="en-US"/>
          </a:p>
        </p:txBody>
      </p:sp>
      <p:sp>
        <p:nvSpPr>
          <p:cNvPr id="22" name="Shape 19"/>
          <p:cNvSpPr/>
          <p:nvPr/>
        </p:nvSpPr>
        <p:spPr>
          <a:xfrm>
            <a:off x="307878" y="2354213"/>
            <a:ext cx="4129979" cy="213238"/>
          </a:xfrm>
          <a:prstGeom prst="rect">
            <a:avLst/>
          </a:prstGeom>
          <a:solidFill>
            <a:srgbClr val="3A1A06"/>
          </a:solidFill>
          <a:ln/>
        </p:spPr>
        <p:txBody>
          <a:bodyPr/>
          <a:lstStyle/>
          <a:p>
            <a:endParaRPr lang="en-US"/>
          </a:p>
        </p:txBody>
      </p:sp>
      <p:sp>
        <p:nvSpPr>
          <p:cNvPr id="23" name="Shape 20"/>
          <p:cNvSpPr/>
          <p:nvPr/>
        </p:nvSpPr>
        <p:spPr>
          <a:xfrm>
            <a:off x="307878" y="2567451"/>
            <a:ext cx="4129979" cy="652333"/>
          </a:xfrm>
          <a:prstGeom prst="rect">
            <a:avLst/>
          </a:prstGeom>
          <a:solidFill>
            <a:srgbClr val="1D0C03"/>
          </a:solidFill>
          <a:ln/>
        </p:spPr>
        <p:txBody>
          <a:bodyPr/>
          <a:lstStyle/>
          <a:p>
            <a:endParaRPr lang="en-US"/>
          </a:p>
        </p:txBody>
      </p:sp>
      <p:sp>
        <p:nvSpPr>
          <p:cNvPr id="24" name="Text 21"/>
          <p:cNvSpPr txBox="1"/>
          <p:nvPr/>
        </p:nvSpPr>
        <p:spPr>
          <a:xfrm>
            <a:off x="460218" y="2430382"/>
            <a:ext cx="3824935" cy="237744"/>
          </a:xfrm>
          <a:prstGeom prst="rect">
            <a:avLst/>
          </a:prstGeom>
          <a:noFill/>
          <a:ln/>
        </p:spPr>
        <p:txBody>
          <a:bodyPr wrap="square" lIns="0" tIns="0" rIns="0" bIns="0" rtlCol="0" anchor="ctr"/>
          <a:lstStyle/>
          <a:p>
            <a:pPr marL="0" indent="0">
              <a:lnSpc>
                <a:spcPct val="105000"/>
              </a:lnSpc>
              <a:buNone/>
            </a:pPr>
            <a:r>
              <a:rPr lang="en-US" sz="1150" b="1" dirty="0">
                <a:solidFill>
                  <a:srgbClr val="FFB27C"/>
                </a:solidFill>
                <a:latin typeface="Arial" pitchFamily="34" charset="0"/>
                <a:ea typeface="Arial" pitchFamily="34" charset="-122"/>
                <a:cs typeface="Arial" pitchFamily="34" charset="-120"/>
              </a:rPr>
              <a:t>The Lighthouse, 2019</a:t>
            </a:r>
            <a:endParaRPr lang="en-US" sz="1150" dirty="0"/>
          </a:p>
        </p:txBody>
      </p:sp>
      <p:sp>
        <p:nvSpPr>
          <p:cNvPr id="25" name="Text 22"/>
          <p:cNvSpPr txBox="1"/>
          <p:nvPr/>
        </p:nvSpPr>
        <p:spPr>
          <a:xfrm>
            <a:off x="460218" y="2704702"/>
            <a:ext cx="3824935" cy="475488"/>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Blaschke again. Black and white, boxy frame, hard lantern light, and faces lit from below for most of the film.</a:t>
            </a:r>
            <a:endParaRPr lang="en-US" sz="1000" dirty="0"/>
          </a:p>
        </p:txBody>
      </p:sp>
      <p:sp>
        <p:nvSpPr>
          <p:cNvPr id="26" name="Shape 23"/>
          <p:cNvSpPr/>
          <p:nvPr/>
        </p:nvSpPr>
        <p:spPr>
          <a:xfrm>
            <a:off x="4690872" y="2338942"/>
            <a:ext cx="4160520" cy="896112"/>
          </a:xfrm>
          <a:prstGeom prst="rect">
            <a:avLst/>
          </a:prstGeom>
          <a:solidFill>
            <a:srgbClr val="FF6B1A"/>
          </a:solidFill>
          <a:ln/>
        </p:spPr>
        <p:txBody>
          <a:bodyPr/>
          <a:lstStyle/>
          <a:p>
            <a:endParaRPr lang="en-US"/>
          </a:p>
        </p:txBody>
      </p:sp>
      <p:sp>
        <p:nvSpPr>
          <p:cNvPr id="27" name="Shape 24"/>
          <p:cNvSpPr/>
          <p:nvPr/>
        </p:nvSpPr>
        <p:spPr>
          <a:xfrm>
            <a:off x="4706142" y="2354213"/>
            <a:ext cx="4129979" cy="213238"/>
          </a:xfrm>
          <a:prstGeom prst="rect">
            <a:avLst/>
          </a:prstGeom>
          <a:solidFill>
            <a:srgbClr val="3A1A06"/>
          </a:solidFill>
          <a:ln/>
        </p:spPr>
        <p:txBody>
          <a:bodyPr/>
          <a:lstStyle/>
          <a:p>
            <a:endParaRPr lang="en-US"/>
          </a:p>
        </p:txBody>
      </p:sp>
      <p:sp>
        <p:nvSpPr>
          <p:cNvPr id="28" name="Shape 25"/>
          <p:cNvSpPr/>
          <p:nvPr/>
        </p:nvSpPr>
        <p:spPr>
          <a:xfrm>
            <a:off x="4706142" y="2567451"/>
            <a:ext cx="4129979" cy="652333"/>
          </a:xfrm>
          <a:prstGeom prst="rect">
            <a:avLst/>
          </a:prstGeom>
          <a:solidFill>
            <a:srgbClr val="1D0C03"/>
          </a:solidFill>
          <a:ln/>
        </p:spPr>
        <p:txBody>
          <a:bodyPr/>
          <a:lstStyle/>
          <a:p>
            <a:endParaRPr lang="en-US"/>
          </a:p>
        </p:txBody>
      </p:sp>
      <p:sp>
        <p:nvSpPr>
          <p:cNvPr id="29" name="Text 26"/>
          <p:cNvSpPr txBox="1"/>
          <p:nvPr/>
        </p:nvSpPr>
        <p:spPr>
          <a:xfrm>
            <a:off x="4858482" y="2430382"/>
            <a:ext cx="3824935" cy="237744"/>
          </a:xfrm>
          <a:prstGeom prst="rect">
            <a:avLst/>
          </a:prstGeom>
          <a:noFill/>
          <a:ln/>
        </p:spPr>
        <p:txBody>
          <a:bodyPr wrap="square" lIns="0" tIns="0" rIns="0" bIns="0" rtlCol="0" anchor="ctr"/>
          <a:lstStyle/>
          <a:p>
            <a:pPr marL="0" indent="0">
              <a:lnSpc>
                <a:spcPct val="105000"/>
              </a:lnSpc>
              <a:buNone/>
            </a:pPr>
            <a:r>
              <a:rPr lang="en-US" sz="1150" b="1" dirty="0">
                <a:solidFill>
                  <a:srgbClr val="FFB27C"/>
                </a:solidFill>
                <a:latin typeface="Arial" pitchFamily="34" charset="0"/>
                <a:ea typeface="Arial" pitchFamily="34" charset="-122"/>
                <a:cs typeface="Arial" pitchFamily="34" charset="-120"/>
              </a:rPr>
              <a:t>Se7en, 1995</a:t>
            </a:r>
            <a:endParaRPr lang="en-US" sz="1150" dirty="0"/>
          </a:p>
        </p:txBody>
      </p:sp>
      <p:sp>
        <p:nvSpPr>
          <p:cNvPr id="30" name="Text 27"/>
          <p:cNvSpPr txBox="1"/>
          <p:nvPr/>
        </p:nvSpPr>
        <p:spPr>
          <a:xfrm>
            <a:off x="4858482" y="2704702"/>
            <a:ext cx="3824935" cy="475488"/>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Darius Khondji. Flashlights in black rooms. You only ever see the small circle the character is pointing at.</a:t>
            </a:r>
            <a:endParaRPr lang="en-US" sz="1000" dirty="0"/>
          </a:p>
        </p:txBody>
      </p:sp>
      <p:pic>
        <p:nvPicPr>
          <p:cNvPr id="39" name="Picture 38" descr="NOSFERATU at Dilworth Plaza/Philly City Hall — Not So Silent Cinema">
            <a:extLst>
              <a:ext uri="{FF2B5EF4-FFF2-40B4-BE49-F238E27FC236}">
                <a16:creationId xmlns:a16="http://schemas.microsoft.com/office/drawing/2014/main" id="{ED8A67A6-2F3C-33FC-01B9-E75A619F18AF}"/>
              </a:ext>
            </a:extLst>
          </p:cNvPr>
          <p:cNvPicPr>
            <a:picLocks noChangeAspect="1"/>
          </p:cNvPicPr>
          <p:nvPr/>
        </p:nvPicPr>
        <p:blipFill>
          <a:blip r:embed="rId4"/>
          <a:stretch>
            <a:fillRect/>
          </a:stretch>
        </p:blipFill>
        <p:spPr>
          <a:xfrm>
            <a:off x="19064" y="3276440"/>
            <a:ext cx="3251909" cy="1829199"/>
          </a:xfrm>
          <a:prstGeom prst="rect">
            <a:avLst/>
          </a:prstGeom>
        </p:spPr>
      </p:pic>
      <p:pic>
        <p:nvPicPr>
          <p:cNvPr id="41" name="Picture 40" descr="A Lifetime In Dark Rooms: Se7en: The Way That Leads Up To The Light">
            <a:extLst>
              <a:ext uri="{FF2B5EF4-FFF2-40B4-BE49-F238E27FC236}">
                <a16:creationId xmlns:a16="http://schemas.microsoft.com/office/drawing/2014/main" id="{9CD66511-83D2-AAFC-AB64-22CA5BF42517}"/>
              </a:ext>
            </a:extLst>
          </p:cNvPr>
          <p:cNvPicPr>
            <a:picLocks noChangeAspect="1"/>
          </p:cNvPicPr>
          <p:nvPr/>
        </p:nvPicPr>
        <p:blipFill>
          <a:blip r:embed="rId5"/>
          <a:srcRect l="12911" t="11561" r="3208" b="13125"/>
          <a:stretch>
            <a:fillRect/>
          </a:stretch>
        </p:blipFill>
        <p:spPr>
          <a:xfrm>
            <a:off x="5253197" y="3293302"/>
            <a:ext cx="3582924" cy="1812388"/>
          </a:xfrm>
          <a:prstGeom prst="rect">
            <a:avLst/>
          </a:prstGeom>
        </p:spPr>
      </p:pic>
      <p:pic>
        <p:nvPicPr>
          <p:cNvPr id="7" name="Picture 6">
            <a:extLst>
              <a:ext uri="{FF2B5EF4-FFF2-40B4-BE49-F238E27FC236}">
                <a16:creationId xmlns:a16="http://schemas.microsoft.com/office/drawing/2014/main" id="{578BC89D-9385-7B18-42F6-75B549138CAE}"/>
              </a:ext>
            </a:extLst>
          </p:cNvPr>
          <p:cNvPicPr>
            <a:picLocks noChangeAspect="1"/>
          </p:cNvPicPr>
          <p:nvPr/>
        </p:nvPicPr>
        <p:blipFill>
          <a:blip r:embed="rId6"/>
          <a:srcRect t="15566"/>
          <a:stretch>
            <a:fillRect/>
          </a:stretch>
        </p:blipFill>
        <p:spPr>
          <a:xfrm>
            <a:off x="3029847" y="3246968"/>
            <a:ext cx="2234539" cy="1546483"/>
          </a:xfrm>
          <a:prstGeom prst="rect">
            <a:avLst/>
          </a:prstGeom>
        </p:spPr>
      </p:pic>
      <p:sp>
        <p:nvSpPr>
          <p:cNvPr id="7020" name="CaptionBar7020"/>
          <p:cNvSpPr/>
          <p:nvPr/>
        </p:nvSpPr>
        <p:spPr>
          <a:xfrm>
            <a:off x="19064" y="4782168"/>
            <a:ext cx="2999594" cy="322891"/>
          </a:xfrm>
          <a:prstGeom prst="rect">
            <a:avLst/>
          </a:prstGeom>
          <a:solidFill>
            <a:srgbClr val="000000">
              <a:alpha val="78000"/>
            </a:srgbClr>
          </a:solidFill>
          <a:ln>
            <a:noFill/>
          </a:ln>
        </p:spPr>
        <p:txBody>
          <a:bodyPr/>
          <a:lstStyle/>
          <a:p>
            <a:endParaRPr/>
          </a:p>
        </p:txBody>
      </p:sp>
      <p:sp>
        <p:nvSpPr>
          <p:cNvPr id="7021" name="Caption7021"/>
          <p:cNvSpPr txBox="1"/>
          <p:nvPr/>
        </p:nvSpPr>
        <p:spPr>
          <a:xfrm>
            <a:off x="119648" y="4793816"/>
            <a:ext cx="2798426" cy="322891"/>
          </a:xfrm>
          <a:prstGeom prst="rect">
            <a:avLst/>
          </a:prstGeom>
          <a:noFill/>
        </p:spPr>
        <p:txBody>
          <a:bodyPr wrap="square" lIns="0" tIns="0" rIns="0" bIns="0" anchor="ctr">
            <a:noAutofit/>
          </a:bodyPr>
          <a:lstStyle/>
          <a:p>
            <a:pPr algn="ctr"/>
            <a:r>
              <a:rPr lang="en-US" sz="900" b="1" dirty="0">
                <a:solidFill>
                  <a:srgbClr val="FFFFFF"/>
                </a:solidFill>
                <a:latin typeface="Arial"/>
                <a:cs typeface="Arial"/>
              </a:rPr>
              <a:t>Nosferatu, 2024: Orlok as pure silhouette. The same move Murnau used in 1922.</a:t>
            </a:r>
          </a:p>
        </p:txBody>
      </p:sp>
      <p:sp>
        <p:nvSpPr>
          <p:cNvPr id="7022" name="CaptionBar7022"/>
          <p:cNvSpPr/>
          <p:nvPr/>
        </p:nvSpPr>
        <p:spPr>
          <a:xfrm>
            <a:off x="3018658" y="4794082"/>
            <a:ext cx="2234539" cy="322891"/>
          </a:xfrm>
          <a:prstGeom prst="rect">
            <a:avLst/>
          </a:prstGeom>
          <a:solidFill>
            <a:srgbClr val="000000">
              <a:alpha val="78000"/>
            </a:srgbClr>
          </a:solidFill>
          <a:ln>
            <a:noFill/>
          </a:ln>
        </p:spPr>
        <p:txBody>
          <a:bodyPr/>
          <a:lstStyle/>
          <a:p>
            <a:endParaRPr/>
          </a:p>
        </p:txBody>
      </p:sp>
      <p:sp>
        <p:nvSpPr>
          <p:cNvPr id="7023" name="Caption7023"/>
          <p:cNvSpPr txBox="1"/>
          <p:nvPr/>
        </p:nvSpPr>
        <p:spPr>
          <a:xfrm>
            <a:off x="2918074" y="4782168"/>
            <a:ext cx="2435707" cy="322891"/>
          </a:xfrm>
          <a:prstGeom prst="rect">
            <a:avLst/>
          </a:prstGeom>
          <a:noFill/>
        </p:spPr>
        <p:txBody>
          <a:bodyPr wrap="square" lIns="0" tIns="0" rIns="0" bIns="0" anchor="ctr">
            <a:noAutofit/>
          </a:bodyPr>
          <a:lstStyle/>
          <a:p>
            <a:pPr algn="ctr"/>
            <a:r>
              <a:rPr lang="en-US" sz="900" b="1" dirty="0">
                <a:solidFill>
                  <a:srgbClr val="FFFFFF"/>
                </a:solidFill>
                <a:latin typeface="Arial"/>
                <a:cs typeface="Arial"/>
              </a:rPr>
              <a:t>The Batman, 2022: One warm source deep in the frame. Everything else stays black.</a:t>
            </a:r>
          </a:p>
        </p:txBody>
      </p:sp>
      <p:sp>
        <p:nvSpPr>
          <p:cNvPr id="7024" name="CaptionBar7024"/>
          <p:cNvSpPr/>
          <p:nvPr/>
        </p:nvSpPr>
        <p:spPr>
          <a:xfrm>
            <a:off x="5253197" y="4782168"/>
            <a:ext cx="3582924" cy="322891"/>
          </a:xfrm>
          <a:prstGeom prst="rect">
            <a:avLst/>
          </a:prstGeom>
          <a:solidFill>
            <a:srgbClr val="000000">
              <a:alpha val="78000"/>
            </a:srgbClr>
          </a:solidFill>
          <a:ln>
            <a:noFill/>
          </a:ln>
        </p:spPr>
        <p:txBody>
          <a:bodyPr/>
          <a:lstStyle/>
          <a:p>
            <a:endParaRPr/>
          </a:p>
        </p:txBody>
      </p:sp>
      <p:sp>
        <p:nvSpPr>
          <p:cNvPr id="7025" name="Caption7025"/>
          <p:cNvSpPr txBox="1"/>
          <p:nvPr/>
        </p:nvSpPr>
        <p:spPr>
          <a:xfrm>
            <a:off x="5353781" y="4793816"/>
            <a:ext cx="3381756" cy="322891"/>
          </a:xfrm>
          <a:prstGeom prst="rect">
            <a:avLst/>
          </a:prstGeom>
          <a:noFill/>
        </p:spPr>
        <p:txBody>
          <a:bodyPr wrap="square" lIns="0" tIns="0" rIns="0" bIns="0" anchor="ctr">
            <a:noAutofit/>
          </a:bodyPr>
          <a:lstStyle/>
          <a:p>
            <a:pPr algn="ctr"/>
            <a:r>
              <a:rPr lang="en-US" sz="900" b="1" dirty="0">
                <a:solidFill>
                  <a:srgbClr val="FFFFFF"/>
                </a:solidFill>
                <a:latin typeface="Arial"/>
                <a:cs typeface="Arial"/>
              </a:rPr>
              <a:t>Se7en, 1995: A flashlight is the whole lighting plan. You see only what it points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47688" y="1394460"/>
            <a:ext cx="3867912" cy="4572000"/>
          </a:xfrm>
          <a:prstGeom prst="rect">
            <a:avLst/>
          </a:prstGeom>
        </p:spPr>
      </p:pic>
      <p:sp>
        <p:nvSpPr>
          <p:cNvPr id="3" name="Shape 0"/>
          <p:cNvSpPr/>
          <p:nvPr/>
        </p:nvSpPr>
        <p:spPr>
          <a:xfrm>
            <a:off x="0" y="0"/>
            <a:ext cx="9144000" cy="5143500"/>
          </a:xfrm>
          <a:prstGeom prst="rect">
            <a:avLst/>
          </a:prstGeom>
          <a:solidFill>
            <a:srgbClr val="04191A">
              <a:alpha val="76000"/>
            </a:srgbClr>
          </a:solidFill>
          <a:ln/>
        </p:spPr>
        <p:txBody>
          <a:bodyPr/>
          <a:lstStyle/>
          <a:p>
            <a:endParaRPr lang="en-US"/>
          </a:p>
        </p:txBody>
      </p:sp>
      <p:sp>
        <p:nvSpPr>
          <p:cNvPr id="4" name="Shape 1"/>
          <p:cNvSpPr/>
          <p:nvPr/>
        </p:nvSpPr>
        <p:spPr>
          <a:xfrm>
            <a:off x="0" y="0"/>
            <a:ext cx="45720" cy="5143500"/>
          </a:xfrm>
          <a:prstGeom prst="rect">
            <a:avLst/>
          </a:prstGeom>
          <a:solidFill>
            <a:srgbClr val="00C2FF"/>
          </a:solidFill>
          <a:ln/>
        </p:spPr>
        <p:txBody>
          <a:bodyPr/>
          <a:lstStyle/>
          <a:p>
            <a:endParaRPr lang="en-US"/>
          </a:p>
        </p:txBody>
      </p:sp>
      <p:sp>
        <p:nvSpPr>
          <p:cNvPr id="5" name="Text 2"/>
          <p:cNvSpPr txBox="1"/>
          <p:nvPr/>
        </p:nvSpPr>
        <p:spPr>
          <a:xfrm>
            <a:off x="292608" y="1005840"/>
            <a:ext cx="2194560" cy="2103120"/>
          </a:xfrm>
          <a:prstGeom prst="rect">
            <a:avLst/>
          </a:prstGeom>
          <a:noFill/>
          <a:ln/>
        </p:spPr>
        <p:txBody>
          <a:bodyPr wrap="square" lIns="0" tIns="0" rIns="0" bIns="0" rtlCol="0" anchor="ctr"/>
          <a:lstStyle/>
          <a:p>
            <a:pPr marL="0" indent="0">
              <a:lnSpc>
                <a:spcPct val="100000"/>
              </a:lnSpc>
              <a:buNone/>
            </a:pPr>
            <a:r>
              <a:rPr lang="en-US" sz="12000" b="1" dirty="0">
                <a:solidFill>
                  <a:srgbClr val="00C2FF"/>
                </a:solidFill>
                <a:latin typeface="Oswald" pitchFamily="34" charset="0"/>
                <a:ea typeface="Oswald" pitchFamily="34" charset="-122"/>
                <a:cs typeface="Oswald" pitchFamily="34" charset="-120"/>
              </a:rPr>
              <a:t>02</a:t>
            </a:r>
            <a:endParaRPr lang="en-US" sz="12000" dirty="0"/>
          </a:p>
        </p:txBody>
      </p:sp>
      <p:sp>
        <p:nvSpPr>
          <p:cNvPr id="6" name="Text 3"/>
          <p:cNvSpPr txBox="1"/>
          <p:nvPr/>
        </p:nvSpPr>
        <p:spPr>
          <a:xfrm>
            <a:off x="2432304" y="1371600"/>
            <a:ext cx="6309360" cy="219456"/>
          </a:xfrm>
          <a:prstGeom prst="rect">
            <a:avLst/>
          </a:prstGeom>
          <a:noFill/>
          <a:ln/>
        </p:spPr>
        <p:txBody>
          <a:bodyPr wrap="square" lIns="0" tIns="0" rIns="0" bIns="0" rtlCol="0" anchor="ctr"/>
          <a:lstStyle/>
          <a:p>
            <a:pPr marL="0" indent="0">
              <a:lnSpc>
                <a:spcPct val="120000"/>
              </a:lnSpc>
              <a:buNone/>
            </a:pPr>
            <a:r>
              <a:rPr lang="en-US" sz="1100" b="1" kern="0" spc="190" dirty="0">
                <a:solidFill>
                  <a:srgbClr val="7DD3FC"/>
                </a:solidFill>
                <a:latin typeface="Oswald" pitchFamily="34" charset="0"/>
                <a:ea typeface="Oswald" pitchFamily="34" charset="-122"/>
                <a:cs typeface="Oswald" pitchFamily="34" charset="-120"/>
              </a:rPr>
              <a:t>HOW IT IS ACTUALLY DONE</a:t>
            </a:r>
            <a:endParaRPr lang="en-US" sz="1100" dirty="0"/>
          </a:p>
        </p:txBody>
      </p:sp>
      <p:sp>
        <p:nvSpPr>
          <p:cNvPr id="7" name="Text 4"/>
          <p:cNvSpPr txBox="1"/>
          <p:nvPr/>
        </p:nvSpPr>
        <p:spPr>
          <a:xfrm>
            <a:off x="2432304" y="1682496"/>
            <a:ext cx="6309360" cy="749808"/>
          </a:xfrm>
          <a:prstGeom prst="rect">
            <a:avLst/>
          </a:prstGeom>
          <a:noFill/>
          <a:ln/>
        </p:spPr>
        <p:txBody>
          <a:bodyPr wrap="square" lIns="0" tIns="0" rIns="0" bIns="0" rtlCol="0" anchor="ctr"/>
          <a:lstStyle/>
          <a:p>
            <a:pPr marL="0" indent="0">
              <a:lnSpc>
                <a:spcPct val="102000"/>
              </a:lnSpc>
              <a:buNone/>
            </a:pPr>
            <a:r>
              <a:rPr lang="en-US" sz="4000" b="1" kern="0" spc="40" dirty="0">
                <a:solidFill>
                  <a:srgbClr val="FFFFFF"/>
                </a:solidFill>
                <a:latin typeface="Oswald" pitchFamily="34" charset="0"/>
                <a:ea typeface="Oswald" pitchFamily="34" charset="-122"/>
                <a:cs typeface="Oswald" pitchFamily="34" charset="-120"/>
              </a:rPr>
              <a:t>THE LANGUAGE OF SHADOW</a:t>
            </a:r>
            <a:endParaRPr lang="en-US" sz="4000" dirty="0"/>
          </a:p>
        </p:txBody>
      </p:sp>
      <p:sp>
        <p:nvSpPr>
          <p:cNvPr id="8" name="Shape 5"/>
          <p:cNvSpPr/>
          <p:nvPr/>
        </p:nvSpPr>
        <p:spPr>
          <a:xfrm>
            <a:off x="2432304" y="2487168"/>
            <a:ext cx="457017" cy="30450"/>
          </a:xfrm>
          <a:prstGeom prst="rect">
            <a:avLst/>
          </a:prstGeom>
          <a:solidFill>
            <a:srgbClr val="00C2FF"/>
          </a:solidFill>
          <a:ln/>
        </p:spPr>
        <p:txBody>
          <a:bodyPr/>
          <a:lstStyle/>
          <a:p>
            <a:endParaRPr lang="en-US"/>
          </a:p>
        </p:txBody>
      </p:sp>
      <p:sp>
        <p:nvSpPr>
          <p:cNvPr id="9" name="Text 6"/>
          <p:cNvSpPr txBox="1"/>
          <p:nvPr/>
        </p:nvSpPr>
        <p:spPr>
          <a:xfrm>
            <a:off x="2432304" y="2688336"/>
            <a:ext cx="6035040" cy="822960"/>
          </a:xfrm>
          <a:prstGeom prst="rect">
            <a:avLst/>
          </a:prstGeom>
          <a:noFill/>
          <a:ln/>
        </p:spPr>
        <p:txBody>
          <a:bodyPr wrap="square" lIns="0" tIns="0" rIns="0" bIns="0" rtlCol="0" anchor="t"/>
          <a:lstStyle/>
          <a:p>
            <a:pPr marL="0" indent="0">
              <a:lnSpc>
                <a:spcPct val="135000"/>
              </a:lnSpc>
              <a:buNone/>
            </a:pPr>
            <a:r>
              <a:rPr lang="en-US" sz="1200" dirty="0">
                <a:solidFill>
                  <a:srgbClr val="AAAAAA"/>
                </a:solidFill>
                <a:latin typeface="Arial" pitchFamily="34" charset="0"/>
                <a:ea typeface="Arial" pitchFamily="34" charset="-122"/>
                <a:cs typeface="Arial" pitchFamily="34" charset="-120"/>
              </a:rPr>
              <a:t>Seven ideas. Once you have them, you stop guessing where to put the light and start deciding.</a:t>
            </a:r>
            <a:endParaRPr lang="en-US" sz="1200" dirty="0"/>
          </a:p>
        </p:txBody>
      </p:sp>
      <p:sp>
        <p:nvSpPr>
          <p:cNvPr id="10" name="Shape 7"/>
          <p:cNvSpPr/>
          <p:nvPr/>
        </p:nvSpPr>
        <p:spPr>
          <a:xfrm>
            <a:off x="0" y="4681728"/>
            <a:ext cx="9144000" cy="22860"/>
          </a:xfrm>
          <a:prstGeom prst="rect">
            <a:avLst/>
          </a:prstGeom>
          <a:solidFill>
            <a:srgbClr val="00C2FF"/>
          </a:solidFill>
          <a:ln/>
        </p:spPr>
        <p:txBody>
          <a:bodyPr/>
          <a:lstStyle/>
          <a:p>
            <a:endParaRPr lang="en-US"/>
          </a:p>
        </p:txBody>
      </p:sp>
      <p:sp>
        <p:nvSpPr>
          <p:cNvPr id="11" name="Text 8"/>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C2FF"/>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7DD3FC"/>
                </a:solidFill>
                <a:latin typeface="Oswald" pitchFamily="34" charset="0"/>
                <a:ea typeface="Oswald" pitchFamily="34" charset="-122"/>
                <a:cs typeface="Oswald" pitchFamily="34" charset="-120"/>
              </a:rPr>
              <a:t>LOW KEY IS NOT THE SAME AS DARK</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7DD3FC"/>
                </a:solidFill>
                <a:latin typeface="Oswald" pitchFamily="34" charset="0"/>
                <a:ea typeface="Oswald" pitchFamily="34" charset="-122"/>
                <a:cs typeface="Oswald" pitchFamily="34" charset="-120"/>
              </a:rPr>
              <a:t>IDEA 01 / 08</a:t>
            </a:r>
            <a:endParaRPr lang="en-US" sz="900" dirty="0"/>
          </a:p>
        </p:txBody>
      </p:sp>
      <p:sp>
        <p:nvSpPr>
          <p:cNvPr id="8" name="Shape 4"/>
          <p:cNvSpPr/>
          <p:nvPr/>
        </p:nvSpPr>
        <p:spPr>
          <a:xfrm>
            <a:off x="859536" y="699516"/>
            <a:ext cx="457017" cy="22860"/>
          </a:xfrm>
          <a:prstGeom prst="rect">
            <a:avLst/>
          </a:prstGeom>
          <a:solidFill>
            <a:srgbClr val="00C2FF"/>
          </a:solidFill>
          <a:ln/>
        </p:spPr>
        <p:txBody>
          <a:bodyPr/>
          <a:lstStyle/>
          <a:p>
            <a:endParaRPr lang="en-US"/>
          </a:p>
        </p:txBody>
      </p:sp>
      <p:sp>
        <p:nvSpPr>
          <p:cNvPr id="9" name="Shape 5"/>
          <p:cNvSpPr/>
          <p:nvPr/>
        </p:nvSpPr>
        <p:spPr>
          <a:xfrm>
            <a:off x="292608" y="996696"/>
            <a:ext cx="4608576" cy="958291"/>
          </a:xfrm>
          <a:prstGeom prst="rect">
            <a:avLst/>
          </a:prstGeom>
          <a:solidFill>
            <a:srgbClr val="00C2FF">
              <a:alpha val="6000"/>
            </a:srgbClr>
          </a:solidFill>
          <a:ln w="12700">
            <a:solidFill>
              <a:srgbClr val="05475C"/>
            </a:solidFill>
            <a:prstDash val="solid"/>
          </a:ln>
        </p:spPr>
        <p:txBody>
          <a:bodyPr/>
          <a:lstStyle/>
          <a:p>
            <a:endParaRPr lang="en-US"/>
          </a:p>
        </p:txBody>
      </p:sp>
      <p:sp>
        <p:nvSpPr>
          <p:cNvPr id="10" name="Shape 6"/>
          <p:cNvSpPr/>
          <p:nvPr/>
        </p:nvSpPr>
        <p:spPr>
          <a:xfrm>
            <a:off x="292608" y="996696"/>
            <a:ext cx="45720" cy="958291"/>
          </a:xfrm>
          <a:prstGeom prst="rect">
            <a:avLst/>
          </a:prstGeom>
          <a:solidFill>
            <a:srgbClr val="00C2FF"/>
          </a:solidFill>
          <a:ln/>
        </p:spPr>
        <p:txBody>
          <a:bodyPr/>
          <a:lstStyle/>
          <a:p>
            <a:endParaRPr lang="en-US"/>
          </a:p>
        </p:txBody>
      </p:sp>
      <p:sp>
        <p:nvSpPr>
          <p:cNvPr id="11" name="Text 7"/>
          <p:cNvSpPr txBox="1"/>
          <p:nvPr/>
        </p:nvSpPr>
        <p:spPr>
          <a:xfrm>
            <a:off x="521208" y="1149401"/>
            <a:ext cx="4212641" cy="690372"/>
          </a:xfrm>
          <a:prstGeom prst="rect">
            <a:avLst/>
          </a:prstGeom>
          <a:noFill/>
          <a:ln/>
        </p:spPr>
        <p:txBody>
          <a:bodyPr wrap="square" lIns="0" tIns="0" rIns="0" bIns="0" rtlCol="0" anchor="t"/>
          <a:lstStyle/>
          <a:p>
            <a:pPr marL="0" indent="0">
              <a:lnSpc>
                <a:spcPct val="135000"/>
              </a:lnSpc>
              <a:buNone/>
            </a:pPr>
            <a:r>
              <a:rPr lang="en-US" sz="1200" dirty="0">
                <a:solidFill>
                  <a:srgbClr val="7DD3FC"/>
                </a:solidFill>
                <a:latin typeface="Arial" pitchFamily="34" charset="0"/>
                <a:ea typeface="Arial" pitchFamily="34" charset="-122"/>
                <a:cs typeface="Arial" pitchFamily="34" charset="-120"/>
              </a:rPr>
              <a:t>Most of the frame sits in shadow and the lit parts are small. It does not mean underexposed. The bright parts stay bright. There are just fewer of them.</a:t>
            </a:r>
            <a:endParaRPr lang="en-US" sz="1200" dirty="0"/>
          </a:p>
        </p:txBody>
      </p:sp>
      <p:sp>
        <p:nvSpPr>
          <p:cNvPr id="12" name="Shape 8"/>
          <p:cNvSpPr/>
          <p:nvPr/>
        </p:nvSpPr>
        <p:spPr>
          <a:xfrm>
            <a:off x="292608" y="2119579"/>
            <a:ext cx="310896" cy="310896"/>
          </a:xfrm>
          <a:prstGeom prst="rect">
            <a:avLst/>
          </a:prstGeom>
          <a:solidFill>
            <a:srgbClr val="00C2FF"/>
          </a:solidFill>
          <a:ln/>
        </p:spPr>
        <p:txBody>
          <a:bodyPr/>
          <a:lstStyle/>
          <a:p>
            <a:endParaRPr lang="en-US"/>
          </a:p>
        </p:txBody>
      </p:sp>
      <p:sp>
        <p:nvSpPr>
          <p:cNvPr id="13" name="Text 9"/>
          <p:cNvSpPr txBox="1"/>
          <p:nvPr/>
        </p:nvSpPr>
        <p:spPr>
          <a:xfrm>
            <a:off x="292608" y="21195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4" name="Text 10"/>
          <p:cNvSpPr txBox="1"/>
          <p:nvPr/>
        </p:nvSpPr>
        <p:spPr>
          <a:xfrm>
            <a:off x="768096" y="21012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HIGH KEY</a:t>
            </a:r>
            <a:endParaRPr lang="en-US" sz="1250" dirty="0"/>
          </a:p>
        </p:txBody>
      </p:sp>
      <p:sp>
        <p:nvSpPr>
          <p:cNvPr id="15" name="Text 11"/>
          <p:cNvSpPr txBox="1"/>
          <p:nvPr/>
        </p:nvSpPr>
        <p:spPr>
          <a:xfrm>
            <a:off x="768096" y="236646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Light everywhere, soft shadows, nothing hidden. Sitcoms, school portraits.</a:t>
            </a:r>
            <a:endParaRPr lang="en-US" sz="1050" dirty="0"/>
          </a:p>
        </p:txBody>
      </p:sp>
      <p:sp>
        <p:nvSpPr>
          <p:cNvPr id="16" name="Shape 12"/>
          <p:cNvSpPr/>
          <p:nvPr/>
        </p:nvSpPr>
        <p:spPr>
          <a:xfrm>
            <a:off x="292608" y="2919679"/>
            <a:ext cx="310896" cy="310896"/>
          </a:xfrm>
          <a:prstGeom prst="rect">
            <a:avLst/>
          </a:prstGeom>
          <a:solidFill>
            <a:srgbClr val="00C2FF"/>
          </a:solidFill>
          <a:ln/>
        </p:spPr>
        <p:txBody>
          <a:bodyPr/>
          <a:lstStyle/>
          <a:p>
            <a:endParaRPr lang="en-US"/>
          </a:p>
        </p:txBody>
      </p:sp>
      <p:sp>
        <p:nvSpPr>
          <p:cNvPr id="17" name="Text 13"/>
          <p:cNvSpPr txBox="1"/>
          <p:nvPr/>
        </p:nvSpPr>
        <p:spPr>
          <a:xfrm>
            <a:off x="292608" y="29196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8" name="Text 14"/>
          <p:cNvSpPr txBox="1"/>
          <p:nvPr/>
        </p:nvSpPr>
        <p:spPr>
          <a:xfrm>
            <a:off x="768096" y="29013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LOW KEY</a:t>
            </a:r>
            <a:endParaRPr lang="en-US" sz="1250" dirty="0"/>
          </a:p>
        </p:txBody>
      </p:sp>
      <p:sp>
        <p:nvSpPr>
          <p:cNvPr id="19" name="Text 15"/>
          <p:cNvSpPr txBox="1"/>
          <p:nvPr/>
        </p:nvSpPr>
        <p:spPr>
          <a:xfrm>
            <a:off x="768096" y="316656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A little light, a lot of black. Horror, noir, and most music videos.</a:t>
            </a:r>
            <a:endParaRPr lang="en-US" sz="1050" dirty="0"/>
          </a:p>
        </p:txBody>
      </p:sp>
      <p:sp>
        <p:nvSpPr>
          <p:cNvPr id="20" name="Shape 16"/>
          <p:cNvSpPr/>
          <p:nvPr/>
        </p:nvSpPr>
        <p:spPr>
          <a:xfrm>
            <a:off x="292608" y="3719779"/>
            <a:ext cx="310896" cy="310896"/>
          </a:xfrm>
          <a:prstGeom prst="rect">
            <a:avLst/>
          </a:prstGeom>
          <a:solidFill>
            <a:srgbClr val="00C2FF"/>
          </a:solidFill>
          <a:ln/>
        </p:spPr>
        <p:txBody>
          <a:bodyPr/>
          <a:lstStyle/>
          <a:p>
            <a:endParaRPr lang="en-US"/>
          </a:p>
        </p:txBody>
      </p:sp>
      <p:sp>
        <p:nvSpPr>
          <p:cNvPr id="21" name="Text 17"/>
          <p:cNvSpPr txBox="1"/>
          <p:nvPr/>
        </p:nvSpPr>
        <p:spPr>
          <a:xfrm>
            <a:off x="292608" y="37197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22" name="Text 18"/>
          <p:cNvSpPr txBox="1"/>
          <p:nvPr/>
        </p:nvSpPr>
        <p:spPr>
          <a:xfrm>
            <a:off x="768096" y="37014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THE TEST</a:t>
            </a:r>
            <a:endParaRPr lang="en-US" sz="1250" dirty="0"/>
          </a:p>
        </p:txBody>
      </p:sp>
      <p:sp>
        <p:nvSpPr>
          <p:cNvPr id="23" name="Text 19"/>
          <p:cNvSpPr txBox="1"/>
          <p:nvPr/>
        </p:nvSpPr>
        <p:spPr>
          <a:xfrm>
            <a:off x="768096" y="396666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Delete the shadows. Does the picture still say anything? In low key, no. The shadow is the subject.</a:t>
            </a:r>
            <a:endParaRPr lang="en-US" sz="1050" dirty="0"/>
          </a:p>
        </p:txBody>
      </p:sp>
      <p:sp>
        <p:nvSpPr>
          <p:cNvPr id="28" name="Shape 24"/>
          <p:cNvSpPr/>
          <p:nvPr/>
        </p:nvSpPr>
        <p:spPr>
          <a:xfrm>
            <a:off x="0" y="4681728"/>
            <a:ext cx="9144000" cy="22860"/>
          </a:xfrm>
          <a:prstGeom prst="rect">
            <a:avLst/>
          </a:prstGeom>
          <a:solidFill>
            <a:srgbClr val="00C2FF"/>
          </a:solidFill>
          <a:ln/>
        </p:spPr>
        <p:txBody>
          <a:bodyPr/>
          <a:lstStyle/>
          <a:p>
            <a:endParaRPr lang="en-US"/>
          </a:p>
        </p:txBody>
      </p:sp>
      <p:sp>
        <p:nvSpPr>
          <p:cNvPr id="29" name="Text 25"/>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30" name="Picture 29" descr="High-key vs. low-key portraits—what’s the difference?">
            <a:extLst>
              <a:ext uri="{FF2B5EF4-FFF2-40B4-BE49-F238E27FC236}">
                <a16:creationId xmlns:a16="http://schemas.microsoft.com/office/drawing/2014/main" id="{4F982D87-0362-32B6-5362-2E7ED15D056F}"/>
              </a:ext>
            </a:extLst>
          </p:cNvPr>
          <p:cNvPicPr>
            <a:picLocks noChangeAspect="1"/>
          </p:cNvPicPr>
          <p:nvPr/>
        </p:nvPicPr>
        <p:blipFill>
          <a:blip r:embed="rId5"/>
          <a:stretch>
            <a:fillRect/>
          </a:stretch>
        </p:blipFill>
        <p:spPr>
          <a:xfrm>
            <a:off x="5238750" y="676656"/>
            <a:ext cx="3448050" cy="3448050"/>
          </a:xfrm>
          <a:prstGeom prst="rect">
            <a:avLst/>
          </a:prstGeom>
        </p:spPr>
      </p:pic>
      <p:sp>
        <p:nvSpPr>
          <p:cNvPr id="7026" name="CaptionBar7026"/>
          <p:cNvSpPr/>
          <p:nvPr/>
        </p:nvSpPr>
        <p:spPr>
          <a:xfrm>
            <a:off x="5238750" y="4124706"/>
            <a:ext cx="3448050" cy="429768"/>
          </a:xfrm>
          <a:prstGeom prst="rect">
            <a:avLst/>
          </a:prstGeom>
          <a:solidFill>
            <a:srgbClr val="000000">
              <a:alpha val="78000"/>
            </a:srgbClr>
          </a:solidFill>
          <a:ln>
            <a:noFill/>
          </a:ln>
        </p:spPr>
        <p:txBody>
          <a:bodyPr/>
          <a:lstStyle/>
          <a:p>
            <a:endParaRPr/>
          </a:p>
        </p:txBody>
      </p:sp>
      <p:sp>
        <p:nvSpPr>
          <p:cNvPr id="7027" name="Caption7027"/>
          <p:cNvSpPr txBox="1"/>
          <p:nvPr/>
        </p:nvSpPr>
        <p:spPr>
          <a:xfrm>
            <a:off x="5339334" y="4096768"/>
            <a:ext cx="3246882" cy="429768"/>
          </a:xfrm>
          <a:prstGeom prst="rect">
            <a:avLst/>
          </a:prstGeom>
          <a:noFill/>
        </p:spPr>
        <p:txBody>
          <a:bodyPr wrap="square" lIns="0" tIns="0" rIns="0" bIns="0" anchor="ctr">
            <a:noAutofit/>
          </a:bodyPr>
          <a:lstStyle/>
          <a:p>
            <a:pPr algn="ctr">
              <a:lnSpc>
                <a:spcPct val="115000"/>
              </a:lnSpc>
            </a:pPr>
            <a:r>
              <a:rPr lang="en-US" sz="900" b="1" dirty="0">
                <a:solidFill>
                  <a:srgbClr val="FFFFFF"/>
                </a:solidFill>
                <a:latin typeface="Arial"/>
                <a:cs typeface="Arial"/>
              </a:rPr>
              <a:t>Same face, same person. High key on the left, low key on the right.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8B5CF6"/>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C4B5FD"/>
                </a:solidFill>
                <a:latin typeface="Oswald" pitchFamily="34" charset="0"/>
                <a:ea typeface="Oswald" pitchFamily="34" charset="-122"/>
                <a:cs typeface="Oswald" pitchFamily="34" charset="-120"/>
              </a:rPr>
              <a:t>CHIAROSCURO</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C4B5FD"/>
                </a:solidFill>
                <a:latin typeface="Oswald" pitchFamily="34" charset="0"/>
                <a:ea typeface="Oswald" pitchFamily="34" charset="-122"/>
                <a:cs typeface="Oswald" pitchFamily="34" charset="-120"/>
              </a:rPr>
              <a:t>IDEA 02 / 09</a:t>
            </a:r>
            <a:endParaRPr lang="en-US" sz="900" dirty="0"/>
          </a:p>
        </p:txBody>
      </p:sp>
      <p:sp>
        <p:nvSpPr>
          <p:cNvPr id="8" name="Shape 4"/>
          <p:cNvSpPr/>
          <p:nvPr/>
        </p:nvSpPr>
        <p:spPr>
          <a:xfrm>
            <a:off x="859536" y="699516"/>
            <a:ext cx="457017" cy="22860"/>
          </a:xfrm>
          <a:prstGeom prst="rect">
            <a:avLst/>
          </a:prstGeom>
          <a:solidFill>
            <a:srgbClr val="8B5CF6"/>
          </a:solidFill>
          <a:ln/>
        </p:spPr>
        <p:txBody>
          <a:bodyPr/>
          <a:lstStyle/>
          <a:p>
            <a:endParaRPr lang="en-US"/>
          </a:p>
        </p:txBody>
      </p:sp>
      <p:sp>
        <p:nvSpPr>
          <p:cNvPr id="9" name="Text 5"/>
          <p:cNvSpPr txBox="1"/>
          <p:nvPr/>
        </p:nvSpPr>
        <p:spPr>
          <a:xfrm>
            <a:off x="292608" y="996696"/>
            <a:ext cx="4608576" cy="237744"/>
          </a:xfrm>
          <a:prstGeom prst="rect">
            <a:avLst/>
          </a:prstGeom>
          <a:noFill/>
          <a:ln/>
        </p:spPr>
        <p:txBody>
          <a:bodyPr wrap="square" lIns="0" tIns="0" rIns="0" bIns="0" rtlCol="0" anchor="t"/>
          <a:lstStyle/>
          <a:p>
            <a:pPr marL="0" indent="0">
              <a:lnSpc>
                <a:spcPct val="125000"/>
              </a:lnSpc>
              <a:buNone/>
            </a:pPr>
            <a:r>
              <a:rPr lang="en-US" sz="1100" b="1" dirty="0">
                <a:solidFill>
                  <a:srgbClr val="C4B5FD"/>
                </a:solidFill>
                <a:latin typeface="Arial" pitchFamily="34" charset="0"/>
                <a:ea typeface="Arial" pitchFamily="34" charset="-122"/>
                <a:cs typeface="Arial" pitchFamily="34" charset="-120"/>
              </a:rPr>
              <a:t>Say it: kee-ARE-uh-SKYOOR-oh. Italian for light dark.</a:t>
            </a:r>
            <a:endParaRPr lang="en-US" sz="1100" dirty="0"/>
          </a:p>
        </p:txBody>
      </p:sp>
      <p:sp>
        <p:nvSpPr>
          <p:cNvPr id="10" name="Shape 6"/>
          <p:cNvSpPr/>
          <p:nvPr/>
        </p:nvSpPr>
        <p:spPr>
          <a:xfrm>
            <a:off x="292608" y="1307592"/>
            <a:ext cx="4608576" cy="1061618"/>
          </a:xfrm>
          <a:prstGeom prst="rect">
            <a:avLst/>
          </a:prstGeom>
          <a:solidFill>
            <a:srgbClr val="8B5CF6">
              <a:alpha val="6000"/>
            </a:srgbClr>
          </a:solidFill>
          <a:ln w="12700">
            <a:solidFill>
              <a:srgbClr val="352559"/>
            </a:solidFill>
            <a:prstDash val="solid"/>
          </a:ln>
        </p:spPr>
        <p:txBody>
          <a:bodyPr/>
          <a:lstStyle/>
          <a:p>
            <a:endParaRPr lang="en-US"/>
          </a:p>
        </p:txBody>
      </p:sp>
      <p:sp>
        <p:nvSpPr>
          <p:cNvPr id="11" name="Shape 7"/>
          <p:cNvSpPr/>
          <p:nvPr/>
        </p:nvSpPr>
        <p:spPr>
          <a:xfrm>
            <a:off x="292608" y="1307592"/>
            <a:ext cx="45720" cy="1061618"/>
          </a:xfrm>
          <a:prstGeom prst="rect">
            <a:avLst/>
          </a:prstGeom>
          <a:solidFill>
            <a:srgbClr val="8B5CF6"/>
          </a:solidFill>
          <a:ln/>
        </p:spPr>
        <p:txBody>
          <a:bodyPr/>
          <a:lstStyle/>
          <a:p>
            <a:endParaRPr lang="en-US"/>
          </a:p>
        </p:txBody>
      </p:sp>
      <p:sp>
        <p:nvSpPr>
          <p:cNvPr id="12" name="Text 8"/>
          <p:cNvSpPr txBox="1"/>
          <p:nvPr/>
        </p:nvSpPr>
        <p:spPr>
          <a:xfrm>
            <a:off x="521208" y="1460297"/>
            <a:ext cx="4212641" cy="793699"/>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Painters invented this four hundred years before cameras existed. One strong light, deep black around it, and the subject half eaten by the dark. Caravaggio and Rembrandt built careers on it.</a:t>
            </a:r>
            <a:endParaRPr lang="en-US" sz="1050" dirty="0"/>
          </a:p>
        </p:txBody>
      </p:sp>
      <p:sp>
        <p:nvSpPr>
          <p:cNvPr id="13" name="Shape 9"/>
          <p:cNvSpPr/>
          <p:nvPr/>
        </p:nvSpPr>
        <p:spPr>
          <a:xfrm>
            <a:off x="292608" y="2515514"/>
            <a:ext cx="4608576" cy="881482"/>
          </a:xfrm>
          <a:prstGeom prst="rect">
            <a:avLst/>
          </a:prstGeom>
          <a:solidFill>
            <a:srgbClr val="8B5CF6">
              <a:alpha val="6000"/>
            </a:srgbClr>
          </a:solidFill>
          <a:ln w="12700">
            <a:solidFill>
              <a:srgbClr val="352559"/>
            </a:solidFill>
            <a:prstDash val="solid"/>
          </a:ln>
        </p:spPr>
        <p:txBody>
          <a:bodyPr/>
          <a:lstStyle/>
          <a:p>
            <a:endParaRPr lang="en-US"/>
          </a:p>
        </p:txBody>
      </p:sp>
      <p:sp>
        <p:nvSpPr>
          <p:cNvPr id="14" name="Shape 10"/>
          <p:cNvSpPr/>
          <p:nvPr/>
        </p:nvSpPr>
        <p:spPr>
          <a:xfrm>
            <a:off x="292608" y="2515514"/>
            <a:ext cx="45720" cy="881482"/>
          </a:xfrm>
          <a:prstGeom prst="rect">
            <a:avLst/>
          </a:prstGeom>
          <a:solidFill>
            <a:srgbClr val="8B5CF6"/>
          </a:solidFill>
          <a:ln/>
        </p:spPr>
        <p:txBody>
          <a:bodyPr/>
          <a:lstStyle/>
          <a:p>
            <a:endParaRPr lang="en-US"/>
          </a:p>
        </p:txBody>
      </p:sp>
      <p:sp>
        <p:nvSpPr>
          <p:cNvPr id="15" name="Text 11"/>
          <p:cNvSpPr txBox="1"/>
          <p:nvPr/>
        </p:nvSpPr>
        <p:spPr>
          <a:xfrm>
            <a:off x="521208" y="2668219"/>
            <a:ext cx="4212641" cy="613562"/>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Film crews did not invent the horror look. They copied it off museum walls, and so can you. Look at a Caravaggio and you are looking at a lighting diagram.</a:t>
            </a:r>
            <a:endParaRPr lang="en-US" sz="1050" dirty="0"/>
          </a:p>
        </p:txBody>
      </p:sp>
      <p:sp>
        <p:nvSpPr>
          <p:cNvPr id="20" name="Shape 16"/>
          <p:cNvSpPr/>
          <p:nvPr/>
        </p:nvSpPr>
        <p:spPr>
          <a:xfrm>
            <a:off x="0" y="4681728"/>
            <a:ext cx="9144000" cy="22860"/>
          </a:xfrm>
          <a:prstGeom prst="rect">
            <a:avLst/>
          </a:prstGeom>
          <a:solidFill>
            <a:srgbClr val="8B5CF6"/>
          </a:solidFill>
          <a:ln/>
        </p:spPr>
        <p:txBody>
          <a:bodyPr/>
          <a:lstStyle/>
          <a:p>
            <a:endParaRPr lang="en-US"/>
          </a:p>
        </p:txBody>
      </p:sp>
      <p:sp>
        <p:nvSpPr>
          <p:cNvPr id="21" name="Text 17"/>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24" name="Picture 23" descr="Betrayed with a kiss: How Caravaggio’s The Taking of Christ made its way to Ireland – The Irish Times">
            <a:extLst>
              <a:ext uri="{FF2B5EF4-FFF2-40B4-BE49-F238E27FC236}">
                <a16:creationId xmlns:a16="http://schemas.microsoft.com/office/drawing/2014/main" id="{853AB09F-06C2-7A74-6647-6C34C32CF1EF}"/>
              </a:ext>
            </a:extLst>
          </p:cNvPr>
          <p:cNvPicPr>
            <a:picLocks noChangeAspect="1"/>
          </p:cNvPicPr>
          <p:nvPr/>
        </p:nvPicPr>
        <p:blipFill>
          <a:blip r:embed="rId5"/>
          <a:stretch>
            <a:fillRect/>
          </a:stretch>
        </p:blipFill>
        <p:spPr>
          <a:xfrm>
            <a:off x="5202069" y="1032687"/>
            <a:ext cx="3726032" cy="2965653"/>
          </a:xfrm>
          <a:prstGeom prst="rect">
            <a:avLst/>
          </a:prstGeom>
        </p:spPr>
      </p:pic>
      <p:sp>
        <p:nvSpPr>
          <p:cNvPr id="7028" name="CaptionBar7028"/>
          <p:cNvSpPr/>
          <p:nvPr/>
        </p:nvSpPr>
        <p:spPr>
          <a:xfrm>
            <a:off x="5202069" y="3997960"/>
            <a:ext cx="3726032" cy="390698"/>
          </a:xfrm>
          <a:prstGeom prst="rect">
            <a:avLst/>
          </a:prstGeom>
          <a:solidFill>
            <a:srgbClr val="000000">
              <a:alpha val="78000"/>
            </a:srgbClr>
          </a:solidFill>
          <a:ln>
            <a:noFill/>
          </a:ln>
        </p:spPr>
        <p:txBody>
          <a:bodyPr/>
          <a:lstStyle/>
          <a:p>
            <a:endParaRPr/>
          </a:p>
        </p:txBody>
      </p:sp>
      <p:sp>
        <p:nvSpPr>
          <p:cNvPr id="7029" name="Caption7029"/>
          <p:cNvSpPr txBox="1"/>
          <p:nvPr/>
        </p:nvSpPr>
        <p:spPr>
          <a:xfrm>
            <a:off x="5302653" y="4102177"/>
            <a:ext cx="3524864" cy="182264"/>
          </a:xfrm>
          <a:prstGeom prst="rect">
            <a:avLst/>
          </a:prstGeom>
          <a:noFill/>
        </p:spPr>
        <p:txBody>
          <a:bodyPr wrap="square" lIns="0" tIns="0" rIns="0" bIns="0" anchor="ctr">
            <a:noAutofit/>
          </a:bodyPr>
          <a:lstStyle/>
          <a:p>
            <a:pPr algn="ctr">
              <a:lnSpc>
                <a:spcPct val="115000"/>
              </a:lnSpc>
            </a:pPr>
            <a:r>
              <a:rPr lang="en-US" sz="900" b="1" dirty="0">
                <a:solidFill>
                  <a:srgbClr val="FFFFFF"/>
                </a:solidFill>
                <a:latin typeface="Arial"/>
                <a:cs typeface="Arial"/>
              </a:rPr>
              <a:t>Caravaggio. One hard light, and black doing the rest of the work.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00C2FF"/>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7DD3FC"/>
                </a:solidFill>
                <a:latin typeface="Oswald" pitchFamily="34" charset="0"/>
                <a:ea typeface="Oswald" pitchFamily="34" charset="-122"/>
                <a:cs typeface="Oswald" pitchFamily="34" charset="-120"/>
              </a:rPr>
              <a:t>HARD LIGHT AND SOFT LIGHT</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7DD3FC"/>
                </a:solidFill>
                <a:latin typeface="Oswald" pitchFamily="34" charset="0"/>
                <a:ea typeface="Oswald" pitchFamily="34" charset="-122"/>
                <a:cs typeface="Oswald" pitchFamily="34" charset="-120"/>
              </a:rPr>
              <a:t>IDEA 03 / 10</a:t>
            </a:r>
            <a:endParaRPr lang="en-US" sz="900" dirty="0"/>
          </a:p>
        </p:txBody>
      </p:sp>
      <p:sp>
        <p:nvSpPr>
          <p:cNvPr id="7" name="Shape 4"/>
          <p:cNvSpPr/>
          <p:nvPr/>
        </p:nvSpPr>
        <p:spPr>
          <a:xfrm>
            <a:off x="859536" y="699516"/>
            <a:ext cx="457017" cy="22860"/>
          </a:xfrm>
          <a:prstGeom prst="rect">
            <a:avLst/>
          </a:prstGeom>
          <a:solidFill>
            <a:srgbClr val="00C2FF"/>
          </a:solidFill>
          <a:ln/>
        </p:spPr>
        <p:txBody>
          <a:bodyPr/>
          <a:lstStyle/>
          <a:p>
            <a:endParaRPr lang="en-US"/>
          </a:p>
        </p:txBody>
      </p:sp>
      <p:sp>
        <p:nvSpPr>
          <p:cNvPr id="8" name="Shape 5"/>
          <p:cNvSpPr/>
          <p:nvPr/>
        </p:nvSpPr>
        <p:spPr>
          <a:xfrm>
            <a:off x="292608" y="978408"/>
            <a:ext cx="8558784" cy="752551"/>
          </a:xfrm>
          <a:prstGeom prst="rect">
            <a:avLst/>
          </a:prstGeom>
          <a:solidFill>
            <a:srgbClr val="00C2FF">
              <a:alpha val="6000"/>
            </a:srgbClr>
          </a:solidFill>
          <a:ln w="12700">
            <a:solidFill>
              <a:srgbClr val="05475C"/>
            </a:solidFill>
            <a:prstDash val="solid"/>
          </a:ln>
        </p:spPr>
        <p:txBody>
          <a:bodyPr/>
          <a:lstStyle/>
          <a:p>
            <a:endParaRPr lang="en-US"/>
          </a:p>
        </p:txBody>
      </p:sp>
      <p:sp>
        <p:nvSpPr>
          <p:cNvPr id="9" name="Shape 6"/>
          <p:cNvSpPr/>
          <p:nvPr/>
        </p:nvSpPr>
        <p:spPr>
          <a:xfrm>
            <a:off x="292608" y="978408"/>
            <a:ext cx="45720" cy="752551"/>
          </a:xfrm>
          <a:prstGeom prst="rect">
            <a:avLst/>
          </a:prstGeom>
          <a:solidFill>
            <a:srgbClr val="00C2FF"/>
          </a:solidFill>
          <a:ln/>
        </p:spPr>
        <p:txBody>
          <a:bodyPr/>
          <a:lstStyle/>
          <a:p>
            <a:endParaRPr lang="en-US"/>
          </a:p>
        </p:txBody>
      </p:sp>
      <p:sp>
        <p:nvSpPr>
          <p:cNvPr id="10" name="Text 7"/>
          <p:cNvSpPr txBox="1"/>
          <p:nvPr/>
        </p:nvSpPr>
        <p:spPr>
          <a:xfrm>
            <a:off x="521208" y="1131113"/>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7DD3FC"/>
                </a:solidFill>
                <a:latin typeface="Arial" pitchFamily="34" charset="0"/>
                <a:ea typeface="Arial" pitchFamily="34" charset="-122"/>
                <a:cs typeface="Arial" pitchFamily="34" charset="-120"/>
              </a:rPr>
              <a:t>This is decided by one thing only: how big the light looks from where your subject is standing. Not the wattage. Not the brand. Size, as seen from the face.</a:t>
            </a:r>
            <a:endParaRPr lang="en-US" sz="1200" dirty="0"/>
          </a:p>
        </p:txBody>
      </p:sp>
      <p:sp>
        <p:nvSpPr>
          <p:cNvPr id="11" name="Shape 8"/>
          <p:cNvSpPr/>
          <p:nvPr/>
        </p:nvSpPr>
        <p:spPr>
          <a:xfrm>
            <a:off x="292608" y="1895551"/>
            <a:ext cx="4160520" cy="1517904"/>
          </a:xfrm>
          <a:prstGeom prst="rect">
            <a:avLst/>
          </a:prstGeom>
          <a:solidFill>
            <a:srgbClr val="00C2FF"/>
          </a:solidFill>
          <a:ln/>
        </p:spPr>
        <p:txBody>
          <a:bodyPr/>
          <a:lstStyle/>
          <a:p>
            <a:endParaRPr lang="en-US"/>
          </a:p>
        </p:txBody>
      </p:sp>
      <p:sp>
        <p:nvSpPr>
          <p:cNvPr id="12" name="Shape 9"/>
          <p:cNvSpPr/>
          <p:nvPr/>
        </p:nvSpPr>
        <p:spPr>
          <a:xfrm>
            <a:off x="307878" y="1910822"/>
            <a:ext cx="4129979" cy="213238"/>
          </a:xfrm>
          <a:prstGeom prst="rect">
            <a:avLst/>
          </a:prstGeom>
          <a:solidFill>
            <a:srgbClr val="0A2A3A"/>
          </a:solidFill>
          <a:ln/>
        </p:spPr>
        <p:txBody>
          <a:bodyPr/>
          <a:lstStyle/>
          <a:p>
            <a:endParaRPr lang="en-US"/>
          </a:p>
        </p:txBody>
      </p:sp>
      <p:sp>
        <p:nvSpPr>
          <p:cNvPr id="13" name="Shape 10"/>
          <p:cNvSpPr/>
          <p:nvPr/>
        </p:nvSpPr>
        <p:spPr>
          <a:xfrm>
            <a:off x="307878" y="2124060"/>
            <a:ext cx="4129979" cy="1274125"/>
          </a:xfrm>
          <a:prstGeom prst="rect">
            <a:avLst/>
          </a:prstGeom>
          <a:solidFill>
            <a:srgbClr val="04161D"/>
          </a:solidFill>
          <a:ln/>
        </p:spPr>
        <p:txBody>
          <a:bodyPr/>
          <a:lstStyle/>
          <a:p>
            <a:endParaRPr lang="en-US"/>
          </a:p>
        </p:txBody>
      </p:sp>
      <p:sp>
        <p:nvSpPr>
          <p:cNvPr id="14" name="Text 11"/>
          <p:cNvSpPr txBox="1"/>
          <p:nvPr/>
        </p:nvSpPr>
        <p:spPr>
          <a:xfrm>
            <a:off x="475488" y="2002262"/>
            <a:ext cx="3794760" cy="274320"/>
          </a:xfrm>
          <a:prstGeom prst="rect">
            <a:avLst/>
          </a:prstGeom>
          <a:noFill/>
          <a:ln/>
        </p:spPr>
        <p:txBody>
          <a:bodyPr wrap="square" lIns="0" tIns="0" rIns="0" bIns="0" rtlCol="0" anchor="ctr"/>
          <a:lstStyle/>
          <a:p>
            <a:pPr marL="0" indent="0">
              <a:lnSpc>
                <a:spcPct val="105000"/>
              </a:lnSpc>
              <a:buNone/>
            </a:pPr>
            <a:r>
              <a:rPr lang="en-US" sz="1400" b="1" dirty="0">
                <a:solidFill>
                  <a:srgbClr val="7DD3FC"/>
                </a:solidFill>
                <a:latin typeface="Arial" pitchFamily="34" charset="0"/>
                <a:ea typeface="Arial" pitchFamily="34" charset="-122"/>
                <a:cs typeface="Arial" pitchFamily="34" charset="-120"/>
              </a:rPr>
              <a:t>Hard light</a:t>
            </a:r>
            <a:endParaRPr lang="en-US" sz="1400" dirty="0"/>
          </a:p>
        </p:txBody>
      </p:sp>
      <p:sp>
        <p:nvSpPr>
          <p:cNvPr id="15" name="Shape 12"/>
          <p:cNvSpPr/>
          <p:nvPr/>
        </p:nvSpPr>
        <p:spPr>
          <a:xfrm>
            <a:off x="475488" y="2313432"/>
            <a:ext cx="243779" cy="15270"/>
          </a:xfrm>
          <a:prstGeom prst="rect">
            <a:avLst/>
          </a:prstGeom>
          <a:solidFill>
            <a:srgbClr val="00C2FF"/>
          </a:solidFill>
          <a:ln/>
        </p:spPr>
        <p:txBody>
          <a:bodyPr/>
          <a:lstStyle/>
          <a:p>
            <a:endParaRPr lang="en-US"/>
          </a:p>
        </p:txBody>
      </p:sp>
      <p:sp>
        <p:nvSpPr>
          <p:cNvPr id="16" name="Text 13"/>
          <p:cNvSpPr txBox="1"/>
          <p:nvPr/>
        </p:nvSpPr>
        <p:spPr>
          <a:xfrm>
            <a:off x="475488" y="2459736"/>
            <a:ext cx="3794760" cy="841248"/>
          </a:xfrm>
          <a:prstGeom prst="rect">
            <a:avLst/>
          </a:prstGeom>
          <a:noFill/>
          <a:ln/>
        </p:spPr>
        <p:txBody>
          <a:bodyPr wrap="square" lIns="0" tIns="0" rIns="0" bIns="0" rtlCol="0" anchor="t"/>
          <a:lstStyle/>
          <a:p>
            <a:pPr marL="0" indent="0">
              <a:lnSpc>
                <a:spcPct val="132000"/>
              </a:lnSpc>
              <a:buNone/>
            </a:pPr>
            <a:r>
              <a:rPr lang="en-US" sz="1050" dirty="0">
                <a:solidFill>
                  <a:srgbClr val="FFFFFF"/>
                </a:solidFill>
                <a:latin typeface="Arial" pitchFamily="34" charset="0"/>
                <a:ea typeface="Arial" pitchFamily="34" charset="-122"/>
                <a:cs typeface="Arial" pitchFamily="34" charset="-120"/>
              </a:rPr>
              <a:t>Small source, or a source far away. Shadow edges are sharp enough to cut on. Every wrinkle and texture shows. This is your horror light. Bare bulb or a reflector on the Amaran, pulled back from the subject.</a:t>
            </a:r>
            <a:endParaRPr lang="en-US" sz="1050" dirty="0"/>
          </a:p>
        </p:txBody>
      </p:sp>
      <p:sp>
        <p:nvSpPr>
          <p:cNvPr id="17" name="Shape 14"/>
          <p:cNvSpPr/>
          <p:nvPr/>
        </p:nvSpPr>
        <p:spPr>
          <a:xfrm>
            <a:off x="4690872" y="1895551"/>
            <a:ext cx="4160520" cy="1517904"/>
          </a:xfrm>
          <a:prstGeom prst="rect">
            <a:avLst/>
          </a:prstGeom>
          <a:solidFill>
            <a:srgbClr val="00C2FF"/>
          </a:solidFill>
          <a:ln/>
        </p:spPr>
        <p:txBody>
          <a:bodyPr/>
          <a:lstStyle/>
          <a:p>
            <a:endParaRPr lang="en-US"/>
          </a:p>
        </p:txBody>
      </p:sp>
      <p:sp>
        <p:nvSpPr>
          <p:cNvPr id="18" name="Shape 15"/>
          <p:cNvSpPr/>
          <p:nvPr/>
        </p:nvSpPr>
        <p:spPr>
          <a:xfrm>
            <a:off x="4706142" y="1910822"/>
            <a:ext cx="4129979" cy="213238"/>
          </a:xfrm>
          <a:prstGeom prst="rect">
            <a:avLst/>
          </a:prstGeom>
          <a:solidFill>
            <a:srgbClr val="0A2A3A"/>
          </a:solidFill>
          <a:ln/>
        </p:spPr>
        <p:txBody>
          <a:bodyPr/>
          <a:lstStyle/>
          <a:p>
            <a:endParaRPr lang="en-US"/>
          </a:p>
        </p:txBody>
      </p:sp>
      <p:sp>
        <p:nvSpPr>
          <p:cNvPr id="19" name="Shape 16"/>
          <p:cNvSpPr/>
          <p:nvPr/>
        </p:nvSpPr>
        <p:spPr>
          <a:xfrm>
            <a:off x="4706142" y="2124060"/>
            <a:ext cx="4129979" cy="1274125"/>
          </a:xfrm>
          <a:prstGeom prst="rect">
            <a:avLst/>
          </a:prstGeom>
          <a:solidFill>
            <a:srgbClr val="04161D"/>
          </a:solidFill>
          <a:ln/>
        </p:spPr>
        <p:txBody>
          <a:bodyPr/>
          <a:lstStyle/>
          <a:p>
            <a:endParaRPr lang="en-US"/>
          </a:p>
        </p:txBody>
      </p:sp>
      <p:sp>
        <p:nvSpPr>
          <p:cNvPr id="20" name="Text 17"/>
          <p:cNvSpPr txBox="1"/>
          <p:nvPr/>
        </p:nvSpPr>
        <p:spPr>
          <a:xfrm>
            <a:off x="4873752" y="2002262"/>
            <a:ext cx="3794760" cy="274320"/>
          </a:xfrm>
          <a:prstGeom prst="rect">
            <a:avLst/>
          </a:prstGeom>
          <a:noFill/>
          <a:ln/>
        </p:spPr>
        <p:txBody>
          <a:bodyPr wrap="square" lIns="0" tIns="0" rIns="0" bIns="0" rtlCol="0" anchor="ctr"/>
          <a:lstStyle/>
          <a:p>
            <a:pPr marL="0" indent="0">
              <a:lnSpc>
                <a:spcPct val="105000"/>
              </a:lnSpc>
              <a:buNone/>
            </a:pPr>
            <a:r>
              <a:rPr lang="en-US" sz="1400" b="1" dirty="0">
                <a:solidFill>
                  <a:srgbClr val="7DD3FC"/>
                </a:solidFill>
                <a:latin typeface="Arial" pitchFamily="34" charset="0"/>
                <a:ea typeface="Arial" pitchFamily="34" charset="-122"/>
                <a:cs typeface="Arial" pitchFamily="34" charset="-120"/>
              </a:rPr>
              <a:t>Soft light</a:t>
            </a:r>
            <a:endParaRPr lang="en-US" sz="1400" dirty="0"/>
          </a:p>
        </p:txBody>
      </p:sp>
      <p:sp>
        <p:nvSpPr>
          <p:cNvPr id="21" name="Shape 18"/>
          <p:cNvSpPr/>
          <p:nvPr/>
        </p:nvSpPr>
        <p:spPr>
          <a:xfrm>
            <a:off x="4873752" y="2313432"/>
            <a:ext cx="243779" cy="15270"/>
          </a:xfrm>
          <a:prstGeom prst="rect">
            <a:avLst/>
          </a:prstGeom>
          <a:solidFill>
            <a:srgbClr val="00C2FF"/>
          </a:solidFill>
          <a:ln/>
        </p:spPr>
        <p:txBody>
          <a:bodyPr/>
          <a:lstStyle/>
          <a:p>
            <a:endParaRPr lang="en-US"/>
          </a:p>
        </p:txBody>
      </p:sp>
      <p:sp>
        <p:nvSpPr>
          <p:cNvPr id="22" name="Text 19"/>
          <p:cNvSpPr txBox="1"/>
          <p:nvPr/>
        </p:nvSpPr>
        <p:spPr>
          <a:xfrm>
            <a:off x="4873752" y="2459736"/>
            <a:ext cx="3794760" cy="841248"/>
          </a:xfrm>
          <a:prstGeom prst="rect">
            <a:avLst/>
          </a:prstGeom>
          <a:noFill/>
          <a:ln/>
        </p:spPr>
        <p:txBody>
          <a:bodyPr wrap="square" lIns="0" tIns="0" rIns="0" bIns="0" rtlCol="0" anchor="t"/>
          <a:lstStyle/>
          <a:p>
            <a:pPr marL="0" indent="0">
              <a:lnSpc>
                <a:spcPct val="132000"/>
              </a:lnSpc>
              <a:buNone/>
            </a:pPr>
            <a:r>
              <a:rPr lang="en-US" sz="1050" dirty="0">
                <a:solidFill>
                  <a:srgbClr val="FFFFFF"/>
                </a:solidFill>
                <a:latin typeface="Arial" pitchFamily="34" charset="0"/>
                <a:ea typeface="Arial" pitchFamily="34" charset="-122"/>
                <a:cs typeface="Arial" pitchFamily="34" charset="-120"/>
              </a:rPr>
              <a:t>Big source, close to the subject. Shadow edges melt into the light. Skin smooths out. Flattering, calm, safe. Softbox on the Amaran, pushed in close.</a:t>
            </a:r>
            <a:endParaRPr lang="en-US" sz="1050" dirty="0"/>
          </a:p>
        </p:txBody>
      </p:sp>
      <p:sp>
        <p:nvSpPr>
          <p:cNvPr id="23" name="Shape 20"/>
          <p:cNvSpPr/>
          <p:nvPr/>
        </p:nvSpPr>
        <p:spPr>
          <a:xfrm>
            <a:off x="292608" y="3604841"/>
            <a:ext cx="8558784" cy="701345"/>
          </a:xfrm>
          <a:prstGeom prst="rect">
            <a:avLst/>
          </a:prstGeom>
          <a:solidFill>
            <a:srgbClr val="FF6B1A">
              <a:alpha val="6000"/>
            </a:srgbClr>
          </a:solidFill>
          <a:ln w="12700">
            <a:solidFill>
              <a:srgbClr val="5C2A0E"/>
            </a:solidFill>
            <a:prstDash val="solid"/>
          </a:ln>
        </p:spPr>
        <p:txBody>
          <a:bodyPr/>
          <a:lstStyle/>
          <a:p>
            <a:endParaRPr lang="en-US"/>
          </a:p>
        </p:txBody>
      </p:sp>
      <p:sp>
        <p:nvSpPr>
          <p:cNvPr id="24" name="Shape 21"/>
          <p:cNvSpPr/>
          <p:nvPr/>
        </p:nvSpPr>
        <p:spPr>
          <a:xfrm>
            <a:off x="292608" y="3604841"/>
            <a:ext cx="45720" cy="701345"/>
          </a:xfrm>
          <a:prstGeom prst="rect">
            <a:avLst/>
          </a:prstGeom>
          <a:solidFill>
            <a:srgbClr val="FF6B1A"/>
          </a:solidFill>
          <a:ln/>
        </p:spPr>
        <p:txBody>
          <a:bodyPr/>
          <a:lstStyle/>
          <a:p>
            <a:endParaRPr lang="en-US"/>
          </a:p>
        </p:txBody>
      </p:sp>
      <p:sp>
        <p:nvSpPr>
          <p:cNvPr id="25" name="Text 22"/>
          <p:cNvSpPr txBox="1"/>
          <p:nvPr/>
        </p:nvSpPr>
        <p:spPr>
          <a:xfrm>
            <a:off x="521208" y="3757546"/>
            <a:ext cx="8162849" cy="433426"/>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Move a light closer and it gets softer and brighter at the same time. Those two things are tied together, and that trips up everybody at first.</a:t>
            </a:r>
            <a:endParaRPr lang="en-US" sz="1050" dirty="0"/>
          </a:p>
        </p:txBody>
      </p:sp>
      <p:sp>
        <p:nvSpPr>
          <p:cNvPr id="26" name="Shape 23"/>
          <p:cNvSpPr/>
          <p:nvPr/>
        </p:nvSpPr>
        <p:spPr>
          <a:xfrm>
            <a:off x="0" y="4681728"/>
            <a:ext cx="9144000" cy="22860"/>
          </a:xfrm>
          <a:prstGeom prst="rect">
            <a:avLst/>
          </a:prstGeom>
          <a:solidFill>
            <a:srgbClr val="00C2FF"/>
          </a:solidFill>
          <a:ln/>
        </p:spPr>
        <p:txBody>
          <a:bodyPr/>
          <a:lstStyle/>
          <a:p>
            <a:endParaRPr lang="en-US"/>
          </a:p>
        </p:txBody>
      </p:sp>
      <p:sp>
        <p:nvSpPr>
          <p:cNvPr id="27" name="Text 24"/>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FF6B1A"/>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FFB27C"/>
                </a:solidFill>
                <a:latin typeface="Oswald" pitchFamily="34" charset="0"/>
                <a:ea typeface="Oswald" pitchFamily="34" charset="-122"/>
                <a:cs typeface="Oswald" pitchFamily="34" charset="-120"/>
              </a:rPr>
              <a:t>WHY YOUR BACKGROUND GOES BLACK</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FFB27C"/>
                </a:solidFill>
                <a:latin typeface="Oswald" pitchFamily="34" charset="0"/>
                <a:ea typeface="Oswald" pitchFamily="34" charset="-122"/>
                <a:cs typeface="Oswald" pitchFamily="34" charset="-120"/>
              </a:rPr>
              <a:t>IDEA 04 / 11</a:t>
            </a:r>
            <a:endParaRPr lang="en-US" sz="900" dirty="0"/>
          </a:p>
        </p:txBody>
      </p:sp>
      <p:sp>
        <p:nvSpPr>
          <p:cNvPr id="8" name="Shape 4"/>
          <p:cNvSpPr/>
          <p:nvPr/>
        </p:nvSpPr>
        <p:spPr>
          <a:xfrm>
            <a:off x="859536" y="699516"/>
            <a:ext cx="457017" cy="22860"/>
          </a:xfrm>
          <a:prstGeom prst="rect">
            <a:avLst/>
          </a:prstGeom>
          <a:solidFill>
            <a:srgbClr val="FF6B1A"/>
          </a:solidFill>
          <a:ln/>
        </p:spPr>
        <p:txBody>
          <a:bodyPr/>
          <a:lstStyle/>
          <a:p>
            <a:endParaRPr lang="en-US"/>
          </a:p>
        </p:txBody>
      </p:sp>
      <p:sp>
        <p:nvSpPr>
          <p:cNvPr id="9" name="Shape 5"/>
          <p:cNvSpPr/>
          <p:nvPr/>
        </p:nvSpPr>
        <p:spPr>
          <a:xfrm>
            <a:off x="292608" y="996696"/>
            <a:ext cx="3766862" cy="958291"/>
          </a:xfrm>
          <a:prstGeom prst="rect">
            <a:avLst/>
          </a:prstGeom>
          <a:solidFill>
            <a:srgbClr val="FF6B1A">
              <a:alpha val="6000"/>
            </a:srgbClr>
          </a:solidFill>
          <a:ln w="12700">
            <a:solidFill>
              <a:srgbClr val="5C2A0E"/>
            </a:solidFill>
            <a:prstDash val="solid"/>
          </a:ln>
        </p:spPr>
        <p:txBody>
          <a:bodyPr/>
          <a:lstStyle/>
          <a:p>
            <a:endParaRPr lang="en-US"/>
          </a:p>
        </p:txBody>
      </p:sp>
      <p:sp>
        <p:nvSpPr>
          <p:cNvPr id="10" name="Shape 6"/>
          <p:cNvSpPr/>
          <p:nvPr/>
        </p:nvSpPr>
        <p:spPr>
          <a:xfrm>
            <a:off x="292608" y="996696"/>
            <a:ext cx="45720" cy="958291"/>
          </a:xfrm>
          <a:prstGeom prst="rect">
            <a:avLst/>
          </a:prstGeom>
          <a:solidFill>
            <a:srgbClr val="FF6B1A"/>
          </a:solidFill>
          <a:ln/>
        </p:spPr>
        <p:txBody>
          <a:bodyPr/>
          <a:lstStyle/>
          <a:p>
            <a:endParaRPr lang="en-US"/>
          </a:p>
        </p:txBody>
      </p:sp>
      <p:sp>
        <p:nvSpPr>
          <p:cNvPr id="11" name="Text 7"/>
          <p:cNvSpPr txBox="1"/>
          <p:nvPr/>
        </p:nvSpPr>
        <p:spPr>
          <a:xfrm>
            <a:off x="521208" y="1149401"/>
            <a:ext cx="3366273" cy="690372"/>
          </a:xfrm>
          <a:prstGeom prst="rect">
            <a:avLst/>
          </a:prstGeom>
          <a:noFill/>
          <a:ln/>
        </p:spPr>
        <p:txBody>
          <a:bodyPr wrap="square" lIns="0" tIns="0" rIns="0" bIns="0" rtlCol="0" anchor="t"/>
          <a:lstStyle/>
          <a:p>
            <a:pPr marL="0" indent="0">
              <a:lnSpc>
                <a:spcPct val="135000"/>
              </a:lnSpc>
              <a:buNone/>
            </a:pPr>
            <a:r>
              <a:rPr lang="en-US" sz="1200" dirty="0">
                <a:solidFill>
                  <a:srgbClr val="FFB27C"/>
                </a:solidFill>
                <a:latin typeface="Arial" pitchFamily="34" charset="0"/>
                <a:ea typeface="Arial" pitchFamily="34" charset="-122"/>
                <a:cs typeface="Arial" pitchFamily="34" charset="-120"/>
              </a:rPr>
              <a:t>Light does not fade evenly. Move twice as far away and you get a quarter, not a half. That steep drop is called falloff.</a:t>
            </a:r>
            <a:endParaRPr lang="en-US" sz="1200" dirty="0"/>
          </a:p>
        </p:txBody>
      </p:sp>
      <p:sp>
        <p:nvSpPr>
          <p:cNvPr id="12" name="Shape 8"/>
          <p:cNvSpPr/>
          <p:nvPr/>
        </p:nvSpPr>
        <p:spPr>
          <a:xfrm>
            <a:off x="292608" y="2119579"/>
            <a:ext cx="310896" cy="310896"/>
          </a:xfrm>
          <a:prstGeom prst="rect">
            <a:avLst/>
          </a:prstGeom>
          <a:solidFill>
            <a:srgbClr val="FF6B1A"/>
          </a:solidFill>
          <a:ln/>
        </p:spPr>
        <p:txBody>
          <a:bodyPr/>
          <a:lstStyle/>
          <a:p>
            <a:endParaRPr lang="en-US"/>
          </a:p>
        </p:txBody>
      </p:sp>
      <p:sp>
        <p:nvSpPr>
          <p:cNvPr id="13" name="Text 9"/>
          <p:cNvSpPr txBox="1"/>
          <p:nvPr/>
        </p:nvSpPr>
        <p:spPr>
          <a:xfrm>
            <a:off x="292608" y="21195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4" name="Text 10"/>
          <p:cNvSpPr txBox="1"/>
          <p:nvPr/>
        </p:nvSpPr>
        <p:spPr>
          <a:xfrm>
            <a:off x="768096" y="21012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FFB27C"/>
                </a:solidFill>
                <a:latin typeface="Oswald" pitchFamily="34" charset="0"/>
                <a:ea typeface="Oswald" pitchFamily="34" charset="-122"/>
                <a:cs typeface="Oswald" pitchFamily="34" charset="-120"/>
              </a:rPr>
              <a:t>LIGHT CLOSE TO THE FACE</a:t>
            </a:r>
            <a:endParaRPr lang="en-US" sz="1250" dirty="0"/>
          </a:p>
        </p:txBody>
      </p:sp>
      <p:sp>
        <p:nvSpPr>
          <p:cNvPr id="15" name="Text 11"/>
          <p:cNvSpPr txBox="1"/>
          <p:nvPr/>
        </p:nvSpPr>
        <p:spPr>
          <a:xfrm>
            <a:off x="768095" y="2366467"/>
            <a:ext cx="3343793"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The face is bright and the backdrop two feet behind goes almost black on its own. Free darkness.</a:t>
            </a:r>
            <a:endParaRPr lang="en-US" sz="1050" dirty="0"/>
          </a:p>
        </p:txBody>
      </p:sp>
      <p:sp>
        <p:nvSpPr>
          <p:cNvPr id="16" name="Shape 12"/>
          <p:cNvSpPr/>
          <p:nvPr/>
        </p:nvSpPr>
        <p:spPr>
          <a:xfrm>
            <a:off x="292608" y="2919679"/>
            <a:ext cx="310896" cy="310896"/>
          </a:xfrm>
          <a:prstGeom prst="rect">
            <a:avLst/>
          </a:prstGeom>
          <a:solidFill>
            <a:srgbClr val="FF6B1A"/>
          </a:solidFill>
          <a:ln/>
        </p:spPr>
        <p:txBody>
          <a:bodyPr/>
          <a:lstStyle/>
          <a:p>
            <a:endParaRPr lang="en-US"/>
          </a:p>
        </p:txBody>
      </p:sp>
      <p:sp>
        <p:nvSpPr>
          <p:cNvPr id="17" name="Text 13"/>
          <p:cNvSpPr txBox="1"/>
          <p:nvPr/>
        </p:nvSpPr>
        <p:spPr>
          <a:xfrm>
            <a:off x="292608" y="29196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8" name="Text 14"/>
          <p:cNvSpPr txBox="1"/>
          <p:nvPr/>
        </p:nvSpPr>
        <p:spPr>
          <a:xfrm>
            <a:off x="768096" y="29013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FFB27C"/>
                </a:solidFill>
                <a:latin typeface="Oswald" pitchFamily="34" charset="0"/>
                <a:ea typeface="Oswald" pitchFamily="34" charset="-122"/>
                <a:cs typeface="Oswald" pitchFamily="34" charset="-120"/>
              </a:rPr>
              <a:t>LIGHT FAR FROM THE FACE</a:t>
            </a:r>
            <a:endParaRPr lang="en-US" sz="1250" dirty="0"/>
          </a:p>
        </p:txBody>
      </p:sp>
      <p:sp>
        <p:nvSpPr>
          <p:cNvPr id="19" name="Text 15"/>
          <p:cNvSpPr txBox="1"/>
          <p:nvPr/>
        </p:nvSpPr>
        <p:spPr>
          <a:xfrm>
            <a:off x="768095" y="3166567"/>
            <a:ext cx="3343793"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The face and the backdrop get nearly the same amount. The black backdrop turns gray and the mood dies.</a:t>
            </a:r>
            <a:endParaRPr lang="en-US" sz="1050" dirty="0"/>
          </a:p>
        </p:txBody>
      </p:sp>
      <p:sp>
        <p:nvSpPr>
          <p:cNvPr id="20" name="Shape 16"/>
          <p:cNvSpPr/>
          <p:nvPr/>
        </p:nvSpPr>
        <p:spPr>
          <a:xfrm>
            <a:off x="292608" y="3719779"/>
            <a:ext cx="310896" cy="310896"/>
          </a:xfrm>
          <a:prstGeom prst="rect">
            <a:avLst/>
          </a:prstGeom>
          <a:solidFill>
            <a:srgbClr val="FF6B1A"/>
          </a:solidFill>
          <a:ln/>
        </p:spPr>
        <p:txBody>
          <a:bodyPr/>
          <a:lstStyle/>
          <a:p>
            <a:endParaRPr lang="en-US"/>
          </a:p>
        </p:txBody>
      </p:sp>
      <p:sp>
        <p:nvSpPr>
          <p:cNvPr id="21" name="Text 17"/>
          <p:cNvSpPr txBox="1"/>
          <p:nvPr/>
        </p:nvSpPr>
        <p:spPr>
          <a:xfrm>
            <a:off x="292608" y="37197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22" name="Text 18"/>
          <p:cNvSpPr txBox="1"/>
          <p:nvPr/>
        </p:nvSpPr>
        <p:spPr>
          <a:xfrm>
            <a:off x="768096" y="37014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FFB27C"/>
                </a:solidFill>
                <a:latin typeface="Oswald" pitchFamily="34" charset="0"/>
                <a:ea typeface="Oswald" pitchFamily="34" charset="-122"/>
                <a:cs typeface="Oswald" pitchFamily="34" charset="-120"/>
              </a:rPr>
              <a:t>SO THE MOVE IS</a:t>
            </a:r>
            <a:endParaRPr lang="en-US" sz="1250" dirty="0"/>
          </a:p>
        </p:txBody>
      </p:sp>
      <p:sp>
        <p:nvSpPr>
          <p:cNvPr id="23" name="Text 19"/>
          <p:cNvSpPr txBox="1"/>
          <p:nvPr/>
        </p:nvSpPr>
        <p:spPr>
          <a:xfrm>
            <a:off x="768095" y="3966667"/>
            <a:ext cx="3343793"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Pull the subject off the backdrop, then bring the light in close. Do that before touching the camera.</a:t>
            </a:r>
            <a:endParaRPr lang="en-US" sz="1050" dirty="0"/>
          </a:p>
        </p:txBody>
      </p:sp>
      <p:sp>
        <p:nvSpPr>
          <p:cNvPr id="28" name="Shape 24"/>
          <p:cNvSpPr/>
          <p:nvPr/>
        </p:nvSpPr>
        <p:spPr>
          <a:xfrm>
            <a:off x="0" y="4681728"/>
            <a:ext cx="9144000" cy="22860"/>
          </a:xfrm>
          <a:prstGeom prst="rect">
            <a:avLst/>
          </a:prstGeom>
          <a:solidFill>
            <a:srgbClr val="FF6B1A"/>
          </a:solidFill>
          <a:ln/>
        </p:spPr>
        <p:txBody>
          <a:bodyPr/>
          <a:lstStyle/>
          <a:p>
            <a:endParaRPr lang="en-US"/>
          </a:p>
        </p:txBody>
      </p:sp>
      <p:sp>
        <p:nvSpPr>
          <p:cNvPr id="29" name="Text 25"/>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30" name="Picture 29" descr="Generated image 1">
            <a:extLst>
              <a:ext uri="{FF2B5EF4-FFF2-40B4-BE49-F238E27FC236}">
                <a16:creationId xmlns:a16="http://schemas.microsoft.com/office/drawing/2014/main" id="{638881A0-1596-E6DB-64A8-99BE9164F5FF}"/>
              </a:ext>
            </a:extLst>
          </p:cNvPr>
          <p:cNvPicPr>
            <a:picLocks noChangeAspect="1"/>
          </p:cNvPicPr>
          <p:nvPr/>
        </p:nvPicPr>
        <p:blipFill>
          <a:blip r:embed="rId5"/>
          <a:stretch>
            <a:fillRect/>
          </a:stretch>
        </p:blipFill>
        <p:spPr>
          <a:xfrm>
            <a:off x="4152657" y="1272846"/>
            <a:ext cx="4972141" cy="33147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00C2FF"/>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7DD3FC"/>
                </a:solidFill>
                <a:latin typeface="Oswald" pitchFamily="34" charset="0"/>
                <a:ea typeface="Oswald" pitchFamily="34" charset="-122"/>
                <a:cs typeface="Oswald" pitchFamily="34" charset="-120"/>
              </a:rPr>
              <a:t>LIGHTING RATIO</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7DD3FC"/>
                </a:solidFill>
                <a:latin typeface="Oswald" pitchFamily="34" charset="0"/>
                <a:ea typeface="Oswald" pitchFamily="34" charset="-122"/>
                <a:cs typeface="Oswald" pitchFamily="34" charset="-120"/>
              </a:rPr>
              <a:t>IDEA 05 / 12</a:t>
            </a:r>
            <a:endParaRPr lang="en-US" sz="900" dirty="0"/>
          </a:p>
        </p:txBody>
      </p:sp>
      <p:sp>
        <p:nvSpPr>
          <p:cNvPr id="7" name="Shape 4"/>
          <p:cNvSpPr/>
          <p:nvPr/>
        </p:nvSpPr>
        <p:spPr>
          <a:xfrm>
            <a:off x="859536" y="699516"/>
            <a:ext cx="457017" cy="22860"/>
          </a:xfrm>
          <a:prstGeom prst="rect">
            <a:avLst/>
          </a:prstGeom>
          <a:solidFill>
            <a:srgbClr val="00C2FF"/>
          </a:solidFill>
          <a:ln/>
        </p:spPr>
        <p:txBody>
          <a:bodyPr/>
          <a:lstStyle/>
          <a:p>
            <a:endParaRPr lang="en-US"/>
          </a:p>
        </p:txBody>
      </p:sp>
      <p:sp>
        <p:nvSpPr>
          <p:cNvPr id="8" name="Shape 5"/>
          <p:cNvSpPr/>
          <p:nvPr/>
        </p:nvSpPr>
        <p:spPr>
          <a:xfrm>
            <a:off x="292608" y="978408"/>
            <a:ext cx="8558784" cy="752551"/>
          </a:xfrm>
          <a:prstGeom prst="rect">
            <a:avLst/>
          </a:prstGeom>
          <a:solidFill>
            <a:srgbClr val="00C2FF">
              <a:alpha val="6000"/>
            </a:srgbClr>
          </a:solidFill>
          <a:ln w="12700">
            <a:solidFill>
              <a:srgbClr val="05475C"/>
            </a:solidFill>
            <a:prstDash val="solid"/>
          </a:ln>
        </p:spPr>
        <p:txBody>
          <a:bodyPr/>
          <a:lstStyle/>
          <a:p>
            <a:endParaRPr lang="en-US"/>
          </a:p>
        </p:txBody>
      </p:sp>
      <p:sp>
        <p:nvSpPr>
          <p:cNvPr id="9" name="Shape 6"/>
          <p:cNvSpPr/>
          <p:nvPr/>
        </p:nvSpPr>
        <p:spPr>
          <a:xfrm>
            <a:off x="292608" y="978408"/>
            <a:ext cx="45720" cy="752551"/>
          </a:xfrm>
          <a:prstGeom prst="rect">
            <a:avLst/>
          </a:prstGeom>
          <a:solidFill>
            <a:srgbClr val="00C2FF"/>
          </a:solidFill>
          <a:ln/>
        </p:spPr>
        <p:txBody>
          <a:bodyPr/>
          <a:lstStyle/>
          <a:p>
            <a:endParaRPr lang="en-US"/>
          </a:p>
        </p:txBody>
      </p:sp>
      <p:sp>
        <p:nvSpPr>
          <p:cNvPr id="10" name="Text 7"/>
          <p:cNvSpPr txBox="1"/>
          <p:nvPr/>
        </p:nvSpPr>
        <p:spPr>
          <a:xfrm>
            <a:off x="521208" y="1131113"/>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7DD3FC"/>
                </a:solidFill>
                <a:latin typeface="Arial" pitchFamily="34" charset="0"/>
                <a:ea typeface="Arial" pitchFamily="34" charset="-122"/>
                <a:cs typeface="Arial" pitchFamily="34" charset="-120"/>
              </a:rPr>
              <a:t>The key is your main light. The fill is anything that lifts the shadow side. The gap between them is your ratio, and the ratio is the mood.</a:t>
            </a:r>
            <a:endParaRPr lang="en-US" sz="1200" dirty="0"/>
          </a:p>
        </p:txBody>
      </p:sp>
      <p:sp>
        <p:nvSpPr>
          <p:cNvPr id="11" name="Shape 8"/>
          <p:cNvSpPr/>
          <p:nvPr/>
        </p:nvSpPr>
        <p:spPr>
          <a:xfrm>
            <a:off x="292608" y="1895551"/>
            <a:ext cx="2002536" cy="1335024"/>
          </a:xfrm>
          <a:prstGeom prst="rect">
            <a:avLst/>
          </a:prstGeom>
          <a:solidFill>
            <a:srgbClr val="00C2FF"/>
          </a:solidFill>
          <a:ln/>
        </p:spPr>
        <p:txBody>
          <a:bodyPr/>
          <a:lstStyle/>
          <a:p>
            <a:endParaRPr lang="en-US"/>
          </a:p>
        </p:txBody>
      </p:sp>
      <p:sp>
        <p:nvSpPr>
          <p:cNvPr id="12" name="Shape 9"/>
          <p:cNvSpPr/>
          <p:nvPr/>
        </p:nvSpPr>
        <p:spPr>
          <a:xfrm>
            <a:off x="307878" y="1910822"/>
            <a:ext cx="1971995" cy="213238"/>
          </a:xfrm>
          <a:prstGeom prst="rect">
            <a:avLst/>
          </a:prstGeom>
          <a:solidFill>
            <a:srgbClr val="0A2A3A"/>
          </a:solidFill>
          <a:ln/>
        </p:spPr>
        <p:txBody>
          <a:bodyPr/>
          <a:lstStyle/>
          <a:p>
            <a:endParaRPr lang="en-US"/>
          </a:p>
        </p:txBody>
      </p:sp>
      <p:sp>
        <p:nvSpPr>
          <p:cNvPr id="13" name="Shape 10"/>
          <p:cNvSpPr/>
          <p:nvPr/>
        </p:nvSpPr>
        <p:spPr>
          <a:xfrm>
            <a:off x="307878" y="2124060"/>
            <a:ext cx="1971995" cy="1091245"/>
          </a:xfrm>
          <a:prstGeom prst="rect">
            <a:avLst/>
          </a:prstGeom>
          <a:solidFill>
            <a:srgbClr val="04161D"/>
          </a:solidFill>
          <a:ln/>
        </p:spPr>
        <p:txBody>
          <a:bodyPr/>
          <a:lstStyle/>
          <a:p>
            <a:endParaRPr lang="en-US"/>
          </a:p>
        </p:txBody>
      </p:sp>
      <p:sp>
        <p:nvSpPr>
          <p:cNvPr id="14" name="Text 11"/>
          <p:cNvSpPr txBox="1"/>
          <p:nvPr/>
        </p:nvSpPr>
        <p:spPr>
          <a:xfrm>
            <a:off x="444947" y="2002262"/>
            <a:ext cx="1698041" cy="274320"/>
          </a:xfrm>
          <a:prstGeom prst="rect">
            <a:avLst/>
          </a:prstGeom>
          <a:noFill/>
          <a:ln/>
        </p:spPr>
        <p:txBody>
          <a:bodyPr wrap="square" lIns="0" tIns="0" rIns="0" bIns="0" rtlCol="0" anchor="ctr"/>
          <a:lstStyle/>
          <a:p>
            <a:pPr marL="0" indent="0">
              <a:lnSpc>
                <a:spcPct val="105000"/>
              </a:lnSpc>
              <a:buNone/>
            </a:pPr>
            <a:r>
              <a:rPr lang="en-US" sz="1400" b="1" dirty="0">
                <a:solidFill>
                  <a:srgbClr val="7DD3FC"/>
                </a:solidFill>
                <a:latin typeface="Arial" pitchFamily="34" charset="0"/>
                <a:ea typeface="Arial" pitchFamily="34" charset="-122"/>
                <a:cs typeface="Arial" pitchFamily="34" charset="-120"/>
              </a:rPr>
              <a:t>1 to 1</a:t>
            </a:r>
            <a:endParaRPr lang="en-US" sz="1400" dirty="0"/>
          </a:p>
        </p:txBody>
      </p:sp>
      <p:sp>
        <p:nvSpPr>
          <p:cNvPr id="15" name="Shape 12"/>
          <p:cNvSpPr/>
          <p:nvPr/>
        </p:nvSpPr>
        <p:spPr>
          <a:xfrm>
            <a:off x="444947" y="2313432"/>
            <a:ext cx="213238" cy="15270"/>
          </a:xfrm>
          <a:prstGeom prst="rect">
            <a:avLst/>
          </a:prstGeom>
          <a:solidFill>
            <a:srgbClr val="00C2FF"/>
          </a:solidFill>
          <a:ln/>
        </p:spPr>
        <p:txBody>
          <a:bodyPr/>
          <a:lstStyle/>
          <a:p>
            <a:endParaRPr lang="en-US"/>
          </a:p>
        </p:txBody>
      </p:sp>
      <p:sp>
        <p:nvSpPr>
          <p:cNvPr id="16" name="Text 13"/>
          <p:cNvSpPr txBox="1"/>
          <p:nvPr/>
        </p:nvSpPr>
        <p:spPr>
          <a:xfrm>
            <a:off x="444947" y="2459736"/>
            <a:ext cx="1698041" cy="65836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Key and fill equal. Flat, open, friendly. Nothing is hiding.</a:t>
            </a:r>
            <a:endParaRPr lang="en-US" sz="1000" dirty="0"/>
          </a:p>
        </p:txBody>
      </p:sp>
      <p:sp>
        <p:nvSpPr>
          <p:cNvPr id="17" name="Shape 14"/>
          <p:cNvSpPr/>
          <p:nvPr/>
        </p:nvSpPr>
        <p:spPr>
          <a:xfrm>
            <a:off x="2478024" y="1895551"/>
            <a:ext cx="2002536" cy="1335024"/>
          </a:xfrm>
          <a:prstGeom prst="rect">
            <a:avLst/>
          </a:prstGeom>
          <a:solidFill>
            <a:srgbClr val="00C2FF"/>
          </a:solidFill>
          <a:ln/>
        </p:spPr>
        <p:txBody>
          <a:bodyPr/>
          <a:lstStyle/>
          <a:p>
            <a:endParaRPr lang="en-US"/>
          </a:p>
        </p:txBody>
      </p:sp>
      <p:sp>
        <p:nvSpPr>
          <p:cNvPr id="18" name="Shape 15"/>
          <p:cNvSpPr/>
          <p:nvPr/>
        </p:nvSpPr>
        <p:spPr>
          <a:xfrm>
            <a:off x="2493294" y="1910822"/>
            <a:ext cx="1971995" cy="213238"/>
          </a:xfrm>
          <a:prstGeom prst="rect">
            <a:avLst/>
          </a:prstGeom>
          <a:solidFill>
            <a:srgbClr val="0A2A3A"/>
          </a:solidFill>
          <a:ln/>
        </p:spPr>
        <p:txBody>
          <a:bodyPr/>
          <a:lstStyle/>
          <a:p>
            <a:endParaRPr lang="en-US"/>
          </a:p>
        </p:txBody>
      </p:sp>
      <p:sp>
        <p:nvSpPr>
          <p:cNvPr id="19" name="Shape 16"/>
          <p:cNvSpPr/>
          <p:nvPr/>
        </p:nvSpPr>
        <p:spPr>
          <a:xfrm>
            <a:off x="2493294" y="2124060"/>
            <a:ext cx="1971995" cy="1091245"/>
          </a:xfrm>
          <a:prstGeom prst="rect">
            <a:avLst/>
          </a:prstGeom>
          <a:solidFill>
            <a:srgbClr val="04161D"/>
          </a:solidFill>
          <a:ln/>
        </p:spPr>
        <p:txBody>
          <a:bodyPr/>
          <a:lstStyle/>
          <a:p>
            <a:endParaRPr lang="en-US"/>
          </a:p>
        </p:txBody>
      </p:sp>
      <p:sp>
        <p:nvSpPr>
          <p:cNvPr id="20" name="Text 17"/>
          <p:cNvSpPr txBox="1"/>
          <p:nvPr/>
        </p:nvSpPr>
        <p:spPr>
          <a:xfrm>
            <a:off x="2630363" y="2002262"/>
            <a:ext cx="1698041" cy="274320"/>
          </a:xfrm>
          <a:prstGeom prst="rect">
            <a:avLst/>
          </a:prstGeom>
          <a:noFill/>
          <a:ln/>
        </p:spPr>
        <p:txBody>
          <a:bodyPr wrap="square" lIns="0" tIns="0" rIns="0" bIns="0" rtlCol="0" anchor="ctr"/>
          <a:lstStyle/>
          <a:p>
            <a:pPr marL="0" indent="0">
              <a:lnSpc>
                <a:spcPct val="105000"/>
              </a:lnSpc>
              <a:buNone/>
            </a:pPr>
            <a:r>
              <a:rPr lang="en-US" sz="1400" b="1" dirty="0">
                <a:solidFill>
                  <a:srgbClr val="7DD3FC"/>
                </a:solidFill>
                <a:latin typeface="Arial" pitchFamily="34" charset="0"/>
                <a:ea typeface="Arial" pitchFamily="34" charset="-122"/>
                <a:cs typeface="Arial" pitchFamily="34" charset="-120"/>
              </a:rPr>
              <a:t>2 to 1</a:t>
            </a:r>
            <a:endParaRPr lang="en-US" sz="1400" dirty="0"/>
          </a:p>
        </p:txBody>
      </p:sp>
      <p:sp>
        <p:nvSpPr>
          <p:cNvPr id="21" name="Shape 18"/>
          <p:cNvSpPr/>
          <p:nvPr/>
        </p:nvSpPr>
        <p:spPr>
          <a:xfrm>
            <a:off x="2630363" y="2313432"/>
            <a:ext cx="213238" cy="15270"/>
          </a:xfrm>
          <a:prstGeom prst="rect">
            <a:avLst/>
          </a:prstGeom>
          <a:solidFill>
            <a:srgbClr val="00C2FF"/>
          </a:solidFill>
          <a:ln/>
        </p:spPr>
        <p:txBody>
          <a:bodyPr/>
          <a:lstStyle/>
          <a:p>
            <a:endParaRPr lang="en-US"/>
          </a:p>
        </p:txBody>
      </p:sp>
      <p:sp>
        <p:nvSpPr>
          <p:cNvPr id="22" name="Text 19"/>
          <p:cNvSpPr txBox="1"/>
          <p:nvPr/>
        </p:nvSpPr>
        <p:spPr>
          <a:xfrm>
            <a:off x="2630363" y="2459736"/>
            <a:ext cx="1698041" cy="65836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Gentle shaping. Normal portraits. Most of what you have been doing so far.</a:t>
            </a:r>
            <a:endParaRPr lang="en-US" sz="1000" dirty="0"/>
          </a:p>
        </p:txBody>
      </p:sp>
      <p:sp>
        <p:nvSpPr>
          <p:cNvPr id="23" name="Shape 20"/>
          <p:cNvSpPr/>
          <p:nvPr/>
        </p:nvSpPr>
        <p:spPr>
          <a:xfrm>
            <a:off x="4663440" y="1895551"/>
            <a:ext cx="2002536" cy="1335024"/>
          </a:xfrm>
          <a:prstGeom prst="rect">
            <a:avLst/>
          </a:prstGeom>
          <a:solidFill>
            <a:srgbClr val="00C2FF"/>
          </a:solidFill>
          <a:ln/>
        </p:spPr>
        <p:txBody>
          <a:bodyPr/>
          <a:lstStyle/>
          <a:p>
            <a:endParaRPr lang="en-US"/>
          </a:p>
        </p:txBody>
      </p:sp>
      <p:sp>
        <p:nvSpPr>
          <p:cNvPr id="24" name="Shape 21"/>
          <p:cNvSpPr/>
          <p:nvPr/>
        </p:nvSpPr>
        <p:spPr>
          <a:xfrm>
            <a:off x="4678710" y="1910822"/>
            <a:ext cx="1971995" cy="213238"/>
          </a:xfrm>
          <a:prstGeom prst="rect">
            <a:avLst/>
          </a:prstGeom>
          <a:solidFill>
            <a:srgbClr val="0A2A3A"/>
          </a:solidFill>
          <a:ln/>
        </p:spPr>
        <p:txBody>
          <a:bodyPr/>
          <a:lstStyle/>
          <a:p>
            <a:endParaRPr lang="en-US"/>
          </a:p>
        </p:txBody>
      </p:sp>
      <p:sp>
        <p:nvSpPr>
          <p:cNvPr id="25" name="Shape 22"/>
          <p:cNvSpPr/>
          <p:nvPr/>
        </p:nvSpPr>
        <p:spPr>
          <a:xfrm>
            <a:off x="4678710" y="2124060"/>
            <a:ext cx="1971995" cy="1091245"/>
          </a:xfrm>
          <a:prstGeom prst="rect">
            <a:avLst/>
          </a:prstGeom>
          <a:solidFill>
            <a:srgbClr val="04161D"/>
          </a:solidFill>
          <a:ln/>
        </p:spPr>
        <p:txBody>
          <a:bodyPr/>
          <a:lstStyle/>
          <a:p>
            <a:endParaRPr lang="en-US"/>
          </a:p>
        </p:txBody>
      </p:sp>
      <p:sp>
        <p:nvSpPr>
          <p:cNvPr id="26" name="Text 23"/>
          <p:cNvSpPr txBox="1"/>
          <p:nvPr/>
        </p:nvSpPr>
        <p:spPr>
          <a:xfrm>
            <a:off x="4815779" y="2002262"/>
            <a:ext cx="1698041" cy="274320"/>
          </a:xfrm>
          <a:prstGeom prst="rect">
            <a:avLst/>
          </a:prstGeom>
          <a:noFill/>
          <a:ln/>
        </p:spPr>
        <p:txBody>
          <a:bodyPr wrap="square" lIns="0" tIns="0" rIns="0" bIns="0" rtlCol="0" anchor="ctr"/>
          <a:lstStyle/>
          <a:p>
            <a:pPr marL="0" indent="0">
              <a:lnSpc>
                <a:spcPct val="105000"/>
              </a:lnSpc>
              <a:buNone/>
            </a:pPr>
            <a:r>
              <a:rPr lang="en-US" sz="1400" b="1" dirty="0">
                <a:solidFill>
                  <a:srgbClr val="7DD3FC"/>
                </a:solidFill>
                <a:latin typeface="Arial" pitchFamily="34" charset="0"/>
                <a:ea typeface="Arial" pitchFamily="34" charset="-122"/>
                <a:cs typeface="Arial" pitchFamily="34" charset="-120"/>
              </a:rPr>
              <a:t>4 to 1</a:t>
            </a:r>
            <a:endParaRPr lang="en-US" sz="1400" dirty="0"/>
          </a:p>
        </p:txBody>
      </p:sp>
      <p:sp>
        <p:nvSpPr>
          <p:cNvPr id="27" name="Shape 24"/>
          <p:cNvSpPr/>
          <p:nvPr/>
        </p:nvSpPr>
        <p:spPr>
          <a:xfrm>
            <a:off x="4815779" y="2313432"/>
            <a:ext cx="213238" cy="15270"/>
          </a:xfrm>
          <a:prstGeom prst="rect">
            <a:avLst/>
          </a:prstGeom>
          <a:solidFill>
            <a:srgbClr val="00C2FF"/>
          </a:solidFill>
          <a:ln/>
        </p:spPr>
        <p:txBody>
          <a:bodyPr/>
          <a:lstStyle/>
          <a:p>
            <a:endParaRPr lang="en-US"/>
          </a:p>
        </p:txBody>
      </p:sp>
      <p:sp>
        <p:nvSpPr>
          <p:cNvPr id="28" name="Text 25"/>
          <p:cNvSpPr txBox="1"/>
          <p:nvPr/>
        </p:nvSpPr>
        <p:spPr>
          <a:xfrm>
            <a:off x="4815779" y="2459736"/>
            <a:ext cx="1698041" cy="65836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Clearly dramatic. The shadow side is dark but you can still read it.</a:t>
            </a:r>
            <a:endParaRPr lang="en-US" sz="1000" dirty="0"/>
          </a:p>
        </p:txBody>
      </p:sp>
      <p:sp>
        <p:nvSpPr>
          <p:cNvPr id="29" name="Shape 26"/>
          <p:cNvSpPr/>
          <p:nvPr/>
        </p:nvSpPr>
        <p:spPr>
          <a:xfrm>
            <a:off x="6848856" y="1895551"/>
            <a:ext cx="2002536" cy="1335024"/>
          </a:xfrm>
          <a:prstGeom prst="rect">
            <a:avLst/>
          </a:prstGeom>
          <a:solidFill>
            <a:srgbClr val="00C2FF"/>
          </a:solidFill>
          <a:ln/>
        </p:spPr>
        <p:txBody>
          <a:bodyPr/>
          <a:lstStyle/>
          <a:p>
            <a:endParaRPr lang="en-US"/>
          </a:p>
        </p:txBody>
      </p:sp>
      <p:sp>
        <p:nvSpPr>
          <p:cNvPr id="30" name="Shape 27"/>
          <p:cNvSpPr/>
          <p:nvPr/>
        </p:nvSpPr>
        <p:spPr>
          <a:xfrm>
            <a:off x="6864126" y="1910822"/>
            <a:ext cx="1971995" cy="213238"/>
          </a:xfrm>
          <a:prstGeom prst="rect">
            <a:avLst/>
          </a:prstGeom>
          <a:solidFill>
            <a:srgbClr val="0A2A3A"/>
          </a:solidFill>
          <a:ln/>
        </p:spPr>
        <p:txBody>
          <a:bodyPr/>
          <a:lstStyle/>
          <a:p>
            <a:endParaRPr lang="en-US"/>
          </a:p>
        </p:txBody>
      </p:sp>
      <p:sp>
        <p:nvSpPr>
          <p:cNvPr id="31" name="Shape 28"/>
          <p:cNvSpPr/>
          <p:nvPr/>
        </p:nvSpPr>
        <p:spPr>
          <a:xfrm>
            <a:off x="6864126" y="2124060"/>
            <a:ext cx="1971995" cy="1091245"/>
          </a:xfrm>
          <a:prstGeom prst="rect">
            <a:avLst/>
          </a:prstGeom>
          <a:solidFill>
            <a:srgbClr val="04161D"/>
          </a:solidFill>
          <a:ln/>
        </p:spPr>
        <p:txBody>
          <a:bodyPr/>
          <a:lstStyle/>
          <a:p>
            <a:endParaRPr lang="en-US"/>
          </a:p>
        </p:txBody>
      </p:sp>
      <p:sp>
        <p:nvSpPr>
          <p:cNvPr id="32" name="Text 29"/>
          <p:cNvSpPr txBox="1"/>
          <p:nvPr/>
        </p:nvSpPr>
        <p:spPr>
          <a:xfrm>
            <a:off x="7001195" y="2002262"/>
            <a:ext cx="1698041" cy="274320"/>
          </a:xfrm>
          <a:prstGeom prst="rect">
            <a:avLst/>
          </a:prstGeom>
          <a:noFill/>
          <a:ln/>
        </p:spPr>
        <p:txBody>
          <a:bodyPr wrap="square" lIns="0" tIns="0" rIns="0" bIns="0" rtlCol="0" anchor="ctr"/>
          <a:lstStyle/>
          <a:p>
            <a:pPr marL="0" indent="0">
              <a:lnSpc>
                <a:spcPct val="105000"/>
              </a:lnSpc>
              <a:buNone/>
            </a:pPr>
            <a:r>
              <a:rPr lang="en-US" sz="1400" b="1" dirty="0">
                <a:solidFill>
                  <a:srgbClr val="7DD3FC"/>
                </a:solidFill>
                <a:latin typeface="Arial" pitchFamily="34" charset="0"/>
                <a:ea typeface="Arial" pitchFamily="34" charset="-122"/>
                <a:cs typeface="Arial" pitchFamily="34" charset="-120"/>
              </a:rPr>
              <a:t>8 to 1 and past</a:t>
            </a:r>
            <a:endParaRPr lang="en-US" sz="1400" dirty="0"/>
          </a:p>
        </p:txBody>
      </p:sp>
      <p:sp>
        <p:nvSpPr>
          <p:cNvPr id="33" name="Shape 30"/>
          <p:cNvSpPr/>
          <p:nvPr/>
        </p:nvSpPr>
        <p:spPr>
          <a:xfrm>
            <a:off x="7001195" y="2313432"/>
            <a:ext cx="213238" cy="15270"/>
          </a:xfrm>
          <a:prstGeom prst="rect">
            <a:avLst/>
          </a:prstGeom>
          <a:solidFill>
            <a:srgbClr val="00C2FF"/>
          </a:solidFill>
          <a:ln/>
        </p:spPr>
        <p:txBody>
          <a:bodyPr/>
          <a:lstStyle/>
          <a:p>
            <a:endParaRPr lang="en-US"/>
          </a:p>
        </p:txBody>
      </p:sp>
      <p:sp>
        <p:nvSpPr>
          <p:cNvPr id="34" name="Text 31"/>
          <p:cNvSpPr txBox="1"/>
          <p:nvPr/>
        </p:nvSpPr>
        <p:spPr>
          <a:xfrm>
            <a:off x="7001195" y="2459736"/>
            <a:ext cx="1698041" cy="65836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The shadow side goes to black. This is noir. This is the monster.</a:t>
            </a:r>
            <a:endParaRPr lang="en-US" sz="1000" dirty="0"/>
          </a:p>
        </p:txBody>
      </p:sp>
      <p:sp>
        <p:nvSpPr>
          <p:cNvPr id="35" name="Shape 32"/>
          <p:cNvSpPr/>
          <p:nvPr/>
        </p:nvSpPr>
        <p:spPr>
          <a:xfrm>
            <a:off x="292608" y="3395167"/>
            <a:ext cx="8558784" cy="894283"/>
          </a:xfrm>
          <a:prstGeom prst="rect">
            <a:avLst/>
          </a:prstGeom>
          <a:solidFill>
            <a:srgbClr val="0C1010"/>
          </a:solidFill>
          <a:ln w="12700">
            <a:solidFill>
              <a:srgbClr val="F90101"/>
            </a:solidFill>
            <a:prstDash val="solid"/>
          </a:ln>
        </p:spPr>
        <p:txBody>
          <a:bodyPr/>
          <a:lstStyle/>
          <a:p>
            <a:endParaRPr lang="en-US"/>
          </a:p>
        </p:txBody>
      </p:sp>
      <p:sp>
        <p:nvSpPr>
          <p:cNvPr id="36" name="Shape 33"/>
          <p:cNvSpPr/>
          <p:nvPr/>
        </p:nvSpPr>
        <p:spPr>
          <a:xfrm>
            <a:off x="292608" y="3395167"/>
            <a:ext cx="45720" cy="894283"/>
          </a:xfrm>
          <a:prstGeom prst="rect">
            <a:avLst/>
          </a:prstGeom>
          <a:solidFill>
            <a:srgbClr val="F90101"/>
          </a:solidFill>
          <a:ln/>
        </p:spPr>
        <p:txBody>
          <a:bodyPr/>
          <a:lstStyle/>
          <a:p>
            <a:endParaRPr lang="en-US"/>
          </a:p>
        </p:txBody>
      </p:sp>
      <p:sp>
        <p:nvSpPr>
          <p:cNvPr id="37" name="Text 34"/>
          <p:cNvSpPr txBox="1"/>
          <p:nvPr/>
        </p:nvSpPr>
        <p:spPr>
          <a:xfrm>
            <a:off x="459943" y="3502152"/>
            <a:ext cx="8223199" cy="237744"/>
          </a:xfrm>
          <a:prstGeom prst="rect">
            <a:avLst/>
          </a:prstGeom>
          <a:noFill/>
          <a:ln/>
        </p:spPr>
        <p:txBody>
          <a:bodyPr wrap="square" lIns="0" tIns="0" rIns="0" bIns="0" rtlCol="0" anchor="ctr"/>
          <a:lstStyle/>
          <a:p>
            <a:pPr marL="0" indent="0">
              <a:lnSpc>
                <a:spcPct val="105000"/>
              </a:lnSpc>
              <a:buNone/>
            </a:pPr>
            <a:r>
              <a:rPr lang="en-US" sz="1100" b="1" kern="0" spc="100" dirty="0">
                <a:solidFill>
                  <a:srgbClr val="FF8F8F"/>
                </a:solidFill>
                <a:latin typeface="Oswald" pitchFamily="34" charset="0"/>
                <a:ea typeface="Oswald" pitchFamily="34" charset="-122"/>
                <a:cs typeface="Oswald" pitchFamily="34" charset="-120"/>
              </a:rPr>
              <a:t>AT THE ONE LIGHT STATION YOU HAVE NO FILL AT ALL</a:t>
            </a:r>
            <a:endParaRPr lang="en-US" sz="1100" dirty="0"/>
          </a:p>
        </p:txBody>
      </p:sp>
      <p:sp>
        <p:nvSpPr>
          <p:cNvPr id="38" name="Text 35"/>
          <p:cNvSpPr txBox="1"/>
          <p:nvPr/>
        </p:nvSpPr>
        <p:spPr>
          <a:xfrm>
            <a:off x="459943" y="3776472"/>
            <a:ext cx="8223199" cy="406908"/>
          </a:xfrm>
          <a:prstGeom prst="rect">
            <a:avLst/>
          </a:prstGeom>
          <a:noFill/>
          <a:ln/>
        </p:spPr>
        <p:txBody>
          <a:bodyPr wrap="square" lIns="0" tIns="0" rIns="0" bIns="0" rtlCol="0" anchor="t"/>
          <a:lstStyle/>
          <a:p>
            <a:pPr marL="0" indent="0">
              <a:lnSpc>
                <a:spcPct val="125000"/>
              </a:lnSpc>
              <a:buNone/>
            </a:pPr>
            <a:r>
              <a:rPr lang="en-US" sz="1050" dirty="0">
                <a:solidFill>
                  <a:srgbClr val="FFB0B0"/>
                </a:solidFill>
                <a:latin typeface="Arial" pitchFamily="34" charset="0"/>
                <a:ea typeface="Arial" pitchFamily="34" charset="-122"/>
                <a:cs typeface="Arial" pitchFamily="34" charset="-120"/>
              </a:rPr>
              <a:t>That means your ratio is as extreme as it gets. The shadow side falls to pure black with nothing to lift it. That is a feature, not a problem. Noir photographers paid good money for that.</a:t>
            </a:r>
            <a:endParaRPr lang="en-US" sz="1050" dirty="0"/>
          </a:p>
        </p:txBody>
      </p:sp>
      <p:sp>
        <p:nvSpPr>
          <p:cNvPr id="39" name="Shape 36"/>
          <p:cNvSpPr/>
          <p:nvPr/>
        </p:nvSpPr>
        <p:spPr>
          <a:xfrm>
            <a:off x="0" y="4681728"/>
            <a:ext cx="9144000" cy="22860"/>
          </a:xfrm>
          <a:prstGeom prst="rect">
            <a:avLst/>
          </a:prstGeom>
          <a:solidFill>
            <a:srgbClr val="00C2FF"/>
          </a:solidFill>
          <a:ln/>
        </p:spPr>
        <p:txBody>
          <a:bodyPr/>
          <a:lstStyle/>
          <a:p>
            <a:endParaRPr lang="en-US"/>
          </a:p>
        </p:txBody>
      </p:sp>
      <p:sp>
        <p:nvSpPr>
          <p:cNvPr id="40" name="Text 37"/>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WHERE YOU PUT IT CHANGES EVERYTHING</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IDEA 06 / 13</a:t>
            </a:r>
            <a:endParaRPr lang="en-US" sz="900" dirty="0"/>
          </a:p>
        </p:txBody>
      </p:sp>
      <p:sp>
        <p:nvSpPr>
          <p:cNvPr id="8" name="Shape 5"/>
          <p:cNvSpPr/>
          <p:nvPr/>
        </p:nvSpPr>
        <p:spPr>
          <a:xfrm>
            <a:off x="292608" y="703148"/>
            <a:ext cx="8558784" cy="373479"/>
          </a:xfrm>
          <a:prstGeom prst="rect">
            <a:avLst/>
          </a:prstGeom>
          <a:solidFill>
            <a:srgbClr val="00B8B8">
              <a:alpha val="6000"/>
            </a:srgbClr>
          </a:solidFill>
          <a:ln w="12700">
            <a:solidFill>
              <a:srgbClr val="054444"/>
            </a:solidFill>
            <a:prstDash val="solid"/>
          </a:ln>
        </p:spPr>
        <p:txBody>
          <a:bodyPr/>
          <a:lstStyle/>
          <a:p>
            <a:endParaRPr lang="en-US"/>
          </a:p>
        </p:txBody>
      </p:sp>
      <p:sp>
        <p:nvSpPr>
          <p:cNvPr id="9" name="Shape 6"/>
          <p:cNvSpPr/>
          <p:nvPr/>
        </p:nvSpPr>
        <p:spPr>
          <a:xfrm>
            <a:off x="292608" y="703148"/>
            <a:ext cx="45720" cy="373479"/>
          </a:xfrm>
          <a:prstGeom prst="rect">
            <a:avLst/>
          </a:prstGeom>
          <a:solidFill>
            <a:srgbClr val="00B8B8"/>
          </a:solidFill>
          <a:ln/>
        </p:spPr>
        <p:txBody>
          <a:bodyPr/>
          <a:lstStyle/>
          <a:p>
            <a:endParaRPr lang="en-US"/>
          </a:p>
        </p:txBody>
      </p:sp>
      <p:sp>
        <p:nvSpPr>
          <p:cNvPr id="10" name="Text 7"/>
          <p:cNvSpPr txBox="1"/>
          <p:nvPr/>
        </p:nvSpPr>
        <p:spPr>
          <a:xfrm>
            <a:off x="521208" y="813390"/>
            <a:ext cx="8162849" cy="190486"/>
          </a:xfrm>
          <a:prstGeom prst="rect">
            <a:avLst/>
          </a:prstGeom>
          <a:noFill/>
          <a:ln/>
        </p:spPr>
        <p:txBody>
          <a:bodyPr wrap="square" lIns="0" tIns="0" rIns="0" bIns="0" rtlCol="0" anchor="t"/>
          <a:lstStyle/>
          <a:p>
            <a:pPr marL="0" indent="0">
              <a:lnSpc>
                <a:spcPct val="135000"/>
              </a:lnSpc>
              <a:buNone/>
            </a:pPr>
            <a:r>
              <a:rPr lang="en-US" sz="1200" dirty="0">
                <a:solidFill>
                  <a:srgbClr val="80E0E0"/>
                </a:solidFill>
                <a:latin typeface="Arial" pitchFamily="34" charset="0"/>
                <a:ea typeface="Arial" pitchFamily="34" charset="-122"/>
                <a:cs typeface="Arial" pitchFamily="34" charset="-120"/>
              </a:rPr>
              <a:t>Same light, same person, same camera. Walk the light around them and you get five different photographs.</a:t>
            </a:r>
            <a:endParaRPr lang="en-US" sz="1200" dirty="0"/>
          </a:p>
        </p:txBody>
      </p:sp>
      <p:sp>
        <p:nvSpPr>
          <p:cNvPr id="11" name="Shape 8"/>
          <p:cNvSpPr/>
          <p:nvPr/>
        </p:nvSpPr>
        <p:spPr>
          <a:xfrm>
            <a:off x="292608" y="1158352"/>
            <a:ext cx="1594714" cy="915113"/>
          </a:xfrm>
          <a:prstGeom prst="rect">
            <a:avLst/>
          </a:prstGeom>
          <a:solidFill>
            <a:srgbClr val="00B8B8"/>
          </a:solidFill>
          <a:ln/>
        </p:spPr>
        <p:txBody>
          <a:bodyPr/>
          <a:lstStyle/>
          <a:p>
            <a:endParaRPr lang="en-US"/>
          </a:p>
        </p:txBody>
      </p:sp>
      <p:sp>
        <p:nvSpPr>
          <p:cNvPr id="12" name="Shape 9"/>
          <p:cNvSpPr/>
          <p:nvPr/>
        </p:nvSpPr>
        <p:spPr>
          <a:xfrm>
            <a:off x="307878" y="1173623"/>
            <a:ext cx="1564173" cy="213238"/>
          </a:xfrm>
          <a:prstGeom prst="rect">
            <a:avLst/>
          </a:prstGeom>
          <a:solidFill>
            <a:srgbClr val="094043"/>
          </a:solidFill>
          <a:ln/>
        </p:spPr>
        <p:txBody>
          <a:bodyPr/>
          <a:lstStyle/>
          <a:p>
            <a:endParaRPr lang="en-US"/>
          </a:p>
        </p:txBody>
      </p:sp>
      <p:sp>
        <p:nvSpPr>
          <p:cNvPr id="13" name="Shape 10"/>
          <p:cNvSpPr/>
          <p:nvPr/>
        </p:nvSpPr>
        <p:spPr>
          <a:xfrm>
            <a:off x="307878" y="1386862"/>
            <a:ext cx="1564173" cy="677022"/>
          </a:xfrm>
          <a:prstGeom prst="rect">
            <a:avLst/>
          </a:prstGeom>
          <a:solidFill>
            <a:srgbClr val="041D1C"/>
          </a:solidFill>
          <a:ln/>
        </p:spPr>
        <p:txBody>
          <a:bodyPr/>
          <a:lstStyle/>
          <a:p>
            <a:endParaRPr lang="en-US"/>
          </a:p>
        </p:txBody>
      </p:sp>
      <p:sp>
        <p:nvSpPr>
          <p:cNvPr id="14" name="Text 11"/>
          <p:cNvSpPr txBox="1"/>
          <p:nvPr/>
        </p:nvSpPr>
        <p:spPr>
          <a:xfrm>
            <a:off x="414498" y="1096517"/>
            <a:ext cx="1350569" cy="384048"/>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Front</a:t>
            </a:r>
            <a:endParaRPr lang="en-US" sz="1200" dirty="0"/>
          </a:p>
        </p:txBody>
      </p:sp>
      <p:sp>
        <p:nvSpPr>
          <p:cNvPr id="16" name="Text 13"/>
          <p:cNvSpPr txBox="1"/>
          <p:nvPr/>
        </p:nvSpPr>
        <p:spPr>
          <a:xfrm>
            <a:off x="414498" y="1412050"/>
            <a:ext cx="1350569" cy="621792"/>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Flat and open. Kills shadow. Hardest position to make scary.</a:t>
            </a:r>
            <a:endParaRPr lang="en-US" sz="950" dirty="0"/>
          </a:p>
        </p:txBody>
      </p:sp>
      <p:sp>
        <p:nvSpPr>
          <p:cNvPr id="17" name="Shape 14"/>
          <p:cNvSpPr/>
          <p:nvPr/>
        </p:nvSpPr>
        <p:spPr>
          <a:xfrm>
            <a:off x="2033626" y="1158352"/>
            <a:ext cx="1594714" cy="915113"/>
          </a:xfrm>
          <a:prstGeom prst="rect">
            <a:avLst/>
          </a:prstGeom>
          <a:solidFill>
            <a:srgbClr val="00B8B8"/>
          </a:solidFill>
          <a:ln/>
        </p:spPr>
        <p:txBody>
          <a:bodyPr/>
          <a:lstStyle/>
          <a:p>
            <a:endParaRPr lang="en-US"/>
          </a:p>
        </p:txBody>
      </p:sp>
      <p:sp>
        <p:nvSpPr>
          <p:cNvPr id="18" name="Shape 15"/>
          <p:cNvSpPr/>
          <p:nvPr/>
        </p:nvSpPr>
        <p:spPr>
          <a:xfrm>
            <a:off x="2048896" y="1173623"/>
            <a:ext cx="1564173" cy="213238"/>
          </a:xfrm>
          <a:prstGeom prst="rect">
            <a:avLst/>
          </a:prstGeom>
          <a:solidFill>
            <a:srgbClr val="094043"/>
          </a:solidFill>
          <a:ln/>
        </p:spPr>
        <p:txBody>
          <a:bodyPr/>
          <a:lstStyle/>
          <a:p>
            <a:endParaRPr lang="en-US"/>
          </a:p>
        </p:txBody>
      </p:sp>
      <p:sp>
        <p:nvSpPr>
          <p:cNvPr id="19" name="Shape 16"/>
          <p:cNvSpPr/>
          <p:nvPr/>
        </p:nvSpPr>
        <p:spPr>
          <a:xfrm>
            <a:off x="2048896" y="1386862"/>
            <a:ext cx="1564173" cy="677022"/>
          </a:xfrm>
          <a:prstGeom prst="rect">
            <a:avLst/>
          </a:prstGeom>
          <a:solidFill>
            <a:srgbClr val="041D1C"/>
          </a:solidFill>
          <a:ln/>
        </p:spPr>
        <p:txBody>
          <a:bodyPr/>
          <a:lstStyle/>
          <a:p>
            <a:endParaRPr lang="en-US"/>
          </a:p>
        </p:txBody>
      </p:sp>
      <p:sp>
        <p:nvSpPr>
          <p:cNvPr id="20" name="Text 17"/>
          <p:cNvSpPr txBox="1"/>
          <p:nvPr/>
        </p:nvSpPr>
        <p:spPr>
          <a:xfrm>
            <a:off x="2155515" y="1096517"/>
            <a:ext cx="1350569" cy="384048"/>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45 degrees</a:t>
            </a:r>
            <a:endParaRPr lang="en-US" sz="1200" dirty="0"/>
          </a:p>
        </p:txBody>
      </p:sp>
      <p:sp>
        <p:nvSpPr>
          <p:cNvPr id="22" name="Text 19"/>
          <p:cNvSpPr txBox="1"/>
          <p:nvPr/>
        </p:nvSpPr>
        <p:spPr>
          <a:xfrm>
            <a:off x="2155515" y="1412050"/>
            <a:ext cx="1350569" cy="621792"/>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The normal portrait spot. Shapes the face without hiding it.</a:t>
            </a:r>
            <a:endParaRPr lang="en-US" sz="950" dirty="0"/>
          </a:p>
        </p:txBody>
      </p:sp>
      <p:sp>
        <p:nvSpPr>
          <p:cNvPr id="23" name="Shape 20"/>
          <p:cNvSpPr/>
          <p:nvPr/>
        </p:nvSpPr>
        <p:spPr>
          <a:xfrm>
            <a:off x="3774643" y="1158352"/>
            <a:ext cx="1594714" cy="915113"/>
          </a:xfrm>
          <a:prstGeom prst="rect">
            <a:avLst/>
          </a:prstGeom>
          <a:solidFill>
            <a:srgbClr val="00B8B8"/>
          </a:solidFill>
          <a:ln/>
        </p:spPr>
        <p:txBody>
          <a:bodyPr/>
          <a:lstStyle/>
          <a:p>
            <a:endParaRPr lang="en-US"/>
          </a:p>
        </p:txBody>
      </p:sp>
      <p:sp>
        <p:nvSpPr>
          <p:cNvPr id="24" name="Shape 21"/>
          <p:cNvSpPr/>
          <p:nvPr/>
        </p:nvSpPr>
        <p:spPr>
          <a:xfrm>
            <a:off x="3789914" y="1173623"/>
            <a:ext cx="1564173" cy="213238"/>
          </a:xfrm>
          <a:prstGeom prst="rect">
            <a:avLst/>
          </a:prstGeom>
          <a:solidFill>
            <a:srgbClr val="094043"/>
          </a:solidFill>
          <a:ln/>
        </p:spPr>
        <p:txBody>
          <a:bodyPr/>
          <a:lstStyle/>
          <a:p>
            <a:endParaRPr lang="en-US"/>
          </a:p>
        </p:txBody>
      </p:sp>
      <p:sp>
        <p:nvSpPr>
          <p:cNvPr id="25" name="Shape 22"/>
          <p:cNvSpPr/>
          <p:nvPr/>
        </p:nvSpPr>
        <p:spPr>
          <a:xfrm>
            <a:off x="3789914" y="1386862"/>
            <a:ext cx="1564173" cy="677022"/>
          </a:xfrm>
          <a:prstGeom prst="rect">
            <a:avLst/>
          </a:prstGeom>
          <a:solidFill>
            <a:srgbClr val="041D1C"/>
          </a:solidFill>
          <a:ln/>
        </p:spPr>
        <p:txBody>
          <a:bodyPr/>
          <a:lstStyle/>
          <a:p>
            <a:endParaRPr lang="en-US"/>
          </a:p>
        </p:txBody>
      </p:sp>
      <p:sp>
        <p:nvSpPr>
          <p:cNvPr id="26" name="Text 23"/>
          <p:cNvSpPr txBox="1"/>
          <p:nvPr/>
        </p:nvSpPr>
        <p:spPr>
          <a:xfrm>
            <a:off x="3896533" y="1096517"/>
            <a:ext cx="1350569" cy="384048"/>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Side, 90 degrees</a:t>
            </a:r>
            <a:endParaRPr lang="en-US" sz="1200" dirty="0"/>
          </a:p>
        </p:txBody>
      </p:sp>
      <p:sp>
        <p:nvSpPr>
          <p:cNvPr id="28" name="Text 25"/>
          <p:cNvSpPr txBox="1"/>
          <p:nvPr/>
        </p:nvSpPr>
        <p:spPr>
          <a:xfrm>
            <a:off x="3896533" y="1412050"/>
            <a:ext cx="1350569" cy="621792"/>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Split lighting. Half the face lit, half gone. The noir position.</a:t>
            </a:r>
            <a:endParaRPr lang="en-US" sz="950" dirty="0"/>
          </a:p>
        </p:txBody>
      </p:sp>
      <p:sp>
        <p:nvSpPr>
          <p:cNvPr id="29" name="Shape 26"/>
          <p:cNvSpPr/>
          <p:nvPr/>
        </p:nvSpPr>
        <p:spPr>
          <a:xfrm>
            <a:off x="5515661" y="1158352"/>
            <a:ext cx="1594714" cy="915113"/>
          </a:xfrm>
          <a:prstGeom prst="rect">
            <a:avLst/>
          </a:prstGeom>
          <a:solidFill>
            <a:srgbClr val="00B8B8"/>
          </a:solidFill>
          <a:ln/>
        </p:spPr>
        <p:txBody>
          <a:bodyPr/>
          <a:lstStyle/>
          <a:p>
            <a:endParaRPr lang="en-US"/>
          </a:p>
        </p:txBody>
      </p:sp>
      <p:sp>
        <p:nvSpPr>
          <p:cNvPr id="30" name="Shape 27"/>
          <p:cNvSpPr/>
          <p:nvPr/>
        </p:nvSpPr>
        <p:spPr>
          <a:xfrm>
            <a:off x="5530931" y="1173623"/>
            <a:ext cx="1564173" cy="213238"/>
          </a:xfrm>
          <a:prstGeom prst="rect">
            <a:avLst/>
          </a:prstGeom>
          <a:solidFill>
            <a:srgbClr val="094043"/>
          </a:solidFill>
          <a:ln/>
        </p:spPr>
        <p:txBody>
          <a:bodyPr/>
          <a:lstStyle/>
          <a:p>
            <a:endParaRPr lang="en-US"/>
          </a:p>
        </p:txBody>
      </p:sp>
      <p:sp>
        <p:nvSpPr>
          <p:cNvPr id="31" name="Shape 28"/>
          <p:cNvSpPr/>
          <p:nvPr/>
        </p:nvSpPr>
        <p:spPr>
          <a:xfrm>
            <a:off x="5530931" y="1386862"/>
            <a:ext cx="1564173" cy="677022"/>
          </a:xfrm>
          <a:prstGeom prst="rect">
            <a:avLst/>
          </a:prstGeom>
          <a:solidFill>
            <a:srgbClr val="041D1C"/>
          </a:solidFill>
          <a:ln/>
        </p:spPr>
        <p:txBody>
          <a:bodyPr/>
          <a:lstStyle/>
          <a:p>
            <a:endParaRPr lang="en-US"/>
          </a:p>
        </p:txBody>
      </p:sp>
      <p:sp>
        <p:nvSpPr>
          <p:cNvPr id="32" name="Text 29"/>
          <p:cNvSpPr txBox="1"/>
          <p:nvPr/>
        </p:nvSpPr>
        <p:spPr>
          <a:xfrm>
            <a:off x="5637550" y="1096517"/>
            <a:ext cx="1350569" cy="384048"/>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Behind, 3/4</a:t>
            </a:r>
            <a:endParaRPr lang="en-US" sz="1200" dirty="0"/>
          </a:p>
        </p:txBody>
      </p:sp>
      <p:sp>
        <p:nvSpPr>
          <p:cNvPr id="34" name="Text 31"/>
          <p:cNvSpPr txBox="1"/>
          <p:nvPr/>
        </p:nvSpPr>
        <p:spPr>
          <a:xfrm>
            <a:off x="5637550" y="1412050"/>
            <a:ext cx="1350569" cy="621792"/>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Mostly silhouette with a bright edge. The face stays a mystery.</a:t>
            </a:r>
            <a:endParaRPr lang="en-US" sz="950" dirty="0"/>
          </a:p>
        </p:txBody>
      </p:sp>
      <p:sp>
        <p:nvSpPr>
          <p:cNvPr id="35" name="Shape 32"/>
          <p:cNvSpPr/>
          <p:nvPr/>
        </p:nvSpPr>
        <p:spPr>
          <a:xfrm>
            <a:off x="7256678" y="1158352"/>
            <a:ext cx="1594714" cy="915113"/>
          </a:xfrm>
          <a:prstGeom prst="rect">
            <a:avLst/>
          </a:prstGeom>
          <a:solidFill>
            <a:srgbClr val="00B8B8"/>
          </a:solidFill>
          <a:ln/>
        </p:spPr>
        <p:txBody>
          <a:bodyPr/>
          <a:lstStyle/>
          <a:p>
            <a:endParaRPr lang="en-US"/>
          </a:p>
        </p:txBody>
      </p:sp>
      <p:sp>
        <p:nvSpPr>
          <p:cNvPr id="36" name="Shape 33"/>
          <p:cNvSpPr/>
          <p:nvPr/>
        </p:nvSpPr>
        <p:spPr>
          <a:xfrm>
            <a:off x="7271949" y="1173623"/>
            <a:ext cx="1564173" cy="213238"/>
          </a:xfrm>
          <a:prstGeom prst="rect">
            <a:avLst/>
          </a:prstGeom>
          <a:solidFill>
            <a:srgbClr val="094043"/>
          </a:solidFill>
          <a:ln/>
        </p:spPr>
        <p:txBody>
          <a:bodyPr/>
          <a:lstStyle/>
          <a:p>
            <a:endParaRPr lang="en-US"/>
          </a:p>
        </p:txBody>
      </p:sp>
      <p:sp>
        <p:nvSpPr>
          <p:cNvPr id="37" name="Shape 34"/>
          <p:cNvSpPr/>
          <p:nvPr/>
        </p:nvSpPr>
        <p:spPr>
          <a:xfrm>
            <a:off x="7271949" y="1386862"/>
            <a:ext cx="1564173" cy="677022"/>
          </a:xfrm>
          <a:prstGeom prst="rect">
            <a:avLst/>
          </a:prstGeom>
          <a:solidFill>
            <a:srgbClr val="041D1C"/>
          </a:solidFill>
          <a:ln/>
        </p:spPr>
        <p:txBody>
          <a:bodyPr/>
          <a:lstStyle/>
          <a:p>
            <a:endParaRPr lang="en-US"/>
          </a:p>
        </p:txBody>
      </p:sp>
      <p:sp>
        <p:nvSpPr>
          <p:cNvPr id="38" name="Text 35"/>
          <p:cNvSpPr txBox="1"/>
          <p:nvPr/>
        </p:nvSpPr>
        <p:spPr>
          <a:xfrm>
            <a:off x="7378568" y="1096517"/>
            <a:ext cx="1350569" cy="384048"/>
          </a:xfrm>
          <a:prstGeom prst="rect">
            <a:avLst/>
          </a:prstGeom>
          <a:noFill/>
          <a:ln/>
        </p:spPr>
        <p:txBody>
          <a:bodyPr wrap="square" lIns="0" tIns="0" rIns="0" bIns="0" rtlCol="0" anchor="ctr"/>
          <a:lstStyle/>
          <a:p>
            <a:pPr marL="0" indent="0">
              <a:lnSpc>
                <a:spcPct val="105000"/>
              </a:lnSpc>
              <a:buNone/>
            </a:pPr>
            <a:r>
              <a:rPr lang="en-US" sz="1200" b="1" dirty="0">
                <a:solidFill>
                  <a:srgbClr val="80E0E0"/>
                </a:solidFill>
                <a:latin typeface="Arial" pitchFamily="34" charset="0"/>
                <a:ea typeface="Arial" pitchFamily="34" charset="-122"/>
                <a:cs typeface="Arial" pitchFamily="34" charset="-120"/>
              </a:rPr>
              <a:t>Below</a:t>
            </a:r>
            <a:endParaRPr lang="en-US" sz="1200" dirty="0"/>
          </a:p>
        </p:txBody>
      </p:sp>
      <p:sp>
        <p:nvSpPr>
          <p:cNvPr id="40" name="Text 37"/>
          <p:cNvSpPr txBox="1"/>
          <p:nvPr/>
        </p:nvSpPr>
        <p:spPr>
          <a:xfrm>
            <a:off x="7378568" y="1412050"/>
            <a:ext cx="1350569" cy="621792"/>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Shadows run upward. Everything about it reads wrong.</a:t>
            </a:r>
            <a:endParaRPr lang="en-US" sz="950" dirty="0"/>
          </a:p>
        </p:txBody>
      </p:sp>
      <p:pic>
        <p:nvPicPr>
          <p:cNvPr id="48" name="Picture 47" descr="Generated image 2">
            <a:extLst>
              <a:ext uri="{FF2B5EF4-FFF2-40B4-BE49-F238E27FC236}">
                <a16:creationId xmlns:a16="http://schemas.microsoft.com/office/drawing/2014/main" id="{E88A11DD-B553-8621-C541-79D01B19D40C}"/>
              </a:ext>
            </a:extLst>
          </p:cNvPr>
          <p:cNvPicPr>
            <a:picLocks noChangeAspect="1"/>
          </p:cNvPicPr>
          <p:nvPr/>
        </p:nvPicPr>
        <p:blipFill>
          <a:blip r:embed="rId4"/>
          <a:stretch>
            <a:fillRect/>
          </a:stretch>
        </p:blipFill>
        <p:spPr>
          <a:xfrm>
            <a:off x="849979" y="2114024"/>
            <a:ext cx="7444042" cy="297461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E62429"/>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FFB3B6"/>
                </a:solidFill>
                <a:latin typeface="Oswald" pitchFamily="34" charset="0"/>
                <a:ea typeface="Oswald" pitchFamily="34" charset="-122"/>
                <a:cs typeface="Oswald" pitchFamily="34" charset="-120"/>
              </a:rPr>
              <a:t>THE MONSTER LIGHT</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FFB3B6"/>
                </a:solidFill>
                <a:latin typeface="Oswald" pitchFamily="34" charset="0"/>
                <a:ea typeface="Oswald" pitchFamily="34" charset="-122"/>
                <a:cs typeface="Oswald" pitchFamily="34" charset="-120"/>
              </a:rPr>
              <a:t>IDEA 07 / 14</a:t>
            </a:r>
            <a:endParaRPr lang="en-US" sz="900" dirty="0"/>
          </a:p>
        </p:txBody>
      </p:sp>
      <p:sp>
        <p:nvSpPr>
          <p:cNvPr id="8" name="Shape 4"/>
          <p:cNvSpPr/>
          <p:nvPr/>
        </p:nvSpPr>
        <p:spPr>
          <a:xfrm>
            <a:off x="859536" y="699516"/>
            <a:ext cx="457017" cy="22860"/>
          </a:xfrm>
          <a:prstGeom prst="rect">
            <a:avLst/>
          </a:prstGeom>
          <a:solidFill>
            <a:srgbClr val="E62429"/>
          </a:solidFill>
          <a:ln/>
        </p:spPr>
        <p:txBody>
          <a:bodyPr/>
          <a:lstStyle/>
          <a:p>
            <a:endParaRPr lang="en-US"/>
          </a:p>
        </p:txBody>
      </p:sp>
      <p:sp>
        <p:nvSpPr>
          <p:cNvPr id="9" name="Shape 5"/>
          <p:cNvSpPr/>
          <p:nvPr/>
        </p:nvSpPr>
        <p:spPr>
          <a:xfrm>
            <a:off x="292608" y="996696"/>
            <a:ext cx="4608576" cy="958291"/>
          </a:xfrm>
          <a:prstGeom prst="rect">
            <a:avLst/>
          </a:prstGeom>
          <a:solidFill>
            <a:srgbClr val="E62429">
              <a:alpha val="6000"/>
            </a:srgbClr>
          </a:solidFill>
          <a:ln w="12700">
            <a:solidFill>
              <a:srgbClr val="531213"/>
            </a:solidFill>
            <a:prstDash val="solid"/>
          </a:ln>
        </p:spPr>
        <p:txBody>
          <a:bodyPr/>
          <a:lstStyle/>
          <a:p>
            <a:endParaRPr lang="en-US"/>
          </a:p>
        </p:txBody>
      </p:sp>
      <p:sp>
        <p:nvSpPr>
          <p:cNvPr id="10" name="Shape 6"/>
          <p:cNvSpPr/>
          <p:nvPr/>
        </p:nvSpPr>
        <p:spPr>
          <a:xfrm>
            <a:off x="292608" y="996696"/>
            <a:ext cx="45720" cy="958291"/>
          </a:xfrm>
          <a:prstGeom prst="rect">
            <a:avLst/>
          </a:prstGeom>
          <a:solidFill>
            <a:srgbClr val="E62429"/>
          </a:solidFill>
          <a:ln/>
        </p:spPr>
        <p:txBody>
          <a:bodyPr/>
          <a:lstStyle/>
          <a:p>
            <a:endParaRPr lang="en-US"/>
          </a:p>
        </p:txBody>
      </p:sp>
      <p:sp>
        <p:nvSpPr>
          <p:cNvPr id="11" name="Text 7"/>
          <p:cNvSpPr txBox="1"/>
          <p:nvPr/>
        </p:nvSpPr>
        <p:spPr>
          <a:xfrm>
            <a:off x="521208" y="1149401"/>
            <a:ext cx="4212641" cy="690372"/>
          </a:xfrm>
          <a:prstGeom prst="rect">
            <a:avLst/>
          </a:prstGeom>
          <a:noFill/>
          <a:ln/>
        </p:spPr>
        <p:txBody>
          <a:bodyPr wrap="square" lIns="0" tIns="0" rIns="0" bIns="0" rtlCol="0" anchor="t"/>
          <a:lstStyle/>
          <a:p>
            <a:pPr marL="0" indent="0">
              <a:lnSpc>
                <a:spcPct val="135000"/>
              </a:lnSpc>
              <a:buNone/>
            </a:pPr>
            <a:r>
              <a:rPr lang="en-US" sz="1200" dirty="0">
                <a:solidFill>
                  <a:srgbClr val="FFB3B6"/>
                </a:solidFill>
                <a:latin typeface="Arial" pitchFamily="34" charset="0"/>
                <a:ea typeface="Arial" pitchFamily="34" charset="-122"/>
                <a:cs typeface="Arial" pitchFamily="34" charset="-120"/>
              </a:rPr>
              <a:t>Put the light below the chin and aim it up. This one trick has been scaring people since before film existed, and here is the reason it works.</a:t>
            </a:r>
            <a:endParaRPr lang="en-US" sz="1200" dirty="0"/>
          </a:p>
        </p:txBody>
      </p:sp>
      <p:sp>
        <p:nvSpPr>
          <p:cNvPr id="12" name="Shape 8"/>
          <p:cNvSpPr/>
          <p:nvPr/>
        </p:nvSpPr>
        <p:spPr>
          <a:xfrm>
            <a:off x="292608" y="2119579"/>
            <a:ext cx="310896" cy="310896"/>
          </a:xfrm>
          <a:prstGeom prst="rect">
            <a:avLst/>
          </a:prstGeom>
          <a:solidFill>
            <a:srgbClr val="E62429"/>
          </a:solidFill>
          <a:ln/>
        </p:spPr>
        <p:txBody>
          <a:bodyPr/>
          <a:lstStyle/>
          <a:p>
            <a:endParaRPr lang="en-US"/>
          </a:p>
        </p:txBody>
      </p:sp>
      <p:sp>
        <p:nvSpPr>
          <p:cNvPr id="13" name="Text 9"/>
          <p:cNvSpPr txBox="1"/>
          <p:nvPr/>
        </p:nvSpPr>
        <p:spPr>
          <a:xfrm>
            <a:off x="292608" y="21195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4" name="Text 10"/>
          <p:cNvSpPr txBox="1"/>
          <p:nvPr/>
        </p:nvSpPr>
        <p:spPr>
          <a:xfrm>
            <a:off x="768096" y="21012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FFB3B6"/>
                </a:solidFill>
                <a:latin typeface="Oswald" pitchFamily="34" charset="0"/>
                <a:ea typeface="Oswald" pitchFamily="34" charset="-122"/>
                <a:cs typeface="Oswald" pitchFamily="34" charset="-120"/>
              </a:rPr>
              <a:t>LIGHT HAS COME FROM ABOVE YOUR WHOLE LIFE</a:t>
            </a:r>
            <a:endParaRPr lang="en-US" sz="1250" dirty="0"/>
          </a:p>
        </p:txBody>
      </p:sp>
      <p:sp>
        <p:nvSpPr>
          <p:cNvPr id="15" name="Text 11"/>
          <p:cNvSpPr txBox="1"/>
          <p:nvPr/>
        </p:nvSpPr>
        <p:spPr>
          <a:xfrm>
            <a:off x="768096" y="236646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The sun, the ceiling, a campfire. Your brain has twenty thousand years of expecting shadows to fall downward.</a:t>
            </a:r>
            <a:endParaRPr lang="en-US" sz="1050" dirty="0"/>
          </a:p>
        </p:txBody>
      </p:sp>
      <p:sp>
        <p:nvSpPr>
          <p:cNvPr id="16" name="Shape 12"/>
          <p:cNvSpPr/>
          <p:nvPr/>
        </p:nvSpPr>
        <p:spPr>
          <a:xfrm>
            <a:off x="292608" y="2919679"/>
            <a:ext cx="310896" cy="310896"/>
          </a:xfrm>
          <a:prstGeom prst="rect">
            <a:avLst/>
          </a:prstGeom>
          <a:solidFill>
            <a:srgbClr val="E62429"/>
          </a:solidFill>
          <a:ln/>
        </p:spPr>
        <p:txBody>
          <a:bodyPr/>
          <a:lstStyle/>
          <a:p>
            <a:endParaRPr lang="en-US"/>
          </a:p>
        </p:txBody>
      </p:sp>
      <p:sp>
        <p:nvSpPr>
          <p:cNvPr id="17" name="Text 13"/>
          <p:cNvSpPr txBox="1"/>
          <p:nvPr/>
        </p:nvSpPr>
        <p:spPr>
          <a:xfrm>
            <a:off x="292608" y="29196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8" name="Text 14"/>
          <p:cNvSpPr txBox="1"/>
          <p:nvPr/>
        </p:nvSpPr>
        <p:spPr>
          <a:xfrm>
            <a:off x="768096" y="29013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FFB3B6"/>
                </a:solidFill>
                <a:latin typeface="Oswald" pitchFamily="34" charset="0"/>
                <a:ea typeface="Oswald" pitchFamily="34" charset="-122"/>
                <a:cs typeface="Oswald" pitchFamily="34" charset="-120"/>
              </a:rPr>
              <a:t>UNDER LIGHT FLIPS IT</a:t>
            </a:r>
            <a:endParaRPr lang="en-US" sz="1250" dirty="0"/>
          </a:p>
        </p:txBody>
      </p:sp>
      <p:sp>
        <p:nvSpPr>
          <p:cNvPr id="19" name="Text 15"/>
          <p:cNvSpPr txBox="1"/>
          <p:nvPr/>
        </p:nvSpPr>
        <p:spPr>
          <a:xfrm>
            <a:off x="768096" y="316656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Now the shadows climb up. The brow casts upward. The nose shadow runs onto the forehead.</a:t>
            </a:r>
            <a:endParaRPr lang="en-US" sz="1050" dirty="0"/>
          </a:p>
        </p:txBody>
      </p:sp>
      <p:sp>
        <p:nvSpPr>
          <p:cNvPr id="20" name="Shape 16"/>
          <p:cNvSpPr/>
          <p:nvPr/>
        </p:nvSpPr>
        <p:spPr>
          <a:xfrm>
            <a:off x="292608" y="3719779"/>
            <a:ext cx="310896" cy="310896"/>
          </a:xfrm>
          <a:prstGeom prst="rect">
            <a:avLst/>
          </a:prstGeom>
          <a:solidFill>
            <a:srgbClr val="E62429"/>
          </a:solidFill>
          <a:ln/>
        </p:spPr>
        <p:txBody>
          <a:bodyPr/>
          <a:lstStyle/>
          <a:p>
            <a:endParaRPr lang="en-US"/>
          </a:p>
        </p:txBody>
      </p:sp>
      <p:sp>
        <p:nvSpPr>
          <p:cNvPr id="21" name="Text 17"/>
          <p:cNvSpPr txBox="1"/>
          <p:nvPr/>
        </p:nvSpPr>
        <p:spPr>
          <a:xfrm>
            <a:off x="292608" y="371977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22" name="Text 18"/>
          <p:cNvSpPr txBox="1"/>
          <p:nvPr/>
        </p:nvSpPr>
        <p:spPr>
          <a:xfrm>
            <a:off x="768096" y="370149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FFB3B6"/>
                </a:solidFill>
                <a:latin typeface="Oswald" pitchFamily="34" charset="0"/>
                <a:ea typeface="Oswald" pitchFamily="34" charset="-122"/>
                <a:cs typeface="Oswald" pitchFamily="34" charset="-120"/>
              </a:rPr>
              <a:t>YOU FEEL IT BEFORE YOU CAN EXPLAIN IT</a:t>
            </a:r>
            <a:endParaRPr lang="en-US" sz="1250" dirty="0"/>
          </a:p>
        </p:txBody>
      </p:sp>
      <p:sp>
        <p:nvSpPr>
          <p:cNvPr id="23" name="Text 19"/>
          <p:cNvSpPr txBox="1"/>
          <p:nvPr/>
        </p:nvSpPr>
        <p:spPr>
          <a:xfrm>
            <a:off x="768096" y="396666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Nobody looks at that photo and thinks about shadow direction. They just think something is off.</a:t>
            </a:r>
            <a:endParaRPr lang="en-US" sz="1050" dirty="0"/>
          </a:p>
        </p:txBody>
      </p:sp>
      <p:sp>
        <p:nvSpPr>
          <p:cNvPr id="28" name="Shape 24"/>
          <p:cNvSpPr/>
          <p:nvPr/>
        </p:nvSpPr>
        <p:spPr>
          <a:xfrm>
            <a:off x="0" y="4681728"/>
            <a:ext cx="9144000" cy="22860"/>
          </a:xfrm>
          <a:prstGeom prst="rect">
            <a:avLst/>
          </a:prstGeom>
          <a:solidFill>
            <a:srgbClr val="E62429"/>
          </a:solidFill>
          <a:ln/>
        </p:spPr>
        <p:txBody>
          <a:bodyPr/>
          <a:lstStyle/>
          <a:p>
            <a:endParaRPr lang="en-US"/>
          </a:p>
        </p:txBody>
      </p:sp>
      <p:sp>
        <p:nvSpPr>
          <p:cNvPr id="29" name="Text 25"/>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30" name="Picture 29" descr="Generated image 3">
            <a:extLst>
              <a:ext uri="{FF2B5EF4-FFF2-40B4-BE49-F238E27FC236}">
                <a16:creationId xmlns:a16="http://schemas.microsoft.com/office/drawing/2014/main" id="{FF5974A8-0E24-A5D1-0A83-6C9A00A3D277}"/>
              </a:ext>
            </a:extLst>
          </p:cNvPr>
          <p:cNvPicPr>
            <a:picLocks noChangeAspect="1"/>
          </p:cNvPicPr>
          <p:nvPr/>
        </p:nvPicPr>
        <p:blipFill>
          <a:blip r:embed="rId5"/>
          <a:srcRect l="20624" r="23098" b="13029"/>
          <a:stretch>
            <a:fillRect/>
          </a:stretch>
        </p:blipFill>
        <p:spPr>
          <a:xfrm>
            <a:off x="5575569" y="701735"/>
            <a:ext cx="3047223" cy="3531820"/>
          </a:xfrm>
          <a:prstGeom prst="rect">
            <a:avLst/>
          </a:prstGeom>
        </p:spPr>
      </p:pic>
      <p:sp>
        <p:nvSpPr>
          <p:cNvPr id="7030" name="CaptionBar7030"/>
          <p:cNvSpPr/>
          <p:nvPr/>
        </p:nvSpPr>
        <p:spPr>
          <a:xfrm>
            <a:off x="5575569" y="4240312"/>
            <a:ext cx="3047223" cy="429768"/>
          </a:xfrm>
          <a:prstGeom prst="rect">
            <a:avLst/>
          </a:prstGeom>
          <a:solidFill>
            <a:srgbClr val="000000">
              <a:alpha val="78000"/>
            </a:srgbClr>
          </a:solidFill>
          <a:ln>
            <a:noFill/>
          </a:ln>
        </p:spPr>
        <p:txBody>
          <a:bodyPr/>
          <a:lstStyle/>
          <a:p>
            <a:endParaRPr/>
          </a:p>
        </p:txBody>
      </p:sp>
      <p:sp>
        <p:nvSpPr>
          <p:cNvPr id="7031" name="Caption7031"/>
          <p:cNvSpPr txBox="1"/>
          <p:nvPr/>
        </p:nvSpPr>
        <p:spPr>
          <a:xfrm>
            <a:off x="5676152" y="4288900"/>
            <a:ext cx="2846055" cy="282433"/>
          </a:xfrm>
          <a:prstGeom prst="rect">
            <a:avLst/>
          </a:prstGeom>
          <a:noFill/>
        </p:spPr>
        <p:txBody>
          <a:bodyPr wrap="square" lIns="0" tIns="0" rIns="0" bIns="0" anchor="ctr">
            <a:noAutofit/>
          </a:bodyPr>
          <a:lstStyle/>
          <a:p>
            <a:pPr algn="ctr"/>
            <a:r>
              <a:rPr lang="en-US" sz="900" b="1" dirty="0">
                <a:solidFill>
                  <a:srgbClr val="FFFFFF"/>
                </a:solidFill>
                <a:latin typeface="Arial"/>
                <a:cs typeface="Arial"/>
              </a:rPr>
              <a:t>Light below the chin. The shadows climb up instead of falling down.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F5B301"/>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FFD166"/>
                </a:solidFill>
                <a:latin typeface="Oswald" pitchFamily="34" charset="0"/>
                <a:ea typeface="Oswald" pitchFamily="34" charset="-122"/>
                <a:cs typeface="Oswald" pitchFamily="34" charset="-120"/>
              </a:rPr>
              <a:t>KEEPING A DARK SUBJECT OFF A DARK BACKDROP</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FFD166"/>
                </a:solidFill>
                <a:latin typeface="Oswald" pitchFamily="34" charset="0"/>
                <a:ea typeface="Oswald" pitchFamily="34" charset="-122"/>
                <a:cs typeface="Oswald" pitchFamily="34" charset="-120"/>
              </a:rPr>
              <a:t>IDEA 08 / 15</a:t>
            </a:r>
            <a:endParaRPr lang="en-US" sz="900" dirty="0"/>
          </a:p>
        </p:txBody>
      </p:sp>
      <p:sp>
        <p:nvSpPr>
          <p:cNvPr id="8" name="Shape 5"/>
          <p:cNvSpPr/>
          <p:nvPr/>
        </p:nvSpPr>
        <p:spPr>
          <a:xfrm>
            <a:off x="292608" y="729194"/>
            <a:ext cx="8558784" cy="441471"/>
          </a:xfrm>
          <a:prstGeom prst="rect">
            <a:avLst/>
          </a:prstGeom>
          <a:solidFill>
            <a:srgbClr val="F5B301">
              <a:alpha val="6000"/>
            </a:srgbClr>
          </a:solidFill>
          <a:ln w="12700">
            <a:solidFill>
              <a:srgbClr val="594206"/>
            </a:solidFill>
            <a:prstDash val="solid"/>
          </a:ln>
        </p:spPr>
        <p:txBody>
          <a:bodyPr/>
          <a:lstStyle/>
          <a:p>
            <a:endParaRPr lang="en-US"/>
          </a:p>
        </p:txBody>
      </p:sp>
      <p:sp>
        <p:nvSpPr>
          <p:cNvPr id="9" name="Shape 6"/>
          <p:cNvSpPr/>
          <p:nvPr/>
        </p:nvSpPr>
        <p:spPr>
          <a:xfrm>
            <a:off x="292608" y="729194"/>
            <a:ext cx="45720" cy="441471"/>
          </a:xfrm>
          <a:prstGeom prst="rect">
            <a:avLst/>
          </a:prstGeom>
          <a:solidFill>
            <a:srgbClr val="F5B301"/>
          </a:solidFill>
          <a:ln/>
        </p:spPr>
        <p:txBody>
          <a:bodyPr/>
          <a:lstStyle/>
          <a:p>
            <a:endParaRPr lang="en-US"/>
          </a:p>
        </p:txBody>
      </p:sp>
      <p:sp>
        <p:nvSpPr>
          <p:cNvPr id="10" name="Text 7"/>
          <p:cNvSpPr txBox="1"/>
          <p:nvPr/>
        </p:nvSpPr>
        <p:spPr>
          <a:xfrm>
            <a:off x="521208" y="767815"/>
            <a:ext cx="8162849" cy="402850"/>
          </a:xfrm>
          <a:prstGeom prst="rect">
            <a:avLst/>
          </a:prstGeom>
          <a:noFill/>
          <a:ln/>
        </p:spPr>
        <p:txBody>
          <a:bodyPr wrap="square" lIns="0" tIns="0" rIns="0" bIns="0" rtlCol="0" anchor="t"/>
          <a:lstStyle/>
          <a:p>
            <a:pPr marL="0" indent="0">
              <a:buNone/>
            </a:pPr>
            <a:r>
              <a:rPr lang="en-US" sz="1200" dirty="0">
                <a:solidFill>
                  <a:srgbClr val="FFD166"/>
                </a:solidFill>
                <a:latin typeface="Arial" pitchFamily="34" charset="0"/>
                <a:ea typeface="Arial" pitchFamily="34" charset="-122"/>
                <a:cs typeface="Arial" pitchFamily="34" charset="-120"/>
              </a:rPr>
              <a:t>Dark hair on a black backdrop turns into one black blob. Fixing that is the whole job of a second light, and it is the single biggest upgrade from one light to two.</a:t>
            </a:r>
            <a:endParaRPr lang="en-US" sz="1200" dirty="0"/>
          </a:p>
        </p:txBody>
      </p:sp>
      <p:sp>
        <p:nvSpPr>
          <p:cNvPr id="11" name="Shape 8"/>
          <p:cNvSpPr/>
          <p:nvPr/>
        </p:nvSpPr>
        <p:spPr>
          <a:xfrm>
            <a:off x="292608" y="1223203"/>
            <a:ext cx="2706624" cy="1120445"/>
          </a:xfrm>
          <a:prstGeom prst="rect">
            <a:avLst/>
          </a:prstGeom>
          <a:solidFill>
            <a:srgbClr val="F5B301"/>
          </a:solidFill>
          <a:ln/>
        </p:spPr>
        <p:txBody>
          <a:bodyPr/>
          <a:lstStyle/>
          <a:p>
            <a:endParaRPr lang="en-US"/>
          </a:p>
        </p:txBody>
      </p:sp>
      <p:sp>
        <p:nvSpPr>
          <p:cNvPr id="12" name="Shape 9"/>
          <p:cNvSpPr/>
          <p:nvPr/>
        </p:nvSpPr>
        <p:spPr>
          <a:xfrm>
            <a:off x="307878" y="1238474"/>
            <a:ext cx="2676083" cy="213238"/>
          </a:xfrm>
          <a:prstGeom prst="rect">
            <a:avLst/>
          </a:prstGeom>
          <a:solidFill>
            <a:srgbClr val="33280A"/>
          </a:solidFill>
          <a:ln/>
        </p:spPr>
        <p:txBody>
          <a:bodyPr/>
          <a:lstStyle/>
          <a:p>
            <a:endParaRPr lang="en-US"/>
          </a:p>
        </p:txBody>
      </p:sp>
      <p:sp>
        <p:nvSpPr>
          <p:cNvPr id="13" name="Shape 10"/>
          <p:cNvSpPr/>
          <p:nvPr/>
        </p:nvSpPr>
        <p:spPr>
          <a:xfrm>
            <a:off x="307878" y="1451712"/>
            <a:ext cx="2676083" cy="858069"/>
          </a:xfrm>
          <a:prstGeom prst="rect">
            <a:avLst/>
          </a:prstGeom>
          <a:solidFill>
            <a:srgbClr val="1A1405"/>
          </a:solidFill>
          <a:ln/>
        </p:spPr>
        <p:txBody>
          <a:bodyPr/>
          <a:lstStyle/>
          <a:p>
            <a:endParaRPr lang="en-US"/>
          </a:p>
        </p:txBody>
      </p:sp>
      <p:sp>
        <p:nvSpPr>
          <p:cNvPr id="14" name="Text 11"/>
          <p:cNvSpPr txBox="1"/>
          <p:nvPr/>
        </p:nvSpPr>
        <p:spPr>
          <a:xfrm>
            <a:off x="460218" y="1232549"/>
            <a:ext cx="2371039" cy="256032"/>
          </a:xfrm>
          <a:prstGeom prst="rect">
            <a:avLst/>
          </a:prstGeom>
          <a:noFill/>
          <a:ln/>
        </p:spPr>
        <p:txBody>
          <a:bodyPr wrap="square" lIns="0" tIns="0" rIns="0" bIns="0" rtlCol="0" anchor="ctr"/>
          <a:lstStyle/>
          <a:p>
            <a:pPr marL="0" indent="0">
              <a:lnSpc>
                <a:spcPct val="105000"/>
              </a:lnSpc>
              <a:buNone/>
            </a:pPr>
            <a:r>
              <a:rPr lang="en-US" sz="1250" b="1" dirty="0">
                <a:solidFill>
                  <a:srgbClr val="FFD166"/>
                </a:solidFill>
                <a:latin typeface="Arial" pitchFamily="34" charset="0"/>
                <a:ea typeface="Arial" pitchFamily="34" charset="-122"/>
                <a:cs typeface="Arial" pitchFamily="34" charset="-120"/>
              </a:rPr>
              <a:t>Rim light</a:t>
            </a:r>
            <a:endParaRPr lang="en-US" sz="1250" dirty="0"/>
          </a:p>
        </p:txBody>
      </p:sp>
      <p:sp>
        <p:nvSpPr>
          <p:cNvPr id="16" name="Text 13"/>
          <p:cNvSpPr txBox="1"/>
          <p:nvPr/>
        </p:nvSpPr>
        <p:spPr>
          <a:xfrm>
            <a:off x="460218" y="1456947"/>
            <a:ext cx="2371039" cy="93268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Second light behind the subject and off to one side, aimed at the edge of the head and shoulder. A thin line carves them off the background.</a:t>
            </a:r>
            <a:endParaRPr lang="en-US" sz="1000" dirty="0"/>
          </a:p>
        </p:txBody>
      </p:sp>
      <p:sp>
        <p:nvSpPr>
          <p:cNvPr id="17" name="Shape 14"/>
          <p:cNvSpPr/>
          <p:nvPr/>
        </p:nvSpPr>
        <p:spPr>
          <a:xfrm>
            <a:off x="3218688" y="1223203"/>
            <a:ext cx="2706624" cy="1120445"/>
          </a:xfrm>
          <a:prstGeom prst="rect">
            <a:avLst/>
          </a:prstGeom>
          <a:solidFill>
            <a:srgbClr val="F5B301"/>
          </a:solidFill>
          <a:ln/>
        </p:spPr>
        <p:txBody>
          <a:bodyPr/>
          <a:lstStyle/>
          <a:p>
            <a:endParaRPr lang="en-US"/>
          </a:p>
        </p:txBody>
      </p:sp>
      <p:sp>
        <p:nvSpPr>
          <p:cNvPr id="18" name="Shape 15"/>
          <p:cNvSpPr/>
          <p:nvPr/>
        </p:nvSpPr>
        <p:spPr>
          <a:xfrm>
            <a:off x="3233958" y="1238474"/>
            <a:ext cx="2676083" cy="213238"/>
          </a:xfrm>
          <a:prstGeom prst="rect">
            <a:avLst/>
          </a:prstGeom>
          <a:solidFill>
            <a:srgbClr val="33280A"/>
          </a:solidFill>
          <a:ln/>
        </p:spPr>
        <p:txBody>
          <a:bodyPr/>
          <a:lstStyle/>
          <a:p>
            <a:endParaRPr lang="en-US"/>
          </a:p>
        </p:txBody>
      </p:sp>
      <p:sp>
        <p:nvSpPr>
          <p:cNvPr id="19" name="Shape 16"/>
          <p:cNvSpPr/>
          <p:nvPr/>
        </p:nvSpPr>
        <p:spPr>
          <a:xfrm>
            <a:off x="3233958" y="1451712"/>
            <a:ext cx="2676083" cy="858069"/>
          </a:xfrm>
          <a:prstGeom prst="rect">
            <a:avLst/>
          </a:prstGeom>
          <a:solidFill>
            <a:srgbClr val="1A1405"/>
          </a:solidFill>
          <a:ln/>
        </p:spPr>
        <p:txBody>
          <a:bodyPr/>
          <a:lstStyle/>
          <a:p>
            <a:endParaRPr lang="en-US"/>
          </a:p>
        </p:txBody>
      </p:sp>
      <p:sp>
        <p:nvSpPr>
          <p:cNvPr id="20" name="Text 17"/>
          <p:cNvSpPr txBox="1"/>
          <p:nvPr/>
        </p:nvSpPr>
        <p:spPr>
          <a:xfrm>
            <a:off x="3386298" y="1232549"/>
            <a:ext cx="2371039" cy="256032"/>
          </a:xfrm>
          <a:prstGeom prst="rect">
            <a:avLst/>
          </a:prstGeom>
          <a:noFill/>
          <a:ln/>
        </p:spPr>
        <p:txBody>
          <a:bodyPr wrap="square" lIns="0" tIns="0" rIns="0" bIns="0" rtlCol="0" anchor="ctr"/>
          <a:lstStyle/>
          <a:p>
            <a:pPr marL="0" indent="0">
              <a:lnSpc>
                <a:spcPct val="105000"/>
              </a:lnSpc>
              <a:buNone/>
            </a:pPr>
            <a:r>
              <a:rPr lang="en-US" sz="1250" b="1" dirty="0">
                <a:solidFill>
                  <a:srgbClr val="FFD166"/>
                </a:solidFill>
                <a:latin typeface="Arial" pitchFamily="34" charset="0"/>
                <a:ea typeface="Arial" pitchFamily="34" charset="-122"/>
                <a:cs typeface="Arial" pitchFamily="34" charset="-120"/>
              </a:rPr>
              <a:t>Background light</a:t>
            </a:r>
            <a:endParaRPr lang="en-US" sz="1250" dirty="0"/>
          </a:p>
        </p:txBody>
      </p:sp>
      <p:sp>
        <p:nvSpPr>
          <p:cNvPr id="22" name="Text 19"/>
          <p:cNvSpPr txBox="1"/>
          <p:nvPr/>
        </p:nvSpPr>
        <p:spPr>
          <a:xfrm>
            <a:off x="3386298" y="1456947"/>
            <a:ext cx="2371039" cy="93268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Aim the second light at the backdrop instead. Now the subject is a dark shape on a glowing pool. This is the silhouette move.</a:t>
            </a:r>
            <a:endParaRPr lang="en-US" sz="1000" dirty="0"/>
          </a:p>
        </p:txBody>
      </p:sp>
      <p:sp>
        <p:nvSpPr>
          <p:cNvPr id="23" name="Shape 20"/>
          <p:cNvSpPr/>
          <p:nvPr/>
        </p:nvSpPr>
        <p:spPr>
          <a:xfrm>
            <a:off x="6144768" y="1223203"/>
            <a:ext cx="2706624" cy="1120445"/>
          </a:xfrm>
          <a:prstGeom prst="rect">
            <a:avLst/>
          </a:prstGeom>
          <a:solidFill>
            <a:srgbClr val="F5B301"/>
          </a:solidFill>
          <a:ln/>
        </p:spPr>
        <p:txBody>
          <a:bodyPr/>
          <a:lstStyle/>
          <a:p>
            <a:endParaRPr lang="en-US"/>
          </a:p>
        </p:txBody>
      </p:sp>
      <p:sp>
        <p:nvSpPr>
          <p:cNvPr id="24" name="Shape 21"/>
          <p:cNvSpPr/>
          <p:nvPr/>
        </p:nvSpPr>
        <p:spPr>
          <a:xfrm>
            <a:off x="6160038" y="1238474"/>
            <a:ext cx="2676083" cy="213238"/>
          </a:xfrm>
          <a:prstGeom prst="rect">
            <a:avLst/>
          </a:prstGeom>
          <a:solidFill>
            <a:srgbClr val="33280A"/>
          </a:solidFill>
          <a:ln/>
        </p:spPr>
        <p:txBody>
          <a:bodyPr/>
          <a:lstStyle/>
          <a:p>
            <a:endParaRPr lang="en-US"/>
          </a:p>
        </p:txBody>
      </p:sp>
      <p:sp>
        <p:nvSpPr>
          <p:cNvPr id="25" name="Shape 22"/>
          <p:cNvSpPr/>
          <p:nvPr/>
        </p:nvSpPr>
        <p:spPr>
          <a:xfrm>
            <a:off x="6160038" y="1451712"/>
            <a:ext cx="2676083" cy="858069"/>
          </a:xfrm>
          <a:prstGeom prst="rect">
            <a:avLst/>
          </a:prstGeom>
          <a:solidFill>
            <a:srgbClr val="1A1405"/>
          </a:solidFill>
          <a:ln/>
        </p:spPr>
        <p:txBody>
          <a:bodyPr/>
          <a:lstStyle/>
          <a:p>
            <a:endParaRPr lang="en-US"/>
          </a:p>
        </p:txBody>
      </p:sp>
      <p:sp>
        <p:nvSpPr>
          <p:cNvPr id="26" name="Text 23"/>
          <p:cNvSpPr txBox="1"/>
          <p:nvPr/>
        </p:nvSpPr>
        <p:spPr>
          <a:xfrm>
            <a:off x="6312378" y="1232549"/>
            <a:ext cx="2371039" cy="256032"/>
          </a:xfrm>
          <a:prstGeom prst="rect">
            <a:avLst/>
          </a:prstGeom>
          <a:noFill/>
          <a:ln/>
        </p:spPr>
        <p:txBody>
          <a:bodyPr wrap="square" lIns="0" tIns="0" rIns="0" bIns="0" rtlCol="0" anchor="ctr"/>
          <a:lstStyle/>
          <a:p>
            <a:pPr marL="0" indent="0">
              <a:lnSpc>
                <a:spcPct val="105000"/>
              </a:lnSpc>
              <a:buNone/>
            </a:pPr>
            <a:r>
              <a:rPr lang="en-US" sz="1250" b="1" dirty="0">
                <a:solidFill>
                  <a:srgbClr val="FFD166"/>
                </a:solidFill>
                <a:latin typeface="Arial" pitchFamily="34" charset="0"/>
                <a:ea typeface="Arial" pitchFamily="34" charset="-122"/>
                <a:cs typeface="Arial" pitchFamily="34" charset="-120"/>
              </a:rPr>
              <a:t>Negative fill</a:t>
            </a:r>
            <a:endParaRPr lang="en-US" sz="1250" dirty="0"/>
          </a:p>
        </p:txBody>
      </p:sp>
      <p:sp>
        <p:nvSpPr>
          <p:cNvPr id="28" name="Text 25"/>
          <p:cNvSpPr txBox="1"/>
          <p:nvPr/>
        </p:nvSpPr>
        <p:spPr>
          <a:xfrm>
            <a:off x="6312378" y="1456947"/>
            <a:ext cx="2371039" cy="93268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Not a light at all. Hold anything black on the shadow side to soak up stray bounce. Costs nothing and deepens the dark.</a:t>
            </a:r>
            <a:endParaRPr lang="en-US" sz="1000" dirty="0"/>
          </a:p>
        </p:txBody>
      </p:sp>
      <p:pic>
        <p:nvPicPr>
          <p:cNvPr id="35" name="Picture 34" descr="Generated image 4">
            <a:extLst>
              <a:ext uri="{FF2B5EF4-FFF2-40B4-BE49-F238E27FC236}">
                <a16:creationId xmlns:a16="http://schemas.microsoft.com/office/drawing/2014/main" id="{FD4F0D7B-9362-6755-B3D3-5734814EFEF8}"/>
              </a:ext>
            </a:extLst>
          </p:cNvPr>
          <p:cNvPicPr>
            <a:picLocks noChangeAspect="1"/>
          </p:cNvPicPr>
          <p:nvPr/>
        </p:nvPicPr>
        <p:blipFill>
          <a:blip r:embed="rId4"/>
          <a:srcRect b="8048"/>
          <a:stretch>
            <a:fillRect/>
          </a:stretch>
        </p:blipFill>
        <p:spPr>
          <a:xfrm>
            <a:off x="1456052" y="2364456"/>
            <a:ext cx="6051348" cy="277904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C2FF"/>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7DD3FC"/>
                </a:solidFill>
                <a:latin typeface="Oswald" pitchFamily="34" charset="0"/>
                <a:ea typeface="Oswald" pitchFamily="34" charset="-122"/>
                <a:cs typeface="Oswald" pitchFamily="34" charset="-120"/>
              </a:rPr>
              <a:t>SHADOW PATTERNS</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7DD3FC"/>
                </a:solidFill>
                <a:latin typeface="Oswald" pitchFamily="34" charset="0"/>
                <a:ea typeface="Oswald" pitchFamily="34" charset="-122"/>
                <a:cs typeface="Oswald" pitchFamily="34" charset="-120"/>
              </a:rPr>
              <a:t>IDEA 09 / 16</a:t>
            </a:r>
            <a:endParaRPr lang="en-US" sz="900" dirty="0"/>
          </a:p>
        </p:txBody>
      </p:sp>
      <p:sp>
        <p:nvSpPr>
          <p:cNvPr id="8" name="Shape 4"/>
          <p:cNvSpPr/>
          <p:nvPr/>
        </p:nvSpPr>
        <p:spPr>
          <a:xfrm>
            <a:off x="859536" y="699516"/>
            <a:ext cx="457017" cy="22860"/>
          </a:xfrm>
          <a:prstGeom prst="rect">
            <a:avLst/>
          </a:prstGeom>
          <a:solidFill>
            <a:srgbClr val="00C2FF"/>
          </a:solidFill>
          <a:ln/>
        </p:spPr>
        <p:txBody>
          <a:bodyPr/>
          <a:lstStyle/>
          <a:p>
            <a:endParaRPr lang="en-US"/>
          </a:p>
        </p:txBody>
      </p:sp>
      <p:sp>
        <p:nvSpPr>
          <p:cNvPr id="9" name="Shape 5"/>
          <p:cNvSpPr/>
          <p:nvPr/>
        </p:nvSpPr>
        <p:spPr>
          <a:xfrm>
            <a:off x="292608" y="996696"/>
            <a:ext cx="4608576" cy="752551"/>
          </a:xfrm>
          <a:prstGeom prst="rect">
            <a:avLst/>
          </a:prstGeom>
          <a:solidFill>
            <a:srgbClr val="00C2FF">
              <a:alpha val="6000"/>
            </a:srgbClr>
          </a:solidFill>
          <a:ln w="12700">
            <a:solidFill>
              <a:srgbClr val="05475C"/>
            </a:solidFill>
            <a:prstDash val="solid"/>
          </a:ln>
        </p:spPr>
        <p:txBody>
          <a:bodyPr/>
          <a:lstStyle/>
          <a:p>
            <a:endParaRPr lang="en-US"/>
          </a:p>
        </p:txBody>
      </p:sp>
      <p:sp>
        <p:nvSpPr>
          <p:cNvPr id="10" name="Shape 6"/>
          <p:cNvSpPr/>
          <p:nvPr/>
        </p:nvSpPr>
        <p:spPr>
          <a:xfrm>
            <a:off x="292608" y="996696"/>
            <a:ext cx="45720" cy="752551"/>
          </a:xfrm>
          <a:prstGeom prst="rect">
            <a:avLst/>
          </a:prstGeom>
          <a:solidFill>
            <a:srgbClr val="00C2FF"/>
          </a:solidFill>
          <a:ln/>
        </p:spPr>
        <p:txBody>
          <a:bodyPr/>
          <a:lstStyle/>
          <a:p>
            <a:endParaRPr lang="en-US"/>
          </a:p>
        </p:txBody>
      </p:sp>
      <p:sp>
        <p:nvSpPr>
          <p:cNvPr id="11" name="Text 7"/>
          <p:cNvSpPr txBox="1"/>
          <p:nvPr/>
        </p:nvSpPr>
        <p:spPr>
          <a:xfrm>
            <a:off x="521208" y="1149401"/>
            <a:ext cx="4212641" cy="484632"/>
          </a:xfrm>
          <a:prstGeom prst="rect">
            <a:avLst/>
          </a:prstGeom>
          <a:noFill/>
          <a:ln/>
        </p:spPr>
        <p:txBody>
          <a:bodyPr wrap="square" lIns="0" tIns="0" rIns="0" bIns="0" rtlCol="0" anchor="t"/>
          <a:lstStyle/>
          <a:p>
            <a:pPr marL="0" indent="0">
              <a:lnSpc>
                <a:spcPct val="135000"/>
              </a:lnSpc>
              <a:buNone/>
            </a:pPr>
            <a:r>
              <a:rPr lang="en-US" sz="1200" dirty="0">
                <a:solidFill>
                  <a:srgbClr val="7DD3FC"/>
                </a:solidFill>
                <a:latin typeface="Arial" pitchFamily="34" charset="0"/>
                <a:ea typeface="Arial" pitchFamily="34" charset="-122"/>
                <a:cs typeface="Arial" pitchFamily="34" charset="-120"/>
              </a:rPr>
              <a:t>Put something between the light and the wall and you get a pattern. Crews call it a gobo or a cookie.</a:t>
            </a:r>
            <a:endParaRPr lang="en-US" sz="1200" dirty="0"/>
          </a:p>
        </p:txBody>
      </p:sp>
      <p:sp>
        <p:nvSpPr>
          <p:cNvPr id="12" name="Shape 8"/>
          <p:cNvSpPr/>
          <p:nvPr/>
        </p:nvSpPr>
        <p:spPr>
          <a:xfrm>
            <a:off x="292608" y="1913839"/>
            <a:ext cx="310896" cy="310896"/>
          </a:xfrm>
          <a:prstGeom prst="rect">
            <a:avLst/>
          </a:prstGeom>
          <a:solidFill>
            <a:srgbClr val="00C2FF"/>
          </a:solidFill>
          <a:ln/>
        </p:spPr>
        <p:txBody>
          <a:bodyPr/>
          <a:lstStyle/>
          <a:p>
            <a:endParaRPr lang="en-US"/>
          </a:p>
        </p:txBody>
      </p:sp>
      <p:sp>
        <p:nvSpPr>
          <p:cNvPr id="13" name="Text 9"/>
          <p:cNvSpPr txBox="1"/>
          <p:nvPr/>
        </p:nvSpPr>
        <p:spPr>
          <a:xfrm>
            <a:off x="292608" y="191383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4" name="Text 10"/>
          <p:cNvSpPr txBox="1"/>
          <p:nvPr/>
        </p:nvSpPr>
        <p:spPr>
          <a:xfrm>
            <a:off x="768096" y="189555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IT ONLY WORKS WITH HARD LIGHT</a:t>
            </a:r>
            <a:endParaRPr lang="en-US" sz="1250" dirty="0"/>
          </a:p>
        </p:txBody>
      </p:sp>
      <p:sp>
        <p:nvSpPr>
          <p:cNvPr id="15" name="Text 11"/>
          <p:cNvSpPr txBox="1"/>
          <p:nvPr/>
        </p:nvSpPr>
        <p:spPr>
          <a:xfrm>
            <a:off x="768096" y="216072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Soft light blurs the pattern into nothing. If your shadow looks mushy, your source is too big or too close.</a:t>
            </a:r>
            <a:endParaRPr lang="en-US" sz="1050" dirty="0"/>
          </a:p>
        </p:txBody>
      </p:sp>
      <p:sp>
        <p:nvSpPr>
          <p:cNvPr id="16" name="Shape 12"/>
          <p:cNvSpPr/>
          <p:nvPr/>
        </p:nvSpPr>
        <p:spPr>
          <a:xfrm>
            <a:off x="292608" y="2713939"/>
            <a:ext cx="310896" cy="310896"/>
          </a:xfrm>
          <a:prstGeom prst="rect">
            <a:avLst/>
          </a:prstGeom>
          <a:solidFill>
            <a:srgbClr val="00C2FF"/>
          </a:solidFill>
          <a:ln/>
        </p:spPr>
        <p:txBody>
          <a:bodyPr/>
          <a:lstStyle/>
          <a:p>
            <a:endParaRPr lang="en-US"/>
          </a:p>
        </p:txBody>
      </p:sp>
      <p:sp>
        <p:nvSpPr>
          <p:cNvPr id="17" name="Text 13"/>
          <p:cNvSpPr txBox="1"/>
          <p:nvPr/>
        </p:nvSpPr>
        <p:spPr>
          <a:xfrm>
            <a:off x="292608" y="271393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8" name="Text 14"/>
          <p:cNvSpPr txBox="1"/>
          <p:nvPr/>
        </p:nvSpPr>
        <p:spPr>
          <a:xfrm>
            <a:off x="768096" y="269565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ANYTHING WILL DO</a:t>
            </a:r>
            <a:endParaRPr lang="en-US" sz="1250" dirty="0"/>
          </a:p>
        </p:txBody>
      </p:sp>
      <p:sp>
        <p:nvSpPr>
          <p:cNvPr id="19" name="Text 15"/>
          <p:cNvSpPr txBox="1"/>
          <p:nvPr/>
        </p:nvSpPr>
        <p:spPr>
          <a:xfrm>
            <a:off x="768096" y="296082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Blinds, a chair back, slatted cardboard, a houseplant, fingers, a cut up cereal box, broken lattice.</a:t>
            </a:r>
            <a:endParaRPr lang="en-US" sz="1050" dirty="0"/>
          </a:p>
        </p:txBody>
      </p:sp>
      <p:sp>
        <p:nvSpPr>
          <p:cNvPr id="20" name="Shape 16"/>
          <p:cNvSpPr/>
          <p:nvPr/>
        </p:nvSpPr>
        <p:spPr>
          <a:xfrm>
            <a:off x="292608" y="3514039"/>
            <a:ext cx="310896" cy="310896"/>
          </a:xfrm>
          <a:prstGeom prst="rect">
            <a:avLst/>
          </a:prstGeom>
          <a:solidFill>
            <a:srgbClr val="00C2FF"/>
          </a:solidFill>
          <a:ln/>
        </p:spPr>
        <p:txBody>
          <a:bodyPr/>
          <a:lstStyle/>
          <a:p>
            <a:endParaRPr lang="en-US"/>
          </a:p>
        </p:txBody>
      </p:sp>
      <p:sp>
        <p:nvSpPr>
          <p:cNvPr id="21" name="Text 17"/>
          <p:cNvSpPr txBox="1"/>
          <p:nvPr/>
        </p:nvSpPr>
        <p:spPr>
          <a:xfrm>
            <a:off x="292608" y="351403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22" name="Text 18"/>
          <p:cNvSpPr txBox="1"/>
          <p:nvPr/>
        </p:nvSpPr>
        <p:spPr>
          <a:xfrm>
            <a:off x="768096" y="3495751"/>
            <a:ext cx="4133088"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MOVE THE OBJECT, NOT THE LIGHT</a:t>
            </a:r>
            <a:endParaRPr lang="en-US" sz="1250" dirty="0"/>
          </a:p>
        </p:txBody>
      </p:sp>
      <p:sp>
        <p:nvSpPr>
          <p:cNvPr id="23" name="Text 19"/>
          <p:cNvSpPr txBox="1"/>
          <p:nvPr/>
        </p:nvSpPr>
        <p:spPr>
          <a:xfrm>
            <a:off x="768096" y="3760927"/>
            <a:ext cx="4133088"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Toward the light for a bigger, softer pattern. Toward the wall for a smaller, sharper one.</a:t>
            </a:r>
            <a:endParaRPr lang="en-US" sz="1050" dirty="0"/>
          </a:p>
        </p:txBody>
      </p:sp>
      <p:sp>
        <p:nvSpPr>
          <p:cNvPr id="28" name="Shape 24"/>
          <p:cNvSpPr/>
          <p:nvPr/>
        </p:nvSpPr>
        <p:spPr>
          <a:xfrm>
            <a:off x="0" y="4681728"/>
            <a:ext cx="9144000" cy="22860"/>
          </a:xfrm>
          <a:prstGeom prst="rect">
            <a:avLst/>
          </a:prstGeom>
          <a:solidFill>
            <a:srgbClr val="00C2FF"/>
          </a:solidFill>
          <a:ln/>
        </p:spPr>
        <p:txBody>
          <a:bodyPr/>
          <a:lstStyle/>
          <a:p>
            <a:endParaRPr lang="en-US"/>
          </a:p>
        </p:txBody>
      </p:sp>
      <p:sp>
        <p:nvSpPr>
          <p:cNvPr id="29" name="Text 25"/>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pic>
        <p:nvPicPr>
          <p:cNvPr id="30" name="Picture 29" descr="&quot;I was thinking about that dame upstairs, and the way she had looked at me, and I wanted to...&quot; - Double Indemnity quote">
            <a:extLst>
              <a:ext uri="{FF2B5EF4-FFF2-40B4-BE49-F238E27FC236}">
                <a16:creationId xmlns:a16="http://schemas.microsoft.com/office/drawing/2014/main" id="{B4316A3F-EABC-1A87-27EC-2D1F6330749D}"/>
              </a:ext>
            </a:extLst>
          </p:cNvPr>
          <p:cNvPicPr>
            <a:picLocks noChangeAspect="1"/>
          </p:cNvPicPr>
          <p:nvPr/>
        </p:nvPicPr>
        <p:blipFill>
          <a:blip r:embed="rId5"/>
          <a:stretch>
            <a:fillRect/>
          </a:stretch>
        </p:blipFill>
        <p:spPr>
          <a:xfrm>
            <a:off x="5231384" y="676656"/>
            <a:ext cx="3558845" cy="3558845"/>
          </a:xfrm>
          <a:prstGeom prst="rect">
            <a:avLst/>
          </a:prstGeom>
        </p:spPr>
      </p:pic>
      <p:sp>
        <p:nvSpPr>
          <p:cNvPr id="7032" name="CaptionBar7032"/>
          <p:cNvSpPr/>
          <p:nvPr/>
        </p:nvSpPr>
        <p:spPr>
          <a:xfrm>
            <a:off x="5231384" y="4213889"/>
            <a:ext cx="3558845" cy="429768"/>
          </a:xfrm>
          <a:prstGeom prst="rect">
            <a:avLst/>
          </a:prstGeom>
          <a:solidFill>
            <a:srgbClr val="000000">
              <a:alpha val="78000"/>
            </a:srgbClr>
          </a:solidFill>
          <a:ln>
            <a:noFill/>
          </a:ln>
        </p:spPr>
        <p:txBody>
          <a:bodyPr/>
          <a:lstStyle/>
          <a:p>
            <a:endParaRPr/>
          </a:p>
        </p:txBody>
      </p:sp>
      <p:sp>
        <p:nvSpPr>
          <p:cNvPr id="7033" name="Caption7033"/>
          <p:cNvSpPr txBox="1"/>
          <p:nvPr/>
        </p:nvSpPr>
        <p:spPr>
          <a:xfrm>
            <a:off x="5331967" y="4306153"/>
            <a:ext cx="3357677" cy="266852"/>
          </a:xfrm>
          <a:prstGeom prst="rect">
            <a:avLst/>
          </a:prstGeom>
          <a:noFill/>
        </p:spPr>
        <p:txBody>
          <a:bodyPr wrap="square" lIns="0" tIns="0" rIns="0" bIns="0" anchor="ctr">
            <a:noAutofit/>
          </a:bodyPr>
          <a:lstStyle/>
          <a:p>
            <a:pPr algn="ctr"/>
            <a:r>
              <a:rPr lang="en-US" sz="900" b="1" dirty="0">
                <a:solidFill>
                  <a:srgbClr val="FFFFFF"/>
                </a:solidFill>
                <a:latin typeface="Arial"/>
                <a:cs typeface="Arial"/>
              </a:rPr>
              <a:t>Venetian blinds used as a gobo. Only hard light holds an edge this sharp.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8B5CF6"/>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C4B5FD"/>
                </a:solidFill>
                <a:latin typeface="Oswald" pitchFamily="34" charset="0"/>
                <a:ea typeface="Oswald" pitchFamily="34" charset="-122"/>
                <a:cs typeface="Oswald" pitchFamily="34" charset="-120"/>
              </a:rPr>
              <a:t>WHAT COLOR DOES TO A FACE</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C4B5FD"/>
                </a:solidFill>
                <a:latin typeface="Oswald" pitchFamily="34" charset="0"/>
                <a:ea typeface="Oswald" pitchFamily="34" charset="-122"/>
                <a:cs typeface="Oswald" pitchFamily="34" charset="-120"/>
              </a:rPr>
              <a:t>IDEA 10 / 17</a:t>
            </a:r>
            <a:endParaRPr lang="en-US" sz="900" dirty="0"/>
          </a:p>
        </p:txBody>
      </p:sp>
      <p:sp>
        <p:nvSpPr>
          <p:cNvPr id="7" name="Shape 4"/>
          <p:cNvSpPr/>
          <p:nvPr/>
        </p:nvSpPr>
        <p:spPr>
          <a:xfrm>
            <a:off x="859536" y="699516"/>
            <a:ext cx="457017" cy="22860"/>
          </a:xfrm>
          <a:prstGeom prst="rect">
            <a:avLst/>
          </a:prstGeom>
          <a:solidFill>
            <a:srgbClr val="8B5CF6"/>
          </a:solidFill>
          <a:ln/>
        </p:spPr>
        <p:txBody>
          <a:bodyPr/>
          <a:lstStyle/>
          <a:p>
            <a:endParaRPr lang="en-US"/>
          </a:p>
        </p:txBody>
      </p:sp>
      <p:sp>
        <p:nvSpPr>
          <p:cNvPr id="8" name="Shape 5"/>
          <p:cNvSpPr/>
          <p:nvPr/>
        </p:nvSpPr>
        <p:spPr>
          <a:xfrm>
            <a:off x="292608" y="978408"/>
            <a:ext cx="8558784" cy="546811"/>
          </a:xfrm>
          <a:prstGeom prst="rect">
            <a:avLst/>
          </a:prstGeom>
          <a:solidFill>
            <a:srgbClr val="8B5CF6">
              <a:alpha val="6000"/>
            </a:srgbClr>
          </a:solidFill>
          <a:ln w="12700">
            <a:solidFill>
              <a:srgbClr val="352559"/>
            </a:solidFill>
            <a:prstDash val="solid"/>
          </a:ln>
        </p:spPr>
        <p:txBody>
          <a:bodyPr/>
          <a:lstStyle/>
          <a:p>
            <a:endParaRPr lang="en-US"/>
          </a:p>
        </p:txBody>
      </p:sp>
      <p:sp>
        <p:nvSpPr>
          <p:cNvPr id="9" name="Shape 6"/>
          <p:cNvSpPr/>
          <p:nvPr/>
        </p:nvSpPr>
        <p:spPr>
          <a:xfrm>
            <a:off x="292608" y="978408"/>
            <a:ext cx="45720" cy="546811"/>
          </a:xfrm>
          <a:prstGeom prst="rect">
            <a:avLst/>
          </a:prstGeom>
          <a:solidFill>
            <a:srgbClr val="8B5CF6"/>
          </a:solidFill>
          <a:ln/>
        </p:spPr>
        <p:txBody>
          <a:bodyPr/>
          <a:lstStyle/>
          <a:p>
            <a:endParaRPr lang="en-US"/>
          </a:p>
        </p:txBody>
      </p:sp>
      <p:sp>
        <p:nvSpPr>
          <p:cNvPr id="10" name="Text 7"/>
          <p:cNvSpPr txBox="1"/>
          <p:nvPr/>
        </p:nvSpPr>
        <p:spPr>
          <a:xfrm>
            <a:off x="521208" y="1131113"/>
            <a:ext cx="8162849" cy="278892"/>
          </a:xfrm>
          <a:prstGeom prst="rect">
            <a:avLst/>
          </a:prstGeom>
          <a:noFill/>
          <a:ln/>
        </p:spPr>
        <p:txBody>
          <a:bodyPr wrap="square" lIns="0" tIns="0" rIns="0" bIns="0" rtlCol="0" anchor="t"/>
          <a:lstStyle/>
          <a:p>
            <a:pPr marL="0" indent="0">
              <a:lnSpc>
                <a:spcPct val="135000"/>
              </a:lnSpc>
              <a:buNone/>
            </a:pPr>
            <a:r>
              <a:rPr lang="en-US" sz="1200" dirty="0">
                <a:solidFill>
                  <a:srgbClr val="C4B5FD"/>
                </a:solidFill>
                <a:latin typeface="Arial" pitchFamily="34" charset="0"/>
                <a:ea typeface="Arial" pitchFamily="34" charset="-122"/>
                <a:cs typeface="Arial" pitchFamily="34" charset="-120"/>
              </a:rPr>
              <a:t>Your Amaran lights do any color you want. Pick one for a reason, and stop at two.</a:t>
            </a:r>
            <a:endParaRPr lang="en-US" sz="1200" dirty="0"/>
          </a:p>
        </p:txBody>
      </p:sp>
      <p:sp>
        <p:nvSpPr>
          <p:cNvPr id="11" name="Shape 8"/>
          <p:cNvSpPr/>
          <p:nvPr/>
        </p:nvSpPr>
        <p:spPr>
          <a:xfrm>
            <a:off x="292608" y="1689811"/>
            <a:ext cx="2718511" cy="786384"/>
          </a:xfrm>
          <a:prstGeom prst="rect">
            <a:avLst/>
          </a:prstGeom>
          <a:solidFill>
            <a:srgbClr val="8B5CF6"/>
          </a:solidFill>
          <a:ln/>
        </p:spPr>
        <p:txBody>
          <a:bodyPr/>
          <a:lstStyle/>
          <a:p>
            <a:endParaRPr lang="en-US"/>
          </a:p>
        </p:txBody>
      </p:sp>
      <p:sp>
        <p:nvSpPr>
          <p:cNvPr id="12" name="Shape 9"/>
          <p:cNvSpPr/>
          <p:nvPr/>
        </p:nvSpPr>
        <p:spPr>
          <a:xfrm>
            <a:off x="307878" y="1705082"/>
            <a:ext cx="2687970" cy="213238"/>
          </a:xfrm>
          <a:prstGeom prst="rect">
            <a:avLst/>
          </a:prstGeom>
          <a:solidFill>
            <a:srgbClr val="241D3A"/>
          </a:solidFill>
          <a:ln/>
        </p:spPr>
        <p:txBody>
          <a:bodyPr/>
          <a:lstStyle/>
          <a:p>
            <a:endParaRPr lang="en-US"/>
          </a:p>
        </p:txBody>
      </p:sp>
      <p:sp>
        <p:nvSpPr>
          <p:cNvPr id="13" name="Shape 10"/>
          <p:cNvSpPr/>
          <p:nvPr/>
        </p:nvSpPr>
        <p:spPr>
          <a:xfrm>
            <a:off x="307878" y="1918320"/>
            <a:ext cx="2687970" cy="542605"/>
          </a:xfrm>
          <a:prstGeom prst="rect">
            <a:avLst/>
          </a:prstGeom>
          <a:solidFill>
            <a:srgbClr val="140F24"/>
          </a:solidFill>
          <a:ln/>
        </p:spPr>
        <p:txBody>
          <a:bodyPr/>
          <a:lstStyle/>
          <a:p>
            <a:endParaRPr lang="en-US"/>
          </a:p>
        </p:txBody>
      </p:sp>
      <p:sp>
        <p:nvSpPr>
          <p:cNvPr id="14" name="Text 11"/>
          <p:cNvSpPr txBox="1"/>
          <p:nvPr/>
        </p:nvSpPr>
        <p:spPr>
          <a:xfrm>
            <a:off x="444947" y="1773662"/>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Deep blue</a:t>
            </a:r>
            <a:endParaRPr lang="en-US" sz="1150" dirty="0"/>
          </a:p>
        </p:txBody>
      </p:sp>
      <p:sp>
        <p:nvSpPr>
          <p:cNvPr id="15" name="Text 12"/>
          <p:cNvSpPr txBox="1"/>
          <p:nvPr/>
        </p:nvSpPr>
        <p:spPr>
          <a:xfrm>
            <a:off x="444947" y="2029968"/>
            <a:ext cx="2414016" cy="402336"/>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Moonlight, cold, lifeless. The default for night in film.</a:t>
            </a:r>
            <a:endParaRPr lang="en-US" sz="950" dirty="0"/>
          </a:p>
        </p:txBody>
      </p:sp>
      <p:sp>
        <p:nvSpPr>
          <p:cNvPr id="16" name="Shape 13"/>
          <p:cNvSpPr/>
          <p:nvPr/>
        </p:nvSpPr>
        <p:spPr>
          <a:xfrm>
            <a:off x="3212287" y="1689811"/>
            <a:ext cx="2718511" cy="786384"/>
          </a:xfrm>
          <a:prstGeom prst="rect">
            <a:avLst/>
          </a:prstGeom>
          <a:solidFill>
            <a:srgbClr val="8B5CF6"/>
          </a:solidFill>
          <a:ln/>
        </p:spPr>
        <p:txBody>
          <a:bodyPr/>
          <a:lstStyle/>
          <a:p>
            <a:endParaRPr lang="en-US"/>
          </a:p>
        </p:txBody>
      </p:sp>
      <p:sp>
        <p:nvSpPr>
          <p:cNvPr id="17" name="Shape 14"/>
          <p:cNvSpPr/>
          <p:nvPr/>
        </p:nvSpPr>
        <p:spPr>
          <a:xfrm>
            <a:off x="3227558" y="1705082"/>
            <a:ext cx="2687970" cy="213238"/>
          </a:xfrm>
          <a:prstGeom prst="rect">
            <a:avLst/>
          </a:prstGeom>
          <a:solidFill>
            <a:srgbClr val="241D3A"/>
          </a:solidFill>
          <a:ln/>
        </p:spPr>
        <p:txBody>
          <a:bodyPr/>
          <a:lstStyle/>
          <a:p>
            <a:endParaRPr lang="en-US"/>
          </a:p>
        </p:txBody>
      </p:sp>
      <p:sp>
        <p:nvSpPr>
          <p:cNvPr id="18" name="Shape 15"/>
          <p:cNvSpPr/>
          <p:nvPr/>
        </p:nvSpPr>
        <p:spPr>
          <a:xfrm>
            <a:off x="3227558" y="1918320"/>
            <a:ext cx="2687970" cy="542605"/>
          </a:xfrm>
          <a:prstGeom prst="rect">
            <a:avLst/>
          </a:prstGeom>
          <a:solidFill>
            <a:srgbClr val="140F24"/>
          </a:solidFill>
          <a:ln/>
        </p:spPr>
        <p:txBody>
          <a:bodyPr/>
          <a:lstStyle/>
          <a:p>
            <a:endParaRPr lang="en-US"/>
          </a:p>
        </p:txBody>
      </p:sp>
      <p:sp>
        <p:nvSpPr>
          <p:cNvPr id="19" name="Text 16"/>
          <p:cNvSpPr txBox="1"/>
          <p:nvPr/>
        </p:nvSpPr>
        <p:spPr>
          <a:xfrm>
            <a:off x="3364626" y="1773662"/>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Sickly green</a:t>
            </a:r>
            <a:endParaRPr lang="en-US" sz="1150" dirty="0"/>
          </a:p>
        </p:txBody>
      </p:sp>
      <p:sp>
        <p:nvSpPr>
          <p:cNvPr id="20" name="Text 17"/>
          <p:cNvSpPr txBox="1"/>
          <p:nvPr/>
        </p:nvSpPr>
        <p:spPr>
          <a:xfrm>
            <a:off x="3364626" y="2029968"/>
            <a:ext cx="2414016" cy="402336"/>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Wrong, infected, fluorescent basement. Very hard to look healthy under.</a:t>
            </a:r>
            <a:endParaRPr lang="en-US" sz="950" dirty="0"/>
          </a:p>
        </p:txBody>
      </p:sp>
      <p:sp>
        <p:nvSpPr>
          <p:cNvPr id="21" name="Shape 18"/>
          <p:cNvSpPr/>
          <p:nvPr/>
        </p:nvSpPr>
        <p:spPr>
          <a:xfrm>
            <a:off x="6131966" y="1689811"/>
            <a:ext cx="2718511" cy="786384"/>
          </a:xfrm>
          <a:prstGeom prst="rect">
            <a:avLst/>
          </a:prstGeom>
          <a:solidFill>
            <a:srgbClr val="8B5CF6"/>
          </a:solidFill>
          <a:ln/>
        </p:spPr>
        <p:txBody>
          <a:bodyPr/>
          <a:lstStyle/>
          <a:p>
            <a:endParaRPr lang="en-US"/>
          </a:p>
        </p:txBody>
      </p:sp>
      <p:sp>
        <p:nvSpPr>
          <p:cNvPr id="22" name="Shape 19"/>
          <p:cNvSpPr/>
          <p:nvPr/>
        </p:nvSpPr>
        <p:spPr>
          <a:xfrm>
            <a:off x="6147237" y="1705082"/>
            <a:ext cx="2687970" cy="213238"/>
          </a:xfrm>
          <a:prstGeom prst="rect">
            <a:avLst/>
          </a:prstGeom>
          <a:solidFill>
            <a:srgbClr val="241D3A"/>
          </a:solidFill>
          <a:ln/>
        </p:spPr>
        <p:txBody>
          <a:bodyPr/>
          <a:lstStyle/>
          <a:p>
            <a:endParaRPr lang="en-US"/>
          </a:p>
        </p:txBody>
      </p:sp>
      <p:sp>
        <p:nvSpPr>
          <p:cNvPr id="23" name="Shape 20"/>
          <p:cNvSpPr/>
          <p:nvPr/>
        </p:nvSpPr>
        <p:spPr>
          <a:xfrm>
            <a:off x="6147237" y="1918320"/>
            <a:ext cx="2687970" cy="542605"/>
          </a:xfrm>
          <a:prstGeom prst="rect">
            <a:avLst/>
          </a:prstGeom>
          <a:solidFill>
            <a:srgbClr val="140F24"/>
          </a:solidFill>
          <a:ln/>
        </p:spPr>
        <p:txBody>
          <a:bodyPr/>
          <a:lstStyle/>
          <a:p>
            <a:endParaRPr lang="en-US"/>
          </a:p>
        </p:txBody>
      </p:sp>
      <p:sp>
        <p:nvSpPr>
          <p:cNvPr id="24" name="Text 21"/>
          <p:cNvSpPr txBox="1"/>
          <p:nvPr/>
        </p:nvSpPr>
        <p:spPr>
          <a:xfrm>
            <a:off x="6284305" y="1773662"/>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Blood red</a:t>
            </a:r>
            <a:endParaRPr lang="en-US" sz="1150" dirty="0"/>
          </a:p>
        </p:txBody>
      </p:sp>
      <p:sp>
        <p:nvSpPr>
          <p:cNvPr id="25" name="Text 22"/>
          <p:cNvSpPr txBox="1"/>
          <p:nvPr/>
        </p:nvSpPr>
        <p:spPr>
          <a:xfrm>
            <a:off x="6284305" y="2029968"/>
            <a:ext cx="2414016" cy="402336"/>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Alarm, danger, heat. Crushes skin detail, which can work for you.</a:t>
            </a:r>
            <a:endParaRPr lang="en-US" sz="950" dirty="0"/>
          </a:p>
        </p:txBody>
      </p:sp>
      <p:sp>
        <p:nvSpPr>
          <p:cNvPr id="26" name="Shape 23"/>
          <p:cNvSpPr/>
          <p:nvPr/>
        </p:nvSpPr>
        <p:spPr>
          <a:xfrm>
            <a:off x="292608" y="2622499"/>
            <a:ext cx="2718511" cy="786384"/>
          </a:xfrm>
          <a:prstGeom prst="rect">
            <a:avLst/>
          </a:prstGeom>
          <a:solidFill>
            <a:srgbClr val="8B5CF6"/>
          </a:solidFill>
          <a:ln/>
        </p:spPr>
        <p:txBody>
          <a:bodyPr/>
          <a:lstStyle/>
          <a:p>
            <a:endParaRPr lang="en-US"/>
          </a:p>
        </p:txBody>
      </p:sp>
      <p:sp>
        <p:nvSpPr>
          <p:cNvPr id="27" name="Shape 24"/>
          <p:cNvSpPr/>
          <p:nvPr/>
        </p:nvSpPr>
        <p:spPr>
          <a:xfrm>
            <a:off x="307878" y="2637770"/>
            <a:ext cx="2687970" cy="213238"/>
          </a:xfrm>
          <a:prstGeom prst="rect">
            <a:avLst/>
          </a:prstGeom>
          <a:solidFill>
            <a:srgbClr val="241D3A"/>
          </a:solidFill>
          <a:ln/>
        </p:spPr>
        <p:txBody>
          <a:bodyPr/>
          <a:lstStyle/>
          <a:p>
            <a:endParaRPr lang="en-US"/>
          </a:p>
        </p:txBody>
      </p:sp>
      <p:sp>
        <p:nvSpPr>
          <p:cNvPr id="28" name="Shape 25"/>
          <p:cNvSpPr/>
          <p:nvPr/>
        </p:nvSpPr>
        <p:spPr>
          <a:xfrm>
            <a:off x="307878" y="2851008"/>
            <a:ext cx="2687970" cy="542605"/>
          </a:xfrm>
          <a:prstGeom prst="rect">
            <a:avLst/>
          </a:prstGeom>
          <a:solidFill>
            <a:srgbClr val="140F24"/>
          </a:solidFill>
          <a:ln/>
        </p:spPr>
        <p:txBody>
          <a:bodyPr/>
          <a:lstStyle/>
          <a:p>
            <a:endParaRPr lang="en-US"/>
          </a:p>
        </p:txBody>
      </p:sp>
      <p:sp>
        <p:nvSpPr>
          <p:cNvPr id="29" name="Text 26"/>
          <p:cNvSpPr txBox="1"/>
          <p:nvPr/>
        </p:nvSpPr>
        <p:spPr>
          <a:xfrm>
            <a:off x="444947" y="2706350"/>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Amber and orange</a:t>
            </a:r>
            <a:endParaRPr lang="en-US" sz="1150" dirty="0"/>
          </a:p>
        </p:txBody>
      </p:sp>
      <p:sp>
        <p:nvSpPr>
          <p:cNvPr id="30" name="Text 27"/>
          <p:cNvSpPr txBox="1"/>
          <p:nvPr/>
        </p:nvSpPr>
        <p:spPr>
          <a:xfrm>
            <a:off x="444947" y="2962656"/>
            <a:ext cx="2414016" cy="402336"/>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Firelight. Warm from the front, but hellish when it is hard and low.</a:t>
            </a:r>
            <a:endParaRPr lang="en-US" sz="950" dirty="0"/>
          </a:p>
        </p:txBody>
      </p:sp>
      <p:sp>
        <p:nvSpPr>
          <p:cNvPr id="31" name="Shape 28"/>
          <p:cNvSpPr/>
          <p:nvPr/>
        </p:nvSpPr>
        <p:spPr>
          <a:xfrm>
            <a:off x="3212287" y="2622499"/>
            <a:ext cx="2718511" cy="786384"/>
          </a:xfrm>
          <a:prstGeom prst="rect">
            <a:avLst/>
          </a:prstGeom>
          <a:solidFill>
            <a:srgbClr val="8B5CF6"/>
          </a:solidFill>
          <a:ln/>
        </p:spPr>
        <p:txBody>
          <a:bodyPr/>
          <a:lstStyle/>
          <a:p>
            <a:endParaRPr lang="en-US"/>
          </a:p>
        </p:txBody>
      </p:sp>
      <p:sp>
        <p:nvSpPr>
          <p:cNvPr id="32" name="Shape 29"/>
          <p:cNvSpPr/>
          <p:nvPr/>
        </p:nvSpPr>
        <p:spPr>
          <a:xfrm>
            <a:off x="3227558" y="2637770"/>
            <a:ext cx="2687970" cy="213238"/>
          </a:xfrm>
          <a:prstGeom prst="rect">
            <a:avLst/>
          </a:prstGeom>
          <a:solidFill>
            <a:srgbClr val="241D3A"/>
          </a:solidFill>
          <a:ln/>
        </p:spPr>
        <p:txBody>
          <a:bodyPr/>
          <a:lstStyle/>
          <a:p>
            <a:endParaRPr lang="en-US"/>
          </a:p>
        </p:txBody>
      </p:sp>
      <p:sp>
        <p:nvSpPr>
          <p:cNvPr id="33" name="Shape 30"/>
          <p:cNvSpPr/>
          <p:nvPr/>
        </p:nvSpPr>
        <p:spPr>
          <a:xfrm>
            <a:off x="3227558" y="2851008"/>
            <a:ext cx="2687970" cy="542605"/>
          </a:xfrm>
          <a:prstGeom prst="rect">
            <a:avLst/>
          </a:prstGeom>
          <a:solidFill>
            <a:srgbClr val="140F24"/>
          </a:solidFill>
          <a:ln/>
        </p:spPr>
        <p:txBody>
          <a:bodyPr/>
          <a:lstStyle/>
          <a:p>
            <a:endParaRPr lang="en-US"/>
          </a:p>
        </p:txBody>
      </p:sp>
      <p:sp>
        <p:nvSpPr>
          <p:cNvPr id="34" name="Text 31"/>
          <p:cNvSpPr txBox="1"/>
          <p:nvPr/>
        </p:nvSpPr>
        <p:spPr>
          <a:xfrm>
            <a:off x="3364626" y="2706350"/>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Magenta and purple</a:t>
            </a:r>
            <a:endParaRPr lang="en-US" sz="1150" dirty="0"/>
          </a:p>
        </p:txBody>
      </p:sp>
      <p:sp>
        <p:nvSpPr>
          <p:cNvPr id="35" name="Text 32"/>
          <p:cNvSpPr txBox="1"/>
          <p:nvPr/>
        </p:nvSpPr>
        <p:spPr>
          <a:xfrm>
            <a:off x="3364626" y="2962656"/>
            <a:ext cx="2414016" cy="402336"/>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Dreamlike and supernatural. Reads as not quite real.</a:t>
            </a:r>
            <a:endParaRPr lang="en-US" sz="950" dirty="0"/>
          </a:p>
        </p:txBody>
      </p:sp>
      <p:sp>
        <p:nvSpPr>
          <p:cNvPr id="36" name="Shape 33"/>
          <p:cNvSpPr/>
          <p:nvPr/>
        </p:nvSpPr>
        <p:spPr>
          <a:xfrm>
            <a:off x="6131966" y="2622499"/>
            <a:ext cx="2718511" cy="786384"/>
          </a:xfrm>
          <a:prstGeom prst="rect">
            <a:avLst/>
          </a:prstGeom>
          <a:solidFill>
            <a:srgbClr val="8B5CF6"/>
          </a:solidFill>
          <a:ln/>
        </p:spPr>
        <p:txBody>
          <a:bodyPr/>
          <a:lstStyle/>
          <a:p>
            <a:endParaRPr lang="en-US"/>
          </a:p>
        </p:txBody>
      </p:sp>
      <p:sp>
        <p:nvSpPr>
          <p:cNvPr id="37" name="Shape 34"/>
          <p:cNvSpPr/>
          <p:nvPr/>
        </p:nvSpPr>
        <p:spPr>
          <a:xfrm>
            <a:off x="6147237" y="2637770"/>
            <a:ext cx="2687970" cy="213238"/>
          </a:xfrm>
          <a:prstGeom prst="rect">
            <a:avLst/>
          </a:prstGeom>
          <a:solidFill>
            <a:srgbClr val="241D3A"/>
          </a:solidFill>
          <a:ln/>
        </p:spPr>
        <p:txBody>
          <a:bodyPr/>
          <a:lstStyle/>
          <a:p>
            <a:endParaRPr lang="en-US"/>
          </a:p>
        </p:txBody>
      </p:sp>
      <p:sp>
        <p:nvSpPr>
          <p:cNvPr id="38" name="Shape 35"/>
          <p:cNvSpPr/>
          <p:nvPr/>
        </p:nvSpPr>
        <p:spPr>
          <a:xfrm>
            <a:off x="6147237" y="2851008"/>
            <a:ext cx="2687970" cy="542605"/>
          </a:xfrm>
          <a:prstGeom prst="rect">
            <a:avLst/>
          </a:prstGeom>
          <a:solidFill>
            <a:srgbClr val="140F24"/>
          </a:solidFill>
          <a:ln/>
        </p:spPr>
        <p:txBody>
          <a:bodyPr/>
          <a:lstStyle/>
          <a:p>
            <a:endParaRPr lang="en-US"/>
          </a:p>
        </p:txBody>
      </p:sp>
      <p:sp>
        <p:nvSpPr>
          <p:cNvPr id="39" name="Text 36"/>
          <p:cNvSpPr txBox="1"/>
          <p:nvPr/>
        </p:nvSpPr>
        <p:spPr>
          <a:xfrm>
            <a:off x="6284305" y="2706350"/>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Two colors at once</a:t>
            </a:r>
            <a:endParaRPr lang="en-US" sz="1150" dirty="0"/>
          </a:p>
        </p:txBody>
      </p:sp>
      <p:sp>
        <p:nvSpPr>
          <p:cNvPr id="40" name="Text 37"/>
          <p:cNvSpPr txBox="1"/>
          <p:nvPr/>
        </p:nvSpPr>
        <p:spPr>
          <a:xfrm>
            <a:off x="6284305" y="2962656"/>
            <a:ext cx="2414016" cy="402336"/>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Blue rim against an amber key. Tension you can see.</a:t>
            </a:r>
            <a:endParaRPr lang="en-US" sz="950" dirty="0"/>
          </a:p>
        </p:txBody>
      </p:sp>
      <p:sp>
        <p:nvSpPr>
          <p:cNvPr id="41" name="Shape 38"/>
          <p:cNvSpPr/>
          <p:nvPr/>
        </p:nvSpPr>
        <p:spPr>
          <a:xfrm>
            <a:off x="292608" y="3555187"/>
            <a:ext cx="8558784" cy="894283"/>
          </a:xfrm>
          <a:prstGeom prst="rect">
            <a:avLst/>
          </a:prstGeom>
          <a:solidFill>
            <a:srgbClr val="0C1010"/>
          </a:solidFill>
          <a:ln w="12700">
            <a:solidFill>
              <a:srgbClr val="F90101"/>
            </a:solidFill>
            <a:prstDash val="solid"/>
          </a:ln>
        </p:spPr>
        <p:txBody>
          <a:bodyPr/>
          <a:lstStyle/>
          <a:p>
            <a:endParaRPr lang="en-US"/>
          </a:p>
        </p:txBody>
      </p:sp>
      <p:sp>
        <p:nvSpPr>
          <p:cNvPr id="42" name="Shape 39"/>
          <p:cNvSpPr/>
          <p:nvPr/>
        </p:nvSpPr>
        <p:spPr>
          <a:xfrm>
            <a:off x="292608" y="3555187"/>
            <a:ext cx="45720" cy="894283"/>
          </a:xfrm>
          <a:prstGeom prst="rect">
            <a:avLst/>
          </a:prstGeom>
          <a:solidFill>
            <a:srgbClr val="F90101"/>
          </a:solidFill>
          <a:ln/>
        </p:spPr>
        <p:txBody>
          <a:bodyPr/>
          <a:lstStyle/>
          <a:p>
            <a:endParaRPr lang="en-US"/>
          </a:p>
        </p:txBody>
      </p:sp>
      <p:sp>
        <p:nvSpPr>
          <p:cNvPr id="43" name="Text 40"/>
          <p:cNvSpPr txBox="1"/>
          <p:nvPr/>
        </p:nvSpPr>
        <p:spPr>
          <a:xfrm>
            <a:off x="459943" y="3662172"/>
            <a:ext cx="8223199" cy="237744"/>
          </a:xfrm>
          <a:prstGeom prst="rect">
            <a:avLst/>
          </a:prstGeom>
          <a:noFill/>
          <a:ln/>
        </p:spPr>
        <p:txBody>
          <a:bodyPr wrap="square" lIns="0" tIns="0" rIns="0" bIns="0" rtlCol="0" anchor="ctr"/>
          <a:lstStyle/>
          <a:p>
            <a:pPr marL="0" indent="0">
              <a:lnSpc>
                <a:spcPct val="105000"/>
              </a:lnSpc>
              <a:buNone/>
            </a:pPr>
            <a:r>
              <a:rPr lang="en-US" sz="1100" b="1" kern="0" spc="100" dirty="0">
                <a:solidFill>
                  <a:srgbClr val="FF8F8F"/>
                </a:solidFill>
                <a:latin typeface="Oswald" pitchFamily="34" charset="0"/>
                <a:ea typeface="Oswald" pitchFamily="34" charset="-122"/>
                <a:cs typeface="Oswald" pitchFamily="34" charset="-120"/>
              </a:rPr>
              <a:t>TURN AUTO WHITE BALANCE OFF FIRST</a:t>
            </a:r>
            <a:endParaRPr lang="en-US" sz="1100" dirty="0"/>
          </a:p>
        </p:txBody>
      </p:sp>
      <p:sp>
        <p:nvSpPr>
          <p:cNvPr id="44" name="Text 41"/>
          <p:cNvSpPr txBox="1"/>
          <p:nvPr/>
        </p:nvSpPr>
        <p:spPr>
          <a:xfrm>
            <a:off x="459943" y="3936492"/>
            <a:ext cx="8223199" cy="406908"/>
          </a:xfrm>
          <a:prstGeom prst="rect">
            <a:avLst/>
          </a:prstGeom>
          <a:noFill/>
          <a:ln/>
        </p:spPr>
        <p:txBody>
          <a:bodyPr wrap="square" lIns="0" tIns="0" rIns="0" bIns="0" rtlCol="0" anchor="t"/>
          <a:lstStyle/>
          <a:p>
            <a:pPr marL="0" indent="0">
              <a:lnSpc>
                <a:spcPct val="125000"/>
              </a:lnSpc>
              <a:buNone/>
            </a:pPr>
            <a:r>
              <a:rPr lang="en-US" sz="1050" dirty="0">
                <a:solidFill>
                  <a:srgbClr val="FFB0B0"/>
                </a:solidFill>
                <a:latin typeface="Arial" pitchFamily="34" charset="0"/>
                <a:ea typeface="Arial" pitchFamily="34" charset="-122"/>
                <a:cs typeface="Arial" pitchFamily="34" charset="-120"/>
              </a:rPr>
              <a:t>Auto white balance exists to remove color casts. Leave it on and the camera fights you, cancels your red, and hands back a muddy gray photo. Set it to daylight and leave it.</a:t>
            </a:r>
            <a:endParaRPr lang="en-US" sz="1050" dirty="0"/>
          </a:p>
        </p:txBody>
      </p:sp>
      <p:sp>
        <p:nvSpPr>
          <p:cNvPr id="45" name="Shape 42"/>
          <p:cNvSpPr/>
          <p:nvPr/>
        </p:nvSpPr>
        <p:spPr>
          <a:xfrm>
            <a:off x="0" y="4681728"/>
            <a:ext cx="9144000" cy="22860"/>
          </a:xfrm>
          <a:prstGeom prst="rect">
            <a:avLst/>
          </a:prstGeom>
          <a:solidFill>
            <a:srgbClr val="8B5CF6"/>
          </a:solidFill>
          <a:ln/>
        </p:spPr>
        <p:txBody>
          <a:bodyPr/>
          <a:lstStyle/>
          <a:p>
            <a:endParaRPr lang="en-US"/>
          </a:p>
        </p:txBody>
      </p:sp>
      <p:sp>
        <p:nvSpPr>
          <p:cNvPr id="46" name="Text 43"/>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47688" y="1394460"/>
            <a:ext cx="3867912" cy="4572000"/>
          </a:xfrm>
          <a:prstGeom prst="rect">
            <a:avLst/>
          </a:prstGeom>
        </p:spPr>
      </p:pic>
      <p:sp>
        <p:nvSpPr>
          <p:cNvPr id="3" name="Shape 0"/>
          <p:cNvSpPr/>
          <p:nvPr/>
        </p:nvSpPr>
        <p:spPr>
          <a:xfrm>
            <a:off x="0" y="0"/>
            <a:ext cx="9144000" cy="5143500"/>
          </a:xfrm>
          <a:prstGeom prst="rect">
            <a:avLst/>
          </a:prstGeom>
          <a:solidFill>
            <a:srgbClr val="04191A">
              <a:alpha val="76000"/>
            </a:srgbClr>
          </a:solidFill>
          <a:ln/>
        </p:spPr>
        <p:txBody>
          <a:bodyPr/>
          <a:lstStyle/>
          <a:p>
            <a:endParaRPr lang="en-US"/>
          </a:p>
        </p:txBody>
      </p:sp>
      <p:sp>
        <p:nvSpPr>
          <p:cNvPr id="4" name="Shape 1"/>
          <p:cNvSpPr/>
          <p:nvPr/>
        </p:nvSpPr>
        <p:spPr>
          <a:xfrm>
            <a:off x="0" y="0"/>
            <a:ext cx="45720" cy="5143500"/>
          </a:xfrm>
          <a:prstGeom prst="rect">
            <a:avLst/>
          </a:prstGeom>
          <a:solidFill>
            <a:srgbClr val="F5B301"/>
          </a:solidFill>
          <a:ln/>
        </p:spPr>
        <p:txBody>
          <a:bodyPr/>
          <a:lstStyle/>
          <a:p>
            <a:endParaRPr lang="en-US"/>
          </a:p>
        </p:txBody>
      </p:sp>
      <p:sp>
        <p:nvSpPr>
          <p:cNvPr id="5" name="Text 2"/>
          <p:cNvSpPr txBox="1"/>
          <p:nvPr/>
        </p:nvSpPr>
        <p:spPr>
          <a:xfrm>
            <a:off x="292608" y="1005840"/>
            <a:ext cx="2194560" cy="2103120"/>
          </a:xfrm>
          <a:prstGeom prst="rect">
            <a:avLst/>
          </a:prstGeom>
          <a:noFill/>
          <a:ln/>
        </p:spPr>
        <p:txBody>
          <a:bodyPr wrap="square" lIns="0" tIns="0" rIns="0" bIns="0" rtlCol="0" anchor="ctr"/>
          <a:lstStyle/>
          <a:p>
            <a:pPr marL="0" indent="0">
              <a:lnSpc>
                <a:spcPct val="100000"/>
              </a:lnSpc>
              <a:buNone/>
            </a:pPr>
            <a:r>
              <a:rPr lang="en-US" sz="12000" b="1" dirty="0">
                <a:solidFill>
                  <a:srgbClr val="F5B301"/>
                </a:solidFill>
                <a:latin typeface="Oswald" pitchFamily="34" charset="0"/>
                <a:ea typeface="Oswald" pitchFamily="34" charset="-122"/>
                <a:cs typeface="Oswald" pitchFamily="34" charset="-120"/>
              </a:rPr>
              <a:t>03</a:t>
            </a:r>
            <a:endParaRPr lang="en-US" sz="12000" dirty="0"/>
          </a:p>
        </p:txBody>
      </p:sp>
      <p:sp>
        <p:nvSpPr>
          <p:cNvPr id="6" name="Text 3"/>
          <p:cNvSpPr txBox="1"/>
          <p:nvPr/>
        </p:nvSpPr>
        <p:spPr>
          <a:xfrm>
            <a:off x="2432304" y="1371600"/>
            <a:ext cx="6309360" cy="219456"/>
          </a:xfrm>
          <a:prstGeom prst="rect">
            <a:avLst/>
          </a:prstGeom>
          <a:noFill/>
          <a:ln/>
        </p:spPr>
        <p:txBody>
          <a:bodyPr wrap="square" lIns="0" tIns="0" rIns="0" bIns="0" rtlCol="0" anchor="ctr"/>
          <a:lstStyle/>
          <a:p>
            <a:pPr marL="0" indent="0">
              <a:lnSpc>
                <a:spcPct val="120000"/>
              </a:lnSpc>
              <a:buNone/>
            </a:pPr>
            <a:r>
              <a:rPr lang="en-US" sz="1100" b="1" kern="0" spc="190" dirty="0">
                <a:solidFill>
                  <a:srgbClr val="FFD166"/>
                </a:solidFill>
                <a:latin typeface="Oswald" pitchFamily="34" charset="0"/>
                <a:ea typeface="Oswald" pitchFamily="34" charset="-122"/>
                <a:cs typeface="Oswald" pitchFamily="34" charset="-120"/>
              </a:rPr>
              <a:t>WHAT IS ON THE FLOOR</a:t>
            </a:r>
            <a:endParaRPr lang="en-US" sz="1100" dirty="0"/>
          </a:p>
        </p:txBody>
      </p:sp>
      <p:sp>
        <p:nvSpPr>
          <p:cNvPr id="7" name="Text 4"/>
          <p:cNvSpPr txBox="1"/>
          <p:nvPr/>
        </p:nvSpPr>
        <p:spPr>
          <a:xfrm>
            <a:off x="2432304" y="1682496"/>
            <a:ext cx="6309360" cy="749808"/>
          </a:xfrm>
          <a:prstGeom prst="rect">
            <a:avLst/>
          </a:prstGeom>
          <a:noFill/>
          <a:ln/>
        </p:spPr>
        <p:txBody>
          <a:bodyPr wrap="square" lIns="0" tIns="0" rIns="0" bIns="0" rtlCol="0" anchor="ctr"/>
          <a:lstStyle/>
          <a:p>
            <a:pPr marL="0" indent="0">
              <a:lnSpc>
                <a:spcPct val="102000"/>
              </a:lnSpc>
              <a:buNone/>
            </a:pPr>
            <a:r>
              <a:rPr lang="en-US" sz="4000" b="1" kern="0" spc="40" dirty="0">
                <a:solidFill>
                  <a:srgbClr val="FFFFFF"/>
                </a:solidFill>
                <a:latin typeface="Oswald" pitchFamily="34" charset="0"/>
                <a:ea typeface="Oswald" pitchFamily="34" charset="-122"/>
                <a:cs typeface="Oswald" pitchFamily="34" charset="-120"/>
              </a:rPr>
              <a:t>YOUR TWO STATIONS</a:t>
            </a:r>
            <a:endParaRPr lang="en-US" sz="4000" dirty="0"/>
          </a:p>
        </p:txBody>
      </p:sp>
      <p:sp>
        <p:nvSpPr>
          <p:cNvPr id="8" name="Shape 5"/>
          <p:cNvSpPr/>
          <p:nvPr/>
        </p:nvSpPr>
        <p:spPr>
          <a:xfrm>
            <a:off x="2432304" y="2487168"/>
            <a:ext cx="457017" cy="30450"/>
          </a:xfrm>
          <a:prstGeom prst="rect">
            <a:avLst/>
          </a:prstGeom>
          <a:solidFill>
            <a:srgbClr val="F5B301"/>
          </a:solidFill>
          <a:ln/>
        </p:spPr>
        <p:txBody>
          <a:bodyPr/>
          <a:lstStyle/>
          <a:p>
            <a:endParaRPr lang="en-US"/>
          </a:p>
        </p:txBody>
      </p:sp>
      <p:sp>
        <p:nvSpPr>
          <p:cNvPr id="9" name="Text 6"/>
          <p:cNvSpPr txBox="1"/>
          <p:nvPr/>
        </p:nvSpPr>
        <p:spPr>
          <a:xfrm>
            <a:off x="2432304" y="2688336"/>
            <a:ext cx="6035040" cy="822960"/>
          </a:xfrm>
          <a:prstGeom prst="rect">
            <a:avLst/>
          </a:prstGeom>
          <a:noFill/>
          <a:ln/>
        </p:spPr>
        <p:txBody>
          <a:bodyPr wrap="square" lIns="0" tIns="0" rIns="0" bIns="0" rtlCol="0" anchor="t"/>
          <a:lstStyle/>
          <a:p>
            <a:pPr marL="0" indent="0">
              <a:lnSpc>
                <a:spcPct val="135000"/>
              </a:lnSpc>
              <a:buNone/>
            </a:pPr>
            <a:r>
              <a:rPr lang="en-US" sz="1200" dirty="0">
                <a:solidFill>
                  <a:srgbClr val="AAAAAA"/>
                </a:solidFill>
                <a:latin typeface="Arial" pitchFamily="34" charset="0"/>
                <a:ea typeface="Arial" pitchFamily="34" charset="-122"/>
                <a:cs typeface="Arial" pitchFamily="34" charset="-120"/>
              </a:rPr>
              <a:t>One light on one backdrop. Two lights on the other. Here is what each can actually do, and what it cannot.</a:t>
            </a:r>
            <a:endParaRPr lang="en-US" sz="1200" dirty="0"/>
          </a:p>
        </p:txBody>
      </p:sp>
      <p:sp>
        <p:nvSpPr>
          <p:cNvPr id="10" name="Shape 7"/>
          <p:cNvSpPr/>
          <p:nvPr/>
        </p:nvSpPr>
        <p:spPr>
          <a:xfrm>
            <a:off x="0" y="4681728"/>
            <a:ext cx="9144000" cy="22860"/>
          </a:xfrm>
          <a:prstGeom prst="rect">
            <a:avLst/>
          </a:prstGeom>
          <a:solidFill>
            <a:srgbClr val="F5B301"/>
          </a:solidFill>
          <a:ln/>
        </p:spPr>
        <p:txBody>
          <a:bodyPr/>
          <a:lstStyle/>
          <a:p>
            <a:endParaRPr lang="en-US"/>
          </a:p>
        </p:txBody>
      </p:sp>
      <p:sp>
        <p:nvSpPr>
          <p:cNvPr id="11" name="Text 8"/>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F5B301"/>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FFD166"/>
                </a:solidFill>
                <a:latin typeface="Oswald" pitchFamily="34" charset="0"/>
                <a:ea typeface="Oswald" pitchFamily="34" charset="-122"/>
                <a:cs typeface="Oswald" pitchFamily="34" charset="-120"/>
              </a:rPr>
              <a:t>STATION A: ONE LIGHT</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FFD166"/>
                </a:solidFill>
                <a:latin typeface="Oswald" pitchFamily="34" charset="0"/>
                <a:ea typeface="Oswald" pitchFamily="34" charset="-122"/>
                <a:cs typeface="Oswald" pitchFamily="34" charset="-120"/>
              </a:rPr>
              <a:t>SETUP / 18</a:t>
            </a:r>
            <a:endParaRPr lang="en-US" sz="900" dirty="0"/>
          </a:p>
        </p:txBody>
      </p:sp>
      <p:sp>
        <p:nvSpPr>
          <p:cNvPr id="7" name="Shape 4"/>
          <p:cNvSpPr/>
          <p:nvPr/>
        </p:nvSpPr>
        <p:spPr>
          <a:xfrm>
            <a:off x="859536" y="699516"/>
            <a:ext cx="457017" cy="22860"/>
          </a:xfrm>
          <a:prstGeom prst="rect">
            <a:avLst/>
          </a:prstGeom>
          <a:solidFill>
            <a:srgbClr val="F5B301"/>
          </a:solidFill>
          <a:ln/>
        </p:spPr>
        <p:txBody>
          <a:bodyPr/>
          <a:lstStyle/>
          <a:p>
            <a:endParaRPr lang="en-US"/>
          </a:p>
        </p:txBody>
      </p:sp>
      <p:sp>
        <p:nvSpPr>
          <p:cNvPr id="8" name="Shape 5"/>
          <p:cNvSpPr/>
          <p:nvPr/>
        </p:nvSpPr>
        <p:spPr>
          <a:xfrm>
            <a:off x="292608" y="978408"/>
            <a:ext cx="8558784" cy="752551"/>
          </a:xfrm>
          <a:prstGeom prst="rect">
            <a:avLst/>
          </a:prstGeom>
          <a:solidFill>
            <a:srgbClr val="F5B301">
              <a:alpha val="6000"/>
            </a:srgbClr>
          </a:solidFill>
          <a:ln w="12700">
            <a:solidFill>
              <a:srgbClr val="594206"/>
            </a:solidFill>
            <a:prstDash val="solid"/>
          </a:ln>
        </p:spPr>
        <p:txBody>
          <a:bodyPr/>
          <a:lstStyle/>
          <a:p>
            <a:endParaRPr lang="en-US"/>
          </a:p>
        </p:txBody>
      </p:sp>
      <p:sp>
        <p:nvSpPr>
          <p:cNvPr id="9" name="Shape 6"/>
          <p:cNvSpPr/>
          <p:nvPr/>
        </p:nvSpPr>
        <p:spPr>
          <a:xfrm>
            <a:off x="292608" y="978408"/>
            <a:ext cx="45720" cy="752551"/>
          </a:xfrm>
          <a:prstGeom prst="rect">
            <a:avLst/>
          </a:prstGeom>
          <a:solidFill>
            <a:srgbClr val="F5B301"/>
          </a:solidFill>
          <a:ln/>
        </p:spPr>
        <p:txBody>
          <a:bodyPr/>
          <a:lstStyle/>
          <a:p>
            <a:endParaRPr lang="en-US"/>
          </a:p>
        </p:txBody>
      </p:sp>
      <p:sp>
        <p:nvSpPr>
          <p:cNvPr id="10" name="Text 7"/>
          <p:cNvSpPr txBox="1"/>
          <p:nvPr/>
        </p:nvSpPr>
        <p:spPr>
          <a:xfrm>
            <a:off x="521208" y="1131113"/>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FFD166"/>
                </a:solidFill>
                <a:latin typeface="Arial" pitchFamily="34" charset="0"/>
                <a:ea typeface="Arial" pitchFamily="34" charset="-122"/>
                <a:cs typeface="Arial" pitchFamily="34" charset="-120"/>
              </a:rPr>
              <a:t>One light sounds like a limit. It is the exact setup Karl Freund used on Dracula. The restriction is what forces the choice to be strong.</a:t>
            </a:r>
            <a:endParaRPr lang="en-US" sz="1200" dirty="0"/>
          </a:p>
        </p:txBody>
      </p:sp>
      <p:sp>
        <p:nvSpPr>
          <p:cNvPr id="11" name="Shape 8"/>
          <p:cNvSpPr/>
          <p:nvPr/>
        </p:nvSpPr>
        <p:spPr>
          <a:xfrm>
            <a:off x="292608" y="1895551"/>
            <a:ext cx="4160520" cy="1389888"/>
          </a:xfrm>
          <a:prstGeom prst="rect">
            <a:avLst/>
          </a:prstGeom>
          <a:solidFill>
            <a:srgbClr val="F5B301"/>
          </a:solidFill>
          <a:ln/>
        </p:spPr>
        <p:txBody>
          <a:bodyPr/>
          <a:lstStyle/>
          <a:p>
            <a:endParaRPr lang="en-US"/>
          </a:p>
        </p:txBody>
      </p:sp>
      <p:sp>
        <p:nvSpPr>
          <p:cNvPr id="12" name="Shape 9"/>
          <p:cNvSpPr/>
          <p:nvPr/>
        </p:nvSpPr>
        <p:spPr>
          <a:xfrm>
            <a:off x="307878" y="1910822"/>
            <a:ext cx="4129979" cy="213238"/>
          </a:xfrm>
          <a:prstGeom prst="rect">
            <a:avLst/>
          </a:prstGeom>
          <a:solidFill>
            <a:srgbClr val="33280A"/>
          </a:solidFill>
          <a:ln/>
        </p:spPr>
        <p:txBody>
          <a:bodyPr/>
          <a:lstStyle/>
          <a:p>
            <a:endParaRPr lang="en-US"/>
          </a:p>
        </p:txBody>
      </p:sp>
      <p:sp>
        <p:nvSpPr>
          <p:cNvPr id="13" name="Shape 10"/>
          <p:cNvSpPr/>
          <p:nvPr/>
        </p:nvSpPr>
        <p:spPr>
          <a:xfrm>
            <a:off x="307878" y="2124060"/>
            <a:ext cx="4129979" cy="1146109"/>
          </a:xfrm>
          <a:prstGeom prst="rect">
            <a:avLst/>
          </a:prstGeom>
          <a:solidFill>
            <a:srgbClr val="1A1405"/>
          </a:solidFill>
          <a:ln/>
        </p:spPr>
        <p:txBody>
          <a:bodyPr/>
          <a:lstStyle/>
          <a:p>
            <a:endParaRPr lang="en-US"/>
          </a:p>
        </p:txBody>
      </p:sp>
      <p:sp>
        <p:nvSpPr>
          <p:cNvPr id="14" name="Text 11"/>
          <p:cNvSpPr txBox="1"/>
          <p:nvPr/>
        </p:nvSpPr>
        <p:spPr>
          <a:xfrm>
            <a:off x="475488" y="2002262"/>
            <a:ext cx="3794760" cy="256032"/>
          </a:xfrm>
          <a:prstGeom prst="rect">
            <a:avLst/>
          </a:prstGeom>
          <a:noFill/>
          <a:ln/>
        </p:spPr>
        <p:txBody>
          <a:bodyPr wrap="square" lIns="0" tIns="0" rIns="0" bIns="0" rtlCol="0" anchor="ctr"/>
          <a:lstStyle/>
          <a:p>
            <a:pPr marL="0" indent="0">
              <a:lnSpc>
                <a:spcPct val="105000"/>
              </a:lnSpc>
              <a:buNone/>
            </a:pPr>
            <a:r>
              <a:rPr lang="en-US" sz="1250" b="1" dirty="0">
                <a:solidFill>
                  <a:srgbClr val="FFD166"/>
                </a:solidFill>
                <a:latin typeface="Arial" pitchFamily="34" charset="0"/>
                <a:ea typeface="Arial" pitchFamily="34" charset="-122"/>
                <a:cs typeface="Arial" pitchFamily="34" charset="-120"/>
              </a:rPr>
              <a:t>What it does well</a:t>
            </a:r>
            <a:endParaRPr lang="en-US" sz="1250" dirty="0"/>
          </a:p>
        </p:txBody>
      </p:sp>
      <p:sp>
        <p:nvSpPr>
          <p:cNvPr id="15" name="Shape 12"/>
          <p:cNvSpPr/>
          <p:nvPr/>
        </p:nvSpPr>
        <p:spPr>
          <a:xfrm>
            <a:off x="475488" y="2295144"/>
            <a:ext cx="228509" cy="15270"/>
          </a:xfrm>
          <a:prstGeom prst="rect">
            <a:avLst/>
          </a:prstGeom>
          <a:solidFill>
            <a:srgbClr val="F5B301"/>
          </a:solidFill>
          <a:ln/>
        </p:spPr>
        <p:txBody>
          <a:bodyPr/>
          <a:lstStyle/>
          <a:p>
            <a:endParaRPr lang="en-US"/>
          </a:p>
        </p:txBody>
      </p:sp>
      <p:sp>
        <p:nvSpPr>
          <p:cNvPr id="16" name="Text 13"/>
          <p:cNvSpPr txBox="1"/>
          <p:nvPr/>
        </p:nvSpPr>
        <p:spPr>
          <a:xfrm>
            <a:off x="475488" y="2441448"/>
            <a:ext cx="3794760" cy="731520"/>
          </a:xfrm>
          <a:prstGeom prst="rect">
            <a:avLst/>
          </a:prstGeom>
          <a:noFill/>
          <a:ln/>
        </p:spPr>
        <p:txBody>
          <a:bodyPr wrap="square" lIns="0" tIns="0" rIns="0" bIns="0" rtlCol="0" anchor="t"/>
          <a:lstStyle/>
          <a:p>
            <a:pPr marL="0" indent="0">
              <a:lnSpc>
                <a:spcPct val="130000"/>
              </a:lnSpc>
              <a:buNone/>
            </a:pPr>
            <a:r>
              <a:rPr lang="en-US" sz="1050" dirty="0">
                <a:solidFill>
                  <a:srgbClr val="FFFFFF"/>
                </a:solidFill>
                <a:latin typeface="Arial" pitchFamily="34" charset="0"/>
                <a:ea typeface="Arial" pitchFamily="34" charset="-122"/>
                <a:cs typeface="Arial" pitchFamily="34" charset="-120"/>
              </a:rPr>
              <a:t>Split light and hard shadow. Full silhouette. Under light. Pure black backdrop with almost no effort, because falloff does it for you.</a:t>
            </a:r>
            <a:endParaRPr lang="en-US" sz="1050" dirty="0"/>
          </a:p>
        </p:txBody>
      </p:sp>
      <p:sp>
        <p:nvSpPr>
          <p:cNvPr id="17" name="Shape 14"/>
          <p:cNvSpPr/>
          <p:nvPr/>
        </p:nvSpPr>
        <p:spPr>
          <a:xfrm>
            <a:off x="4690872" y="1895551"/>
            <a:ext cx="4160520" cy="1389888"/>
          </a:xfrm>
          <a:prstGeom prst="rect">
            <a:avLst/>
          </a:prstGeom>
          <a:solidFill>
            <a:srgbClr val="F5B301"/>
          </a:solidFill>
          <a:ln/>
        </p:spPr>
        <p:txBody>
          <a:bodyPr/>
          <a:lstStyle/>
          <a:p>
            <a:endParaRPr lang="en-US"/>
          </a:p>
        </p:txBody>
      </p:sp>
      <p:sp>
        <p:nvSpPr>
          <p:cNvPr id="18" name="Shape 15"/>
          <p:cNvSpPr/>
          <p:nvPr/>
        </p:nvSpPr>
        <p:spPr>
          <a:xfrm>
            <a:off x="4706142" y="1910822"/>
            <a:ext cx="4129979" cy="213238"/>
          </a:xfrm>
          <a:prstGeom prst="rect">
            <a:avLst/>
          </a:prstGeom>
          <a:solidFill>
            <a:srgbClr val="33280A"/>
          </a:solidFill>
          <a:ln/>
        </p:spPr>
        <p:txBody>
          <a:bodyPr/>
          <a:lstStyle/>
          <a:p>
            <a:endParaRPr lang="en-US"/>
          </a:p>
        </p:txBody>
      </p:sp>
      <p:sp>
        <p:nvSpPr>
          <p:cNvPr id="19" name="Shape 16"/>
          <p:cNvSpPr/>
          <p:nvPr/>
        </p:nvSpPr>
        <p:spPr>
          <a:xfrm>
            <a:off x="4706142" y="2124060"/>
            <a:ext cx="4129979" cy="1146109"/>
          </a:xfrm>
          <a:prstGeom prst="rect">
            <a:avLst/>
          </a:prstGeom>
          <a:solidFill>
            <a:srgbClr val="1A1405"/>
          </a:solidFill>
          <a:ln/>
        </p:spPr>
        <p:txBody>
          <a:bodyPr/>
          <a:lstStyle/>
          <a:p>
            <a:endParaRPr lang="en-US"/>
          </a:p>
        </p:txBody>
      </p:sp>
      <p:sp>
        <p:nvSpPr>
          <p:cNvPr id="20" name="Text 17"/>
          <p:cNvSpPr txBox="1"/>
          <p:nvPr/>
        </p:nvSpPr>
        <p:spPr>
          <a:xfrm>
            <a:off x="4873752" y="2002262"/>
            <a:ext cx="3794760" cy="256032"/>
          </a:xfrm>
          <a:prstGeom prst="rect">
            <a:avLst/>
          </a:prstGeom>
          <a:noFill/>
          <a:ln/>
        </p:spPr>
        <p:txBody>
          <a:bodyPr wrap="square" lIns="0" tIns="0" rIns="0" bIns="0" rtlCol="0" anchor="ctr"/>
          <a:lstStyle/>
          <a:p>
            <a:pPr marL="0" indent="0">
              <a:lnSpc>
                <a:spcPct val="105000"/>
              </a:lnSpc>
              <a:buNone/>
            </a:pPr>
            <a:r>
              <a:rPr lang="en-US" sz="1250" b="1" dirty="0">
                <a:solidFill>
                  <a:srgbClr val="FFD166"/>
                </a:solidFill>
                <a:latin typeface="Arial" pitchFamily="34" charset="0"/>
                <a:ea typeface="Arial" pitchFamily="34" charset="-122"/>
                <a:cs typeface="Arial" pitchFamily="34" charset="-120"/>
              </a:rPr>
              <a:t>What it cannot do</a:t>
            </a:r>
            <a:endParaRPr lang="en-US" sz="1250" dirty="0"/>
          </a:p>
        </p:txBody>
      </p:sp>
      <p:sp>
        <p:nvSpPr>
          <p:cNvPr id="21" name="Shape 18"/>
          <p:cNvSpPr/>
          <p:nvPr/>
        </p:nvSpPr>
        <p:spPr>
          <a:xfrm>
            <a:off x="4873752" y="2295144"/>
            <a:ext cx="228509" cy="15270"/>
          </a:xfrm>
          <a:prstGeom prst="rect">
            <a:avLst/>
          </a:prstGeom>
          <a:solidFill>
            <a:srgbClr val="F5B301"/>
          </a:solidFill>
          <a:ln/>
        </p:spPr>
        <p:txBody>
          <a:bodyPr/>
          <a:lstStyle/>
          <a:p>
            <a:endParaRPr lang="en-US"/>
          </a:p>
        </p:txBody>
      </p:sp>
      <p:sp>
        <p:nvSpPr>
          <p:cNvPr id="22" name="Text 19"/>
          <p:cNvSpPr txBox="1"/>
          <p:nvPr/>
        </p:nvSpPr>
        <p:spPr>
          <a:xfrm>
            <a:off x="4873752" y="2441448"/>
            <a:ext cx="3794760" cy="731520"/>
          </a:xfrm>
          <a:prstGeom prst="rect">
            <a:avLst/>
          </a:prstGeom>
          <a:noFill/>
          <a:ln/>
        </p:spPr>
        <p:txBody>
          <a:bodyPr wrap="square" lIns="0" tIns="0" rIns="0" bIns="0" rtlCol="0" anchor="t"/>
          <a:lstStyle/>
          <a:p>
            <a:pPr marL="0" indent="0">
              <a:lnSpc>
                <a:spcPct val="130000"/>
              </a:lnSpc>
              <a:buNone/>
            </a:pPr>
            <a:r>
              <a:rPr lang="en-US" sz="1050" dirty="0">
                <a:solidFill>
                  <a:srgbClr val="FFFFFF"/>
                </a:solidFill>
                <a:latin typeface="Arial" pitchFamily="34" charset="0"/>
                <a:ea typeface="Arial" pitchFamily="34" charset="-122"/>
                <a:cs typeface="Arial" pitchFamily="34" charset="-120"/>
              </a:rPr>
              <a:t>Lift the shadow side, and separate dark hair from a dark backdrop. If your subject disappears into the background, that is the one light limit showing.</a:t>
            </a:r>
            <a:endParaRPr lang="en-US" sz="1050" dirty="0"/>
          </a:p>
        </p:txBody>
      </p:sp>
      <p:sp>
        <p:nvSpPr>
          <p:cNvPr id="23" name="Shape 20"/>
          <p:cNvSpPr/>
          <p:nvPr/>
        </p:nvSpPr>
        <p:spPr>
          <a:xfrm>
            <a:off x="292608" y="3450031"/>
            <a:ext cx="8558784" cy="894283"/>
          </a:xfrm>
          <a:prstGeom prst="rect">
            <a:avLst/>
          </a:prstGeom>
          <a:solidFill>
            <a:srgbClr val="0C1010"/>
          </a:solidFill>
          <a:ln w="12700">
            <a:solidFill>
              <a:srgbClr val="F90101"/>
            </a:solidFill>
            <a:prstDash val="solid"/>
          </a:ln>
        </p:spPr>
        <p:txBody>
          <a:bodyPr/>
          <a:lstStyle/>
          <a:p>
            <a:endParaRPr lang="en-US"/>
          </a:p>
        </p:txBody>
      </p:sp>
      <p:sp>
        <p:nvSpPr>
          <p:cNvPr id="24" name="Shape 21"/>
          <p:cNvSpPr/>
          <p:nvPr/>
        </p:nvSpPr>
        <p:spPr>
          <a:xfrm>
            <a:off x="292608" y="3450031"/>
            <a:ext cx="45720" cy="894283"/>
          </a:xfrm>
          <a:prstGeom prst="rect">
            <a:avLst/>
          </a:prstGeom>
          <a:solidFill>
            <a:srgbClr val="F90101"/>
          </a:solidFill>
          <a:ln/>
        </p:spPr>
        <p:txBody>
          <a:bodyPr/>
          <a:lstStyle/>
          <a:p>
            <a:endParaRPr lang="en-US"/>
          </a:p>
        </p:txBody>
      </p:sp>
      <p:sp>
        <p:nvSpPr>
          <p:cNvPr id="25" name="Text 22"/>
          <p:cNvSpPr txBox="1"/>
          <p:nvPr/>
        </p:nvSpPr>
        <p:spPr>
          <a:xfrm>
            <a:off x="459943" y="3557016"/>
            <a:ext cx="8223199" cy="237744"/>
          </a:xfrm>
          <a:prstGeom prst="rect">
            <a:avLst/>
          </a:prstGeom>
          <a:noFill/>
          <a:ln/>
        </p:spPr>
        <p:txBody>
          <a:bodyPr wrap="square" lIns="0" tIns="0" rIns="0" bIns="0" rtlCol="0" anchor="ctr"/>
          <a:lstStyle/>
          <a:p>
            <a:pPr marL="0" indent="0">
              <a:lnSpc>
                <a:spcPct val="105000"/>
              </a:lnSpc>
              <a:buNone/>
            </a:pPr>
            <a:r>
              <a:rPr lang="en-US" sz="1100" b="1" kern="0" spc="100" dirty="0">
                <a:solidFill>
                  <a:srgbClr val="FF8F8F"/>
                </a:solidFill>
                <a:latin typeface="Oswald" pitchFamily="34" charset="0"/>
                <a:ea typeface="Oswald" pitchFamily="34" charset="-122"/>
                <a:cs typeface="Oswald" pitchFamily="34" charset="-120"/>
              </a:rPr>
              <a:t>STARTING POINT AT STATION A</a:t>
            </a:r>
            <a:endParaRPr lang="en-US" sz="1100" dirty="0"/>
          </a:p>
        </p:txBody>
      </p:sp>
      <p:sp>
        <p:nvSpPr>
          <p:cNvPr id="26" name="Text 23"/>
          <p:cNvSpPr txBox="1"/>
          <p:nvPr/>
        </p:nvSpPr>
        <p:spPr>
          <a:xfrm>
            <a:off x="459943" y="3831336"/>
            <a:ext cx="8223199" cy="406908"/>
          </a:xfrm>
          <a:prstGeom prst="rect">
            <a:avLst/>
          </a:prstGeom>
          <a:noFill/>
          <a:ln/>
        </p:spPr>
        <p:txBody>
          <a:bodyPr wrap="square" lIns="0" tIns="0" rIns="0" bIns="0" rtlCol="0" anchor="t"/>
          <a:lstStyle/>
          <a:p>
            <a:pPr marL="0" indent="0">
              <a:lnSpc>
                <a:spcPct val="125000"/>
              </a:lnSpc>
              <a:buNone/>
            </a:pPr>
            <a:r>
              <a:rPr lang="en-US" sz="1050" dirty="0">
                <a:solidFill>
                  <a:srgbClr val="FFB0B0"/>
                </a:solidFill>
                <a:latin typeface="Arial" pitchFamily="34" charset="0"/>
                <a:ea typeface="Arial" pitchFamily="34" charset="-122"/>
                <a:cs typeface="Arial" pitchFamily="34" charset="-120"/>
              </a:rPr>
              <a:t>Subject four to six feet off the backdrop. Light at head height or lower, close in, hard reflector, no softbox. Then walk the light around them and watch the face change. Make a frame at every stop.</a:t>
            </a:r>
            <a:endParaRPr lang="en-US" sz="1050" dirty="0"/>
          </a:p>
        </p:txBody>
      </p:sp>
      <p:sp>
        <p:nvSpPr>
          <p:cNvPr id="27" name="Shape 24"/>
          <p:cNvSpPr/>
          <p:nvPr/>
        </p:nvSpPr>
        <p:spPr>
          <a:xfrm>
            <a:off x="0" y="4681728"/>
            <a:ext cx="9144000" cy="22860"/>
          </a:xfrm>
          <a:prstGeom prst="rect">
            <a:avLst/>
          </a:prstGeom>
          <a:solidFill>
            <a:srgbClr val="F5B301"/>
          </a:solidFill>
          <a:ln/>
        </p:spPr>
        <p:txBody>
          <a:bodyPr/>
          <a:lstStyle/>
          <a:p>
            <a:endParaRPr lang="en-US"/>
          </a:p>
        </p:txBody>
      </p:sp>
      <p:sp>
        <p:nvSpPr>
          <p:cNvPr id="28" name="Text 25"/>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F5B301"/>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FFD166"/>
                </a:solidFill>
                <a:latin typeface="Oswald" pitchFamily="34" charset="0"/>
                <a:ea typeface="Oswald" pitchFamily="34" charset="-122"/>
                <a:cs typeface="Oswald" pitchFamily="34" charset="-120"/>
              </a:rPr>
              <a:t>STATION B: TWO LIGHTS</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FFD166"/>
                </a:solidFill>
                <a:latin typeface="Oswald" pitchFamily="34" charset="0"/>
                <a:ea typeface="Oswald" pitchFamily="34" charset="-122"/>
                <a:cs typeface="Oswald" pitchFamily="34" charset="-120"/>
              </a:rPr>
              <a:t>SETUP / 19</a:t>
            </a:r>
            <a:endParaRPr lang="en-US" sz="900" dirty="0"/>
          </a:p>
        </p:txBody>
      </p:sp>
      <p:sp>
        <p:nvSpPr>
          <p:cNvPr id="7" name="Shape 4"/>
          <p:cNvSpPr/>
          <p:nvPr/>
        </p:nvSpPr>
        <p:spPr>
          <a:xfrm>
            <a:off x="859536" y="699516"/>
            <a:ext cx="457017" cy="22860"/>
          </a:xfrm>
          <a:prstGeom prst="rect">
            <a:avLst/>
          </a:prstGeom>
          <a:solidFill>
            <a:srgbClr val="F5B301"/>
          </a:solidFill>
          <a:ln/>
        </p:spPr>
        <p:txBody>
          <a:bodyPr/>
          <a:lstStyle/>
          <a:p>
            <a:endParaRPr lang="en-US"/>
          </a:p>
        </p:txBody>
      </p:sp>
      <p:sp>
        <p:nvSpPr>
          <p:cNvPr id="8" name="Shape 5"/>
          <p:cNvSpPr/>
          <p:nvPr/>
        </p:nvSpPr>
        <p:spPr>
          <a:xfrm>
            <a:off x="292608" y="978408"/>
            <a:ext cx="8558784" cy="546811"/>
          </a:xfrm>
          <a:prstGeom prst="rect">
            <a:avLst/>
          </a:prstGeom>
          <a:solidFill>
            <a:srgbClr val="F5B301">
              <a:alpha val="6000"/>
            </a:srgbClr>
          </a:solidFill>
          <a:ln w="12700">
            <a:solidFill>
              <a:srgbClr val="594206"/>
            </a:solidFill>
            <a:prstDash val="solid"/>
          </a:ln>
        </p:spPr>
        <p:txBody>
          <a:bodyPr/>
          <a:lstStyle/>
          <a:p>
            <a:endParaRPr lang="en-US"/>
          </a:p>
        </p:txBody>
      </p:sp>
      <p:sp>
        <p:nvSpPr>
          <p:cNvPr id="9" name="Shape 6"/>
          <p:cNvSpPr/>
          <p:nvPr/>
        </p:nvSpPr>
        <p:spPr>
          <a:xfrm>
            <a:off x="292608" y="978408"/>
            <a:ext cx="45720" cy="546811"/>
          </a:xfrm>
          <a:prstGeom prst="rect">
            <a:avLst/>
          </a:prstGeom>
          <a:solidFill>
            <a:srgbClr val="F5B301"/>
          </a:solidFill>
          <a:ln/>
        </p:spPr>
        <p:txBody>
          <a:bodyPr/>
          <a:lstStyle/>
          <a:p>
            <a:endParaRPr lang="en-US"/>
          </a:p>
        </p:txBody>
      </p:sp>
      <p:sp>
        <p:nvSpPr>
          <p:cNvPr id="10" name="Text 7"/>
          <p:cNvSpPr txBox="1"/>
          <p:nvPr/>
        </p:nvSpPr>
        <p:spPr>
          <a:xfrm>
            <a:off x="521208" y="1131113"/>
            <a:ext cx="8162849" cy="278892"/>
          </a:xfrm>
          <a:prstGeom prst="rect">
            <a:avLst/>
          </a:prstGeom>
          <a:noFill/>
          <a:ln/>
        </p:spPr>
        <p:txBody>
          <a:bodyPr wrap="square" lIns="0" tIns="0" rIns="0" bIns="0" rtlCol="0" anchor="t"/>
          <a:lstStyle/>
          <a:p>
            <a:pPr marL="0" indent="0">
              <a:lnSpc>
                <a:spcPct val="135000"/>
              </a:lnSpc>
              <a:buNone/>
            </a:pPr>
            <a:r>
              <a:rPr lang="en-US" sz="1200" dirty="0">
                <a:solidFill>
                  <a:srgbClr val="FFD166"/>
                </a:solidFill>
                <a:latin typeface="Arial" pitchFamily="34" charset="0"/>
                <a:ea typeface="Arial" pitchFamily="34" charset="-122"/>
                <a:cs typeface="Arial" pitchFamily="34" charset="-120"/>
              </a:rPr>
              <a:t>The second light is not a brighter version of the first. Give it a different job, or you have wasted it.</a:t>
            </a:r>
            <a:endParaRPr lang="en-US" sz="1200" dirty="0"/>
          </a:p>
        </p:txBody>
      </p:sp>
      <p:sp>
        <p:nvSpPr>
          <p:cNvPr id="11" name="Shape 8"/>
          <p:cNvSpPr/>
          <p:nvPr/>
        </p:nvSpPr>
        <p:spPr>
          <a:xfrm>
            <a:off x="292608" y="1689811"/>
            <a:ext cx="2706624" cy="1298448"/>
          </a:xfrm>
          <a:prstGeom prst="rect">
            <a:avLst/>
          </a:prstGeom>
          <a:solidFill>
            <a:srgbClr val="F5B301"/>
          </a:solidFill>
          <a:ln/>
        </p:spPr>
        <p:txBody>
          <a:bodyPr/>
          <a:lstStyle/>
          <a:p>
            <a:endParaRPr lang="en-US"/>
          </a:p>
        </p:txBody>
      </p:sp>
      <p:sp>
        <p:nvSpPr>
          <p:cNvPr id="12" name="Shape 9"/>
          <p:cNvSpPr/>
          <p:nvPr/>
        </p:nvSpPr>
        <p:spPr>
          <a:xfrm>
            <a:off x="307878" y="1705082"/>
            <a:ext cx="2676083" cy="213238"/>
          </a:xfrm>
          <a:prstGeom prst="rect">
            <a:avLst/>
          </a:prstGeom>
          <a:solidFill>
            <a:srgbClr val="33280A"/>
          </a:solidFill>
          <a:ln/>
        </p:spPr>
        <p:txBody>
          <a:bodyPr/>
          <a:lstStyle/>
          <a:p>
            <a:endParaRPr lang="en-US"/>
          </a:p>
        </p:txBody>
      </p:sp>
      <p:sp>
        <p:nvSpPr>
          <p:cNvPr id="13" name="Shape 10"/>
          <p:cNvSpPr/>
          <p:nvPr/>
        </p:nvSpPr>
        <p:spPr>
          <a:xfrm>
            <a:off x="307878" y="1918320"/>
            <a:ext cx="2676083" cy="1054669"/>
          </a:xfrm>
          <a:prstGeom prst="rect">
            <a:avLst/>
          </a:prstGeom>
          <a:solidFill>
            <a:srgbClr val="1A1405"/>
          </a:solidFill>
          <a:ln/>
        </p:spPr>
        <p:txBody>
          <a:bodyPr/>
          <a:lstStyle/>
          <a:p>
            <a:endParaRPr lang="en-US"/>
          </a:p>
        </p:txBody>
      </p:sp>
      <p:sp>
        <p:nvSpPr>
          <p:cNvPr id="14" name="Text 11"/>
          <p:cNvSpPr txBox="1"/>
          <p:nvPr/>
        </p:nvSpPr>
        <p:spPr>
          <a:xfrm>
            <a:off x="460218" y="1788841"/>
            <a:ext cx="2371039" cy="246888"/>
          </a:xfrm>
          <a:prstGeom prst="rect">
            <a:avLst/>
          </a:prstGeom>
          <a:noFill/>
          <a:ln/>
        </p:spPr>
        <p:txBody>
          <a:bodyPr wrap="square" lIns="0" tIns="0" rIns="0" bIns="0" rtlCol="0" anchor="ctr"/>
          <a:lstStyle/>
          <a:p>
            <a:pPr marL="0" indent="0">
              <a:lnSpc>
                <a:spcPct val="105000"/>
              </a:lnSpc>
              <a:buNone/>
            </a:pPr>
            <a:r>
              <a:rPr lang="en-US" sz="1200" b="1" dirty="0">
                <a:solidFill>
                  <a:srgbClr val="FFD166"/>
                </a:solidFill>
                <a:latin typeface="Arial" pitchFamily="34" charset="0"/>
                <a:ea typeface="Arial" pitchFamily="34" charset="-122"/>
                <a:cs typeface="Arial" pitchFamily="34" charset="-120"/>
              </a:rPr>
              <a:t>Job one: rim</a:t>
            </a:r>
            <a:endParaRPr lang="en-US" sz="1200" dirty="0"/>
          </a:p>
        </p:txBody>
      </p:sp>
      <p:sp>
        <p:nvSpPr>
          <p:cNvPr id="15" name="Shape 12"/>
          <p:cNvSpPr/>
          <p:nvPr/>
        </p:nvSpPr>
        <p:spPr>
          <a:xfrm>
            <a:off x="460218" y="2072030"/>
            <a:ext cx="213238" cy="15270"/>
          </a:xfrm>
          <a:prstGeom prst="rect">
            <a:avLst/>
          </a:prstGeom>
          <a:solidFill>
            <a:srgbClr val="F5B301"/>
          </a:solidFill>
          <a:ln/>
        </p:spPr>
        <p:txBody>
          <a:bodyPr/>
          <a:lstStyle/>
          <a:p>
            <a:endParaRPr lang="en-US"/>
          </a:p>
        </p:txBody>
      </p:sp>
      <p:sp>
        <p:nvSpPr>
          <p:cNvPr id="16" name="Text 13"/>
          <p:cNvSpPr txBox="1"/>
          <p:nvPr/>
        </p:nvSpPr>
        <p:spPr>
          <a:xfrm>
            <a:off x="460218" y="2209190"/>
            <a:ext cx="2371039" cy="65836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Key on the face, second light behind and to the side on the edge of the head. The professional default on a black backdrop.</a:t>
            </a:r>
            <a:endParaRPr lang="en-US" sz="1000" dirty="0"/>
          </a:p>
        </p:txBody>
      </p:sp>
      <p:sp>
        <p:nvSpPr>
          <p:cNvPr id="17" name="Shape 14"/>
          <p:cNvSpPr/>
          <p:nvPr/>
        </p:nvSpPr>
        <p:spPr>
          <a:xfrm>
            <a:off x="3218688" y="1689811"/>
            <a:ext cx="2706624" cy="1298448"/>
          </a:xfrm>
          <a:prstGeom prst="rect">
            <a:avLst/>
          </a:prstGeom>
          <a:solidFill>
            <a:srgbClr val="F5B301"/>
          </a:solidFill>
          <a:ln/>
        </p:spPr>
        <p:txBody>
          <a:bodyPr/>
          <a:lstStyle/>
          <a:p>
            <a:endParaRPr lang="en-US"/>
          </a:p>
        </p:txBody>
      </p:sp>
      <p:sp>
        <p:nvSpPr>
          <p:cNvPr id="18" name="Shape 15"/>
          <p:cNvSpPr/>
          <p:nvPr/>
        </p:nvSpPr>
        <p:spPr>
          <a:xfrm>
            <a:off x="3233958" y="1705082"/>
            <a:ext cx="2676083" cy="213238"/>
          </a:xfrm>
          <a:prstGeom prst="rect">
            <a:avLst/>
          </a:prstGeom>
          <a:solidFill>
            <a:srgbClr val="33280A"/>
          </a:solidFill>
          <a:ln/>
        </p:spPr>
        <p:txBody>
          <a:bodyPr/>
          <a:lstStyle/>
          <a:p>
            <a:endParaRPr lang="en-US"/>
          </a:p>
        </p:txBody>
      </p:sp>
      <p:sp>
        <p:nvSpPr>
          <p:cNvPr id="19" name="Shape 16"/>
          <p:cNvSpPr/>
          <p:nvPr/>
        </p:nvSpPr>
        <p:spPr>
          <a:xfrm>
            <a:off x="3233958" y="1918320"/>
            <a:ext cx="2676083" cy="1054669"/>
          </a:xfrm>
          <a:prstGeom prst="rect">
            <a:avLst/>
          </a:prstGeom>
          <a:solidFill>
            <a:srgbClr val="1A1405"/>
          </a:solidFill>
          <a:ln/>
        </p:spPr>
        <p:txBody>
          <a:bodyPr/>
          <a:lstStyle/>
          <a:p>
            <a:endParaRPr lang="en-US"/>
          </a:p>
        </p:txBody>
      </p:sp>
      <p:sp>
        <p:nvSpPr>
          <p:cNvPr id="20" name="Text 17"/>
          <p:cNvSpPr txBox="1"/>
          <p:nvPr/>
        </p:nvSpPr>
        <p:spPr>
          <a:xfrm>
            <a:off x="3386298" y="1788841"/>
            <a:ext cx="2371039" cy="246888"/>
          </a:xfrm>
          <a:prstGeom prst="rect">
            <a:avLst/>
          </a:prstGeom>
          <a:noFill/>
          <a:ln/>
        </p:spPr>
        <p:txBody>
          <a:bodyPr wrap="square" lIns="0" tIns="0" rIns="0" bIns="0" rtlCol="0" anchor="ctr"/>
          <a:lstStyle/>
          <a:p>
            <a:pPr marL="0" indent="0">
              <a:lnSpc>
                <a:spcPct val="105000"/>
              </a:lnSpc>
              <a:buNone/>
            </a:pPr>
            <a:r>
              <a:rPr lang="en-US" sz="1200" b="1" dirty="0">
                <a:solidFill>
                  <a:srgbClr val="FFD166"/>
                </a:solidFill>
                <a:latin typeface="Arial" pitchFamily="34" charset="0"/>
                <a:ea typeface="Arial" pitchFamily="34" charset="-122"/>
                <a:cs typeface="Arial" pitchFamily="34" charset="-120"/>
              </a:rPr>
              <a:t>Job two: glow</a:t>
            </a:r>
            <a:endParaRPr lang="en-US" sz="1200" dirty="0"/>
          </a:p>
        </p:txBody>
      </p:sp>
      <p:sp>
        <p:nvSpPr>
          <p:cNvPr id="21" name="Shape 18"/>
          <p:cNvSpPr/>
          <p:nvPr/>
        </p:nvSpPr>
        <p:spPr>
          <a:xfrm>
            <a:off x="3386298" y="2072030"/>
            <a:ext cx="213238" cy="15270"/>
          </a:xfrm>
          <a:prstGeom prst="rect">
            <a:avLst/>
          </a:prstGeom>
          <a:solidFill>
            <a:srgbClr val="F5B301"/>
          </a:solidFill>
          <a:ln/>
        </p:spPr>
        <p:txBody>
          <a:bodyPr/>
          <a:lstStyle/>
          <a:p>
            <a:endParaRPr lang="en-US"/>
          </a:p>
        </p:txBody>
      </p:sp>
      <p:sp>
        <p:nvSpPr>
          <p:cNvPr id="22" name="Text 19"/>
          <p:cNvSpPr txBox="1"/>
          <p:nvPr/>
        </p:nvSpPr>
        <p:spPr>
          <a:xfrm>
            <a:off x="3386298" y="2209190"/>
            <a:ext cx="2371039" cy="65836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Key on the face, second light pointed at the backdrop. The subject sits dark on a colored pool of light.</a:t>
            </a:r>
            <a:endParaRPr lang="en-US" sz="1000" dirty="0"/>
          </a:p>
        </p:txBody>
      </p:sp>
      <p:sp>
        <p:nvSpPr>
          <p:cNvPr id="23" name="Shape 20"/>
          <p:cNvSpPr/>
          <p:nvPr/>
        </p:nvSpPr>
        <p:spPr>
          <a:xfrm>
            <a:off x="6144768" y="1689811"/>
            <a:ext cx="2706624" cy="1298448"/>
          </a:xfrm>
          <a:prstGeom prst="rect">
            <a:avLst/>
          </a:prstGeom>
          <a:solidFill>
            <a:srgbClr val="F5B301"/>
          </a:solidFill>
          <a:ln/>
        </p:spPr>
        <p:txBody>
          <a:bodyPr/>
          <a:lstStyle/>
          <a:p>
            <a:endParaRPr lang="en-US"/>
          </a:p>
        </p:txBody>
      </p:sp>
      <p:sp>
        <p:nvSpPr>
          <p:cNvPr id="24" name="Shape 21"/>
          <p:cNvSpPr/>
          <p:nvPr/>
        </p:nvSpPr>
        <p:spPr>
          <a:xfrm>
            <a:off x="6160038" y="1705082"/>
            <a:ext cx="2676083" cy="213238"/>
          </a:xfrm>
          <a:prstGeom prst="rect">
            <a:avLst/>
          </a:prstGeom>
          <a:solidFill>
            <a:srgbClr val="33280A"/>
          </a:solidFill>
          <a:ln/>
        </p:spPr>
        <p:txBody>
          <a:bodyPr/>
          <a:lstStyle/>
          <a:p>
            <a:endParaRPr lang="en-US"/>
          </a:p>
        </p:txBody>
      </p:sp>
      <p:sp>
        <p:nvSpPr>
          <p:cNvPr id="25" name="Shape 22"/>
          <p:cNvSpPr/>
          <p:nvPr/>
        </p:nvSpPr>
        <p:spPr>
          <a:xfrm>
            <a:off x="6160038" y="1918320"/>
            <a:ext cx="2676083" cy="1054669"/>
          </a:xfrm>
          <a:prstGeom prst="rect">
            <a:avLst/>
          </a:prstGeom>
          <a:solidFill>
            <a:srgbClr val="1A1405"/>
          </a:solidFill>
          <a:ln/>
        </p:spPr>
        <p:txBody>
          <a:bodyPr/>
          <a:lstStyle/>
          <a:p>
            <a:endParaRPr lang="en-US"/>
          </a:p>
        </p:txBody>
      </p:sp>
      <p:sp>
        <p:nvSpPr>
          <p:cNvPr id="26" name="Text 23"/>
          <p:cNvSpPr txBox="1"/>
          <p:nvPr/>
        </p:nvSpPr>
        <p:spPr>
          <a:xfrm>
            <a:off x="6312378" y="1788841"/>
            <a:ext cx="2371039" cy="246888"/>
          </a:xfrm>
          <a:prstGeom prst="rect">
            <a:avLst/>
          </a:prstGeom>
          <a:noFill/>
          <a:ln/>
        </p:spPr>
        <p:txBody>
          <a:bodyPr wrap="square" lIns="0" tIns="0" rIns="0" bIns="0" rtlCol="0" anchor="ctr"/>
          <a:lstStyle/>
          <a:p>
            <a:pPr marL="0" indent="0">
              <a:lnSpc>
                <a:spcPct val="105000"/>
              </a:lnSpc>
              <a:buNone/>
            </a:pPr>
            <a:r>
              <a:rPr lang="en-US" sz="1200" b="1" dirty="0">
                <a:solidFill>
                  <a:srgbClr val="FFD166"/>
                </a:solidFill>
                <a:latin typeface="Arial" pitchFamily="34" charset="0"/>
                <a:ea typeface="Arial" pitchFamily="34" charset="-122"/>
                <a:cs typeface="Arial" pitchFamily="34" charset="-120"/>
              </a:rPr>
              <a:t>Job three: clash</a:t>
            </a:r>
            <a:endParaRPr lang="en-US" sz="1200" dirty="0"/>
          </a:p>
        </p:txBody>
      </p:sp>
      <p:sp>
        <p:nvSpPr>
          <p:cNvPr id="27" name="Shape 24"/>
          <p:cNvSpPr/>
          <p:nvPr/>
        </p:nvSpPr>
        <p:spPr>
          <a:xfrm>
            <a:off x="6312378" y="2072030"/>
            <a:ext cx="213238" cy="15270"/>
          </a:xfrm>
          <a:prstGeom prst="rect">
            <a:avLst/>
          </a:prstGeom>
          <a:solidFill>
            <a:srgbClr val="F5B301"/>
          </a:solidFill>
          <a:ln/>
        </p:spPr>
        <p:txBody>
          <a:bodyPr/>
          <a:lstStyle/>
          <a:p>
            <a:endParaRPr lang="en-US"/>
          </a:p>
        </p:txBody>
      </p:sp>
      <p:sp>
        <p:nvSpPr>
          <p:cNvPr id="28" name="Text 25"/>
          <p:cNvSpPr txBox="1"/>
          <p:nvPr/>
        </p:nvSpPr>
        <p:spPr>
          <a:xfrm>
            <a:off x="6312378" y="2209190"/>
            <a:ext cx="2371039" cy="658368"/>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Two different colors from two different sides. Nothing in the real world looks like this, which is the point.</a:t>
            </a:r>
            <a:endParaRPr lang="en-US" sz="1000" dirty="0"/>
          </a:p>
        </p:txBody>
      </p:sp>
      <p:sp>
        <p:nvSpPr>
          <p:cNvPr id="29" name="Shape 26"/>
          <p:cNvSpPr/>
          <p:nvPr/>
        </p:nvSpPr>
        <p:spPr>
          <a:xfrm>
            <a:off x="292608" y="3152851"/>
            <a:ext cx="8558784" cy="894283"/>
          </a:xfrm>
          <a:prstGeom prst="rect">
            <a:avLst/>
          </a:prstGeom>
          <a:solidFill>
            <a:srgbClr val="0C1010"/>
          </a:solidFill>
          <a:ln w="12700">
            <a:solidFill>
              <a:srgbClr val="F90101"/>
            </a:solidFill>
            <a:prstDash val="solid"/>
          </a:ln>
        </p:spPr>
        <p:txBody>
          <a:bodyPr/>
          <a:lstStyle/>
          <a:p>
            <a:endParaRPr lang="en-US"/>
          </a:p>
        </p:txBody>
      </p:sp>
      <p:sp>
        <p:nvSpPr>
          <p:cNvPr id="30" name="Shape 27"/>
          <p:cNvSpPr/>
          <p:nvPr/>
        </p:nvSpPr>
        <p:spPr>
          <a:xfrm>
            <a:off x="292608" y="3152851"/>
            <a:ext cx="45720" cy="894283"/>
          </a:xfrm>
          <a:prstGeom prst="rect">
            <a:avLst/>
          </a:prstGeom>
          <a:solidFill>
            <a:srgbClr val="F90101"/>
          </a:solidFill>
          <a:ln/>
        </p:spPr>
        <p:txBody>
          <a:bodyPr/>
          <a:lstStyle/>
          <a:p>
            <a:endParaRPr lang="en-US"/>
          </a:p>
        </p:txBody>
      </p:sp>
      <p:sp>
        <p:nvSpPr>
          <p:cNvPr id="31" name="Text 28"/>
          <p:cNvSpPr txBox="1"/>
          <p:nvPr/>
        </p:nvSpPr>
        <p:spPr>
          <a:xfrm>
            <a:off x="459943" y="3259836"/>
            <a:ext cx="8223199" cy="237744"/>
          </a:xfrm>
          <a:prstGeom prst="rect">
            <a:avLst/>
          </a:prstGeom>
          <a:noFill/>
          <a:ln/>
        </p:spPr>
        <p:txBody>
          <a:bodyPr wrap="square" lIns="0" tIns="0" rIns="0" bIns="0" rtlCol="0" anchor="ctr"/>
          <a:lstStyle/>
          <a:p>
            <a:pPr marL="0" indent="0">
              <a:lnSpc>
                <a:spcPct val="105000"/>
              </a:lnSpc>
              <a:buNone/>
            </a:pPr>
            <a:r>
              <a:rPr lang="en-US" sz="1100" b="1" kern="0" spc="100" dirty="0">
                <a:solidFill>
                  <a:srgbClr val="FF8F8F"/>
                </a:solidFill>
                <a:latin typeface="Oswald" pitchFamily="34" charset="0"/>
                <a:ea typeface="Oswald" pitchFamily="34" charset="-122"/>
                <a:cs typeface="Oswald" pitchFamily="34" charset="-120"/>
              </a:rPr>
              <a:t>STARTING POINT AT STATION B</a:t>
            </a:r>
            <a:endParaRPr lang="en-US" sz="1100" dirty="0"/>
          </a:p>
        </p:txBody>
      </p:sp>
      <p:sp>
        <p:nvSpPr>
          <p:cNvPr id="32" name="Text 29"/>
          <p:cNvSpPr txBox="1"/>
          <p:nvPr/>
        </p:nvSpPr>
        <p:spPr>
          <a:xfrm>
            <a:off x="459943" y="3534156"/>
            <a:ext cx="8223199" cy="406908"/>
          </a:xfrm>
          <a:prstGeom prst="rect">
            <a:avLst/>
          </a:prstGeom>
          <a:noFill/>
          <a:ln/>
        </p:spPr>
        <p:txBody>
          <a:bodyPr wrap="square" lIns="0" tIns="0" rIns="0" bIns="0" rtlCol="0" anchor="t"/>
          <a:lstStyle/>
          <a:p>
            <a:pPr marL="0" indent="0">
              <a:lnSpc>
                <a:spcPct val="125000"/>
              </a:lnSpc>
              <a:buNone/>
            </a:pPr>
            <a:r>
              <a:rPr lang="en-US" sz="1050" dirty="0">
                <a:solidFill>
                  <a:srgbClr val="FFB0B0"/>
                </a:solidFill>
                <a:latin typeface="Arial" pitchFamily="34" charset="0"/>
                <a:ea typeface="Arial" pitchFamily="34" charset="-122"/>
                <a:cs typeface="Arial" pitchFamily="34" charset="-120"/>
              </a:rPr>
              <a:t>Build it one light at a time. Turn the second one off, get the key exactly right, then bring the second up only until it does its job. If you cannot tell what the second light is for, turn it off.</a:t>
            </a:r>
            <a:endParaRPr lang="en-US" sz="1050" dirty="0"/>
          </a:p>
        </p:txBody>
      </p:sp>
      <p:sp>
        <p:nvSpPr>
          <p:cNvPr id="33" name="Shape 30"/>
          <p:cNvSpPr/>
          <p:nvPr/>
        </p:nvSpPr>
        <p:spPr>
          <a:xfrm>
            <a:off x="0" y="4681728"/>
            <a:ext cx="9144000" cy="22860"/>
          </a:xfrm>
          <a:prstGeom prst="rect">
            <a:avLst/>
          </a:prstGeom>
          <a:solidFill>
            <a:srgbClr val="F5B301"/>
          </a:solidFill>
          <a:ln/>
        </p:spPr>
        <p:txBody>
          <a:bodyPr/>
          <a:lstStyle/>
          <a:p>
            <a:endParaRPr lang="en-US"/>
          </a:p>
        </p:txBody>
      </p:sp>
      <p:sp>
        <p:nvSpPr>
          <p:cNvPr id="34" name="Text 31"/>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E62429"/>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FFB3B6"/>
                </a:solidFill>
                <a:latin typeface="Oswald" pitchFamily="34" charset="0"/>
                <a:ea typeface="Oswald" pitchFamily="34" charset="-122"/>
                <a:cs typeface="Oswald" pitchFamily="34" charset="-120"/>
              </a:rPr>
              <a:t>CAMERA SETTINGS TO START FROM</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FFB3B6"/>
                </a:solidFill>
                <a:latin typeface="Oswald" pitchFamily="34" charset="0"/>
                <a:ea typeface="Oswald" pitchFamily="34" charset="-122"/>
                <a:cs typeface="Oswald" pitchFamily="34" charset="-120"/>
              </a:rPr>
              <a:t>SETTINGS / 20</a:t>
            </a:r>
            <a:endParaRPr lang="en-US" sz="900" dirty="0"/>
          </a:p>
        </p:txBody>
      </p:sp>
      <p:sp>
        <p:nvSpPr>
          <p:cNvPr id="7" name="Shape 4"/>
          <p:cNvSpPr/>
          <p:nvPr/>
        </p:nvSpPr>
        <p:spPr>
          <a:xfrm>
            <a:off x="859536" y="699516"/>
            <a:ext cx="457017" cy="22860"/>
          </a:xfrm>
          <a:prstGeom prst="rect">
            <a:avLst/>
          </a:prstGeom>
          <a:solidFill>
            <a:srgbClr val="E62429"/>
          </a:solidFill>
          <a:ln/>
        </p:spPr>
        <p:txBody>
          <a:bodyPr/>
          <a:lstStyle/>
          <a:p>
            <a:endParaRPr lang="en-US"/>
          </a:p>
        </p:txBody>
      </p:sp>
      <p:sp>
        <p:nvSpPr>
          <p:cNvPr id="8" name="Shape 5"/>
          <p:cNvSpPr/>
          <p:nvPr/>
        </p:nvSpPr>
        <p:spPr>
          <a:xfrm>
            <a:off x="292608" y="978408"/>
            <a:ext cx="8558784" cy="546811"/>
          </a:xfrm>
          <a:prstGeom prst="rect">
            <a:avLst/>
          </a:prstGeom>
          <a:solidFill>
            <a:srgbClr val="E62429">
              <a:alpha val="6000"/>
            </a:srgbClr>
          </a:solidFill>
          <a:ln w="12700">
            <a:solidFill>
              <a:srgbClr val="531213"/>
            </a:solidFill>
            <a:prstDash val="solid"/>
          </a:ln>
        </p:spPr>
        <p:txBody>
          <a:bodyPr/>
          <a:lstStyle/>
          <a:p>
            <a:endParaRPr lang="en-US"/>
          </a:p>
        </p:txBody>
      </p:sp>
      <p:sp>
        <p:nvSpPr>
          <p:cNvPr id="9" name="Shape 6"/>
          <p:cNvSpPr/>
          <p:nvPr/>
        </p:nvSpPr>
        <p:spPr>
          <a:xfrm>
            <a:off x="292608" y="978408"/>
            <a:ext cx="45720" cy="546811"/>
          </a:xfrm>
          <a:prstGeom prst="rect">
            <a:avLst/>
          </a:prstGeom>
          <a:solidFill>
            <a:srgbClr val="E62429"/>
          </a:solidFill>
          <a:ln/>
        </p:spPr>
        <p:txBody>
          <a:bodyPr/>
          <a:lstStyle/>
          <a:p>
            <a:endParaRPr lang="en-US"/>
          </a:p>
        </p:txBody>
      </p:sp>
      <p:sp>
        <p:nvSpPr>
          <p:cNvPr id="10" name="Text 7"/>
          <p:cNvSpPr txBox="1"/>
          <p:nvPr/>
        </p:nvSpPr>
        <p:spPr>
          <a:xfrm>
            <a:off x="521208" y="1131113"/>
            <a:ext cx="8162849" cy="278892"/>
          </a:xfrm>
          <a:prstGeom prst="rect">
            <a:avLst/>
          </a:prstGeom>
          <a:noFill/>
          <a:ln/>
        </p:spPr>
        <p:txBody>
          <a:bodyPr wrap="square" lIns="0" tIns="0" rIns="0" bIns="0" rtlCol="0" anchor="t"/>
          <a:lstStyle/>
          <a:p>
            <a:pPr marL="0" indent="0">
              <a:lnSpc>
                <a:spcPct val="135000"/>
              </a:lnSpc>
              <a:buNone/>
            </a:pPr>
            <a:r>
              <a:rPr lang="en-US" sz="1200" dirty="0">
                <a:solidFill>
                  <a:srgbClr val="FFB3B6"/>
                </a:solidFill>
                <a:latin typeface="Arial" pitchFamily="34" charset="0"/>
                <a:ea typeface="Arial" pitchFamily="34" charset="-122"/>
                <a:cs typeface="Arial" pitchFamily="34" charset="-120"/>
              </a:rPr>
              <a:t>These are a starting point, not an answer. Full manual mode, the way we always work.</a:t>
            </a:r>
            <a:endParaRPr lang="en-US" sz="1200" dirty="0"/>
          </a:p>
        </p:txBody>
      </p:sp>
      <p:sp>
        <p:nvSpPr>
          <p:cNvPr id="11" name="Shape 8"/>
          <p:cNvSpPr/>
          <p:nvPr/>
        </p:nvSpPr>
        <p:spPr>
          <a:xfrm>
            <a:off x="292608" y="1689811"/>
            <a:ext cx="2002536" cy="1261872"/>
          </a:xfrm>
          <a:prstGeom prst="rect">
            <a:avLst/>
          </a:prstGeom>
          <a:solidFill>
            <a:srgbClr val="E62429"/>
          </a:solidFill>
          <a:ln/>
        </p:spPr>
        <p:txBody>
          <a:bodyPr/>
          <a:lstStyle/>
          <a:p>
            <a:endParaRPr lang="en-US"/>
          </a:p>
        </p:txBody>
      </p:sp>
      <p:sp>
        <p:nvSpPr>
          <p:cNvPr id="12" name="Shape 9"/>
          <p:cNvSpPr/>
          <p:nvPr/>
        </p:nvSpPr>
        <p:spPr>
          <a:xfrm>
            <a:off x="307878" y="1705082"/>
            <a:ext cx="1971995" cy="213238"/>
          </a:xfrm>
          <a:prstGeom prst="rect">
            <a:avLst/>
          </a:prstGeom>
          <a:solidFill>
            <a:srgbClr val="2A0C0D"/>
          </a:solidFill>
          <a:ln/>
        </p:spPr>
        <p:txBody>
          <a:bodyPr/>
          <a:lstStyle/>
          <a:p>
            <a:endParaRPr lang="en-US"/>
          </a:p>
        </p:txBody>
      </p:sp>
      <p:sp>
        <p:nvSpPr>
          <p:cNvPr id="13" name="Shape 10"/>
          <p:cNvSpPr/>
          <p:nvPr/>
        </p:nvSpPr>
        <p:spPr>
          <a:xfrm>
            <a:off x="307878" y="1918320"/>
            <a:ext cx="1971995" cy="1018093"/>
          </a:xfrm>
          <a:prstGeom prst="rect">
            <a:avLst/>
          </a:prstGeom>
          <a:solidFill>
            <a:srgbClr val="140607"/>
          </a:solidFill>
          <a:ln/>
        </p:spPr>
        <p:txBody>
          <a:bodyPr/>
          <a:lstStyle/>
          <a:p>
            <a:endParaRPr lang="en-US"/>
          </a:p>
        </p:txBody>
      </p:sp>
      <p:sp>
        <p:nvSpPr>
          <p:cNvPr id="14" name="Text 11"/>
          <p:cNvSpPr txBox="1"/>
          <p:nvPr/>
        </p:nvSpPr>
        <p:spPr>
          <a:xfrm>
            <a:off x="444947" y="1788841"/>
            <a:ext cx="1698041" cy="256032"/>
          </a:xfrm>
          <a:prstGeom prst="rect">
            <a:avLst/>
          </a:prstGeom>
          <a:noFill/>
          <a:ln/>
        </p:spPr>
        <p:txBody>
          <a:bodyPr wrap="square" lIns="0" tIns="0" rIns="0" bIns="0" rtlCol="0" anchor="ctr"/>
          <a:lstStyle/>
          <a:p>
            <a:pPr marL="0" indent="0">
              <a:lnSpc>
                <a:spcPct val="105000"/>
              </a:lnSpc>
              <a:buNone/>
            </a:pPr>
            <a:r>
              <a:rPr lang="en-US" sz="1300" b="1" dirty="0">
                <a:solidFill>
                  <a:srgbClr val="FFB3B6"/>
                </a:solidFill>
                <a:latin typeface="Arial" pitchFamily="34" charset="0"/>
                <a:ea typeface="Arial" pitchFamily="34" charset="-122"/>
                <a:cs typeface="Arial" pitchFamily="34" charset="-120"/>
              </a:rPr>
              <a:t>Mode</a:t>
            </a:r>
            <a:endParaRPr lang="en-US" sz="1300" dirty="0"/>
          </a:p>
        </p:txBody>
      </p:sp>
      <p:sp>
        <p:nvSpPr>
          <p:cNvPr id="15" name="Shape 12"/>
          <p:cNvSpPr/>
          <p:nvPr/>
        </p:nvSpPr>
        <p:spPr>
          <a:xfrm>
            <a:off x="444947" y="2081174"/>
            <a:ext cx="213238" cy="15270"/>
          </a:xfrm>
          <a:prstGeom prst="rect">
            <a:avLst/>
          </a:prstGeom>
          <a:solidFill>
            <a:srgbClr val="E62429"/>
          </a:solidFill>
          <a:ln/>
        </p:spPr>
        <p:txBody>
          <a:bodyPr/>
          <a:lstStyle/>
          <a:p>
            <a:endParaRPr lang="en-US"/>
          </a:p>
        </p:txBody>
      </p:sp>
      <p:sp>
        <p:nvSpPr>
          <p:cNvPr id="16" name="Text 13"/>
          <p:cNvSpPr txBox="1"/>
          <p:nvPr/>
        </p:nvSpPr>
        <p:spPr>
          <a:xfrm>
            <a:off x="444947" y="2218334"/>
            <a:ext cx="1698041" cy="621792"/>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Manual. You set aperture, shutter, and ISO yourself.</a:t>
            </a:r>
            <a:endParaRPr lang="en-US" sz="1000" dirty="0"/>
          </a:p>
        </p:txBody>
      </p:sp>
      <p:sp>
        <p:nvSpPr>
          <p:cNvPr id="17" name="Shape 14"/>
          <p:cNvSpPr/>
          <p:nvPr/>
        </p:nvSpPr>
        <p:spPr>
          <a:xfrm>
            <a:off x="2478024" y="1689811"/>
            <a:ext cx="2002536" cy="1261872"/>
          </a:xfrm>
          <a:prstGeom prst="rect">
            <a:avLst/>
          </a:prstGeom>
          <a:solidFill>
            <a:srgbClr val="E62429"/>
          </a:solidFill>
          <a:ln/>
        </p:spPr>
        <p:txBody>
          <a:bodyPr/>
          <a:lstStyle/>
          <a:p>
            <a:endParaRPr lang="en-US"/>
          </a:p>
        </p:txBody>
      </p:sp>
      <p:sp>
        <p:nvSpPr>
          <p:cNvPr id="18" name="Shape 15"/>
          <p:cNvSpPr/>
          <p:nvPr/>
        </p:nvSpPr>
        <p:spPr>
          <a:xfrm>
            <a:off x="2493294" y="1705082"/>
            <a:ext cx="1971995" cy="213238"/>
          </a:xfrm>
          <a:prstGeom prst="rect">
            <a:avLst/>
          </a:prstGeom>
          <a:solidFill>
            <a:srgbClr val="2A0C0D"/>
          </a:solidFill>
          <a:ln/>
        </p:spPr>
        <p:txBody>
          <a:bodyPr/>
          <a:lstStyle/>
          <a:p>
            <a:endParaRPr lang="en-US"/>
          </a:p>
        </p:txBody>
      </p:sp>
      <p:sp>
        <p:nvSpPr>
          <p:cNvPr id="19" name="Shape 16"/>
          <p:cNvSpPr/>
          <p:nvPr/>
        </p:nvSpPr>
        <p:spPr>
          <a:xfrm>
            <a:off x="2493294" y="1918320"/>
            <a:ext cx="1971995" cy="1018093"/>
          </a:xfrm>
          <a:prstGeom prst="rect">
            <a:avLst/>
          </a:prstGeom>
          <a:solidFill>
            <a:srgbClr val="140607"/>
          </a:solidFill>
          <a:ln/>
        </p:spPr>
        <p:txBody>
          <a:bodyPr/>
          <a:lstStyle/>
          <a:p>
            <a:endParaRPr lang="en-US"/>
          </a:p>
        </p:txBody>
      </p:sp>
      <p:sp>
        <p:nvSpPr>
          <p:cNvPr id="20" name="Text 17"/>
          <p:cNvSpPr txBox="1"/>
          <p:nvPr/>
        </p:nvSpPr>
        <p:spPr>
          <a:xfrm>
            <a:off x="2630363" y="1788841"/>
            <a:ext cx="1698041" cy="256032"/>
          </a:xfrm>
          <a:prstGeom prst="rect">
            <a:avLst/>
          </a:prstGeom>
          <a:noFill/>
          <a:ln/>
        </p:spPr>
        <p:txBody>
          <a:bodyPr wrap="square" lIns="0" tIns="0" rIns="0" bIns="0" rtlCol="0" anchor="ctr"/>
          <a:lstStyle/>
          <a:p>
            <a:pPr marL="0" indent="0">
              <a:lnSpc>
                <a:spcPct val="105000"/>
              </a:lnSpc>
              <a:buNone/>
            </a:pPr>
            <a:r>
              <a:rPr lang="en-US" sz="1300" b="1" dirty="0">
                <a:solidFill>
                  <a:srgbClr val="FFB3B6"/>
                </a:solidFill>
                <a:latin typeface="Arial" pitchFamily="34" charset="0"/>
                <a:ea typeface="Arial" pitchFamily="34" charset="-122"/>
                <a:cs typeface="Arial" pitchFamily="34" charset="-120"/>
              </a:rPr>
              <a:t>Shutter</a:t>
            </a:r>
            <a:endParaRPr lang="en-US" sz="1300" dirty="0"/>
          </a:p>
        </p:txBody>
      </p:sp>
      <p:sp>
        <p:nvSpPr>
          <p:cNvPr id="21" name="Shape 18"/>
          <p:cNvSpPr/>
          <p:nvPr/>
        </p:nvSpPr>
        <p:spPr>
          <a:xfrm>
            <a:off x="2630363" y="2081174"/>
            <a:ext cx="213238" cy="15270"/>
          </a:xfrm>
          <a:prstGeom prst="rect">
            <a:avLst/>
          </a:prstGeom>
          <a:solidFill>
            <a:srgbClr val="E62429"/>
          </a:solidFill>
          <a:ln/>
        </p:spPr>
        <p:txBody>
          <a:bodyPr/>
          <a:lstStyle/>
          <a:p>
            <a:endParaRPr lang="en-US"/>
          </a:p>
        </p:txBody>
      </p:sp>
      <p:sp>
        <p:nvSpPr>
          <p:cNvPr id="22" name="Text 19"/>
          <p:cNvSpPr txBox="1"/>
          <p:nvPr/>
        </p:nvSpPr>
        <p:spPr>
          <a:xfrm>
            <a:off x="2630363" y="2218334"/>
            <a:ext cx="1698041" cy="621792"/>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1 over 125. Never slower than 1 over 60 handheld or you will get blur.</a:t>
            </a:r>
            <a:endParaRPr lang="en-US" sz="1000" dirty="0"/>
          </a:p>
        </p:txBody>
      </p:sp>
      <p:sp>
        <p:nvSpPr>
          <p:cNvPr id="23" name="Shape 20"/>
          <p:cNvSpPr/>
          <p:nvPr/>
        </p:nvSpPr>
        <p:spPr>
          <a:xfrm>
            <a:off x="4663440" y="1689811"/>
            <a:ext cx="2002536" cy="1261872"/>
          </a:xfrm>
          <a:prstGeom prst="rect">
            <a:avLst/>
          </a:prstGeom>
          <a:solidFill>
            <a:srgbClr val="E62429"/>
          </a:solidFill>
          <a:ln/>
        </p:spPr>
        <p:txBody>
          <a:bodyPr/>
          <a:lstStyle/>
          <a:p>
            <a:endParaRPr lang="en-US"/>
          </a:p>
        </p:txBody>
      </p:sp>
      <p:sp>
        <p:nvSpPr>
          <p:cNvPr id="24" name="Shape 21"/>
          <p:cNvSpPr/>
          <p:nvPr/>
        </p:nvSpPr>
        <p:spPr>
          <a:xfrm>
            <a:off x="4678710" y="1705082"/>
            <a:ext cx="1971995" cy="213238"/>
          </a:xfrm>
          <a:prstGeom prst="rect">
            <a:avLst/>
          </a:prstGeom>
          <a:solidFill>
            <a:srgbClr val="2A0C0D"/>
          </a:solidFill>
          <a:ln/>
        </p:spPr>
        <p:txBody>
          <a:bodyPr/>
          <a:lstStyle/>
          <a:p>
            <a:endParaRPr lang="en-US"/>
          </a:p>
        </p:txBody>
      </p:sp>
      <p:sp>
        <p:nvSpPr>
          <p:cNvPr id="25" name="Shape 22"/>
          <p:cNvSpPr/>
          <p:nvPr/>
        </p:nvSpPr>
        <p:spPr>
          <a:xfrm>
            <a:off x="4678710" y="1918320"/>
            <a:ext cx="1971995" cy="1018093"/>
          </a:xfrm>
          <a:prstGeom prst="rect">
            <a:avLst/>
          </a:prstGeom>
          <a:solidFill>
            <a:srgbClr val="140607"/>
          </a:solidFill>
          <a:ln/>
        </p:spPr>
        <p:txBody>
          <a:bodyPr/>
          <a:lstStyle/>
          <a:p>
            <a:endParaRPr lang="en-US"/>
          </a:p>
        </p:txBody>
      </p:sp>
      <p:sp>
        <p:nvSpPr>
          <p:cNvPr id="26" name="Text 23"/>
          <p:cNvSpPr txBox="1"/>
          <p:nvPr/>
        </p:nvSpPr>
        <p:spPr>
          <a:xfrm>
            <a:off x="4815779" y="1788841"/>
            <a:ext cx="1698041" cy="256032"/>
          </a:xfrm>
          <a:prstGeom prst="rect">
            <a:avLst/>
          </a:prstGeom>
          <a:noFill/>
          <a:ln/>
        </p:spPr>
        <p:txBody>
          <a:bodyPr wrap="square" lIns="0" tIns="0" rIns="0" bIns="0" rtlCol="0" anchor="ctr"/>
          <a:lstStyle/>
          <a:p>
            <a:pPr marL="0" indent="0">
              <a:lnSpc>
                <a:spcPct val="105000"/>
              </a:lnSpc>
              <a:buNone/>
            </a:pPr>
            <a:r>
              <a:rPr lang="en-US" sz="1300" b="1" dirty="0">
                <a:solidFill>
                  <a:srgbClr val="FFB3B6"/>
                </a:solidFill>
                <a:latin typeface="Arial" pitchFamily="34" charset="0"/>
                <a:ea typeface="Arial" pitchFamily="34" charset="-122"/>
                <a:cs typeface="Arial" pitchFamily="34" charset="-120"/>
              </a:rPr>
              <a:t>Aperture</a:t>
            </a:r>
            <a:endParaRPr lang="en-US" sz="1300" dirty="0"/>
          </a:p>
        </p:txBody>
      </p:sp>
      <p:sp>
        <p:nvSpPr>
          <p:cNvPr id="27" name="Shape 24"/>
          <p:cNvSpPr/>
          <p:nvPr/>
        </p:nvSpPr>
        <p:spPr>
          <a:xfrm>
            <a:off x="4815779" y="2081174"/>
            <a:ext cx="213238" cy="15270"/>
          </a:xfrm>
          <a:prstGeom prst="rect">
            <a:avLst/>
          </a:prstGeom>
          <a:solidFill>
            <a:srgbClr val="E62429"/>
          </a:solidFill>
          <a:ln/>
        </p:spPr>
        <p:txBody>
          <a:bodyPr/>
          <a:lstStyle/>
          <a:p>
            <a:endParaRPr lang="en-US"/>
          </a:p>
        </p:txBody>
      </p:sp>
      <p:sp>
        <p:nvSpPr>
          <p:cNvPr id="28" name="Text 25"/>
          <p:cNvSpPr txBox="1"/>
          <p:nvPr/>
        </p:nvSpPr>
        <p:spPr>
          <a:xfrm>
            <a:off x="4815779" y="2218334"/>
            <a:ext cx="1698041" cy="621792"/>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f4 to f5.6. Enough depth that the whole face stays sharp.</a:t>
            </a:r>
            <a:endParaRPr lang="en-US" sz="1000" dirty="0"/>
          </a:p>
        </p:txBody>
      </p:sp>
      <p:sp>
        <p:nvSpPr>
          <p:cNvPr id="29" name="Shape 26"/>
          <p:cNvSpPr/>
          <p:nvPr/>
        </p:nvSpPr>
        <p:spPr>
          <a:xfrm>
            <a:off x="6848856" y="1689811"/>
            <a:ext cx="2002536" cy="1261872"/>
          </a:xfrm>
          <a:prstGeom prst="rect">
            <a:avLst/>
          </a:prstGeom>
          <a:solidFill>
            <a:srgbClr val="E62429"/>
          </a:solidFill>
          <a:ln/>
        </p:spPr>
        <p:txBody>
          <a:bodyPr/>
          <a:lstStyle/>
          <a:p>
            <a:endParaRPr lang="en-US"/>
          </a:p>
        </p:txBody>
      </p:sp>
      <p:sp>
        <p:nvSpPr>
          <p:cNvPr id="30" name="Shape 27"/>
          <p:cNvSpPr/>
          <p:nvPr/>
        </p:nvSpPr>
        <p:spPr>
          <a:xfrm>
            <a:off x="6864126" y="1705082"/>
            <a:ext cx="1971995" cy="213238"/>
          </a:xfrm>
          <a:prstGeom prst="rect">
            <a:avLst/>
          </a:prstGeom>
          <a:solidFill>
            <a:srgbClr val="2A0C0D"/>
          </a:solidFill>
          <a:ln/>
        </p:spPr>
        <p:txBody>
          <a:bodyPr/>
          <a:lstStyle/>
          <a:p>
            <a:endParaRPr lang="en-US"/>
          </a:p>
        </p:txBody>
      </p:sp>
      <p:sp>
        <p:nvSpPr>
          <p:cNvPr id="31" name="Shape 28"/>
          <p:cNvSpPr/>
          <p:nvPr/>
        </p:nvSpPr>
        <p:spPr>
          <a:xfrm>
            <a:off x="6864126" y="1918320"/>
            <a:ext cx="1971995" cy="1018093"/>
          </a:xfrm>
          <a:prstGeom prst="rect">
            <a:avLst/>
          </a:prstGeom>
          <a:solidFill>
            <a:srgbClr val="140607"/>
          </a:solidFill>
          <a:ln/>
        </p:spPr>
        <p:txBody>
          <a:bodyPr/>
          <a:lstStyle/>
          <a:p>
            <a:endParaRPr lang="en-US"/>
          </a:p>
        </p:txBody>
      </p:sp>
      <p:sp>
        <p:nvSpPr>
          <p:cNvPr id="32" name="Text 29"/>
          <p:cNvSpPr txBox="1"/>
          <p:nvPr/>
        </p:nvSpPr>
        <p:spPr>
          <a:xfrm>
            <a:off x="7001195" y="1788841"/>
            <a:ext cx="1698041" cy="256032"/>
          </a:xfrm>
          <a:prstGeom prst="rect">
            <a:avLst/>
          </a:prstGeom>
          <a:noFill/>
          <a:ln/>
        </p:spPr>
        <p:txBody>
          <a:bodyPr wrap="square" lIns="0" tIns="0" rIns="0" bIns="0" rtlCol="0" anchor="ctr"/>
          <a:lstStyle/>
          <a:p>
            <a:pPr marL="0" indent="0">
              <a:lnSpc>
                <a:spcPct val="105000"/>
              </a:lnSpc>
              <a:buNone/>
            </a:pPr>
            <a:r>
              <a:rPr lang="en-US" sz="1300" b="1" dirty="0">
                <a:solidFill>
                  <a:srgbClr val="FFB3B6"/>
                </a:solidFill>
                <a:latin typeface="Arial" pitchFamily="34" charset="0"/>
                <a:ea typeface="Arial" pitchFamily="34" charset="-122"/>
                <a:cs typeface="Arial" pitchFamily="34" charset="-120"/>
              </a:rPr>
              <a:t>ISO</a:t>
            </a:r>
            <a:endParaRPr lang="en-US" sz="1300" dirty="0"/>
          </a:p>
        </p:txBody>
      </p:sp>
      <p:sp>
        <p:nvSpPr>
          <p:cNvPr id="33" name="Shape 30"/>
          <p:cNvSpPr/>
          <p:nvPr/>
        </p:nvSpPr>
        <p:spPr>
          <a:xfrm>
            <a:off x="7001195" y="2081174"/>
            <a:ext cx="213238" cy="15270"/>
          </a:xfrm>
          <a:prstGeom prst="rect">
            <a:avLst/>
          </a:prstGeom>
          <a:solidFill>
            <a:srgbClr val="E62429"/>
          </a:solidFill>
          <a:ln/>
        </p:spPr>
        <p:txBody>
          <a:bodyPr/>
          <a:lstStyle/>
          <a:p>
            <a:endParaRPr lang="en-US"/>
          </a:p>
        </p:txBody>
      </p:sp>
      <p:sp>
        <p:nvSpPr>
          <p:cNvPr id="34" name="Text 31"/>
          <p:cNvSpPr txBox="1"/>
          <p:nvPr/>
        </p:nvSpPr>
        <p:spPr>
          <a:xfrm>
            <a:off x="7001195" y="2218334"/>
            <a:ext cx="1698041" cy="621792"/>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Start at 400. Raise it only after the light is already where you want it.</a:t>
            </a:r>
            <a:endParaRPr lang="en-US" sz="1000" dirty="0"/>
          </a:p>
        </p:txBody>
      </p:sp>
      <p:sp>
        <p:nvSpPr>
          <p:cNvPr id="35" name="Shape 32"/>
          <p:cNvSpPr/>
          <p:nvPr/>
        </p:nvSpPr>
        <p:spPr>
          <a:xfrm>
            <a:off x="292608" y="3097987"/>
            <a:ext cx="4169664" cy="1115568"/>
          </a:xfrm>
          <a:prstGeom prst="rect">
            <a:avLst/>
          </a:prstGeom>
          <a:solidFill>
            <a:srgbClr val="E62429"/>
          </a:solidFill>
          <a:ln/>
        </p:spPr>
        <p:txBody>
          <a:bodyPr/>
          <a:lstStyle/>
          <a:p>
            <a:endParaRPr lang="en-US"/>
          </a:p>
        </p:txBody>
      </p:sp>
      <p:sp>
        <p:nvSpPr>
          <p:cNvPr id="36" name="Shape 33"/>
          <p:cNvSpPr/>
          <p:nvPr/>
        </p:nvSpPr>
        <p:spPr>
          <a:xfrm>
            <a:off x="307878" y="3113258"/>
            <a:ext cx="4139123" cy="213238"/>
          </a:xfrm>
          <a:prstGeom prst="rect">
            <a:avLst/>
          </a:prstGeom>
          <a:solidFill>
            <a:srgbClr val="2A0C0D"/>
          </a:solidFill>
          <a:ln/>
        </p:spPr>
        <p:txBody>
          <a:bodyPr/>
          <a:lstStyle/>
          <a:p>
            <a:endParaRPr lang="en-US"/>
          </a:p>
        </p:txBody>
      </p:sp>
      <p:sp>
        <p:nvSpPr>
          <p:cNvPr id="37" name="Shape 34"/>
          <p:cNvSpPr/>
          <p:nvPr/>
        </p:nvSpPr>
        <p:spPr>
          <a:xfrm>
            <a:off x="307878" y="3326496"/>
            <a:ext cx="4139123" cy="871789"/>
          </a:xfrm>
          <a:prstGeom prst="rect">
            <a:avLst/>
          </a:prstGeom>
          <a:solidFill>
            <a:srgbClr val="140607"/>
          </a:solidFill>
          <a:ln/>
        </p:spPr>
        <p:txBody>
          <a:bodyPr/>
          <a:lstStyle/>
          <a:p>
            <a:endParaRPr lang="en-US"/>
          </a:p>
        </p:txBody>
      </p:sp>
      <p:sp>
        <p:nvSpPr>
          <p:cNvPr id="38" name="Text 35"/>
          <p:cNvSpPr txBox="1"/>
          <p:nvPr/>
        </p:nvSpPr>
        <p:spPr>
          <a:xfrm>
            <a:off x="460218" y="3189427"/>
            <a:ext cx="3834079" cy="246888"/>
          </a:xfrm>
          <a:prstGeom prst="rect">
            <a:avLst/>
          </a:prstGeom>
          <a:noFill/>
          <a:ln/>
        </p:spPr>
        <p:txBody>
          <a:bodyPr wrap="square" lIns="0" tIns="0" rIns="0" bIns="0" rtlCol="0" anchor="ctr"/>
          <a:lstStyle/>
          <a:p>
            <a:pPr marL="0" indent="0">
              <a:lnSpc>
                <a:spcPct val="105000"/>
              </a:lnSpc>
              <a:buNone/>
            </a:pPr>
            <a:r>
              <a:rPr lang="en-US" sz="1150" b="1" dirty="0">
                <a:solidFill>
                  <a:srgbClr val="FFB3B6"/>
                </a:solidFill>
                <a:latin typeface="Arial" pitchFamily="34" charset="0"/>
                <a:ea typeface="Arial" pitchFamily="34" charset="-122"/>
                <a:cs typeface="Arial" pitchFamily="34" charset="-120"/>
              </a:rPr>
              <a:t>Expose for the bright part of the face</a:t>
            </a:r>
            <a:endParaRPr lang="en-US" sz="1150" dirty="0"/>
          </a:p>
        </p:txBody>
      </p:sp>
      <p:sp>
        <p:nvSpPr>
          <p:cNvPr id="39" name="Text 36"/>
          <p:cNvSpPr txBox="1"/>
          <p:nvPr/>
        </p:nvSpPr>
        <p:spPr>
          <a:xfrm>
            <a:off x="460218" y="3472891"/>
            <a:ext cx="3834079" cy="676656"/>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Let the shadows go black. Do not rescue them. If the meter says the photo is too dark, the meter is wrong, because it wants everything gray.</a:t>
            </a:r>
            <a:endParaRPr lang="en-US" sz="1000" dirty="0"/>
          </a:p>
        </p:txBody>
      </p:sp>
      <p:sp>
        <p:nvSpPr>
          <p:cNvPr id="40" name="Shape 37"/>
          <p:cNvSpPr/>
          <p:nvPr/>
        </p:nvSpPr>
        <p:spPr>
          <a:xfrm>
            <a:off x="4681728" y="3097987"/>
            <a:ext cx="4169664" cy="1115568"/>
          </a:xfrm>
          <a:prstGeom prst="rect">
            <a:avLst/>
          </a:prstGeom>
          <a:solidFill>
            <a:srgbClr val="E62429"/>
          </a:solidFill>
          <a:ln/>
        </p:spPr>
        <p:txBody>
          <a:bodyPr/>
          <a:lstStyle/>
          <a:p>
            <a:endParaRPr lang="en-US"/>
          </a:p>
        </p:txBody>
      </p:sp>
      <p:sp>
        <p:nvSpPr>
          <p:cNvPr id="41" name="Shape 38"/>
          <p:cNvSpPr/>
          <p:nvPr/>
        </p:nvSpPr>
        <p:spPr>
          <a:xfrm>
            <a:off x="4696998" y="3113258"/>
            <a:ext cx="4139123" cy="213238"/>
          </a:xfrm>
          <a:prstGeom prst="rect">
            <a:avLst/>
          </a:prstGeom>
          <a:solidFill>
            <a:srgbClr val="2A0C0D"/>
          </a:solidFill>
          <a:ln/>
        </p:spPr>
        <p:txBody>
          <a:bodyPr/>
          <a:lstStyle/>
          <a:p>
            <a:endParaRPr lang="en-US"/>
          </a:p>
        </p:txBody>
      </p:sp>
      <p:sp>
        <p:nvSpPr>
          <p:cNvPr id="42" name="Shape 39"/>
          <p:cNvSpPr/>
          <p:nvPr/>
        </p:nvSpPr>
        <p:spPr>
          <a:xfrm>
            <a:off x="4696998" y="3326496"/>
            <a:ext cx="4139123" cy="871789"/>
          </a:xfrm>
          <a:prstGeom prst="rect">
            <a:avLst/>
          </a:prstGeom>
          <a:solidFill>
            <a:srgbClr val="140607"/>
          </a:solidFill>
          <a:ln/>
        </p:spPr>
        <p:txBody>
          <a:bodyPr/>
          <a:lstStyle/>
          <a:p>
            <a:endParaRPr lang="en-US"/>
          </a:p>
        </p:txBody>
      </p:sp>
      <p:sp>
        <p:nvSpPr>
          <p:cNvPr id="43" name="Text 40"/>
          <p:cNvSpPr txBox="1"/>
          <p:nvPr/>
        </p:nvSpPr>
        <p:spPr>
          <a:xfrm>
            <a:off x="4849338" y="3189427"/>
            <a:ext cx="3834079" cy="246888"/>
          </a:xfrm>
          <a:prstGeom prst="rect">
            <a:avLst/>
          </a:prstGeom>
          <a:noFill/>
          <a:ln/>
        </p:spPr>
        <p:txBody>
          <a:bodyPr wrap="square" lIns="0" tIns="0" rIns="0" bIns="0" rtlCol="0" anchor="ctr"/>
          <a:lstStyle/>
          <a:p>
            <a:pPr marL="0" indent="0">
              <a:lnSpc>
                <a:spcPct val="105000"/>
              </a:lnSpc>
              <a:buNone/>
            </a:pPr>
            <a:r>
              <a:rPr lang="en-US" sz="1150" b="1" dirty="0">
                <a:solidFill>
                  <a:srgbClr val="FFB3B6"/>
                </a:solidFill>
                <a:latin typeface="Arial" pitchFamily="34" charset="0"/>
                <a:ea typeface="Arial" pitchFamily="34" charset="-122"/>
                <a:cs typeface="Arial" pitchFamily="34" charset="-120"/>
              </a:rPr>
              <a:t>White balance on daylight</a:t>
            </a:r>
            <a:endParaRPr lang="en-US" sz="1150" dirty="0"/>
          </a:p>
        </p:txBody>
      </p:sp>
      <p:sp>
        <p:nvSpPr>
          <p:cNvPr id="44" name="Text 41"/>
          <p:cNvSpPr txBox="1"/>
          <p:nvPr/>
        </p:nvSpPr>
        <p:spPr>
          <a:xfrm>
            <a:off x="4849338" y="3472891"/>
            <a:ext cx="3834079" cy="676656"/>
          </a:xfrm>
          <a:prstGeom prst="rect">
            <a:avLst/>
          </a:prstGeom>
          <a:noFill/>
          <a:ln/>
        </p:spPr>
        <p:txBody>
          <a:bodyPr wrap="square" lIns="0" tIns="0" rIns="0" bIns="0" rtlCol="0" anchor="t"/>
          <a:lstStyle/>
          <a:p>
            <a:pPr marL="0" indent="0">
              <a:lnSpc>
                <a:spcPct val="128000"/>
              </a:lnSpc>
              <a:buNone/>
            </a:pPr>
            <a:r>
              <a:rPr lang="en-US" sz="1000" dirty="0">
                <a:solidFill>
                  <a:srgbClr val="FFFFFF"/>
                </a:solidFill>
                <a:latin typeface="Arial" pitchFamily="34" charset="0"/>
                <a:ea typeface="Arial" pitchFamily="34" charset="-122"/>
                <a:cs typeface="Arial" pitchFamily="34" charset="-120"/>
              </a:rPr>
              <a:t>Not auto. Auto will erase the color you just spent five minutes setting up.</a:t>
            </a:r>
            <a:endParaRPr lang="en-US" sz="1000" dirty="0"/>
          </a:p>
        </p:txBody>
      </p:sp>
      <p:sp>
        <p:nvSpPr>
          <p:cNvPr id="45" name="Shape 42"/>
          <p:cNvSpPr/>
          <p:nvPr/>
        </p:nvSpPr>
        <p:spPr>
          <a:xfrm>
            <a:off x="0" y="4681728"/>
            <a:ext cx="9144000" cy="22860"/>
          </a:xfrm>
          <a:prstGeom prst="rect">
            <a:avLst/>
          </a:prstGeom>
          <a:solidFill>
            <a:srgbClr val="E62429"/>
          </a:solidFill>
          <a:ln/>
        </p:spPr>
        <p:txBody>
          <a:bodyPr/>
          <a:lstStyle/>
          <a:p>
            <a:endParaRPr lang="en-US"/>
          </a:p>
        </p:txBody>
      </p:sp>
      <p:sp>
        <p:nvSpPr>
          <p:cNvPr id="46" name="Text 43"/>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8B5CF6"/>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C4B5FD"/>
                </a:solidFill>
                <a:latin typeface="Oswald" pitchFamily="34" charset="0"/>
                <a:ea typeface="Oswald" pitchFamily="34" charset="-122"/>
                <a:cs typeface="Oswald" pitchFamily="34" charset="-120"/>
              </a:rPr>
              <a:t>WORDS YOU WILL HEAR ON SET</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C4B5FD"/>
                </a:solidFill>
                <a:latin typeface="Oswald" pitchFamily="34" charset="0"/>
                <a:ea typeface="Oswald" pitchFamily="34" charset="-122"/>
                <a:cs typeface="Oswald" pitchFamily="34" charset="-120"/>
              </a:rPr>
              <a:t>VOCABULARY / 21</a:t>
            </a:r>
            <a:endParaRPr lang="en-US" sz="900" dirty="0"/>
          </a:p>
        </p:txBody>
      </p:sp>
      <p:sp>
        <p:nvSpPr>
          <p:cNvPr id="7" name="Shape 4"/>
          <p:cNvSpPr/>
          <p:nvPr/>
        </p:nvSpPr>
        <p:spPr>
          <a:xfrm>
            <a:off x="859536" y="699516"/>
            <a:ext cx="457017" cy="22860"/>
          </a:xfrm>
          <a:prstGeom prst="rect">
            <a:avLst/>
          </a:prstGeom>
          <a:solidFill>
            <a:srgbClr val="8B5CF6"/>
          </a:solidFill>
          <a:ln/>
        </p:spPr>
        <p:txBody>
          <a:bodyPr/>
          <a:lstStyle/>
          <a:p>
            <a:endParaRPr lang="en-US"/>
          </a:p>
        </p:txBody>
      </p:sp>
      <p:sp>
        <p:nvSpPr>
          <p:cNvPr id="8" name="Shape 5"/>
          <p:cNvSpPr/>
          <p:nvPr/>
        </p:nvSpPr>
        <p:spPr>
          <a:xfrm>
            <a:off x="292608" y="978408"/>
            <a:ext cx="2718511" cy="896112"/>
          </a:xfrm>
          <a:prstGeom prst="rect">
            <a:avLst/>
          </a:prstGeom>
          <a:solidFill>
            <a:srgbClr val="8B5CF6"/>
          </a:solidFill>
          <a:ln/>
        </p:spPr>
        <p:txBody>
          <a:bodyPr/>
          <a:lstStyle/>
          <a:p>
            <a:endParaRPr lang="en-US"/>
          </a:p>
        </p:txBody>
      </p:sp>
      <p:sp>
        <p:nvSpPr>
          <p:cNvPr id="9" name="Shape 6"/>
          <p:cNvSpPr/>
          <p:nvPr/>
        </p:nvSpPr>
        <p:spPr>
          <a:xfrm>
            <a:off x="307878" y="993678"/>
            <a:ext cx="2687970" cy="213238"/>
          </a:xfrm>
          <a:prstGeom prst="rect">
            <a:avLst/>
          </a:prstGeom>
          <a:solidFill>
            <a:srgbClr val="241D3A"/>
          </a:solidFill>
          <a:ln/>
        </p:spPr>
        <p:txBody>
          <a:bodyPr/>
          <a:lstStyle/>
          <a:p>
            <a:endParaRPr lang="en-US"/>
          </a:p>
        </p:txBody>
      </p:sp>
      <p:sp>
        <p:nvSpPr>
          <p:cNvPr id="10" name="Shape 7"/>
          <p:cNvSpPr/>
          <p:nvPr/>
        </p:nvSpPr>
        <p:spPr>
          <a:xfrm>
            <a:off x="307878" y="1206917"/>
            <a:ext cx="2687970" cy="652333"/>
          </a:xfrm>
          <a:prstGeom prst="rect">
            <a:avLst/>
          </a:prstGeom>
          <a:solidFill>
            <a:srgbClr val="140F24"/>
          </a:solidFill>
          <a:ln/>
        </p:spPr>
        <p:txBody>
          <a:bodyPr/>
          <a:lstStyle/>
          <a:p>
            <a:endParaRPr lang="en-US"/>
          </a:p>
        </p:txBody>
      </p:sp>
      <p:sp>
        <p:nvSpPr>
          <p:cNvPr id="11" name="Text 8"/>
          <p:cNvSpPr txBox="1"/>
          <p:nvPr/>
        </p:nvSpPr>
        <p:spPr>
          <a:xfrm>
            <a:off x="444947" y="1062258"/>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Key light</a:t>
            </a:r>
            <a:endParaRPr lang="en-US" sz="1150" dirty="0"/>
          </a:p>
        </p:txBody>
      </p:sp>
      <p:sp>
        <p:nvSpPr>
          <p:cNvPr id="12" name="Text 9"/>
          <p:cNvSpPr txBox="1"/>
          <p:nvPr/>
        </p:nvSpPr>
        <p:spPr>
          <a:xfrm>
            <a:off x="444947" y="1318565"/>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The main light. The one making the shadows you notice.</a:t>
            </a:r>
            <a:endParaRPr lang="en-US" sz="950" dirty="0"/>
          </a:p>
        </p:txBody>
      </p:sp>
      <p:sp>
        <p:nvSpPr>
          <p:cNvPr id="13" name="Shape 10"/>
          <p:cNvSpPr/>
          <p:nvPr/>
        </p:nvSpPr>
        <p:spPr>
          <a:xfrm>
            <a:off x="3212287" y="978408"/>
            <a:ext cx="2718511" cy="896112"/>
          </a:xfrm>
          <a:prstGeom prst="rect">
            <a:avLst/>
          </a:prstGeom>
          <a:solidFill>
            <a:srgbClr val="8B5CF6"/>
          </a:solidFill>
          <a:ln/>
        </p:spPr>
        <p:txBody>
          <a:bodyPr/>
          <a:lstStyle/>
          <a:p>
            <a:endParaRPr lang="en-US"/>
          </a:p>
        </p:txBody>
      </p:sp>
      <p:sp>
        <p:nvSpPr>
          <p:cNvPr id="14" name="Shape 11"/>
          <p:cNvSpPr/>
          <p:nvPr/>
        </p:nvSpPr>
        <p:spPr>
          <a:xfrm>
            <a:off x="3227558" y="993678"/>
            <a:ext cx="2687970" cy="213238"/>
          </a:xfrm>
          <a:prstGeom prst="rect">
            <a:avLst/>
          </a:prstGeom>
          <a:solidFill>
            <a:srgbClr val="241D3A"/>
          </a:solidFill>
          <a:ln/>
        </p:spPr>
        <p:txBody>
          <a:bodyPr/>
          <a:lstStyle/>
          <a:p>
            <a:endParaRPr lang="en-US"/>
          </a:p>
        </p:txBody>
      </p:sp>
      <p:sp>
        <p:nvSpPr>
          <p:cNvPr id="15" name="Shape 12"/>
          <p:cNvSpPr/>
          <p:nvPr/>
        </p:nvSpPr>
        <p:spPr>
          <a:xfrm>
            <a:off x="3227558" y="1206917"/>
            <a:ext cx="2687970" cy="652333"/>
          </a:xfrm>
          <a:prstGeom prst="rect">
            <a:avLst/>
          </a:prstGeom>
          <a:solidFill>
            <a:srgbClr val="140F24"/>
          </a:solidFill>
          <a:ln/>
        </p:spPr>
        <p:txBody>
          <a:bodyPr/>
          <a:lstStyle/>
          <a:p>
            <a:endParaRPr lang="en-US"/>
          </a:p>
        </p:txBody>
      </p:sp>
      <p:sp>
        <p:nvSpPr>
          <p:cNvPr id="16" name="Text 13"/>
          <p:cNvSpPr txBox="1"/>
          <p:nvPr/>
        </p:nvSpPr>
        <p:spPr>
          <a:xfrm>
            <a:off x="3364626" y="1062258"/>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Fill light</a:t>
            </a:r>
            <a:endParaRPr lang="en-US" sz="1150" dirty="0"/>
          </a:p>
        </p:txBody>
      </p:sp>
      <p:sp>
        <p:nvSpPr>
          <p:cNvPr id="17" name="Text 14"/>
          <p:cNvSpPr txBox="1"/>
          <p:nvPr/>
        </p:nvSpPr>
        <p:spPr>
          <a:xfrm>
            <a:off x="3364626" y="1318565"/>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Anything that lifts the shadow side. A light, a wall, or a white card.</a:t>
            </a:r>
            <a:endParaRPr lang="en-US" sz="950" dirty="0"/>
          </a:p>
        </p:txBody>
      </p:sp>
      <p:sp>
        <p:nvSpPr>
          <p:cNvPr id="18" name="Shape 15"/>
          <p:cNvSpPr/>
          <p:nvPr/>
        </p:nvSpPr>
        <p:spPr>
          <a:xfrm>
            <a:off x="6131966" y="978408"/>
            <a:ext cx="2718511" cy="896112"/>
          </a:xfrm>
          <a:prstGeom prst="rect">
            <a:avLst/>
          </a:prstGeom>
          <a:solidFill>
            <a:srgbClr val="8B5CF6"/>
          </a:solidFill>
          <a:ln/>
        </p:spPr>
        <p:txBody>
          <a:bodyPr/>
          <a:lstStyle/>
          <a:p>
            <a:endParaRPr lang="en-US"/>
          </a:p>
        </p:txBody>
      </p:sp>
      <p:sp>
        <p:nvSpPr>
          <p:cNvPr id="19" name="Shape 16"/>
          <p:cNvSpPr/>
          <p:nvPr/>
        </p:nvSpPr>
        <p:spPr>
          <a:xfrm>
            <a:off x="6147237" y="993678"/>
            <a:ext cx="2687970" cy="213238"/>
          </a:xfrm>
          <a:prstGeom prst="rect">
            <a:avLst/>
          </a:prstGeom>
          <a:solidFill>
            <a:srgbClr val="241D3A"/>
          </a:solidFill>
          <a:ln/>
        </p:spPr>
        <p:txBody>
          <a:bodyPr/>
          <a:lstStyle/>
          <a:p>
            <a:endParaRPr lang="en-US"/>
          </a:p>
        </p:txBody>
      </p:sp>
      <p:sp>
        <p:nvSpPr>
          <p:cNvPr id="20" name="Shape 17"/>
          <p:cNvSpPr/>
          <p:nvPr/>
        </p:nvSpPr>
        <p:spPr>
          <a:xfrm>
            <a:off x="6147237" y="1206917"/>
            <a:ext cx="2687970" cy="652333"/>
          </a:xfrm>
          <a:prstGeom prst="rect">
            <a:avLst/>
          </a:prstGeom>
          <a:solidFill>
            <a:srgbClr val="140F24"/>
          </a:solidFill>
          <a:ln/>
        </p:spPr>
        <p:txBody>
          <a:bodyPr/>
          <a:lstStyle/>
          <a:p>
            <a:endParaRPr lang="en-US"/>
          </a:p>
        </p:txBody>
      </p:sp>
      <p:sp>
        <p:nvSpPr>
          <p:cNvPr id="21" name="Text 18"/>
          <p:cNvSpPr txBox="1"/>
          <p:nvPr/>
        </p:nvSpPr>
        <p:spPr>
          <a:xfrm>
            <a:off x="6284305" y="1062258"/>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Rim or kicker</a:t>
            </a:r>
            <a:endParaRPr lang="en-US" sz="1150" dirty="0"/>
          </a:p>
        </p:txBody>
      </p:sp>
      <p:sp>
        <p:nvSpPr>
          <p:cNvPr id="22" name="Text 19"/>
          <p:cNvSpPr txBox="1"/>
          <p:nvPr/>
        </p:nvSpPr>
        <p:spPr>
          <a:xfrm>
            <a:off x="6284305" y="1318565"/>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A light from behind that draws a bright edge around the subject.</a:t>
            </a:r>
            <a:endParaRPr lang="en-US" sz="950" dirty="0"/>
          </a:p>
        </p:txBody>
      </p:sp>
      <p:sp>
        <p:nvSpPr>
          <p:cNvPr id="23" name="Shape 20"/>
          <p:cNvSpPr/>
          <p:nvPr/>
        </p:nvSpPr>
        <p:spPr>
          <a:xfrm>
            <a:off x="292608" y="2020824"/>
            <a:ext cx="2718511" cy="896112"/>
          </a:xfrm>
          <a:prstGeom prst="rect">
            <a:avLst/>
          </a:prstGeom>
          <a:solidFill>
            <a:srgbClr val="8B5CF6"/>
          </a:solidFill>
          <a:ln/>
        </p:spPr>
        <p:txBody>
          <a:bodyPr/>
          <a:lstStyle/>
          <a:p>
            <a:endParaRPr lang="en-US"/>
          </a:p>
        </p:txBody>
      </p:sp>
      <p:sp>
        <p:nvSpPr>
          <p:cNvPr id="24" name="Shape 21"/>
          <p:cNvSpPr/>
          <p:nvPr/>
        </p:nvSpPr>
        <p:spPr>
          <a:xfrm>
            <a:off x="307878" y="2036094"/>
            <a:ext cx="2687970" cy="213238"/>
          </a:xfrm>
          <a:prstGeom prst="rect">
            <a:avLst/>
          </a:prstGeom>
          <a:solidFill>
            <a:srgbClr val="241D3A"/>
          </a:solidFill>
          <a:ln/>
        </p:spPr>
        <p:txBody>
          <a:bodyPr/>
          <a:lstStyle/>
          <a:p>
            <a:endParaRPr lang="en-US"/>
          </a:p>
        </p:txBody>
      </p:sp>
      <p:sp>
        <p:nvSpPr>
          <p:cNvPr id="25" name="Shape 22"/>
          <p:cNvSpPr/>
          <p:nvPr/>
        </p:nvSpPr>
        <p:spPr>
          <a:xfrm>
            <a:off x="307878" y="2249333"/>
            <a:ext cx="2687970" cy="652333"/>
          </a:xfrm>
          <a:prstGeom prst="rect">
            <a:avLst/>
          </a:prstGeom>
          <a:solidFill>
            <a:srgbClr val="140F24"/>
          </a:solidFill>
          <a:ln/>
        </p:spPr>
        <p:txBody>
          <a:bodyPr/>
          <a:lstStyle/>
          <a:p>
            <a:endParaRPr lang="en-US"/>
          </a:p>
        </p:txBody>
      </p:sp>
      <p:sp>
        <p:nvSpPr>
          <p:cNvPr id="26" name="Text 23"/>
          <p:cNvSpPr txBox="1"/>
          <p:nvPr/>
        </p:nvSpPr>
        <p:spPr>
          <a:xfrm>
            <a:off x="444947" y="2104674"/>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Practical</a:t>
            </a:r>
            <a:endParaRPr lang="en-US" sz="1150" dirty="0"/>
          </a:p>
        </p:txBody>
      </p:sp>
      <p:sp>
        <p:nvSpPr>
          <p:cNvPr id="27" name="Text 24"/>
          <p:cNvSpPr txBox="1"/>
          <p:nvPr/>
        </p:nvSpPr>
        <p:spPr>
          <a:xfrm>
            <a:off x="444947" y="2360981"/>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A light that is visible in the photo. A lamp, a candle, a phone screen.</a:t>
            </a:r>
            <a:endParaRPr lang="en-US" sz="950" dirty="0"/>
          </a:p>
        </p:txBody>
      </p:sp>
      <p:sp>
        <p:nvSpPr>
          <p:cNvPr id="28" name="Shape 25"/>
          <p:cNvSpPr/>
          <p:nvPr/>
        </p:nvSpPr>
        <p:spPr>
          <a:xfrm>
            <a:off x="3212287" y="2020824"/>
            <a:ext cx="2718511" cy="896112"/>
          </a:xfrm>
          <a:prstGeom prst="rect">
            <a:avLst/>
          </a:prstGeom>
          <a:solidFill>
            <a:srgbClr val="8B5CF6"/>
          </a:solidFill>
          <a:ln/>
        </p:spPr>
        <p:txBody>
          <a:bodyPr/>
          <a:lstStyle/>
          <a:p>
            <a:endParaRPr lang="en-US"/>
          </a:p>
        </p:txBody>
      </p:sp>
      <p:sp>
        <p:nvSpPr>
          <p:cNvPr id="29" name="Shape 26"/>
          <p:cNvSpPr/>
          <p:nvPr/>
        </p:nvSpPr>
        <p:spPr>
          <a:xfrm>
            <a:off x="3227558" y="2036094"/>
            <a:ext cx="2687970" cy="213238"/>
          </a:xfrm>
          <a:prstGeom prst="rect">
            <a:avLst/>
          </a:prstGeom>
          <a:solidFill>
            <a:srgbClr val="241D3A"/>
          </a:solidFill>
          <a:ln/>
        </p:spPr>
        <p:txBody>
          <a:bodyPr/>
          <a:lstStyle/>
          <a:p>
            <a:endParaRPr lang="en-US"/>
          </a:p>
        </p:txBody>
      </p:sp>
      <p:sp>
        <p:nvSpPr>
          <p:cNvPr id="30" name="Shape 27"/>
          <p:cNvSpPr/>
          <p:nvPr/>
        </p:nvSpPr>
        <p:spPr>
          <a:xfrm>
            <a:off x="3227558" y="2249333"/>
            <a:ext cx="2687970" cy="652333"/>
          </a:xfrm>
          <a:prstGeom prst="rect">
            <a:avLst/>
          </a:prstGeom>
          <a:solidFill>
            <a:srgbClr val="140F24"/>
          </a:solidFill>
          <a:ln/>
        </p:spPr>
        <p:txBody>
          <a:bodyPr/>
          <a:lstStyle/>
          <a:p>
            <a:endParaRPr lang="en-US"/>
          </a:p>
        </p:txBody>
      </p:sp>
      <p:sp>
        <p:nvSpPr>
          <p:cNvPr id="31" name="Text 28"/>
          <p:cNvSpPr txBox="1"/>
          <p:nvPr/>
        </p:nvSpPr>
        <p:spPr>
          <a:xfrm>
            <a:off x="3364626" y="2104674"/>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Falloff</a:t>
            </a:r>
            <a:endParaRPr lang="en-US" sz="1150" dirty="0"/>
          </a:p>
        </p:txBody>
      </p:sp>
      <p:sp>
        <p:nvSpPr>
          <p:cNvPr id="32" name="Text 29"/>
          <p:cNvSpPr txBox="1"/>
          <p:nvPr/>
        </p:nvSpPr>
        <p:spPr>
          <a:xfrm>
            <a:off x="3364626" y="2360981"/>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How fast light dies with distance. Close light falls off fast.</a:t>
            </a:r>
            <a:endParaRPr lang="en-US" sz="950" dirty="0"/>
          </a:p>
        </p:txBody>
      </p:sp>
      <p:sp>
        <p:nvSpPr>
          <p:cNvPr id="33" name="Shape 30"/>
          <p:cNvSpPr/>
          <p:nvPr/>
        </p:nvSpPr>
        <p:spPr>
          <a:xfrm>
            <a:off x="6131966" y="2020824"/>
            <a:ext cx="2718511" cy="896112"/>
          </a:xfrm>
          <a:prstGeom prst="rect">
            <a:avLst/>
          </a:prstGeom>
          <a:solidFill>
            <a:srgbClr val="8B5CF6"/>
          </a:solidFill>
          <a:ln/>
        </p:spPr>
        <p:txBody>
          <a:bodyPr/>
          <a:lstStyle/>
          <a:p>
            <a:endParaRPr lang="en-US"/>
          </a:p>
        </p:txBody>
      </p:sp>
      <p:sp>
        <p:nvSpPr>
          <p:cNvPr id="34" name="Shape 31"/>
          <p:cNvSpPr/>
          <p:nvPr/>
        </p:nvSpPr>
        <p:spPr>
          <a:xfrm>
            <a:off x="6147237" y="2036094"/>
            <a:ext cx="2687970" cy="213238"/>
          </a:xfrm>
          <a:prstGeom prst="rect">
            <a:avLst/>
          </a:prstGeom>
          <a:solidFill>
            <a:srgbClr val="241D3A"/>
          </a:solidFill>
          <a:ln/>
        </p:spPr>
        <p:txBody>
          <a:bodyPr/>
          <a:lstStyle/>
          <a:p>
            <a:endParaRPr lang="en-US"/>
          </a:p>
        </p:txBody>
      </p:sp>
      <p:sp>
        <p:nvSpPr>
          <p:cNvPr id="35" name="Shape 32"/>
          <p:cNvSpPr/>
          <p:nvPr/>
        </p:nvSpPr>
        <p:spPr>
          <a:xfrm>
            <a:off x="6147237" y="2249333"/>
            <a:ext cx="2687970" cy="652333"/>
          </a:xfrm>
          <a:prstGeom prst="rect">
            <a:avLst/>
          </a:prstGeom>
          <a:solidFill>
            <a:srgbClr val="140F24"/>
          </a:solidFill>
          <a:ln/>
        </p:spPr>
        <p:txBody>
          <a:bodyPr/>
          <a:lstStyle/>
          <a:p>
            <a:endParaRPr lang="en-US"/>
          </a:p>
        </p:txBody>
      </p:sp>
      <p:sp>
        <p:nvSpPr>
          <p:cNvPr id="36" name="Text 33"/>
          <p:cNvSpPr txBox="1"/>
          <p:nvPr/>
        </p:nvSpPr>
        <p:spPr>
          <a:xfrm>
            <a:off x="6284305" y="2104674"/>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Gobo or cookie</a:t>
            </a:r>
            <a:endParaRPr lang="en-US" sz="1150" dirty="0"/>
          </a:p>
        </p:txBody>
      </p:sp>
      <p:sp>
        <p:nvSpPr>
          <p:cNvPr id="37" name="Text 34"/>
          <p:cNvSpPr txBox="1"/>
          <p:nvPr/>
        </p:nvSpPr>
        <p:spPr>
          <a:xfrm>
            <a:off x="6284305" y="2360981"/>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Anything placed in front of a light to cast a pattern.</a:t>
            </a:r>
            <a:endParaRPr lang="en-US" sz="950" dirty="0"/>
          </a:p>
        </p:txBody>
      </p:sp>
      <p:sp>
        <p:nvSpPr>
          <p:cNvPr id="38" name="Shape 35"/>
          <p:cNvSpPr/>
          <p:nvPr/>
        </p:nvSpPr>
        <p:spPr>
          <a:xfrm>
            <a:off x="292608" y="3063240"/>
            <a:ext cx="2718511" cy="896112"/>
          </a:xfrm>
          <a:prstGeom prst="rect">
            <a:avLst/>
          </a:prstGeom>
          <a:solidFill>
            <a:srgbClr val="8B5CF6"/>
          </a:solidFill>
          <a:ln/>
        </p:spPr>
        <p:txBody>
          <a:bodyPr/>
          <a:lstStyle/>
          <a:p>
            <a:endParaRPr lang="en-US"/>
          </a:p>
        </p:txBody>
      </p:sp>
      <p:sp>
        <p:nvSpPr>
          <p:cNvPr id="39" name="Shape 36"/>
          <p:cNvSpPr/>
          <p:nvPr/>
        </p:nvSpPr>
        <p:spPr>
          <a:xfrm>
            <a:off x="307878" y="3078510"/>
            <a:ext cx="2687970" cy="213238"/>
          </a:xfrm>
          <a:prstGeom prst="rect">
            <a:avLst/>
          </a:prstGeom>
          <a:solidFill>
            <a:srgbClr val="241D3A"/>
          </a:solidFill>
          <a:ln/>
        </p:spPr>
        <p:txBody>
          <a:bodyPr/>
          <a:lstStyle/>
          <a:p>
            <a:endParaRPr lang="en-US"/>
          </a:p>
        </p:txBody>
      </p:sp>
      <p:sp>
        <p:nvSpPr>
          <p:cNvPr id="40" name="Shape 37"/>
          <p:cNvSpPr/>
          <p:nvPr/>
        </p:nvSpPr>
        <p:spPr>
          <a:xfrm>
            <a:off x="307878" y="3291749"/>
            <a:ext cx="2687970" cy="652333"/>
          </a:xfrm>
          <a:prstGeom prst="rect">
            <a:avLst/>
          </a:prstGeom>
          <a:solidFill>
            <a:srgbClr val="140F24"/>
          </a:solidFill>
          <a:ln/>
        </p:spPr>
        <p:txBody>
          <a:bodyPr/>
          <a:lstStyle/>
          <a:p>
            <a:endParaRPr lang="en-US"/>
          </a:p>
        </p:txBody>
      </p:sp>
      <p:sp>
        <p:nvSpPr>
          <p:cNvPr id="41" name="Text 38"/>
          <p:cNvSpPr txBox="1"/>
          <p:nvPr/>
        </p:nvSpPr>
        <p:spPr>
          <a:xfrm>
            <a:off x="444947" y="3147090"/>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Low key</a:t>
            </a:r>
            <a:endParaRPr lang="en-US" sz="1150" dirty="0"/>
          </a:p>
        </p:txBody>
      </p:sp>
      <p:sp>
        <p:nvSpPr>
          <p:cNvPr id="42" name="Text 39"/>
          <p:cNvSpPr txBox="1"/>
          <p:nvPr/>
        </p:nvSpPr>
        <p:spPr>
          <a:xfrm>
            <a:off x="444947" y="3403397"/>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Mostly shadow, small lit areas. The horror and noir look.</a:t>
            </a:r>
            <a:endParaRPr lang="en-US" sz="950" dirty="0"/>
          </a:p>
        </p:txBody>
      </p:sp>
      <p:sp>
        <p:nvSpPr>
          <p:cNvPr id="43" name="Shape 40"/>
          <p:cNvSpPr/>
          <p:nvPr/>
        </p:nvSpPr>
        <p:spPr>
          <a:xfrm>
            <a:off x="3212287" y="3063240"/>
            <a:ext cx="2718511" cy="896112"/>
          </a:xfrm>
          <a:prstGeom prst="rect">
            <a:avLst/>
          </a:prstGeom>
          <a:solidFill>
            <a:srgbClr val="8B5CF6"/>
          </a:solidFill>
          <a:ln/>
        </p:spPr>
        <p:txBody>
          <a:bodyPr/>
          <a:lstStyle/>
          <a:p>
            <a:endParaRPr lang="en-US"/>
          </a:p>
        </p:txBody>
      </p:sp>
      <p:sp>
        <p:nvSpPr>
          <p:cNvPr id="44" name="Shape 41"/>
          <p:cNvSpPr/>
          <p:nvPr/>
        </p:nvSpPr>
        <p:spPr>
          <a:xfrm>
            <a:off x="3227558" y="3078510"/>
            <a:ext cx="2687970" cy="213238"/>
          </a:xfrm>
          <a:prstGeom prst="rect">
            <a:avLst/>
          </a:prstGeom>
          <a:solidFill>
            <a:srgbClr val="241D3A"/>
          </a:solidFill>
          <a:ln/>
        </p:spPr>
        <p:txBody>
          <a:bodyPr/>
          <a:lstStyle/>
          <a:p>
            <a:endParaRPr lang="en-US"/>
          </a:p>
        </p:txBody>
      </p:sp>
      <p:sp>
        <p:nvSpPr>
          <p:cNvPr id="45" name="Shape 42"/>
          <p:cNvSpPr/>
          <p:nvPr/>
        </p:nvSpPr>
        <p:spPr>
          <a:xfrm>
            <a:off x="3227558" y="3291749"/>
            <a:ext cx="2687970" cy="652333"/>
          </a:xfrm>
          <a:prstGeom prst="rect">
            <a:avLst/>
          </a:prstGeom>
          <a:solidFill>
            <a:srgbClr val="140F24"/>
          </a:solidFill>
          <a:ln/>
        </p:spPr>
        <p:txBody>
          <a:bodyPr/>
          <a:lstStyle/>
          <a:p>
            <a:endParaRPr lang="en-US"/>
          </a:p>
        </p:txBody>
      </p:sp>
      <p:sp>
        <p:nvSpPr>
          <p:cNvPr id="46" name="Text 43"/>
          <p:cNvSpPr txBox="1"/>
          <p:nvPr/>
        </p:nvSpPr>
        <p:spPr>
          <a:xfrm>
            <a:off x="3364626" y="3147090"/>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Chiaroscuro</a:t>
            </a:r>
            <a:endParaRPr lang="en-US" sz="1150" dirty="0"/>
          </a:p>
        </p:txBody>
      </p:sp>
      <p:sp>
        <p:nvSpPr>
          <p:cNvPr id="47" name="Text 44"/>
          <p:cNvSpPr txBox="1"/>
          <p:nvPr/>
        </p:nvSpPr>
        <p:spPr>
          <a:xfrm>
            <a:off x="3364626" y="3403397"/>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Strong light against deep dark, borrowed from painting.</a:t>
            </a:r>
            <a:endParaRPr lang="en-US" sz="950" dirty="0"/>
          </a:p>
        </p:txBody>
      </p:sp>
      <p:sp>
        <p:nvSpPr>
          <p:cNvPr id="48" name="Shape 45"/>
          <p:cNvSpPr/>
          <p:nvPr/>
        </p:nvSpPr>
        <p:spPr>
          <a:xfrm>
            <a:off x="6131966" y="3063240"/>
            <a:ext cx="2718511" cy="896112"/>
          </a:xfrm>
          <a:prstGeom prst="rect">
            <a:avLst/>
          </a:prstGeom>
          <a:solidFill>
            <a:srgbClr val="8B5CF6"/>
          </a:solidFill>
          <a:ln/>
        </p:spPr>
        <p:txBody>
          <a:bodyPr/>
          <a:lstStyle/>
          <a:p>
            <a:endParaRPr lang="en-US"/>
          </a:p>
        </p:txBody>
      </p:sp>
      <p:sp>
        <p:nvSpPr>
          <p:cNvPr id="49" name="Shape 46"/>
          <p:cNvSpPr/>
          <p:nvPr/>
        </p:nvSpPr>
        <p:spPr>
          <a:xfrm>
            <a:off x="6147237" y="3078510"/>
            <a:ext cx="2687970" cy="213238"/>
          </a:xfrm>
          <a:prstGeom prst="rect">
            <a:avLst/>
          </a:prstGeom>
          <a:solidFill>
            <a:srgbClr val="241D3A"/>
          </a:solidFill>
          <a:ln/>
        </p:spPr>
        <p:txBody>
          <a:bodyPr/>
          <a:lstStyle/>
          <a:p>
            <a:endParaRPr lang="en-US"/>
          </a:p>
        </p:txBody>
      </p:sp>
      <p:sp>
        <p:nvSpPr>
          <p:cNvPr id="50" name="Shape 47"/>
          <p:cNvSpPr/>
          <p:nvPr/>
        </p:nvSpPr>
        <p:spPr>
          <a:xfrm>
            <a:off x="6147237" y="3291749"/>
            <a:ext cx="2687970" cy="652333"/>
          </a:xfrm>
          <a:prstGeom prst="rect">
            <a:avLst/>
          </a:prstGeom>
          <a:solidFill>
            <a:srgbClr val="140F24"/>
          </a:solidFill>
          <a:ln/>
        </p:spPr>
        <p:txBody>
          <a:bodyPr/>
          <a:lstStyle/>
          <a:p>
            <a:endParaRPr lang="en-US"/>
          </a:p>
        </p:txBody>
      </p:sp>
      <p:sp>
        <p:nvSpPr>
          <p:cNvPr id="51" name="Text 48"/>
          <p:cNvSpPr txBox="1"/>
          <p:nvPr/>
        </p:nvSpPr>
        <p:spPr>
          <a:xfrm>
            <a:off x="6284305" y="3147090"/>
            <a:ext cx="2414016" cy="22860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Negative fill</a:t>
            </a:r>
            <a:endParaRPr lang="en-US" sz="1150" dirty="0"/>
          </a:p>
        </p:txBody>
      </p:sp>
      <p:sp>
        <p:nvSpPr>
          <p:cNvPr id="52" name="Text 49"/>
          <p:cNvSpPr txBox="1"/>
          <p:nvPr/>
        </p:nvSpPr>
        <p:spPr>
          <a:xfrm>
            <a:off x="6284305" y="3403397"/>
            <a:ext cx="2414016" cy="512064"/>
          </a:xfrm>
          <a:prstGeom prst="rect">
            <a:avLst/>
          </a:prstGeom>
          <a:noFill/>
          <a:ln/>
        </p:spPr>
        <p:txBody>
          <a:bodyPr wrap="square" lIns="0" tIns="0" rIns="0" bIns="0" rtlCol="0" anchor="t"/>
          <a:lstStyle/>
          <a:p>
            <a:pPr marL="0" indent="0">
              <a:lnSpc>
                <a:spcPct val="128000"/>
              </a:lnSpc>
              <a:buNone/>
            </a:pPr>
            <a:r>
              <a:rPr lang="en-US" sz="950" dirty="0">
                <a:solidFill>
                  <a:srgbClr val="FFFFFF"/>
                </a:solidFill>
                <a:latin typeface="Arial" pitchFamily="34" charset="0"/>
                <a:ea typeface="Arial" pitchFamily="34" charset="-122"/>
                <a:cs typeface="Arial" pitchFamily="34" charset="-120"/>
              </a:rPr>
              <a:t>Black material used to take light away instead of adding it.</a:t>
            </a:r>
            <a:endParaRPr lang="en-US" sz="950" dirty="0"/>
          </a:p>
        </p:txBody>
      </p:sp>
      <p:sp>
        <p:nvSpPr>
          <p:cNvPr id="53" name="Shape 50"/>
          <p:cNvSpPr/>
          <p:nvPr/>
        </p:nvSpPr>
        <p:spPr>
          <a:xfrm>
            <a:off x="0" y="4681728"/>
            <a:ext cx="9144000" cy="22860"/>
          </a:xfrm>
          <a:prstGeom prst="rect">
            <a:avLst/>
          </a:prstGeom>
          <a:solidFill>
            <a:srgbClr val="8B5CF6"/>
          </a:solidFill>
          <a:ln/>
        </p:spPr>
        <p:txBody>
          <a:bodyPr/>
          <a:lstStyle/>
          <a:p>
            <a:endParaRPr lang="en-US"/>
          </a:p>
        </p:txBody>
      </p:sp>
      <p:sp>
        <p:nvSpPr>
          <p:cNvPr id="54" name="Text 51"/>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FF6B1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FFB27C"/>
                </a:solidFill>
                <a:latin typeface="Oswald" pitchFamily="34" charset="0"/>
                <a:ea typeface="Oswald" pitchFamily="34" charset="-122"/>
                <a:cs typeface="Oswald" pitchFamily="34" charset="-120"/>
              </a:rPr>
              <a:t>SPOOKY VERSUS CHEAP</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FFB27C"/>
                </a:solidFill>
                <a:latin typeface="Oswald" pitchFamily="34" charset="0"/>
                <a:ea typeface="Oswald" pitchFamily="34" charset="-122"/>
                <a:cs typeface="Oswald" pitchFamily="34" charset="-120"/>
              </a:rPr>
              <a:t>JUDGMENT / 22</a:t>
            </a:r>
            <a:endParaRPr lang="en-US" sz="900" dirty="0"/>
          </a:p>
        </p:txBody>
      </p:sp>
      <p:sp>
        <p:nvSpPr>
          <p:cNvPr id="7" name="Shape 4"/>
          <p:cNvSpPr/>
          <p:nvPr/>
        </p:nvSpPr>
        <p:spPr>
          <a:xfrm>
            <a:off x="859536" y="699516"/>
            <a:ext cx="457017" cy="22860"/>
          </a:xfrm>
          <a:prstGeom prst="rect">
            <a:avLst/>
          </a:prstGeom>
          <a:solidFill>
            <a:srgbClr val="FF6B1A"/>
          </a:solidFill>
          <a:ln/>
        </p:spPr>
        <p:txBody>
          <a:bodyPr/>
          <a:lstStyle/>
          <a:p>
            <a:endParaRPr lang="en-US"/>
          </a:p>
        </p:txBody>
      </p:sp>
      <p:sp>
        <p:nvSpPr>
          <p:cNvPr id="8" name="Shape 5"/>
          <p:cNvSpPr/>
          <p:nvPr/>
        </p:nvSpPr>
        <p:spPr>
          <a:xfrm>
            <a:off x="292608" y="978408"/>
            <a:ext cx="8558784" cy="752551"/>
          </a:xfrm>
          <a:prstGeom prst="rect">
            <a:avLst/>
          </a:prstGeom>
          <a:solidFill>
            <a:srgbClr val="FF6B1A">
              <a:alpha val="6000"/>
            </a:srgbClr>
          </a:solidFill>
          <a:ln w="12700">
            <a:solidFill>
              <a:srgbClr val="5C2A0E"/>
            </a:solidFill>
            <a:prstDash val="solid"/>
          </a:ln>
        </p:spPr>
        <p:txBody>
          <a:bodyPr/>
          <a:lstStyle/>
          <a:p>
            <a:endParaRPr lang="en-US"/>
          </a:p>
        </p:txBody>
      </p:sp>
      <p:sp>
        <p:nvSpPr>
          <p:cNvPr id="9" name="Shape 6"/>
          <p:cNvSpPr/>
          <p:nvPr/>
        </p:nvSpPr>
        <p:spPr>
          <a:xfrm>
            <a:off x="292608" y="978408"/>
            <a:ext cx="45720" cy="752551"/>
          </a:xfrm>
          <a:prstGeom prst="rect">
            <a:avLst/>
          </a:prstGeom>
          <a:solidFill>
            <a:srgbClr val="FF6B1A"/>
          </a:solidFill>
          <a:ln/>
        </p:spPr>
        <p:txBody>
          <a:bodyPr/>
          <a:lstStyle/>
          <a:p>
            <a:endParaRPr lang="en-US"/>
          </a:p>
        </p:txBody>
      </p:sp>
      <p:sp>
        <p:nvSpPr>
          <p:cNvPr id="10" name="Text 7"/>
          <p:cNvSpPr txBox="1"/>
          <p:nvPr/>
        </p:nvSpPr>
        <p:spPr>
          <a:xfrm>
            <a:off x="521208" y="1131113"/>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FFB27C"/>
                </a:solidFill>
                <a:latin typeface="Arial" pitchFamily="34" charset="0"/>
                <a:ea typeface="Arial" pitchFamily="34" charset="-122"/>
                <a:cs typeface="Arial" pitchFamily="34" charset="-120"/>
              </a:rPr>
              <a:t>Everybody can make a dark photo with a weird face in it. Here is what separates the ones that actually work.</a:t>
            </a:r>
            <a:endParaRPr lang="en-US" sz="1200" dirty="0"/>
          </a:p>
        </p:txBody>
      </p:sp>
      <p:sp>
        <p:nvSpPr>
          <p:cNvPr id="11" name="Shape 8"/>
          <p:cNvSpPr/>
          <p:nvPr/>
        </p:nvSpPr>
        <p:spPr>
          <a:xfrm>
            <a:off x="292608" y="1895551"/>
            <a:ext cx="4160520" cy="1700784"/>
          </a:xfrm>
          <a:prstGeom prst="rect">
            <a:avLst/>
          </a:prstGeom>
          <a:solidFill>
            <a:srgbClr val="FF6B1A"/>
          </a:solidFill>
          <a:ln/>
        </p:spPr>
        <p:txBody>
          <a:bodyPr/>
          <a:lstStyle/>
          <a:p>
            <a:endParaRPr lang="en-US"/>
          </a:p>
        </p:txBody>
      </p:sp>
      <p:sp>
        <p:nvSpPr>
          <p:cNvPr id="12" name="Shape 9"/>
          <p:cNvSpPr/>
          <p:nvPr/>
        </p:nvSpPr>
        <p:spPr>
          <a:xfrm>
            <a:off x="307878" y="1910822"/>
            <a:ext cx="4129979" cy="213238"/>
          </a:xfrm>
          <a:prstGeom prst="rect">
            <a:avLst/>
          </a:prstGeom>
          <a:solidFill>
            <a:srgbClr val="3A1A06"/>
          </a:solidFill>
          <a:ln/>
        </p:spPr>
        <p:txBody>
          <a:bodyPr/>
          <a:lstStyle/>
          <a:p>
            <a:endParaRPr lang="en-US"/>
          </a:p>
        </p:txBody>
      </p:sp>
      <p:sp>
        <p:nvSpPr>
          <p:cNvPr id="13" name="Shape 10"/>
          <p:cNvSpPr/>
          <p:nvPr/>
        </p:nvSpPr>
        <p:spPr>
          <a:xfrm>
            <a:off x="307878" y="2124060"/>
            <a:ext cx="4129979" cy="1457005"/>
          </a:xfrm>
          <a:prstGeom prst="rect">
            <a:avLst/>
          </a:prstGeom>
          <a:solidFill>
            <a:srgbClr val="1D0C03"/>
          </a:solidFill>
          <a:ln/>
        </p:spPr>
        <p:txBody>
          <a:bodyPr/>
          <a:lstStyle/>
          <a:p>
            <a:endParaRPr lang="en-US"/>
          </a:p>
        </p:txBody>
      </p:sp>
      <p:sp>
        <p:nvSpPr>
          <p:cNvPr id="14" name="Text 11"/>
          <p:cNvSpPr txBox="1"/>
          <p:nvPr/>
        </p:nvSpPr>
        <p:spPr>
          <a:xfrm>
            <a:off x="475488" y="2002262"/>
            <a:ext cx="3794760" cy="292608"/>
          </a:xfrm>
          <a:prstGeom prst="rect">
            <a:avLst/>
          </a:prstGeom>
          <a:noFill/>
          <a:ln/>
        </p:spPr>
        <p:txBody>
          <a:bodyPr wrap="square" lIns="0" tIns="0" rIns="0" bIns="0" rtlCol="0" anchor="ctr"/>
          <a:lstStyle/>
          <a:p>
            <a:pPr marL="0" indent="0">
              <a:lnSpc>
                <a:spcPct val="105000"/>
              </a:lnSpc>
              <a:buNone/>
            </a:pPr>
            <a:r>
              <a:rPr lang="en-US" sz="1500" b="1" dirty="0">
                <a:solidFill>
                  <a:srgbClr val="FFB27C"/>
                </a:solidFill>
                <a:latin typeface="Arial" pitchFamily="34" charset="0"/>
                <a:ea typeface="Arial" pitchFamily="34" charset="-122"/>
                <a:cs typeface="Arial" pitchFamily="34" charset="-120"/>
              </a:rPr>
              <a:t>Works</a:t>
            </a:r>
            <a:endParaRPr lang="en-US" sz="1500" dirty="0"/>
          </a:p>
        </p:txBody>
      </p:sp>
      <p:sp>
        <p:nvSpPr>
          <p:cNvPr id="15" name="Shape 12"/>
          <p:cNvSpPr/>
          <p:nvPr/>
        </p:nvSpPr>
        <p:spPr>
          <a:xfrm>
            <a:off x="475488" y="2331720"/>
            <a:ext cx="243779" cy="15270"/>
          </a:xfrm>
          <a:prstGeom prst="rect">
            <a:avLst/>
          </a:prstGeom>
          <a:solidFill>
            <a:srgbClr val="FF6B1A"/>
          </a:solidFill>
          <a:ln/>
        </p:spPr>
        <p:txBody>
          <a:bodyPr/>
          <a:lstStyle/>
          <a:p>
            <a:endParaRPr lang="en-US"/>
          </a:p>
        </p:txBody>
      </p:sp>
      <p:sp>
        <p:nvSpPr>
          <p:cNvPr id="16" name="Text 13"/>
          <p:cNvSpPr txBox="1"/>
          <p:nvPr/>
        </p:nvSpPr>
        <p:spPr>
          <a:xfrm>
            <a:off x="475488" y="2478024"/>
            <a:ext cx="3794760" cy="1005840"/>
          </a:xfrm>
          <a:prstGeom prst="rect">
            <a:avLst/>
          </a:prstGeom>
          <a:noFill/>
          <a:ln/>
        </p:spPr>
        <p:txBody>
          <a:bodyPr wrap="square" lIns="0" tIns="0" rIns="0" bIns="0" rtlCol="0" anchor="t"/>
          <a:lstStyle/>
          <a:p>
            <a:pPr marL="0" indent="0">
              <a:lnSpc>
                <a:spcPct val="132000"/>
              </a:lnSpc>
              <a:buNone/>
            </a:pPr>
            <a:r>
              <a:rPr lang="en-US" sz="1050" dirty="0">
                <a:solidFill>
                  <a:srgbClr val="FFFFFF"/>
                </a:solidFill>
                <a:latin typeface="Arial" pitchFamily="34" charset="0"/>
                <a:ea typeface="Arial" pitchFamily="34" charset="-122"/>
                <a:cs typeface="Arial" pitchFamily="34" charset="-120"/>
              </a:rPr>
              <a:t>One clear light source you can point to. Shadow that hides something specific. Eyes you can find, even if barely. A background that is black on purpose. Color chosen for a reason.</a:t>
            </a:r>
            <a:endParaRPr lang="en-US" sz="1050" dirty="0"/>
          </a:p>
        </p:txBody>
      </p:sp>
      <p:sp>
        <p:nvSpPr>
          <p:cNvPr id="17" name="Shape 14"/>
          <p:cNvSpPr/>
          <p:nvPr/>
        </p:nvSpPr>
        <p:spPr>
          <a:xfrm>
            <a:off x="4690872" y="1895551"/>
            <a:ext cx="4160520" cy="1700784"/>
          </a:xfrm>
          <a:prstGeom prst="rect">
            <a:avLst/>
          </a:prstGeom>
          <a:solidFill>
            <a:srgbClr val="FF6B1A"/>
          </a:solidFill>
          <a:ln/>
        </p:spPr>
        <p:txBody>
          <a:bodyPr/>
          <a:lstStyle/>
          <a:p>
            <a:endParaRPr lang="en-US"/>
          </a:p>
        </p:txBody>
      </p:sp>
      <p:sp>
        <p:nvSpPr>
          <p:cNvPr id="18" name="Shape 15"/>
          <p:cNvSpPr/>
          <p:nvPr/>
        </p:nvSpPr>
        <p:spPr>
          <a:xfrm>
            <a:off x="4706142" y="1910822"/>
            <a:ext cx="4129979" cy="213238"/>
          </a:xfrm>
          <a:prstGeom prst="rect">
            <a:avLst/>
          </a:prstGeom>
          <a:solidFill>
            <a:srgbClr val="3A1A06"/>
          </a:solidFill>
          <a:ln/>
        </p:spPr>
        <p:txBody>
          <a:bodyPr/>
          <a:lstStyle/>
          <a:p>
            <a:endParaRPr lang="en-US"/>
          </a:p>
        </p:txBody>
      </p:sp>
      <p:sp>
        <p:nvSpPr>
          <p:cNvPr id="19" name="Shape 16"/>
          <p:cNvSpPr/>
          <p:nvPr/>
        </p:nvSpPr>
        <p:spPr>
          <a:xfrm>
            <a:off x="4706142" y="2124060"/>
            <a:ext cx="4129979" cy="1457005"/>
          </a:xfrm>
          <a:prstGeom prst="rect">
            <a:avLst/>
          </a:prstGeom>
          <a:solidFill>
            <a:srgbClr val="1D0C03"/>
          </a:solidFill>
          <a:ln/>
        </p:spPr>
        <p:txBody>
          <a:bodyPr/>
          <a:lstStyle/>
          <a:p>
            <a:endParaRPr lang="en-US"/>
          </a:p>
        </p:txBody>
      </p:sp>
      <p:sp>
        <p:nvSpPr>
          <p:cNvPr id="20" name="Text 17"/>
          <p:cNvSpPr txBox="1"/>
          <p:nvPr/>
        </p:nvSpPr>
        <p:spPr>
          <a:xfrm>
            <a:off x="4873752" y="2002262"/>
            <a:ext cx="3794760" cy="292608"/>
          </a:xfrm>
          <a:prstGeom prst="rect">
            <a:avLst/>
          </a:prstGeom>
          <a:noFill/>
          <a:ln/>
        </p:spPr>
        <p:txBody>
          <a:bodyPr wrap="square" lIns="0" tIns="0" rIns="0" bIns="0" rtlCol="0" anchor="ctr"/>
          <a:lstStyle/>
          <a:p>
            <a:pPr marL="0" indent="0">
              <a:lnSpc>
                <a:spcPct val="105000"/>
              </a:lnSpc>
              <a:buNone/>
            </a:pPr>
            <a:r>
              <a:rPr lang="en-US" sz="1500" b="1" dirty="0">
                <a:solidFill>
                  <a:srgbClr val="FFB27C"/>
                </a:solidFill>
                <a:latin typeface="Arial" pitchFamily="34" charset="0"/>
                <a:ea typeface="Arial" pitchFamily="34" charset="-122"/>
                <a:cs typeface="Arial" pitchFamily="34" charset="-120"/>
              </a:rPr>
              <a:t>Falls apart</a:t>
            </a:r>
            <a:endParaRPr lang="en-US" sz="1500" dirty="0"/>
          </a:p>
        </p:txBody>
      </p:sp>
      <p:sp>
        <p:nvSpPr>
          <p:cNvPr id="21" name="Shape 18"/>
          <p:cNvSpPr/>
          <p:nvPr/>
        </p:nvSpPr>
        <p:spPr>
          <a:xfrm>
            <a:off x="4873752" y="2331720"/>
            <a:ext cx="243779" cy="15270"/>
          </a:xfrm>
          <a:prstGeom prst="rect">
            <a:avLst/>
          </a:prstGeom>
          <a:solidFill>
            <a:srgbClr val="FF6B1A"/>
          </a:solidFill>
          <a:ln/>
        </p:spPr>
        <p:txBody>
          <a:bodyPr/>
          <a:lstStyle/>
          <a:p>
            <a:endParaRPr lang="en-US"/>
          </a:p>
        </p:txBody>
      </p:sp>
      <p:sp>
        <p:nvSpPr>
          <p:cNvPr id="22" name="Text 19"/>
          <p:cNvSpPr txBox="1"/>
          <p:nvPr/>
        </p:nvSpPr>
        <p:spPr>
          <a:xfrm>
            <a:off x="4873752" y="2478024"/>
            <a:ext cx="3794760" cy="1005840"/>
          </a:xfrm>
          <a:prstGeom prst="rect">
            <a:avLst/>
          </a:prstGeom>
          <a:noFill/>
          <a:ln/>
        </p:spPr>
        <p:txBody>
          <a:bodyPr wrap="square" lIns="0" tIns="0" rIns="0" bIns="0" rtlCol="0" anchor="t"/>
          <a:lstStyle/>
          <a:p>
            <a:pPr marL="0" indent="0">
              <a:lnSpc>
                <a:spcPct val="132000"/>
              </a:lnSpc>
              <a:buNone/>
            </a:pPr>
            <a:r>
              <a:rPr lang="en-US" sz="1050" dirty="0">
                <a:solidFill>
                  <a:srgbClr val="FFFFFF"/>
                </a:solidFill>
                <a:latin typeface="Arial" pitchFamily="34" charset="0"/>
                <a:ea typeface="Arial" pitchFamily="34" charset="-122"/>
                <a:cs typeface="Arial" pitchFamily="34" charset="-120"/>
              </a:rPr>
              <a:t>Light coming from everywhere, so nothing is shaped. A face so dark there is nothing to look at. Four colors fighting. A gray backdrop that was supposed to be black. A scary costume doing all the work.</a:t>
            </a:r>
            <a:endParaRPr lang="en-US" sz="1050" dirty="0"/>
          </a:p>
        </p:txBody>
      </p:sp>
      <p:sp>
        <p:nvSpPr>
          <p:cNvPr id="23" name="Shape 20"/>
          <p:cNvSpPr/>
          <p:nvPr/>
        </p:nvSpPr>
        <p:spPr>
          <a:xfrm>
            <a:off x="292608" y="3779489"/>
            <a:ext cx="8558784" cy="521208"/>
          </a:xfrm>
          <a:prstGeom prst="rect">
            <a:avLst/>
          </a:prstGeom>
          <a:solidFill>
            <a:srgbClr val="00B8B8">
              <a:alpha val="6000"/>
            </a:srgbClr>
          </a:solidFill>
          <a:ln w="12700">
            <a:solidFill>
              <a:srgbClr val="054444"/>
            </a:solidFill>
            <a:prstDash val="solid"/>
          </a:ln>
        </p:spPr>
        <p:txBody>
          <a:bodyPr/>
          <a:lstStyle/>
          <a:p>
            <a:endParaRPr lang="en-US"/>
          </a:p>
        </p:txBody>
      </p:sp>
      <p:sp>
        <p:nvSpPr>
          <p:cNvPr id="24" name="Shape 21"/>
          <p:cNvSpPr/>
          <p:nvPr/>
        </p:nvSpPr>
        <p:spPr>
          <a:xfrm>
            <a:off x="292608" y="3779489"/>
            <a:ext cx="45720" cy="521208"/>
          </a:xfrm>
          <a:prstGeom prst="rect">
            <a:avLst/>
          </a:prstGeom>
          <a:solidFill>
            <a:srgbClr val="00B8B8"/>
          </a:solidFill>
          <a:ln/>
        </p:spPr>
        <p:txBody>
          <a:bodyPr/>
          <a:lstStyle/>
          <a:p>
            <a:endParaRPr lang="en-US"/>
          </a:p>
        </p:txBody>
      </p:sp>
      <p:sp>
        <p:nvSpPr>
          <p:cNvPr id="25" name="Text 22"/>
          <p:cNvSpPr txBox="1"/>
          <p:nvPr/>
        </p:nvSpPr>
        <p:spPr>
          <a:xfrm>
            <a:off x="521208" y="3932194"/>
            <a:ext cx="8162849" cy="253289"/>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The monster is never the scary part. What you cannot quite see is the scary part.</a:t>
            </a:r>
            <a:endParaRPr lang="en-US" sz="1050" dirty="0"/>
          </a:p>
        </p:txBody>
      </p:sp>
      <p:sp>
        <p:nvSpPr>
          <p:cNvPr id="26" name="Shape 23"/>
          <p:cNvSpPr/>
          <p:nvPr/>
        </p:nvSpPr>
        <p:spPr>
          <a:xfrm>
            <a:off x="0" y="4681728"/>
            <a:ext cx="9144000" cy="22860"/>
          </a:xfrm>
          <a:prstGeom prst="rect">
            <a:avLst/>
          </a:prstGeom>
          <a:solidFill>
            <a:srgbClr val="FF6B1A"/>
          </a:solidFill>
          <a:ln/>
        </p:spPr>
        <p:txBody>
          <a:bodyPr/>
          <a:lstStyle/>
          <a:p>
            <a:endParaRPr lang="en-US"/>
          </a:p>
        </p:txBody>
      </p:sp>
      <p:sp>
        <p:nvSpPr>
          <p:cNvPr id="27" name="Text 24"/>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solidFill>
            <a:srgbClr val="04191A"/>
          </a:solidFill>
          <a:ln/>
        </p:spPr>
        <p:txBody>
          <a:bodyPr/>
          <a:lstStyle/>
          <a:p>
            <a:endParaRPr lang="en-US"/>
          </a:p>
        </p:txBody>
      </p:sp>
      <p:sp>
        <p:nvSpPr>
          <p:cNvPr id="3" name="Shape 1"/>
          <p:cNvSpPr/>
          <p:nvPr/>
        </p:nvSpPr>
        <p:spPr>
          <a:xfrm>
            <a:off x="0" y="0"/>
            <a:ext cx="38130" cy="676656"/>
          </a:xfrm>
          <a:prstGeom prst="rect">
            <a:avLst/>
          </a:prstGeom>
          <a:solidFill>
            <a:srgbClr val="00B8B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92608" y="146304"/>
            <a:ext cx="384048" cy="384048"/>
          </a:xfrm>
          <a:prstGeom prst="rect">
            <a:avLst/>
          </a:prstGeom>
        </p:spPr>
      </p:pic>
      <p:sp>
        <p:nvSpPr>
          <p:cNvPr id="5"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BEFORE YOU PRESS THE SHUTTER</a:t>
            </a:r>
            <a:endParaRPr lang="en-US" sz="1900" dirty="0"/>
          </a:p>
        </p:txBody>
      </p:sp>
      <p:sp>
        <p:nvSpPr>
          <p:cNvPr id="6"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WRAP UP / 23</a:t>
            </a:r>
            <a:endParaRPr lang="en-US" sz="900" dirty="0"/>
          </a:p>
        </p:txBody>
      </p:sp>
      <p:sp>
        <p:nvSpPr>
          <p:cNvPr id="7" name="Shape 4"/>
          <p:cNvSpPr/>
          <p:nvPr/>
        </p:nvSpPr>
        <p:spPr>
          <a:xfrm>
            <a:off x="859536" y="699516"/>
            <a:ext cx="457017" cy="22860"/>
          </a:xfrm>
          <a:prstGeom prst="rect">
            <a:avLst/>
          </a:prstGeom>
          <a:solidFill>
            <a:srgbClr val="00B8B8"/>
          </a:solidFill>
          <a:ln/>
        </p:spPr>
        <p:txBody>
          <a:bodyPr/>
          <a:lstStyle/>
          <a:p>
            <a:endParaRPr lang="en-US"/>
          </a:p>
        </p:txBody>
      </p:sp>
      <p:sp>
        <p:nvSpPr>
          <p:cNvPr id="8" name="Text 5"/>
          <p:cNvSpPr txBox="1"/>
          <p:nvPr/>
        </p:nvSpPr>
        <p:spPr>
          <a:xfrm>
            <a:off x="292608" y="978408"/>
            <a:ext cx="8558784" cy="292608"/>
          </a:xfrm>
          <a:prstGeom prst="rect">
            <a:avLst/>
          </a:prstGeom>
          <a:noFill/>
          <a:ln/>
        </p:spPr>
        <p:txBody>
          <a:bodyPr wrap="square" lIns="0" tIns="0" rIns="0" bIns="0" rtlCol="0" anchor="t"/>
          <a:lstStyle/>
          <a:p>
            <a:pPr marL="0" indent="0">
              <a:lnSpc>
                <a:spcPct val="125000"/>
              </a:lnSpc>
              <a:buNone/>
            </a:pPr>
            <a:r>
              <a:rPr lang="en-US" sz="1300" dirty="0">
                <a:solidFill>
                  <a:srgbClr val="FFFFFF"/>
                </a:solidFill>
                <a:latin typeface="Arial" pitchFamily="34" charset="0"/>
                <a:ea typeface="Arial" pitchFamily="34" charset="-122"/>
                <a:cs typeface="Arial" pitchFamily="34" charset="-120"/>
              </a:rPr>
              <a:t>Every DP on every one of those films asked themselves the same three questions. Ask them at your station.</a:t>
            </a:r>
            <a:endParaRPr lang="en-US" sz="1300" dirty="0"/>
          </a:p>
        </p:txBody>
      </p:sp>
      <p:sp>
        <p:nvSpPr>
          <p:cNvPr id="9" name="Shape 6"/>
          <p:cNvSpPr/>
          <p:nvPr/>
        </p:nvSpPr>
        <p:spPr>
          <a:xfrm>
            <a:off x="292608" y="1399032"/>
            <a:ext cx="2706624" cy="1426464"/>
          </a:xfrm>
          <a:prstGeom prst="rect">
            <a:avLst/>
          </a:prstGeom>
          <a:solidFill>
            <a:srgbClr val="00B8B8"/>
          </a:solidFill>
          <a:ln/>
        </p:spPr>
        <p:txBody>
          <a:bodyPr/>
          <a:lstStyle/>
          <a:p>
            <a:endParaRPr lang="en-US"/>
          </a:p>
        </p:txBody>
      </p:sp>
      <p:sp>
        <p:nvSpPr>
          <p:cNvPr id="10" name="Shape 7"/>
          <p:cNvSpPr/>
          <p:nvPr/>
        </p:nvSpPr>
        <p:spPr>
          <a:xfrm>
            <a:off x="307878" y="1414302"/>
            <a:ext cx="2676083" cy="213238"/>
          </a:xfrm>
          <a:prstGeom prst="rect">
            <a:avLst/>
          </a:prstGeom>
          <a:solidFill>
            <a:srgbClr val="094043"/>
          </a:solidFill>
          <a:ln/>
        </p:spPr>
        <p:txBody>
          <a:bodyPr/>
          <a:lstStyle/>
          <a:p>
            <a:endParaRPr lang="en-US"/>
          </a:p>
        </p:txBody>
      </p:sp>
      <p:sp>
        <p:nvSpPr>
          <p:cNvPr id="11" name="Shape 8"/>
          <p:cNvSpPr/>
          <p:nvPr/>
        </p:nvSpPr>
        <p:spPr>
          <a:xfrm>
            <a:off x="307878" y="1627541"/>
            <a:ext cx="2676083" cy="1182685"/>
          </a:xfrm>
          <a:prstGeom prst="rect">
            <a:avLst/>
          </a:prstGeom>
          <a:solidFill>
            <a:srgbClr val="041D1C"/>
          </a:solidFill>
          <a:ln/>
        </p:spPr>
        <p:txBody>
          <a:bodyPr/>
          <a:lstStyle/>
          <a:p>
            <a:endParaRPr lang="en-US"/>
          </a:p>
        </p:txBody>
      </p:sp>
      <p:sp>
        <p:nvSpPr>
          <p:cNvPr id="12" name="Text 9"/>
          <p:cNvSpPr txBox="1"/>
          <p:nvPr/>
        </p:nvSpPr>
        <p:spPr>
          <a:xfrm>
            <a:off x="460218" y="1498062"/>
            <a:ext cx="2371039" cy="457200"/>
          </a:xfrm>
          <a:prstGeom prst="rect">
            <a:avLst/>
          </a:prstGeom>
          <a:noFill/>
          <a:ln/>
        </p:spPr>
        <p:txBody>
          <a:bodyPr wrap="square" lIns="0" tIns="0" rIns="0" bIns="0" rtlCol="0" anchor="ctr"/>
          <a:lstStyle/>
          <a:p>
            <a:pPr marL="0" indent="0">
              <a:lnSpc>
                <a:spcPct val="108000"/>
              </a:lnSpc>
              <a:buNone/>
            </a:pPr>
            <a:r>
              <a:rPr lang="en-US" sz="1200" b="1" dirty="0">
                <a:solidFill>
                  <a:srgbClr val="80E0E0"/>
                </a:solidFill>
                <a:latin typeface="Arial" pitchFamily="34" charset="0"/>
                <a:ea typeface="Arial" pitchFamily="34" charset="-122"/>
                <a:cs typeface="Arial" pitchFamily="34" charset="-120"/>
              </a:rPr>
              <a:t>Where is my light coming from?</a:t>
            </a:r>
            <a:endParaRPr lang="en-US" sz="1200" dirty="0"/>
          </a:p>
        </p:txBody>
      </p:sp>
      <p:sp>
        <p:nvSpPr>
          <p:cNvPr id="13" name="Shape 10"/>
          <p:cNvSpPr/>
          <p:nvPr/>
        </p:nvSpPr>
        <p:spPr>
          <a:xfrm>
            <a:off x="460218" y="1991563"/>
            <a:ext cx="228509" cy="15270"/>
          </a:xfrm>
          <a:prstGeom prst="rect">
            <a:avLst/>
          </a:prstGeom>
          <a:solidFill>
            <a:srgbClr val="00B8B8"/>
          </a:solidFill>
          <a:ln/>
        </p:spPr>
        <p:txBody>
          <a:bodyPr/>
          <a:lstStyle/>
          <a:p>
            <a:endParaRPr lang="en-US"/>
          </a:p>
        </p:txBody>
      </p:sp>
      <p:sp>
        <p:nvSpPr>
          <p:cNvPr id="14" name="Text 11"/>
          <p:cNvSpPr txBox="1"/>
          <p:nvPr/>
        </p:nvSpPr>
        <p:spPr>
          <a:xfrm>
            <a:off x="460218" y="2128723"/>
            <a:ext cx="2371039" cy="576072"/>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You should be able to point at it without looking. If you cannot name the direction, neither can the photo.</a:t>
            </a:r>
            <a:endParaRPr lang="en-US" sz="1000" dirty="0"/>
          </a:p>
        </p:txBody>
      </p:sp>
      <p:sp>
        <p:nvSpPr>
          <p:cNvPr id="15" name="Shape 12"/>
          <p:cNvSpPr/>
          <p:nvPr/>
        </p:nvSpPr>
        <p:spPr>
          <a:xfrm>
            <a:off x="3218688" y="1399032"/>
            <a:ext cx="2706624" cy="1426464"/>
          </a:xfrm>
          <a:prstGeom prst="rect">
            <a:avLst/>
          </a:prstGeom>
          <a:solidFill>
            <a:srgbClr val="00B8B8"/>
          </a:solidFill>
          <a:ln/>
        </p:spPr>
        <p:txBody>
          <a:bodyPr/>
          <a:lstStyle/>
          <a:p>
            <a:endParaRPr lang="en-US"/>
          </a:p>
        </p:txBody>
      </p:sp>
      <p:sp>
        <p:nvSpPr>
          <p:cNvPr id="16" name="Shape 13"/>
          <p:cNvSpPr/>
          <p:nvPr/>
        </p:nvSpPr>
        <p:spPr>
          <a:xfrm>
            <a:off x="3233958" y="1414302"/>
            <a:ext cx="2676083" cy="213238"/>
          </a:xfrm>
          <a:prstGeom prst="rect">
            <a:avLst/>
          </a:prstGeom>
          <a:solidFill>
            <a:srgbClr val="094043"/>
          </a:solidFill>
          <a:ln/>
        </p:spPr>
        <p:txBody>
          <a:bodyPr/>
          <a:lstStyle/>
          <a:p>
            <a:endParaRPr lang="en-US"/>
          </a:p>
        </p:txBody>
      </p:sp>
      <p:sp>
        <p:nvSpPr>
          <p:cNvPr id="17" name="Shape 14"/>
          <p:cNvSpPr/>
          <p:nvPr/>
        </p:nvSpPr>
        <p:spPr>
          <a:xfrm>
            <a:off x="3233958" y="1627541"/>
            <a:ext cx="2676083" cy="1182685"/>
          </a:xfrm>
          <a:prstGeom prst="rect">
            <a:avLst/>
          </a:prstGeom>
          <a:solidFill>
            <a:srgbClr val="041D1C"/>
          </a:solidFill>
          <a:ln/>
        </p:spPr>
        <p:txBody>
          <a:bodyPr/>
          <a:lstStyle/>
          <a:p>
            <a:endParaRPr lang="en-US"/>
          </a:p>
        </p:txBody>
      </p:sp>
      <p:sp>
        <p:nvSpPr>
          <p:cNvPr id="18" name="Text 15"/>
          <p:cNvSpPr txBox="1"/>
          <p:nvPr/>
        </p:nvSpPr>
        <p:spPr>
          <a:xfrm>
            <a:off x="3386298" y="1498062"/>
            <a:ext cx="2371039" cy="457200"/>
          </a:xfrm>
          <a:prstGeom prst="rect">
            <a:avLst/>
          </a:prstGeom>
          <a:noFill/>
          <a:ln/>
        </p:spPr>
        <p:txBody>
          <a:bodyPr wrap="square" lIns="0" tIns="0" rIns="0" bIns="0" rtlCol="0" anchor="ctr"/>
          <a:lstStyle/>
          <a:p>
            <a:pPr marL="0" indent="0">
              <a:lnSpc>
                <a:spcPct val="108000"/>
              </a:lnSpc>
              <a:buNone/>
            </a:pPr>
            <a:r>
              <a:rPr lang="en-US" sz="1200" b="1" dirty="0">
                <a:solidFill>
                  <a:srgbClr val="80E0E0"/>
                </a:solidFill>
                <a:latin typeface="Arial" pitchFamily="34" charset="0"/>
                <a:ea typeface="Arial" pitchFamily="34" charset="-122"/>
                <a:cs typeface="Arial" pitchFamily="34" charset="-120"/>
              </a:rPr>
              <a:t>What am I hiding?</a:t>
            </a:r>
            <a:endParaRPr lang="en-US" sz="1200" dirty="0"/>
          </a:p>
        </p:txBody>
      </p:sp>
      <p:sp>
        <p:nvSpPr>
          <p:cNvPr id="19" name="Shape 16"/>
          <p:cNvSpPr/>
          <p:nvPr/>
        </p:nvSpPr>
        <p:spPr>
          <a:xfrm>
            <a:off x="3386298" y="1991563"/>
            <a:ext cx="228509" cy="15270"/>
          </a:xfrm>
          <a:prstGeom prst="rect">
            <a:avLst/>
          </a:prstGeom>
          <a:solidFill>
            <a:srgbClr val="00B8B8"/>
          </a:solidFill>
          <a:ln/>
        </p:spPr>
        <p:txBody>
          <a:bodyPr/>
          <a:lstStyle/>
          <a:p>
            <a:endParaRPr lang="en-US"/>
          </a:p>
        </p:txBody>
      </p:sp>
      <p:sp>
        <p:nvSpPr>
          <p:cNvPr id="20" name="Text 17"/>
          <p:cNvSpPr txBox="1"/>
          <p:nvPr/>
        </p:nvSpPr>
        <p:spPr>
          <a:xfrm>
            <a:off x="3386298" y="2128723"/>
            <a:ext cx="2371039" cy="576072"/>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Shadow should be covering something on purpose. Hiding nothing in particular just reads as a dark photo.</a:t>
            </a:r>
            <a:endParaRPr lang="en-US" sz="1000" dirty="0"/>
          </a:p>
        </p:txBody>
      </p:sp>
      <p:sp>
        <p:nvSpPr>
          <p:cNvPr id="21" name="Shape 18"/>
          <p:cNvSpPr/>
          <p:nvPr/>
        </p:nvSpPr>
        <p:spPr>
          <a:xfrm>
            <a:off x="6144768" y="1399032"/>
            <a:ext cx="2706624" cy="1426464"/>
          </a:xfrm>
          <a:prstGeom prst="rect">
            <a:avLst/>
          </a:prstGeom>
          <a:solidFill>
            <a:srgbClr val="00B8B8"/>
          </a:solidFill>
          <a:ln/>
        </p:spPr>
        <p:txBody>
          <a:bodyPr/>
          <a:lstStyle/>
          <a:p>
            <a:endParaRPr lang="en-US"/>
          </a:p>
        </p:txBody>
      </p:sp>
      <p:sp>
        <p:nvSpPr>
          <p:cNvPr id="22" name="Shape 19"/>
          <p:cNvSpPr/>
          <p:nvPr/>
        </p:nvSpPr>
        <p:spPr>
          <a:xfrm>
            <a:off x="6160038" y="1414302"/>
            <a:ext cx="2676083" cy="213238"/>
          </a:xfrm>
          <a:prstGeom prst="rect">
            <a:avLst/>
          </a:prstGeom>
          <a:solidFill>
            <a:srgbClr val="094043"/>
          </a:solidFill>
          <a:ln/>
        </p:spPr>
        <p:txBody>
          <a:bodyPr/>
          <a:lstStyle/>
          <a:p>
            <a:endParaRPr lang="en-US"/>
          </a:p>
        </p:txBody>
      </p:sp>
      <p:sp>
        <p:nvSpPr>
          <p:cNvPr id="23" name="Shape 20"/>
          <p:cNvSpPr/>
          <p:nvPr/>
        </p:nvSpPr>
        <p:spPr>
          <a:xfrm>
            <a:off x="6160038" y="1627541"/>
            <a:ext cx="2676083" cy="1182685"/>
          </a:xfrm>
          <a:prstGeom prst="rect">
            <a:avLst/>
          </a:prstGeom>
          <a:solidFill>
            <a:srgbClr val="041D1C"/>
          </a:solidFill>
          <a:ln/>
        </p:spPr>
        <p:txBody>
          <a:bodyPr/>
          <a:lstStyle/>
          <a:p>
            <a:endParaRPr lang="en-US"/>
          </a:p>
        </p:txBody>
      </p:sp>
      <p:sp>
        <p:nvSpPr>
          <p:cNvPr id="24" name="Text 21"/>
          <p:cNvSpPr txBox="1"/>
          <p:nvPr/>
        </p:nvSpPr>
        <p:spPr>
          <a:xfrm>
            <a:off x="6312378" y="1498062"/>
            <a:ext cx="2371039" cy="457200"/>
          </a:xfrm>
          <a:prstGeom prst="rect">
            <a:avLst/>
          </a:prstGeom>
          <a:noFill/>
          <a:ln/>
        </p:spPr>
        <p:txBody>
          <a:bodyPr wrap="square" lIns="0" tIns="0" rIns="0" bIns="0" rtlCol="0" anchor="ctr"/>
          <a:lstStyle/>
          <a:p>
            <a:pPr marL="0" indent="0">
              <a:lnSpc>
                <a:spcPct val="108000"/>
              </a:lnSpc>
              <a:buNone/>
            </a:pPr>
            <a:r>
              <a:rPr lang="en-US" sz="1200" b="1" dirty="0">
                <a:solidFill>
                  <a:srgbClr val="80E0E0"/>
                </a:solidFill>
                <a:latin typeface="Arial" pitchFamily="34" charset="0"/>
                <a:ea typeface="Arial" pitchFamily="34" charset="-122"/>
                <a:cs typeface="Arial" pitchFamily="34" charset="-120"/>
              </a:rPr>
              <a:t>Would this still work in black and white?</a:t>
            </a:r>
            <a:endParaRPr lang="en-US" sz="1200" dirty="0"/>
          </a:p>
        </p:txBody>
      </p:sp>
      <p:sp>
        <p:nvSpPr>
          <p:cNvPr id="25" name="Shape 22"/>
          <p:cNvSpPr/>
          <p:nvPr/>
        </p:nvSpPr>
        <p:spPr>
          <a:xfrm>
            <a:off x="6312378" y="1991563"/>
            <a:ext cx="228509" cy="15270"/>
          </a:xfrm>
          <a:prstGeom prst="rect">
            <a:avLst/>
          </a:prstGeom>
          <a:solidFill>
            <a:srgbClr val="00B8B8"/>
          </a:solidFill>
          <a:ln/>
        </p:spPr>
        <p:txBody>
          <a:bodyPr/>
          <a:lstStyle/>
          <a:p>
            <a:endParaRPr lang="en-US"/>
          </a:p>
        </p:txBody>
      </p:sp>
      <p:sp>
        <p:nvSpPr>
          <p:cNvPr id="26" name="Text 23"/>
          <p:cNvSpPr txBox="1"/>
          <p:nvPr/>
        </p:nvSpPr>
        <p:spPr>
          <a:xfrm>
            <a:off x="6312378" y="2128723"/>
            <a:ext cx="2371039" cy="576072"/>
          </a:xfrm>
          <a:prstGeom prst="rect">
            <a:avLst/>
          </a:prstGeom>
          <a:noFill/>
          <a:ln/>
        </p:spPr>
        <p:txBody>
          <a:bodyPr wrap="square" lIns="0" tIns="0" rIns="0" bIns="0" rtlCol="0" anchor="t"/>
          <a:lstStyle/>
          <a:p>
            <a:pPr marL="0" indent="0">
              <a:lnSpc>
                <a:spcPct val="130000"/>
              </a:lnSpc>
              <a:buNone/>
            </a:pPr>
            <a:r>
              <a:rPr lang="en-US" sz="1000" dirty="0">
                <a:solidFill>
                  <a:srgbClr val="FFFFFF"/>
                </a:solidFill>
                <a:latin typeface="Arial" pitchFamily="34" charset="0"/>
                <a:ea typeface="Arial" pitchFamily="34" charset="-122"/>
                <a:cs typeface="Arial" pitchFamily="34" charset="-120"/>
              </a:rPr>
              <a:t>If the answer is no, the color is carrying a picture that the lighting should be carrying.</a:t>
            </a:r>
            <a:endParaRPr lang="en-US" sz="1000" dirty="0"/>
          </a:p>
        </p:txBody>
      </p:sp>
      <p:sp>
        <p:nvSpPr>
          <p:cNvPr id="27" name="Shape 24"/>
          <p:cNvSpPr/>
          <p:nvPr/>
        </p:nvSpPr>
        <p:spPr>
          <a:xfrm>
            <a:off x="292608" y="3052266"/>
            <a:ext cx="8558784" cy="701345"/>
          </a:xfrm>
          <a:prstGeom prst="rect">
            <a:avLst/>
          </a:prstGeom>
          <a:solidFill>
            <a:srgbClr val="F5B301">
              <a:alpha val="6000"/>
            </a:srgbClr>
          </a:solidFill>
          <a:ln w="12700">
            <a:solidFill>
              <a:srgbClr val="594206"/>
            </a:solidFill>
            <a:prstDash val="solid"/>
          </a:ln>
        </p:spPr>
        <p:txBody>
          <a:bodyPr/>
          <a:lstStyle/>
          <a:p>
            <a:endParaRPr lang="en-US"/>
          </a:p>
        </p:txBody>
      </p:sp>
      <p:sp>
        <p:nvSpPr>
          <p:cNvPr id="28" name="Shape 25"/>
          <p:cNvSpPr/>
          <p:nvPr/>
        </p:nvSpPr>
        <p:spPr>
          <a:xfrm>
            <a:off x="292608" y="3052266"/>
            <a:ext cx="45720" cy="701345"/>
          </a:xfrm>
          <a:prstGeom prst="rect">
            <a:avLst/>
          </a:prstGeom>
          <a:solidFill>
            <a:srgbClr val="F5B301"/>
          </a:solidFill>
          <a:ln/>
        </p:spPr>
        <p:txBody>
          <a:bodyPr/>
          <a:lstStyle/>
          <a:p>
            <a:endParaRPr lang="en-US"/>
          </a:p>
        </p:txBody>
      </p:sp>
      <p:sp>
        <p:nvSpPr>
          <p:cNvPr id="29" name="Text 26"/>
          <p:cNvSpPr txBox="1"/>
          <p:nvPr/>
        </p:nvSpPr>
        <p:spPr>
          <a:xfrm>
            <a:off x="521208" y="3204971"/>
            <a:ext cx="8162849" cy="433426"/>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You are about to do with two lights what a studio once needed a crew of forty to pull off. Go make something that would have scared 1931.</a:t>
            </a:r>
            <a:endParaRPr lang="en-US" sz="1050" dirty="0"/>
          </a:p>
        </p:txBody>
      </p:sp>
      <p:sp>
        <p:nvSpPr>
          <p:cNvPr id="30" name="Shape 27"/>
          <p:cNvSpPr/>
          <p:nvPr/>
        </p:nvSpPr>
        <p:spPr>
          <a:xfrm>
            <a:off x="0" y="4681728"/>
            <a:ext cx="9144000" cy="22860"/>
          </a:xfrm>
          <a:prstGeom prst="rect">
            <a:avLst/>
          </a:prstGeom>
          <a:solidFill>
            <a:srgbClr val="00B8B8"/>
          </a:solidFill>
          <a:ln/>
        </p:spPr>
        <p:txBody>
          <a:bodyPr/>
          <a:lstStyle/>
          <a:p>
            <a:endParaRPr lang="en-US"/>
          </a:p>
        </p:txBody>
      </p:sp>
      <p:sp>
        <p:nvSpPr>
          <p:cNvPr id="31" name="Text 28"/>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PHOTOGRAPHY 1A  /  MR. SILVA  /  PIONEER VALLEY HIGH SCHOOL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TotalTime>
  <Words>3736</Words>
  <Application>Microsoft Macintosh PowerPoint</Application>
  <PresentationFormat>On-screen Show (16:9)</PresentationFormat>
  <Paragraphs>344</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Oswald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chris creativesilva.com</cp:lastModifiedBy>
  <cp:revision>8</cp:revision>
  <dcterms:created xsi:type="dcterms:W3CDTF">2026-10-27T15:33:20Z</dcterms:created>
  <dcterms:modified xsi:type="dcterms:W3CDTF">2026-10-27T18:01:47Z</dcterms:modified>
</cp:coreProperties>
</file>