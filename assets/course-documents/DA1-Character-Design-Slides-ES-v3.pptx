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p:restoredTop sz="94610"/>
  </p:normalViewPr>
  <p:slideViewPr>
    <p:cSldViewPr snapToGrid="0" snapToObjects="1">
      <p:cViewPr varScale="1">
        <p:scale>
          <a:sx n="170" d="100"/>
          <a:sy n="170" d="100"/>
        </p:scale>
        <p:origin x="416"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7832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8"/>
        </a:solidFill>
        <a:effectLst/>
      </p:bgPr>
    </p:bg>
    <p:spTree>
      <p:nvGrpSpPr>
        <p:cNvPr id="1" name=""/>
        <p:cNvGrpSpPr/>
        <p:nvPr/>
      </p:nvGrpSpPr>
      <p:grpSpPr>
        <a:xfrm>
          <a:off x="0" y="0"/>
          <a:ext cx="0" cy="0"/>
          <a:chOff x="0" y="0"/>
          <a:chExt cx="0" cy="0"/>
        </a:xfrm>
      </p:grpSpPr>
      <p:pic>
        <p:nvPicPr>
          <p:cNvPr id="19" name="Image 0" descr="preencoded.png">
            <a:extLst>
              <a:ext uri="{FF2B5EF4-FFF2-40B4-BE49-F238E27FC236}">
                <a16:creationId xmlns:a16="http://schemas.microsoft.com/office/drawing/2014/main" id="{94B837D7-9173-7B5D-2718-444004D45DC5}"/>
              </a:ext>
            </a:extLst>
          </p:cNvPr>
          <p:cNvPicPr>
            <a:picLocks noChangeAspect="1"/>
          </p:cNvPicPr>
          <p:nvPr/>
        </p:nvPicPr>
        <p:blipFill>
          <a:blip r:embed="rId3"/>
          <a:stretch>
            <a:fillRect/>
          </a:stretch>
        </p:blipFill>
        <p:spPr>
          <a:xfrm>
            <a:off x="6647688" y="1394460"/>
            <a:ext cx="3867912" cy="4572000"/>
          </a:xfrm>
          <a:prstGeom prst="rect">
            <a:avLst/>
          </a:prstGeom>
        </p:spPr>
      </p:pic>
      <p:sp>
        <p:nvSpPr>
          <p:cNvPr id="4" name="Shape 0"/>
          <p:cNvSpPr/>
          <p:nvPr/>
        </p:nvSpPr>
        <p:spPr>
          <a:xfrm>
            <a:off x="0" y="0"/>
            <a:ext cx="45720" cy="5143500"/>
          </a:xfrm>
          <a:prstGeom prst="rect">
            <a:avLst/>
          </a:prstGeom>
          <a:solidFill>
            <a:srgbClr val="00B8B8"/>
          </a:solidFill>
          <a:ln/>
        </p:spPr>
        <p:txBody>
          <a:bodyPr/>
          <a:lstStyle/>
          <a:p>
            <a:endParaRPr lang="en-US"/>
          </a:p>
        </p:txBody>
      </p:sp>
      <p:sp>
        <p:nvSpPr>
          <p:cNvPr id="5" name="Text 1"/>
          <p:cNvSpPr txBox="1"/>
          <p:nvPr/>
        </p:nvSpPr>
        <p:spPr>
          <a:xfrm>
            <a:off x="292608" y="454457"/>
            <a:ext cx="5852160" cy="219456"/>
          </a:xfrm>
          <a:prstGeom prst="rect">
            <a:avLst/>
          </a:prstGeom>
          <a:noFill/>
          <a:ln/>
        </p:spPr>
        <p:txBody>
          <a:bodyPr wrap="square" lIns="0" tIns="0" rIns="0" bIns="0" rtlCol="0" anchor="ctr"/>
          <a:lstStyle/>
          <a:p>
            <a:pPr marL="0" indent="0" algn="l">
              <a:buNone/>
            </a:pPr>
            <a:r>
              <a:rPr lang="en-US" sz="1100" b="1" kern="0" spc="150" dirty="0">
                <a:solidFill>
                  <a:srgbClr val="80E0E0"/>
                </a:solidFill>
                <a:latin typeface="Oswald" pitchFamily="34" charset="0"/>
                <a:ea typeface="Oswald" pitchFamily="34" charset="-122"/>
                <a:cs typeface="Oswald" pitchFamily="34" charset="-120"/>
              </a:rPr>
              <a:t>ARTES DIGITALES 1A  /  MR. SILVA</a:t>
            </a:r>
            <a:endParaRPr lang="en-US" sz="1100" dirty="0"/>
          </a:p>
        </p:txBody>
      </p:sp>
      <p:sp>
        <p:nvSpPr>
          <p:cNvPr id="6" name="Text 2"/>
          <p:cNvSpPr txBox="1"/>
          <p:nvPr/>
        </p:nvSpPr>
        <p:spPr>
          <a:xfrm>
            <a:off x="292608" y="689458"/>
            <a:ext cx="6583680" cy="585216"/>
          </a:xfrm>
          <a:prstGeom prst="rect">
            <a:avLst/>
          </a:prstGeom>
          <a:noFill/>
          <a:ln/>
        </p:spPr>
        <p:txBody>
          <a:bodyPr wrap="square" lIns="0" tIns="0" rIns="0" bIns="0" rtlCol="0" anchor="ctr"/>
          <a:lstStyle/>
          <a:p>
            <a:pPr marL="0" indent="0" algn="l">
              <a:buNone/>
            </a:pPr>
            <a:r>
              <a:rPr lang="en-US" sz="4400" b="1" dirty="0">
                <a:solidFill>
                  <a:srgbClr val="FFFFFF"/>
                </a:solidFill>
                <a:latin typeface="Oswald" pitchFamily="34" charset="0"/>
                <a:ea typeface="Oswald" pitchFamily="34" charset="-122"/>
                <a:cs typeface="Oswald" pitchFamily="34" charset="-120"/>
              </a:rPr>
              <a:t>7 Elementos del Arte</a:t>
            </a:r>
            <a:endParaRPr lang="en-US" sz="4400" dirty="0"/>
          </a:p>
        </p:txBody>
      </p:sp>
      <p:sp>
        <p:nvSpPr>
          <p:cNvPr id="7" name="Shape 3"/>
          <p:cNvSpPr/>
          <p:nvPr/>
        </p:nvSpPr>
        <p:spPr>
          <a:xfrm>
            <a:off x="292608" y="1298448"/>
            <a:ext cx="457200" cy="30175"/>
          </a:xfrm>
          <a:prstGeom prst="rect">
            <a:avLst/>
          </a:prstGeom>
          <a:solidFill>
            <a:srgbClr val="00B8B8"/>
          </a:solidFill>
          <a:ln/>
        </p:spPr>
        <p:txBody>
          <a:bodyPr/>
          <a:lstStyle/>
          <a:p>
            <a:endParaRPr lang="en-US"/>
          </a:p>
        </p:txBody>
      </p:sp>
      <p:sp>
        <p:nvSpPr>
          <p:cNvPr id="8" name="Text 4"/>
          <p:cNvSpPr txBox="1"/>
          <p:nvPr/>
        </p:nvSpPr>
        <p:spPr>
          <a:xfrm>
            <a:off x="292608" y="1371600"/>
            <a:ext cx="6400800" cy="512064"/>
          </a:xfrm>
          <a:prstGeom prst="rect">
            <a:avLst/>
          </a:prstGeom>
          <a:noFill/>
          <a:ln/>
        </p:spPr>
        <p:txBody>
          <a:bodyPr wrap="square" lIns="0" tIns="0" rIns="0" bIns="0" rtlCol="0" anchor="ctr"/>
          <a:lstStyle/>
          <a:p>
            <a:pPr marL="0" indent="0" algn="l">
              <a:buNone/>
            </a:pPr>
            <a:r>
              <a:rPr lang="en-US" sz="2600" b="1" dirty="0">
                <a:solidFill>
                  <a:srgbClr val="80E0E0"/>
                </a:solidFill>
                <a:latin typeface="Oswald" pitchFamily="34" charset="0"/>
                <a:ea typeface="Oswald" pitchFamily="34" charset="-122"/>
                <a:cs typeface="Oswald" pitchFamily="34" charset="-120"/>
              </a:rPr>
              <a:t>en Personajes de Caricatura</a:t>
            </a:r>
            <a:endParaRPr lang="en-US" sz="2600" dirty="0"/>
          </a:p>
        </p:txBody>
      </p:sp>
      <p:sp>
        <p:nvSpPr>
          <p:cNvPr id="9" name="Text 5"/>
          <p:cNvSpPr txBox="1"/>
          <p:nvPr/>
        </p:nvSpPr>
        <p:spPr>
          <a:xfrm>
            <a:off x="292608" y="1847088"/>
            <a:ext cx="5029200" cy="310896"/>
          </a:xfrm>
          <a:prstGeom prst="rect">
            <a:avLst/>
          </a:prstGeom>
          <a:noFill/>
          <a:ln/>
        </p:spPr>
        <p:txBody>
          <a:bodyPr wrap="square" lIns="0" tIns="0" rIns="0" bIns="0" rtlCol="0" anchor="ctr"/>
          <a:lstStyle/>
          <a:p>
            <a:pPr marL="0" indent="0" algn="l">
              <a:buNone/>
            </a:pPr>
            <a:r>
              <a:rPr lang="en-US" sz="1200" dirty="0">
                <a:solidFill>
                  <a:srgbClr val="777777"/>
                </a:solidFill>
                <a:latin typeface="Arial" pitchFamily="34" charset="0"/>
                <a:ea typeface="Arial" pitchFamily="34" charset="-122"/>
                <a:cs typeface="Arial" pitchFamily="34" charset="-120"/>
              </a:rPr>
              <a:t>12 Personajes  /  12 Análisis  /  Un Marco</a:t>
            </a:r>
            <a:endParaRPr lang="en-US" sz="1200" dirty="0"/>
          </a:p>
        </p:txBody>
      </p:sp>
      <p:sp>
        <p:nvSpPr>
          <p:cNvPr id="10" name="Shape 6"/>
          <p:cNvSpPr/>
          <p:nvPr/>
        </p:nvSpPr>
        <p:spPr>
          <a:xfrm>
            <a:off x="292608" y="3291840"/>
            <a:ext cx="4754880" cy="822960"/>
          </a:xfrm>
          <a:prstGeom prst="rect">
            <a:avLst/>
          </a:prstGeom>
          <a:solidFill>
            <a:srgbClr val="00B8B8"/>
          </a:solidFill>
          <a:ln/>
        </p:spPr>
        <p:txBody>
          <a:bodyPr/>
          <a:lstStyle/>
          <a:p>
            <a:endParaRPr lang="en-US"/>
          </a:p>
        </p:txBody>
      </p:sp>
      <p:sp>
        <p:nvSpPr>
          <p:cNvPr id="11" name="Shape 7"/>
          <p:cNvSpPr/>
          <p:nvPr/>
        </p:nvSpPr>
        <p:spPr>
          <a:xfrm>
            <a:off x="308153" y="3307385"/>
            <a:ext cx="4723790" cy="256032"/>
          </a:xfrm>
          <a:prstGeom prst="rect">
            <a:avLst/>
          </a:prstGeom>
          <a:solidFill>
            <a:srgbClr val="04191A"/>
          </a:solidFill>
          <a:ln/>
        </p:spPr>
        <p:txBody>
          <a:bodyPr/>
          <a:lstStyle/>
          <a:p>
            <a:endParaRPr lang="en-US"/>
          </a:p>
        </p:txBody>
      </p:sp>
      <p:sp>
        <p:nvSpPr>
          <p:cNvPr id="12" name="Shape 8"/>
          <p:cNvSpPr/>
          <p:nvPr/>
        </p:nvSpPr>
        <p:spPr>
          <a:xfrm>
            <a:off x="308153" y="3563417"/>
            <a:ext cx="4723790" cy="534924"/>
          </a:xfrm>
          <a:prstGeom prst="rect">
            <a:avLst/>
          </a:prstGeom>
          <a:solidFill>
            <a:srgbClr val="041D1C"/>
          </a:solidFill>
          <a:ln/>
        </p:spPr>
        <p:txBody>
          <a:bodyPr/>
          <a:lstStyle/>
          <a:p>
            <a:endParaRPr lang="en-US"/>
          </a:p>
        </p:txBody>
      </p:sp>
      <p:sp>
        <p:nvSpPr>
          <p:cNvPr id="13" name="Text 9"/>
          <p:cNvSpPr txBox="1"/>
          <p:nvPr/>
        </p:nvSpPr>
        <p:spPr>
          <a:xfrm>
            <a:off x="459943" y="3355848"/>
            <a:ext cx="4416552" cy="219456"/>
          </a:xfrm>
          <a:prstGeom prst="rect">
            <a:avLst/>
          </a:prstGeom>
          <a:noFill/>
          <a:ln/>
        </p:spPr>
        <p:txBody>
          <a:bodyPr wrap="square" lIns="0" tIns="0" rIns="0" bIns="0" rtlCol="0" anchor="ctr"/>
          <a:lstStyle/>
          <a:p>
            <a:pPr marL="0" indent="0" algn="l">
              <a:buNone/>
            </a:pPr>
            <a:r>
              <a:rPr lang="en-US" sz="1050" b="1" dirty="0">
                <a:solidFill>
                  <a:srgbClr val="80E0E0"/>
                </a:solidFill>
                <a:latin typeface="Oswald" pitchFamily="34" charset="0"/>
                <a:ea typeface="Oswald" pitchFamily="34" charset="-122"/>
                <a:cs typeface="Oswald" pitchFamily="34" charset="-120"/>
              </a:rPr>
              <a:t>Mickey  /  Bob Esponja  /  Pikachu  /  Batman  /  Bugs Bunny  /  Homero</a:t>
            </a:r>
            <a:endParaRPr lang="en-US" sz="1050" dirty="0"/>
          </a:p>
        </p:txBody>
      </p:sp>
      <p:sp>
        <p:nvSpPr>
          <p:cNvPr id="14" name="Text 10"/>
          <p:cNvSpPr txBox="1"/>
          <p:nvPr/>
        </p:nvSpPr>
        <p:spPr>
          <a:xfrm>
            <a:off x="459943" y="3584448"/>
            <a:ext cx="4416552" cy="402336"/>
          </a:xfrm>
          <a:prstGeom prst="rect">
            <a:avLst/>
          </a:prstGeom>
          <a:noFill/>
          <a:ln/>
        </p:spPr>
        <p:txBody>
          <a:bodyPr wrap="square" lIns="0" tIns="0" rIns="0" bIns="0" rtlCol="0" anchor="ctr"/>
          <a:lstStyle/>
          <a:p>
            <a:pPr marL="0" indent="0" algn="l">
              <a:buNone/>
            </a:pPr>
            <a:r>
              <a:rPr lang="en-US" sz="1050" dirty="0">
                <a:solidFill>
                  <a:srgbClr val="FFFFFF"/>
                </a:solidFill>
                <a:latin typeface="Arial" pitchFamily="34" charset="0"/>
                <a:ea typeface="Arial" pitchFamily="34" charset="-122"/>
                <a:cs typeface="Arial" pitchFamily="34" charset="-120"/>
              </a:rPr>
              <a:t>Totoro  /  Finn  /  Spider-Man  /  Goku  /  Elsa  /  Invasor Zim</a:t>
            </a:r>
            <a:endParaRPr lang="en-US" sz="1050" dirty="0"/>
          </a:p>
        </p:txBody>
      </p:sp>
      <p:sp>
        <p:nvSpPr>
          <p:cNvPr id="15" name="Shape 11"/>
          <p:cNvSpPr/>
          <p:nvPr/>
        </p:nvSpPr>
        <p:spPr>
          <a:xfrm>
            <a:off x="0" y="4681728"/>
            <a:ext cx="9144000" cy="22860"/>
          </a:xfrm>
          <a:prstGeom prst="rect">
            <a:avLst/>
          </a:prstGeom>
          <a:solidFill>
            <a:srgbClr val="00B8B8"/>
          </a:solidFill>
          <a:ln/>
        </p:spPr>
        <p:txBody>
          <a:bodyPr/>
          <a:lstStyle/>
          <a:p>
            <a:endParaRPr lang="en-US"/>
          </a:p>
        </p:txBody>
      </p:sp>
      <p:sp>
        <p:nvSpPr>
          <p:cNvPr id="16" name="Text 12"/>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3" name="Picture 2">
            <a:extLst>
              <a:ext uri="{FF2B5EF4-FFF2-40B4-BE49-F238E27FC236}">
                <a16:creationId xmlns:a16="http://schemas.microsoft.com/office/drawing/2014/main" id="{0556142F-A6B1-0BD6-DBE7-D35E597DFABD}"/>
              </a:ext>
            </a:extLst>
          </p:cNvPr>
          <p:cNvPicPr>
            <a:picLocks noChangeAspect="1"/>
          </p:cNvPicPr>
          <p:nvPr/>
        </p:nvPicPr>
        <p:blipFill>
          <a:blip r:embed="rId4"/>
          <a:stretch>
            <a:fillRect/>
          </a:stretch>
        </p:blipFill>
        <p:spPr>
          <a:xfrm>
            <a:off x="5294376" y="1442406"/>
            <a:ext cx="2762372" cy="2772004"/>
          </a:xfrm>
          <a:prstGeom prst="rect">
            <a:avLst/>
          </a:prstGeom>
        </p:spPr>
      </p:pic>
      <p:pic>
        <p:nvPicPr>
          <p:cNvPr id="18" name="Image 1" descr="preencoded.png">
            <a:extLst>
              <a:ext uri="{FF2B5EF4-FFF2-40B4-BE49-F238E27FC236}">
                <a16:creationId xmlns:a16="http://schemas.microsoft.com/office/drawing/2014/main" id="{3CEDC66F-E304-6371-2154-1E36C883FDA0}"/>
              </a:ext>
            </a:extLst>
          </p:cNvPr>
          <p:cNvPicPr>
            <a:picLocks noChangeAspect="1"/>
          </p:cNvPicPr>
          <p:nvPr/>
        </p:nvPicPr>
        <p:blipFill>
          <a:blip r:embed="rId5"/>
          <a:stretch>
            <a:fillRect/>
          </a:stretch>
        </p:blipFill>
        <p:spPr>
          <a:xfrm>
            <a:off x="7701991" y="230429"/>
            <a:ext cx="1294790" cy="15334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LOS 7 ELEMENTOS DEL ARTE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RESUMEN / 00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5000"/>
          </a:blip>
          <a:stretch>
            <a:fillRect/>
          </a:stretch>
        </p:blipFill>
        <p:spPr>
          <a:xfrm>
            <a:off x="6067958" y="676656"/>
            <a:ext cx="3254350" cy="4211726"/>
          </a:xfrm>
          <a:prstGeom prst="rect">
            <a:avLst/>
          </a:prstGeom>
        </p:spPr>
      </p:pic>
      <p:sp>
        <p:nvSpPr>
          <p:cNvPr id="9" name="Text 5"/>
          <p:cNvSpPr txBox="1"/>
          <p:nvPr/>
        </p:nvSpPr>
        <p:spPr>
          <a:xfrm>
            <a:off x="859536" y="749808"/>
            <a:ext cx="7863840" cy="402336"/>
          </a:xfrm>
          <a:prstGeom prst="rect">
            <a:avLst/>
          </a:prstGeom>
          <a:noFill/>
          <a:ln/>
        </p:spPr>
        <p:txBody>
          <a:bodyPr wrap="square" lIns="0" tIns="0" rIns="0" bIns="0" rtlCol="0" anchor="ctr"/>
          <a:lstStyle/>
          <a:p>
            <a:pPr marL="0" indent="0" algn="l">
              <a:lnSpc>
                <a:spcPct val="120000"/>
              </a:lnSpc>
              <a:buNone/>
            </a:pPr>
            <a:r>
              <a:rPr lang="en-US" sz="1050" dirty="0">
                <a:solidFill>
                  <a:srgbClr val="777777"/>
                </a:solidFill>
                <a:latin typeface="Arial" pitchFamily="34" charset="0"/>
                <a:ea typeface="Arial" pitchFamily="34" charset="-122"/>
                <a:cs typeface="Arial" pitchFamily="34" charset="-120"/>
              </a:rPr>
              <a:t>Cada decisión visual de un diseñador de personajes viene de una de estas siete herramientas.</a:t>
            </a:r>
            <a:endParaRPr lang="en-US" sz="1050" dirty="0"/>
          </a:p>
        </p:txBody>
      </p:sp>
      <p:sp>
        <p:nvSpPr>
          <p:cNvPr id="10" name="Shape 6"/>
          <p:cNvSpPr/>
          <p:nvPr/>
        </p:nvSpPr>
        <p:spPr>
          <a:xfrm>
            <a:off x="292608" y="1097280"/>
            <a:ext cx="310896" cy="310896"/>
          </a:xfrm>
          <a:prstGeom prst="rect">
            <a:avLst/>
          </a:prstGeom>
          <a:solidFill>
            <a:srgbClr val="B71C1C"/>
          </a:solidFill>
          <a:ln/>
        </p:spPr>
        <p:txBody>
          <a:bodyPr/>
          <a:lstStyle/>
          <a:p>
            <a:endParaRPr lang="en-US"/>
          </a:p>
        </p:txBody>
      </p:sp>
      <p:sp>
        <p:nvSpPr>
          <p:cNvPr id="11" name="Text 7"/>
          <p:cNvSpPr txBox="1"/>
          <p:nvPr/>
        </p:nvSpPr>
        <p:spPr>
          <a:xfrm>
            <a:off x="292608" y="109728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01</a:t>
            </a:r>
            <a:endParaRPr lang="en-US" sz="1000" dirty="0"/>
          </a:p>
        </p:txBody>
      </p:sp>
      <p:sp>
        <p:nvSpPr>
          <p:cNvPr id="12" name="Text 8"/>
          <p:cNvSpPr txBox="1"/>
          <p:nvPr/>
        </p:nvSpPr>
        <p:spPr>
          <a:xfrm>
            <a:off x="676656" y="1083564"/>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LÍNEA</a:t>
            </a:r>
            <a:endParaRPr lang="en-US" sz="1250" dirty="0"/>
          </a:p>
        </p:txBody>
      </p:sp>
      <p:sp>
        <p:nvSpPr>
          <p:cNvPr id="13" name="Text 9"/>
          <p:cNvSpPr txBox="1"/>
          <p:nvPr/>
        </p:nvSpPr>
        <p:spPr>
          <a:xfrm>
            <a:off x="676656" y="1339596"/>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Una marca que viaja. Controla la dirección, la energía, y el borde.</a:t>
            </a:r>
            <a:endParaRPr lang="en-US" sz="950" dirty="0"/>
          </a:p>
        </p:txBody>
      </p:sp>
      <p:sp>
        <p:nvSpPr>
          <p:cNvPr id="14" name="Shape 10"/>
          <p:cNvSpPr/>
          <p:nvPr/>
        </p:nvSpPr>
        <p:spPr>
          <a:xfrm>
            <a:off x="292608" y="1810512"/>
            <a:ext cx="310896" cy="310896"/>
          </a:xfrm>
          <a:prstGeom prst="rect">
            <a:avLst/>
          </a:prstGeom>
          <a:solidFill>
            <a:srgbClr val="BF360C"/>
          </a:solidFill>
          <a:ln/>
        </p:spPr>
        <p:txBody>
          <a:bodyPr/>
          <a:lstStyle/>
          <a:p>
            <a:endParaRPr lang="en-US"/>
          </a:p>
        </p:txBody>
      </p:sp>
      <p:sp>
        <p:nvSpPr>
          <p:cNvPr id="15" name="Text 11"/>
          <p:cNvSpPr txBox="1"/>
          <p:nvPr/>
        </p:nvSpPr>
        <p:spPr>
          <a:xfrm>
            <a:off x="292608" y="1810512"/>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02</a:t>
            </a:r>
            <a:endParaRPr lang="en-US" sz="1000" dirty="0"/>
          </a:p>
        </p:txBody>
      </p:sp>
      <p:sp>
        <p:nvSpPr>
          <p:cNvPr id="16" name="Text 12"/>
          <p:cNvSpPr txBox="1"/>
          <p:nvPr/>
        </p:nvSpPr>
        <p:spPr>
          <a:xfrm>
            <a:off x="676656" y="1796796"/>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a:t>
            </a:r>
            <a:endParaRPr lang="en-US" sz="1250" dirty="0"/>
          </a:p>
        </p:txBody>
      </p:sp>
      <p:sp>
        <p:nvSpPr>
          <p:cNvPr id="17" name="Text 13"/>
          <p:cNvSpPr txBox="1"/>
          <p:nvPr/>
        </p:nvSpPr>
        <p:spPr>
          <a:xfrm>
            <a:off x="676656" y="2052828"/>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Un área cerrada definida por un contorno. La silueta que hace que se reconozca al instante.</a:t>
            </a:r>
            <a:endParaRPr lang="en-US" sz="950" dirty="0"/>
          </a:p>
        </p:txBody>
      </p:sp>
      <p:sp>
        <p:nvSpPr>
          <p:cNvPr id="18" name="Shape 14"/>
          <p:cNvSpPr/>
          <p:nvPr/>
        </p:nvSpPr>
        <p:spPr>
          <a:xfrm>
            <a:off x="292608" y="2523744"/>
            <a:ext cx="310896" cy="310896"/>
          </a:xfrm>
          <a:prstGeom prst="rect">
            <a:avLst/>
          </a:prstGeom>
          <a:solidFill>
            <a:srgbClr val="6A1B9A"/>
          </a:solidFill>
          <a:ln/>
        </p:spPr>
        <p:txBody>
          <a:bodyPr/>
          <a:lstStyle/>
          <a:p>
            <a:endParaRPr lang="en-US"/>
          </a:p>
        </p:txBody>
      </p:sp>
      <p:sp>
        <p:nvSpPr>
          <p:cNvPr id="19" name="Text 15"/>
          <p:cNvSpPr txBox="1"/>
          <p:nvPr/>
        </p:nvSpPr>
        <p:spPr>
          <a:xfrm>
            <a:off x="292608" y="2523744"/>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03</a:t>
            </a:r>
            <a:endParaRPr lang="en-US" sz="1000" dirty="0"/>
          </a:p>
        </p:txBody>
      </p:sp>
      <p:sp>
        <p:nvSpPr>
          <p:cNvPr id="20" name="Text 16"/>
          <p:cNvSpPr txBox="1"/>
          <p:nvPr/>
        </p:nvSpPr>
        <p:spPr>
          <a:xfrm>
            <a:off x="676656" y="2510028"/>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VOLUMEN</a:t>
            </a:r>
            <a:endParaRPr lang="en-US" sz="1250" dirty="0"/>
          </a:p>
        </p:txBody>
      </p:sp>
      <p:sp>
        <p:nvSpPr>
          <p:cNvPr id="21" name="Text 17"/>
          <p:cNvSpPr txBox="1"/>
          <p:nvPr/>
        </p:nvSpPr>
        <p:spPr>
          <a:xfrm>
            <a:off x="676656" y="2766060"/>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Volumen tridimensional. Hace que un personaje se sienta sólido y presente.</a:t>
            </a:r>
            <a:endParaRPr lang="en-US" sz="950" dirty="0"/>
          </a:p>
        </p:txBody>
      </p:sp>
      <p:sp>
        <p:nvSpPr>
          <p:cNvPr id="22" name="Shape 18"/>
          <p:cNvSpPr/>
          <p:nvPr/>
        </p:nvSpPr>
        <p:spPr>
          <a:xfrm>
            <a:off x="292608" y="3236976"/>
            <a:ext cx="310896" cy="310896"/>
          </a:xfrm>
          <a:prstGeom prst="rect">
            <a:avLst/>
          </a:prstGeom>
          <a:solidFill>
            <a:srgbClr val="E65100"/>
          </a:solidFill>
          <a:ln/>
        </p:spPr>
        <p:txBody>
          <a:bodyPr/>
          <a:lstStyle/>
          <a:p>
            <a:endParaRPr lang="en-US"/>
          </a:p>
        </p:txBody>
      </p:sp>
      <p:sp>
        <p:nvSpPr>
          <p:cNvPr id="23" name="Text 19"/>
          <p:cNvSpPr txBox="1"/>
          <p:nvPr/>
        </p:nvSpPr>
        <p:spPr>
          <a:xfrm>
            <a:off x="292608" y="323697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04</a:t>
            </a:r>
            <a:endParaRPr lang="en-US" sz="1000" dirty="0"/>
          </a:p>
        </p:txBody>
      </p:sp>
      <p:sp>
        <p:nvSpPr>
          <p:cNvPr id="24" name="Text 20"/>
          <p:cNvSpPr txBox="1"/>
          <p:nvPr/>
        </p:nvSpPr>
        <p:spPr>
          <a:xfrm>
            <a:off x="676656" y="3223260"/>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25" name="Text 21"/>
          <p:cNvSpPr txBox="1"/>
          <p:nvPr/>
        </p:nvSpPr>
        <p:spPr>
          <a:xfrm>
            <a:off x="676656" y="3479292"/>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Matiz, saturación, y temperatura. Comunica el ánimo antes que la historia.</a:t>
            </a:r>
            <a:endParaRPr lang="en-US" sz="950" dirty="0"/>
          </a:p>
        </p:txBody>
      </p:sp>
      <p:sp>
        <p:nvSpPr>
          <p:cNvPr id="26" name="Shape 22"/>
          <p:cNvSpPr/>
          <p:nvPr/>
        </p:nvSpPr>
        <p:spPr>
          <a:xfrm>
            <a:off x="4590288" y="1097280"/>
            <a:ext cx="310896" cy="310896"/>
          </a:xfrm>
          <a:prstGeom prst="rect">
            <a:avLst/>
          </a:prstGeom>
          <a:solidFill>
            <a:srgbClr val="1B5E20"/>
          </a:solidFill>
          <a:ln/>
        </p:spPr>
        <p:txBody>
          <a:bodyPr/>
          <a:lstStyle/>
          <a:p>
            <a:endParaRPr lang="en-US"/>
          </a:p>
        </p:txBody>
      </p:sp>
      <p:sp>
        <p:nvSpPr>
          <p:cNvPr id="27" name="Text 23"/>
          <p:cNvSpPr txBox="1"/>
          <p:nvPr/>
        </p:nvSpPr>
        <p:spPr>
          <a:xfrm>
            <a:off x="4590288" y="109728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05</a:t>
            </a:r>
            <a:endParaRPr lang="en-US" sz="1000" dirty="0"/>
          </a:p>
        </p:txBody>
      </p:sp>
      <p:sp>
        <p:nvSpPr>
          <p:cNvPr id="28" name="Text 24"/>
          <p:cNvSpPr txBox="1"/>
          <p:nvPr/>
        </p:nvSpPr>
        <p:spPr>
          <a:xfrm>
            <a:off x="4974336" y="1083564"/>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VALOR</a:t>
            </a:r>
            <a:endParaRPr lang="en-US" sz="1250" dirty="0"/>
          </a:p>
        </p:txBody>
      </p:sp>
      <p:sp>
        <p:nvSpPr>
          <p:cNvPr id="29" name="Text 25"/>
          <p:cNvSpPr txBox="1"/>
          <p:nvPr/>
        </p:nvSpPr>
        <p:spPr>
          <a:xfrm>
            <a:off x="4974336" y="1339596"/>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Luz y sombra. Revela el volumen, crea atmósfera, y dirige la mirada.</a:t>
            </a:r>
            <a:endParaRPr lang="en-US" sz="950" dirty="0"/>
          </a:p>
        </p:txBody>
      </p:sp>
      <p:sp>
        <p:nvSpPr>
          <p:cNvPr id="30" name="Shape 26"/>
          <p:cNvSpPr/>
          <p:nvPr/>
        </p:nvSpPr>
        <p:spPr>
          <a:xfrm>
            <a:off x="4590288" y="1810512"/>
            <a:ext cx="310896" cy="310896"/>
          </a:xfrm>
          <a:prstGeom prst="rect">
            <a:avLst/>
          </a:prstGeom>
          <a:solidFill>
            <a:srgbClr val="0D47A1"/>
          </a:solidFill>
          <a:ln/>
        </p:spPr>
        <p:txBody>
          <a:bodyPr/>
          <a:lstStyle/>
          <a:p>
            <a:endParaRPr lang="en-US"/>
          </a:p>
        </p:txBody>
      </p:sp>
      <p:sp>
        <p:nvSpPr>
          <p:cNvPr id="31" name="Text 27"/>
          <p:cNvSpPr txBox="1"/>
          <p:nvPr/>
        </p:nvSpPr>
        <p:spPr>
          <a:xfrm>
            <a:off x="4590288" y="1810512"/>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06</a:t>
            </a:r>
            <a:endParaRPr lang="en-US" sz="1000" dirty="0"/>
          </a:p>
        </p:txBody>
      </p:sp>
      <p:sp>
        <p:nvSpPr>
          <p:cNvPr id="32" name="Text 28"/>
          <p:cNvSpPr txBox="1"/>
          <p:nvPr/>
        </p:nvSpPr>
        <p:spPr>
          <a:xfrm>
            <a:off x="4974336" y="1796796"/>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TEXTURA</a:t>
            </a:r>
            <a:endParaRPr lang="en-US" sz="1250" dirty="0"/>
          </a:p>
        </p:txBody>
      </p:sp>
      <p:sp>
        <p:nvSpPr>
          <p:cNvPr id="33" name="Text 29"/>
          <p:cNvSpPr txBox="1"/>
          <p:nvPr/>
        </p:nvSpPr>
        <p:spPr>
          <a:xfrm>
            <a:off x="4974336" y="2052828"/>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Cualidad de la superficie, áspera, lisa, suave, dura. Crea presencia táctil.</a:t>
            </a:r>
            <a:endParaRPr lang="en-US" sz="950" dirty="0"/>
          </a:p>
        </p:txBody>
      </p:sp>
      <p:sp>
        <p:nvSpPr>
          <p:cNvPr id="34" name="Shape 30"/>
          <p:cNvSpPr/>
          <p:nvPr/>
        </p:nvSpPr>
        <p:spPr>
          <a:xfrm>
            <a:off x="4590288" y="2523744"/>
            <a:ext cx="310896" cy="310896"/>
          </a:xfrm>
          <a:prstGeom prst="rect">
            <a:avLst/>
          </a:prstGeom>
          <a:solidFill>
            <a:srgbClr val="006064"/>
          </a:solidFill>
          <a:ln/>
        </p:spPr>
        <p:txBody>
          <a:bodyPr/>
          <a:lstStyle/>
          <a:p>
            <a:endParaRPr lang="en-US"/>
          </a:p>
        </p:txBody>
      </p:sp>
      <p:sp>
        <p:nvSpPr>
          <p:cNvPr id="35" name="Text 31"/>
          <p:cNvSpPr txBox="1"/>
          <p:nvPr/>
        </p:nvSpPr>
        <p:spPr>
          <a:xfrm>
            <a:off x="4590288" y="2523744"/>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swald" pitchFamily="34" charset="0"/>
                <a:ea typeface="Oswald" pitchFamily="34" charset="-122"/>
                <a:cs typeface="Oswald" pitchFamily="34" charset="-120"/>
              </a:rPr>
              <a:t>07</a:t>
            </a:r>
            <a:endParaRPr lang="en-US" sz="1000" dirty="0"/>
          </a:p>
        </p:txBody>
      </p:sp>
      <p:sp>
        <p:nvSpPr>
          <p:cNvPr id="36" name="Text 32"/>
          <p:cNvSpPr txBox="1"/>
          <p:nvPr/>
        </p:nvSpPr>
        <p:spPr>
          <a:xfrm>
            <a:off x="4974336" y="2510028"/>
            <a:ext cx="377647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ESPACIO</a:t>
            </a:r>
            <a:endParaRPr lang="en-US" sz="1250" dirty="0"/>
          </a:p>
        </p:txBody>
      </p:sp>
      <p:sp>
        <p:nvSpPr>
          <p:cNvPr id="37" name="Text 33"/>
          <p:cNvSpPr txBox="1"/>
          <p:nvPr/>
        </p:nvSpPr>
        <p:spPr>
          <a:xfrm>
            <a:off x="4974336" y="2766060"/>
            <a:ext cx="3776472" cy="411480"/>
          </a:xfrm>
          <a:prstGeom prst="rect">
            <a:avLst/>
          </a:prstGeom>
          <a:noFill/>
          <a:ln/>
        </p:spPr>
        <p:txBody>
          <a:bodyPr wrap="square" lIns="0" tIns="0" rIns="0" bIns="0" rtlCol="0" anchor="ctr"/>
          <a:lstStyle/>
          <a:p>
            <a:pPr marL="0" indent="0" algn="l">
              <a:lnSpc>
                <a:spcPct val="115000"/>
              </a:lnSpc>
              <a:buNone/>
            </a:pPr>
            <a:r>
              <a:rPr lang="en-US" sz="950" dirty="0">
                <a:solidFill>
                  <a:srgbClr val="FFFFFF"/>
                </a:solidFill>
                <a:latin typeface="Arial" pitchFamily="34" charset="0"/>
                <a:ea typeface="Arial" pitchFamily="34" charset="-122"/>
                <a:cs typeface="Arial" pitchFamily="34" charset="-120"/>
              </a:rPr>
              <a:t>El área alrededor y entre las formas. Controla la escala, la profundidad, y las relaciones.</a:t>
            </a:r>
            <a:endParaRPr lang="en-US" sz="950" dirty="0"/>
          </a:p>
        </p:txBody>
      </p:sp>
      <p:sp>
        <p:nvSpPr>
          <p:cNvPr id="38" name="Text 34"/>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ELEMENTOS DEL ARTE EN ESTE PERSONAJE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01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03" name="CharacterGlow9003"/>
          <p:cNvSpPr/>
          <p:nvPr/>
        </p:nvSpPr>
        <p:spPr>
          <a:xfrm>
            <a:off x="1769079" y="766646"/>
            <a:ext cx="3113817" cy="3632965"/>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01</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Disney  /  1928</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Mickey Mouse</a:t>
            </a:r>
            <a:endParaRPr lang="en-US" sz="3400" dirty="0"/>
          </a:p>
        </p:txBody>
      </p:sp>
      <p:sp>
        <p:nvSpPr>
          <p:cNvPr id="13" name="Shape 9"/>
          <p:cNvSpPr/>
          <p:nvPr/>
        </p:nvSpPr>
        <p:spPr>
          <a:xfrm>
            <a:off x="292608" y="3396996"/>
            <a:ext cx="365760" cy="22860"/>
          </a:xfrm>
          <a:prstGeom prst="rect">
            <a:avLst/>
          </a:prstGeom>
          <a:solidFill>
            <a:srgbClr val="00B8B8"/>
          </a:solidFill>
          <a:ln/>
        </p:spPr>
        <p:txBody>
          <a:bodyPr/>
          <a:lstStyle/>
          <a:p>
            <a:endParaRPr lang="en-US"/>
          </a:p>
        </p:txBody>
      </p:sp>
      <p:sp>
        <p:nvSpPr>
          <p:cNvPr id="14" name="Shape 10"/>
          <p:cNvSpPr/>
          <p:nvPr/>
        </p:nvSpPr>
        <p:spPr>
          <a:xfrm>
            <a:off x="292608" y="3470148"/>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70148"/>
            <a:ext cx="45720" cy="640080"/>
          </a:xfrm>
          <a:prstGeom prst="rect">
            <a:avLst/>
          </a:prstGeom>
          <a:solidFill>
            <a:srgbClr val="00B8B8"/>
          </a:solidFill>
          <a:ln/>
        </p:spPr>
        <p:txBody>
          <a:bodyPr/>
          <a:lstStyle/>
          <a:p>
            <a:endParaRPr lang="en-US"/>
          </a:p>
        </p:txBody>
      </p:sp>
      <p:sp>
        <p:nvSpPr>
          <p:cNvPr id="16" name="Text 12"/>
          <p:cNvSpPr txBox="1"/>
          <p:nvPr/>
        </p:nvSpPr>
        <p:spPr>
          <a:xfrm>
            <a:off x="521208" y="3566160"/>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"La fórmula de formas original"</a:t>
            </a:r>
            <a:endParaRPr lang="en-US" sz="1050" dirty="0"/>
          </a:p>
        </p:txBody>
      </p:sp>
      <p:sp>
        <p:nvSpPr>
          <p:cNvPr id="17" name="Text 13"/>
          <p:cNvSpPr txBox="1"/>
          <p:nvPr/>
        </p:nvSpPr>
        <p:spPr>
          <a:xfrm>
            <a:off x="292608" y="4219956"/>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ELEMENTOS CLAVE</a:t>
            </a:r>
            <a:endParaRPr lang="en-US" sz="800" dirty="0"/>
          </a:p>
        </p:txBody>
      </p:sp>
      <p:sp>
        <p:nvSpPr>
          <p:cNvPr id="18" name="Shape 14"/>
          <p:cNvSpPr/>
          <p:nvPr/>
        </p:nvSpPr>
        <p:spPr>
          <a:xfrm>
            <a:off x="292608" y="4457700"/>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19" name="Shape 15"/>
          <p:cNvSpPr/>
          <p:nvPr/>
        </p:nvSpPr>
        <p:spPr>
          <a:xfrm>
            <a:off x="292608" y="4457700"/>
            <a:ext cx="54864" cy="310896"/>
          </a:xfrm>
          <a:prstGeom prst="rect">
            <a:avLst/>
          </a:prstGeom>
          <a:solidFill>
            <a:srgbClr val="BF360C"/>
          </a:solidFill>
          <a:ln/>
        </p:spPr>
        <p:txBody>
          <a:bodyPr/>
          <a:lstStyle/>
          <a:p>
            <a:endParaRPr lang="en-US"/>
          </a:p>
        </p:txBody>
      </p:sp>
      <p:sp>
        <p:nvSpPr>
          <p:cNvPr id="20" name="Text 16"/>
          <p:cNvSpPr txBox="1"/>
          <p:nvPr/>
        </p:nvSpPr>
        <p:spPr>
          <a:xfrm>
            <a:off x="384048" y="4457700"/>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a:t>
            </a:r>
            <a:endParaRPr lang="en-US" sz="950" dirty="0"/>
          </a:p>
        </p:txBody>
      </p:sp>
      <p:sp>
        <p:nvSpPr>
          <p:cNvPr id="21" name="Shape 17"/>
          <p:cNvSpPr/>
          <p:nvPr/>
        </p:nvSpPr>
        <p:spPr>
          <a:xfrm>
            <a:off x="1600200" y="4457700"/>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22" name="Shape 18"/>
          <p:cNvSpPr/>
          <p:nvPr/>
        </p:nvSpPr>
        <p:spPr>
          <a:xfrm>
            <a:off x="1600200" y="4457700"/>
            <a:ext cx="54864" cy="310896"/>
          </a:xfrm>
          <a:prstGeom prst="rect">
            <a:avLst/>
          </a:prstGeom>
          <a:solidFill>
            <a:srgbClr val="B71C1C"/>
          </a:solidFill>
          <a:ln/>
        </p:spPr>
        <p:txBody>
          <a:bodyPr/>
          <a:lstStyle/>
          <a:p>
            <a:endParaRPr lang="en-US"/>
          </a:p>
        </p:txBody>
      </p:sp>
      <p:sp>
        <p:nvSpPr>
          <p:cNvPr id="23" name="Text 19"/>
          <p:cNvSpPr txBox="1"/>
          <p:nvPr/>
        </p:nvSpPr>
        <p:spPr>
          <a:xfrm>
            <a:off x="1691640" y="4457700"/>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LÍNEA</a:t>
            </a:r>
            <a:endParaRPr lang="en-US" sz="950" dirty="0"/>
          </a:p>
        </p:txBody>
      </p:sp>
      <p:sp>
        <p:nvSpPr>
          <p:cNvPr id="24" name="Shape 20"/>
          <p:cNvSpPr/>
          <p:nvPr/>
        </p:nvSpPr>
        <p:spPr>
          <a:xfrm>
            <a:off x="2907792" y="4457700"/>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25" name="Shape 21"/>
          <p:cNvSpPr/>
          <p:nvPr/>
        </p:nvSpPr>
        <p:spPr>
          <a:xfrm>
            <a:off x="2907792" y="4457700"/>
            <a:ext cx="54864" cy="310896"/>
          </a:xfrm>
          <a:prstGeom prst="rect">
            <a:avLst/>
          </a:prstGeom>
          <a:solidFill>
            <a:srgbClr val="E65100"/>
          </a:solidFill>
          <a:ln/>
        </p:spPr>
        <p:txBody>
          <a:bodyPr/>
          <a:lstStyle/>
          <a:p>
            <a:endParaRPr lang="en-US"/>
          </a:p>
        </p:txBody>
      </p:sp>
      <p:sp>
        <p:nvSpPr>
          <p:cNvPr id="26" name="Text 22"/>
          <p:cNvSpPr txBox="1"/>
          <p:nvPr/>
        </p:nvSpPr>
        <p:spPr>
          <a:xfrm>
            <a:off x="2999232" y="4457700"/>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7" name="Shape 23"/>
          <p:cNvSpPr/>
          <p:nvPr/>
        </p:nvSpPr>
        <p:spPr>
          <a:xfrm>
            <a:off x="4617720" y="768096"/>
            <a:ext cx="310896" cy="310896"/>
          </a:xfrm>
          <a:prstGeom prst="rect">
            <a:avLst/>
          </a:prstGeom>
          <a:solidFill>
            <a:srgbClr val="BF360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FO</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Mickey está construido con tres círculos perfectos apilados, las orejas y la cabeza. Esa clave geométrica lo hizo reconocible en cualquier tamaño, desde una estampilla hasta un globo de desfile.</a:t>
            </a:r>
            <a:endParaRPr lang="en-US" sz="1000" dirty="0"/>
          </a:p>
        </p:txBody>
      </p:sp>
      <p:sp>
        <p:nvSpPr>
          <p:cNvPr id="32" name="Shape 28"/>
          <p:cNvSpPr/>
          <p:nvPr/>
        </p:nvSpPr>
        <p:spPr>
          <a:xfrm>
            <a:off x="4617720" y="2048256"/>
            <a:ext cx="310896" cy="310896"/>
          </a:xfrm>
          <a:prstGeom prst="rect">
            <a:avLst/>
          </a:prstGeom>
          <a:solidFill>
            <a:srgbClr val="B71C1C"/>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LÍNEA</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Cada contorno es grueso y suave, dibujado con un grosor de línea constante y casi sin variación. Esas líneas limpias y seguras hicieron que Mickey fuera fácil de animar cuadro tras cuadro sin perder su identidad.</a:t>
            </a:r>
            <a:endParaRPr lang="en-US" sz="1000" dirty="0"/>
          </a:p>
        </p:txBody>
      </p:sp>
      <p:sp>
        <p:nvSpPr>
          <p:cNvPr id="37" name="Shape 33"/>
          <p:cNvSpPr/>
          <p:nvPr/>
        </p:nvSpPr>
        <p:spPr>
          <a:xfrm>
            <a:off x="4617720" y="3328416"/>
            <a:ext cx="310896" cy="310896"/>
          </a:xfrm>
          <a:prstGeom prst="rect">
            <a:avLst/>
          </a:prstGeom>
          <a:solidFill>
            <a:srgbClr val="E65100"/>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CO</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La paleta de negro, blanco, y rojo usa el máximo contraste para separar a Mickey de cualquier fondo. No hay degradados ni sombras en el Mickey original, solo color plano haciendo el trabajo.</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4" name="Picture 43">
            <a:extLst>
              <a:ext uri="{FF2B5EF4-FFF2-40B4-BE49-F238E27FC236}">
                <a16:creationId xmlns:a16="http://schemas.microsoft.com/office/drawing/2014/main" id="{6B44394D-FBBE-66CC-D1CA-55551B6F359B}"/>
              </a:ext>
            </a:extLst>
          </p:cNvPr>
          <p:cNvPicPr>
            <a:picLocks noChangeAspect="1"/>
          </p:cNvPicPr>
          <p:nvPr/>
        </p:nvPicPr>
        <p:blipFill>
          <a:blip r:embed="rId5"/>
          <a:stretch>
            <a:fillRect/>
          </a:stretch>
        </p:blipFill>
        <p:spPr>
          <a:xfrm>
            <a:off x="2374485" y="1151511"/>
            <a:ext cx="2151795" cy="278104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ELEMENTOS DEL ARTE EN ESTE PERSONAJE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02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04" name="CharacterGlow9004"/>
          <p:cNvSpPr/>
          <p:nvPr/>
        </p:nvSpPr>
        <p:spPr>
          <a:xfrm>
            <a:off x="2151453" y="731520"/>
            <a:ext cx="2466838" cy="3870640"/>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02</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Nickelodeon  /  1999</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Bob Esponja</a:t>
            </a:r>
            <a:endParaRPr lang="en-US" sz="3400" dirty="0"/>
          </a:p>
        </p:txBody>
      </p:sp>
      <p:sp>
        <p:nvSpPr>
          <p:cNvPr id="13" name="Shape 9"/>
          <p:cNvSpPr/>
          <p:nvPr/>
        </p:nvSpPr>
        <p:spPr>
          <a:xfrm>
            <a:off x="292608" y="3378708"/>
            <a:ext cx="365760" cy="22860"/>
          </a:xfrm>
          <a:prstGeom prst="rect">
            <a:avLst/>
          </a:prstGeom>
          <a:solidFill>
            <a:srgbClr val="00B8B8"/>
          </a:solidFill>
          <a:ln/>
        </p:spPr>
        <p:txBody>
          <a:bodyPr/>
          <a:lstStyle/>
          <a:p>
            <a:endParaRPr lang="en-US"/>
          </a:p>
        </p:txBody>
      </p:sp>
      <p:sp>
        <p:nvSpPr>
          <p:cNvPr id="14" name="Shape 10"/>
          <p:cNvSpPr/>
          <p:nvPr/>
        </p:nvSpPr>
        <p:spPr>
          <a:xfrm>
            <a:off x="292608" y="3451860"/>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51860"/>
            <a:ext cx="45720" cy="640080"/>
          </a:xfrm>
          <a:prstGeom prst="rect">
            <a:avLst/>
          </a:prstGeom>
          <a:solidFill>
            <a:srgbClr val="00B8B8"/>
          </a:solidFill>
          <a:ln/>
        </p:spPr>
        <p:txBody>
          <a:bodyPr/>
          <a:lstStyle/>
          <a:p>
            <a:endParaRPr lang="en-US"/>
          </a:p>
        </p:txBody>
      </p:sp>
      <p:sp>
        <p:nvSpPr>
          <p:cNvPr id="16" name="Text 12"/>
          <p:cNvSpPr txBox="1"/>
          <p:nvPr/>
        </p:nvSpPr>
        <p:spPr>
          <a:xfrm>
            <a:off x="521208" y="3547872"/>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"La textura como personalidad"</a:t>
            </a:r>
            <a:endParaRPr lang="en-US" sz="1050" dirty="0"/>
          </a:p>
        </p:txBody>
      </p:sp>
      <p:sp>
        <p:nvSpPr>
          <p:cNvPr id="17" name="Text 13"/>
          <p:cNvSpPr txBox="1"/>
          <p:nvPr/>
        </p:nvSpPr>
        <p:spPr>
          <a:xfrm>
            <a:off x="292608" y="4201668"/>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ELEMENTOS CLAVE</a:t>
            </a:r>
            <a:endParaRPr lang="en-US" sz="800" dirty="0"/>
          </a:p>
        </p:txBody>
      </p:sp>
      <p:sp>
        <p:nvSpPr>
          <p:cNvPr id="18" name="Shape 14"/>
          <p:cNvSpPr/>
          <p:nvPr/>
        </p:nvSpPr>
        <p:spPr>
          <a:xfrm>
            <a:off x="292608" y="4439412"/>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19" name="Shape 15"/>
          <p:cNvSpPr/>
          <p:nvPr/>
        </p:nvSpPr>
        <p:spPr>
          <a:xfrm>
            <a:off x="292608" y="4439412"/>
            <a:ext cx="54864" cy="310896"/>
          </a:xfrm>
          <a:prstGeom prst="rect">
            <a:avLst/>
          </a:prstGeom>
          <a:solidFill>
            <a:srgbClr val="BF360C"/>
          </a:solidFill>
          <a:ln/>
        </p:spPr>
        <p:txBody>
          <a:bodyPr/>
          <a:lstStyle/>
          <a:p>
            <a:endParaRPr lang="en-US"/>
          </a:p>
        </p:txBody>
      </p:sp>
      <p:sp>
        <p:nvSpPr>
          <p:cNvPr id="20" name="Text 16"/>
          <p:cNvSpPr txBox="1"/>
          <p:nvPr/>
        </p:nvSpPr>
        <p:spPr>
          <a:xfrm>
            <a:off x="384048" y="4439412"/>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a:t>
            </a:r>
            <a:endParaRPr lang="en-US" sz="950" dirty="0"/>
          </a:p>
        </p:txBody>
      </p:sp>
      <p:sp>
        <p:nvSpPr>
          <p:cNvPr id="21" name="Shape 17"/>
          <p:cNvSpPr/>
          <p:nvPr/>
        </p:nvSpPr>
        <p:spPr>
          <a:xfrm>
            <a:off x="1600200" y="4439412"/>
            <a:ext cx="1225296" cy="310896"/>
          </a:xfrm>
          <a:prstGeom prst="rect">
            <a:avLst/>
          </a:prstGeom>
          <a:solidFill>
            <a:srgbClr val="0D47A1">
              <a:alpha val="80000"/>
            </a:srgbClr>
          </a:solidFill>
          <a:ln w="12700">
            <a:solidFill>
              <a:srgbClr val="0D47A1"/>
            </a:solidFill>
            <a:prstDash val="solid"/>
          </a:ln>
        </p:spPr>
        <p:txBody>
          <a:bodyPr/>
          <a:lstStyle/>
          <a:p>
            <a:endParaRPr lang="en-US"/>
          </a:p>
        </p:txBody>
      </p:sp>
      <p:sp>
        <p:nvSpPr>
          <p:cNvPr id="22" name="Shape 18"/>
          <p:cNvSpPr/>
          <p:nvPr/>
        </p:nvSpPr>
        <p:spPr>
          <a:xfrm>
            <a:off x="1600200" y="4439412"/>
            <a:ext cx="54864" cy="310896"/>
          </a:xfrm>
          <a:prstGeom prst="rect">
            <a:avLst/>
          </a:prstGeom>
          <a:solidFill>
            <a:srgbClr val="0D47A1"/>
          </a:solidFill>
          <a:ln/>
        </p:spPr>
        <p:txBody>
          <a:bodyPr/>
          <a:lstStyle/>
          <a:p>
            <a:endParaRPr lang="en-US"/>
          </a:p>
        </p:txBody>
      </p:sp>
      <p:sp>
        <p:nvSpPr>
          <p:cNvPr id="23" name="Text 19"/>
          <p:cNvSpPr txBox="1"/>
          <p:nvPr/>
        </p:nvSpPr>
        <p:spPr>
          <a:xfrm>
            <a:off x="1691640" y="4439412"/>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TEXTURA</a:t>
            </a:r>
            <a:endParaRPr lang="en-US" sz="950" dirty="0"/>
          </a:p>
        </p:txBody>
      </p:sp>
      <p:sp>
        <p:nvSpPr>
          <p:cNvPr id="24" name="Shape 20"/>
          <p:cNvSpPr/>
          <p:nvPr/>
        </p:nvSpPr>
        <p:spPr>
          <a:xfrm>
            <a:off x="2907792" y="4439412"/>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25" name="Shape 21"/>
          <p:cNvSpPr/>
          <p:nvPr/>
        </p:nvSpPr>
        <p:spPr>
          <a:xfrm>
            <a:off x="2907792" y="4439412"/>
            <a:ext cx="54864" cy="310896"/>
          </a:xfrm>
          <a:prstGeom prst="rect">
            <a:avLst/>
          </a:prstGeom>
          <a:solidFill>
            <a:srgbClr val="E65100"/>
          </a:solidFill>
          <a:ln/>
        </p:spPr>
        <p:txBody>
          <a:bodyPr/>
          <a:lstStyle/>
          <a:p>
            <a:endParaRPr lang="en-US"/>
          </a:p>
        </p:txBody>
      </p:sp>
      <p:sp>
        <p:nvSpPr>
          <p:cNvPr id="26" name="Text 22"/>
          <p:cNvSpPr txBox="1"/>
          <p:nvPr/>
        </p:nvSpPr>
        <p:spPr>
          <a:xfrm>
            <a:off x="2999232" y="4439412"/>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7" name="Shape 23"/>
          <p:cNvSpPr/>
          <p:nvPr/>
        </p:nvSpPr>
        <p:spPr>
          <a:xfrm>
            <a:off x="4617720" y="768096"/>
            <a:ext cx="310896" cy="310896"/>
          </a:xfrm>
          <a:prstGeom prst="rect">
            <a:avLst/>
          </a:prstGeom>
          <a:solidFill>
            <a:srgbClr val="BF360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FO</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Bob Esponja es literalmente una esponja cuadrada, la forma ES el concepto del personaje. Stephen Hillenburg hizo que la forma coincidiera con el nombre a propósito. Cada rectángulo de su diseño recuerda lo que es antes de que diga una palabra.</a:t>
            </a:r>
            <a:endParaRPr lang="en-US" sz="1000" dirty="0"/>
          </a:p>
        </p:txBody>
      </p:sp>
      <p:sp>
        <p:nvSpPr>
          <p:cNvPr id="32" name="Shape 28"/>
          <p:cNvSpPr/>
          <p:nvPr/>
        </p:nvSpPr>
        <p:spPr>
          <a:xfrm>
            <a:off x="4617720" y="2048256"/>
            <a:ext cx="310896" cy="310896"/>
          </a:xfrm>
          <a:prstGeom prst="rect">
            <a:avLst/>
          </a:prstGeom>
          <a:solidFill>
            <a:srgbClr val="0D47A1"/>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TX</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TEXTURA</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El patrón de poros que cubre su cuerpo le da a Bob Esponja una superficie que se lee al instante. Aquí la textura no es decoración, es información del personaje. Sabes de qué está hecho en el momento en que lo miras.</a:t>
            </a:r>
            <a:endParaRPr lang="en-US" sz="1000" dirty="0"/>
          </a:p>
        </p:txBody>
      </p:sp>
      <p:sp>
        <p:nvSpPr>
          <p:cNvPr id="37" name="Shape 33"/>
          <p:cNvSpPr/>
          <p:nvPr/>
        </p:nvSpPr>
        <p:spPr>
          <a:xfrm>
            <a:off x="4617720" y="3328416"/>
            <a:ext cx="310896" cy="310896"/>
          </a:xfrm>
          <a:prstGeom prst="rect">
            <a:avLst/>
          </a:prstGeom>
          <a:solidFill>
            <a:srgbClr val="E65100"/>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CO</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Ese amarillo saturado contra el azul del océano crea un contraste que hace visible a Bob Esponja en cualquier escena. El amarillo cálido se lee como alegre y con energía antes de que se mueva.</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56335E81-44F5-6A4B-CCCD-E5595AD2127C}"/>
              </a:ext>
            </a:extLst>
          </p:cNvPr>
          <p:cNvPicPr>
            <a:picLocks noChangeAspect="1"/>
          </p:cNvPicPr>
          <p:nvPr/>
        </p:nvPicPr>
        <p:blipFill>
          <a:blip r:embed="rId5"/>
          <a:stretch>
            <a:fillRect/>
          </a:stretch>
        </p:blipFill>
        <p:spPr>
          <a:xfrm>
            <a:off x="2464410" y="610216"/>
            <a:ext cx="1840924" cy="34119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ELEMENTOS DEL ARTE EN ESTE PERSONAJE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03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05" name="CharacterGlow9005"/>
          <p:cNvSpPr/>
          <p:nvPr/>
        </p:nvSpPr>
        <p:spPr>
          <a:xfrm>
            <a:off x="1209132" y="731520"/>
            <a:ext cx="3673764" cy="3447597"/>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03</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Pokemon  /  1996</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Pikachu</a:t>
            </a:r>
            <a:endParaRPr lang="en-US" sz="3400" dirty="0"/>
          </a:p>
        </p:txBody>
      </p:sp>
      <p:sp>
        <p:nvSpPr>
          <p:cNvPr id="13" name="Shape 9"/>
          <p:cNvSpPr/>
          <p:nvPr/>
        </p:nvSpPr>
        <p:spPr>
          <a:xfrm>
            <a:off x="292608" y="3392424"/>
            <a:ext cx="365760" cy="22860"/>
          </a:xfrm>
          <a:prstGeom prst="rect">
            <a:avLst/>
          </a:prstGeom>
          <a:solidFill>
            <a:srgbClr val="00B8B8"/>
          </a:solidFill>
          <a:ln/>
        </p:spPr>
        <p:txBody>
          <a:bodyPr/>
          <a:lstStyle/>
          <a:p>
            <a:endParaRPr lang="en-US"/>
          </a:p>
        </p:txBody>
      </p:sp>
      <p:sp>
        <p:nvSpPr>
          <p:cNvPr id="14" name="Shape 10"/>
          <p:cNvSpPr/>
          <p:nvPr/>
        </p:nvSpPr>
        <p:spPr>
          <a:xfrm>
            <a:off x="292608" y="3465576"/>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65576"/>
            <a:ext cx="45720" cy="640080"/>
          </a:xfrm>
          <a:prstGeom prst="rect">
            <a:avLst/>
          </a:prstGeom>
          <a:solidFill>
            <a:srgbClr val="00B8B8"/>
          </a:solidFill>
          <a:ln/>
        </p:spPr>
        <p:txBody>
          <a:bodyPr/>
          <a:lstStyle/>
          <a:p>
            <a:endParaRPr lang="en-US"/>
          </a:p>
        </p:txBody>
      </p:sp>
      <p:sp>
        <p:nvSpPr>
          <p:cNvPr id="16" name="Text 12"/>
          <p:cNvSpPr txBox="1"/>
          <p:nvPr/>
        </p:nvSpPr>
        <p:spPr>
          <a:xfrm>
            <a:off x="521208" y="3561588"/>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"Forma diseñada para el reconocimiento instantáneo"</a:t>
            </a:r>
            <a:endParaRPr lang="en-US" sz="1050" dirty="0"/>
          </a:p>
        </p:txBody>
      </p:sp>
      <p:sp>
        <p:nvSpPr>
          <p:cNvPr id="17" name="Text 13"/>
          <p:cNvSpPr txBox="1"/>
          <p:nvPr/>
        </p:nvSpPr>
        <p:spPr>
          <a:xfrm>
            <a:off x="292608" y="4215384"/>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ELEMENTOS CLAVE</a:t>
            </a:r>
            <a:endParaRPr lang="en-US" sz="800" dirty="0"/>
          </a:p>
        </p:txBody>
      </p:sp>
      <p:sp>
        <p:nvSpPr>
          <p:cNvPr id="18" name="Shape 14"/>
          <p:cNvSpPr/>
          <p:nvPr/>
        </p:nvSpPr>
        <p:spPr>
          <a:xfrm>
            <a:off x="292608" y="4453128"/>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19" name="Shape 15"/>
          <p:cNvSpPr/>
          <p:nvPr/>
        </p:nvSpPr>
        <p:spPr>
          <a:xfrm>
            <a:off x="292608" y="4453128"/>
            <a:ext cx="54864" cy="310896"/>
          </a:xfrm>
          <a:prstGeom prst="rect">
            <a:avLst/>
          </a:prstGeom>
          <a:solidFill>
            <a:srgbClr val="BF360C"/>
          </a:solidFill>
          <a:ln/>
        </p:spPr>
        <p:txBody>
          <a:bodyPr/>
          <a:lstStyle/>
          <a:p>
            <a:endParaRPr lang="en-US"/>
          </a:p>
        </p:txBody>
      </p:sp>
      <p:sp>
        <p:nvSpPr>
          <p:cNvPr id="20" name="Text 16"/>
          <p:cNvSpPr txBox="1"/>
          <p:nvPr/>
        </p:nvSpPr>
        <p:spPr>
          <a:xfrm>
            <a:off x="384048"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a:t>
            </a:r>
            <a:endParaRPr lang="en-US" sz="950" dirty="0"/>
          </a:p>
        </p:txBody>
      </p:sp>
      <p:sp>
        <p:nvSpPr>
          <p:cNvPr id="21" name="Shape 17"/>
          <p:cNvSpPr/>
          <p:nvPr/>
        </p:nvSpPr>
        <p:spPr>
          <a:xfrm>
            <a:off x="1600200" y="4453128"/>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22" name="Shape 18"/>
          <p:cNvSpPr/>
          <p:nvPr/>
        </p:nvSpPr>
        <p:spPr>
          <a:xfrm>
            <a:off x="1600200" y="4453128"/>
            <a:ext cx="54864" cy="310896"/>
          </a:xfrm>
          <a:prstGeom prst="rect">
            <a:avLst/>
          </a:prstGeom>
          <a:solidFill>
            <a:srgbClr val="E65100"/>
          </a:solidFill>
          <a:ln/>
        </p:spPr>
        <p:txBody>
          <a:bodyPr/>
          <a:lstStyle/>
          <a:p>
            <a:endParaRPr lang="en-US"/>
          </a:p>
        </p:txBody>
      </p:sp>
      <p:sp>
        <p:nvSpPr>
          <p:cNvPr id="23" name="Text 19"/>
          <p:cNvSpPr txBox="1"/>
          <p:nvPr/>
        </p:nvSpPr>
        <p:spPr>
          <a:xfrm>
            <a:off x="1691640"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4" name="Shape 20"/>
          <p:cNvSpPr/>
          <p:nvPr/>
        </p:nvSpPr>
        <p:spPr>
          <a:xfrm>
            <a:off x="2907792" y="4453128"/>
            <a:ext cx="1225296" cy="310896"/>
          </a:xfrm>
          <a:prstGeom prst="rect">
            <a:avLst/>
          </a:prstGeom>
          <a:solidFill>
            <a:srgbClr val="1B5E20">
              <a:alpha val="80000"/>
            </a:srgbClr>
          </a:solidFill>
          <a:ln w="12700">
            <a:solidFill>
              <a:srgbClr val="1B5E20"/>
            </a:solidFill>
            <a:prstDash val="solid"/>
          </a:ln>
        </p:spPr>
        <p:txBody>
          <a:bodyPr/>
          <a:lstStyle/>
          <a:p>
            <a:endParaRPr lang="en-US"/>
          </a:p>
        </p:txBody>
      </p:sp>
      <p:sp>
        <p:nvSpPr>
          <p:cNvPr id="25" name="Shape 21"/>
          <p:cNvSpPr/>
          <p:nvPr/>
        </p:nvSpPr>
        <p:spPr>
          <a:xfrm>
            <a:off x="2907792" y="4453128"/>
            <a:ext cx="54864" cy="310896"/>
          </a:xfrm>
          <a:prstGeom prst="rect">
            <a:avLst/>
          </a:prstGeom>
          <a:solidFill>
            <a:srgbClr val="1B5E20"/>
          </a:solidFill>
          <a:ln/>
        </p:spPr>
        <p:txBody>
          <a:bodyPr/>
          <a:lstStyle/>
          <a:p>
            <a:endParaRPr lang="en-US"/>
          </a:p>
        </p:txBody>
      </p:sp>
      <p:sp>
        <p:nvSpPr>
          <p:cNvPr id="26" name="Text 22"/>
          <p:cNvSpPr txBox="1"/>
          <p:nvPr/>
        </p:nvSpPr>
        <p:spPr>
          <a:xfrm>
            <a:off x="2999232"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VALOR</a:t>
            </a:r>
            <a:endParaRPr lang="en-US" sz="950" dirty="0"/>
          </a:p>
        </p:txBody>
      </p:sp>
      <p:sp>
        <p:nvSpPr>
          <p:cNvPr id="27" name="Shape 23"/>
          <p:cNvSpPr/>
          <p:nvPr/>
        </p:nvSpPr>
        <p:spPr>
          <a:xfrm>
            <a:off x="4617720" y="768096"/>
            <a:ext cx="310896" cy="310896"/>
          </a:xfrm>
          <a:prstGeom prst="rect">
            <a:avLst/>
          </a:prstGeom>
          <a:solidFill>
            <a:srgbClr val="BF360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FO</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La silueta de Pikachu está construida con formas redondeadas simples, cuerpo ovalado, orejas puntiagudas con puntas oscuras, cola de rayo. Tapa el color y aún sabes exactamente quién es solo por el contorno. Eso es diseño profesional de silueta.</a:t>
            </a:r>
            <a:endParaRPr lang="en-US" sz="1000" dirty="0"/>
          </a:p>
        </p:txBody>
      </p:sp>
      <p:sp>
        <p:nvSpPr>
          <p:cNvPr id="32" name="Shape 28"/>
          <p:cNvSpPr/>
          <p:nvPr/>
        </p:nvSpPr>
        <p:spPr>
          <a:xfrm>
            <a:off x="4617720" y="2048256"/>
            <a:ext cx="310896" cy="310896"/>
          </a:xfrm>
          <a:prstGeom prst="rect">
            <a:avLst/>
          </a:prstGeom>
          <a:solidFill>
            <a:srgbClr val="E65100"/>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CO</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El amarillo eléctrico es la decisión central del diseño, se lee como energía y velocidad antes de saber nada del personaje. Los círculos rojos de las mejillas rompen el amarillo con un acento cálido que guía la mirada.</a:t>
            </a:r>
            <a:endParaRPr lang="en-US" sz="1000" dirty="0"/>
          </a:p>
        </p:txBody>
      </p:sp>
      <p:sp>
        <p:nvSpPr>
          <p:cNvPr id="37" name="Shape 33"/>
          <p:cNvSpPr/>
          <p:nvPr/>
        </p:nvSpPr>
        <p:spPr>
          <a:xfrm>
            <a:off x="4617720" y="3328416"/>
            <a:ext cx="310896" cy="310896"/>
          </a:xfrm>
          <a:prstGeom prst="rect">
            <a:avLst/>
          </a:prstGeom>
          <a:solidFill>
            <a:srgbClr val="1B5E20"/>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VL</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VALOR</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Pikachu usa cambios sutiles de valor en las puntas de las orejas y en las mejillas para crear la profundidad justa en un diseño plano. Esos tonos oscuros evitan que el personaje parezca una calcomanía recortada.</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B0409305-1F3E-A6E4-A459-3F11401D83E7}"/>
              </a:ext>
            </a:extLst>
          </p:cNvPr>
          <p:cNvPicPr>
            <a:picLocks noChangeAspect="1"/>
          </p:cNvPicPr>
          <p:nvPr/>
        </p:nvPicPr>
        <p:blipFill>
          <a:blip r:embed="rId5"/>
          <a:stretch>
            <a:fillRect/>
          </a:stretch>
        </p:blipFill>
        <p:spPr>
          <a:xfrm>
            <a:off x="1720340" y="638812"/>
            <a:ext cx="3007108" cy="30259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ELEMENTOS DEL ARTE EN ESTE PERSONAJE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04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06" name="CharacterGlow9006"/>
          <p:cNvSpPr/>
          <p:nvPr/>
        </p:nvSpPr>
        <p:spPr>
          <a:xfrm>
            <a:off x="2516645" y="731520"/>
            <a:ext cx="2102686" cy="4150680"/>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04</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DC / Warner Bros.  /  1992</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Batman (BTAS)</a:t>
            </a:r>
            <a:endParaRPr lang="en-US" sz="3400" dirty="0"/>
          </a:p>
        </p:txBody>
      </p:sp>
      <p:sp>
        <p:nvSpPr>
          <p:cNvPr id="13" name="Shape 9"/>
          <p:cNvSpPr/>
          <p:nvPr/>
        </p:nvSpPr>
        <p:spPr>
          <a:xfrm>
            <a:off x="292608" y="3391225"/>
            <a:ext cx="365760" cy="22860"/>
          </a:xfrm>
          <a:prstGeom prst="rect">
            <a:avLst/>
          </a:prstGeom>
          <a:solidFill>
            <a:srgbClr val="00B8B8"/>
          </a:solidFill>
          <a:ln/>
        </p:spPr>
        <p:txBody>
          <a:bodyPr/>
          <a:lstStyle/>
          <a:p>
            <a:endParaRPr lang="en-US"/>
          </a:p>
        </p:txBody>
      </p:sp>
      <p:sp>
        <p:nvSpPr>
          <p:cNvPr id="14" name="Shape 10"/>
          <p:cNvSpPr/>
          <p:nvPr/>
        </p:nvSpPr>
        <p:spPr>
          <a:xfrm>
            <a:off x="292608" y="3464377"/>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64377"/>
            <a:ext cx="45720" cy="640080"/>
          </a:xfrm>
          <a:prstGeom prst="rect">
            <a:avLst/>
          </a:prstGeom>
          <a:solidFill>
            <a:srgbClr val="00B8B8"/>
          </a:solidFill>
          <a:ln/>
        </p:spPr>
        <p:txBody>
          <a:bodyPr/>
          <a:lstStyle/>
          <a:p>
            <a:endParaRPr lang="en-US"/>
          </a:p>
        </p:txBody>
      </p:sp>
      <p:sp>
        <p:nvSpPr>
          <p:cNvPr id="16" name="Text 12"/>
          <p:cNvSpPr txBox="1"/>
          <p:nvPr/>
        </p:nvSpPr>
        <p:spPr>
          <a:xfrm>
            <a:off x="521208" y="3560389"/>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"El valor haciendo todo el trabajo pesado"</a:t>
            </a:r>
            <a:endParaRPr lang="en-US" sz="1050" dirty="0"/>
          </a:p>
        </p:txBody>
      </p:sp>
      <p:sp>
        <p:nvSpPr>
          <p:cNvPr id="17" name="Text 13"/>
          <p:cNvSpPr txBox="1"/>
          <p:nvPr/>
        </p:nvSpPr>
        <p:spPr>
          <a:xfrm>
            <a:off x="292608" y="4214185"/>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ELEMENTOS CLAVE</a:t>
            </a:r>
            <a:endParaRPr lang="en-US" sz="800" dirty="0"/>
          </a:p>
        </p:txBody>
      </p:sp>
      <p:sp>
        <p:nvSpPr>
          <p:cNvPr id="18" name="Shape 14"/>
          <p:cNvSpPr/>
          <p:nvPr/>
        </p:nvSpPr>
        <p:spPr>
          <a:xfrm>
            <a:off x="292608" y="4451929"/>
            <a:ext cx="1225296" cy="310896"/>
          </a:xfrm>
          <a:prstGeom prst="rect">
            <a:avLst/>
          </a:prstGeom>
          <a:solidFill>
            <a:srgbClr val="1B5E20">
              <a:alpha val="80000"/>
            </a:srgbClr>
          </a:solidFill>
          <a:ln w="12700">
            <a:solidFill>
              <a:srgbClr val="1B5E20"/>
            </a:solidFill>
            <a:prstDash val="solid"/>
          </a:ln>
        </p:spPr>
        <p:txBody>
          <a:bodyPr/>
          <a:lstStyle/>
          <a:p>
            <a:endParaRPr lang="en-US"/>
          </a:p>
        </p:txBody>
      </p:sp>
      <p:sp>
        <p:nvSpPr>
          <p:cNvPr id="19" name="Shape 15"/>
          <p:cNvSpPr/>
          <p:nvPr/>
        </p:nvSpPr>
        <p:spPr>
          <a:xfrm>
            <a:off x="292608" y="4451929"/>
            <a:ext cx="54864" cy="310896"/>
          </a:xfrm>
          <a:prstGeom prst="rect">
            <a:avLst/>
          </a:prstGeom>
          <a:solidFill>
            <a:srgbClr val="1B5E20"/>
          </a:solidFill>
          <a:ln/>
        </p:spPr>
        <p:txBody>
          <a:bodyPr/>
          <a:lstStyle/>
          <a:p>
            <a:endParaRPr lang="en-US"/>
          </a:p>
        </p:txBody>
      </p:sp>
      <p:sp>
        <p:nvSpPr>
          <p:cNvPr id="20" name="Text 16"/>
          <p:cNvSpPr txBox="1"/>
          <p:nvPr/>
        </p:nvSpPr>
        <p:spPr>
          <a:xfrm>
            <a:off x="384048" y="4451929"/>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VALOR</a:t>
            </a:r>
            <a:endParaRPr lang="en-US" sz="950" dirty="0"/>
          </a:p>
        </p:txBody>
      </p:sp>
      <p:sp>
        <p:nvSpPr>
          <p:cNvPr id="21" name="Shape 17"/>
          <p:cNvSpPr/>
          <p:nvPr/>
        </p:nvSpPr>
        <p:spPr>
          <a:xfrm>
            <a:off x="1600200" y="4451929"/>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22" name="Shape 18"/>
          <p:cNvSpPr/>
          <p:nvPr/>
        </p:nvSpPr>
        <p:spPr>
          <a:xfrm>
            <a:off x="1600200" y="4451929"/>
            <a:ext cx="54864" cy="310896"/>
          </a:xfrm>
          <a:prstGeom prst="rect">
            <a:avLst/>
          </a:prstGeom>
          <a:solidFill>
            <a:srgbClr val="BF360C"/>
          </a:solidFill>
          <a:ln/>
        </p:spPr>
        <p:txBody>
          <a:bodyPr/>
          <a:lstStyle/>
          <a:p>
            <a:endParaRPr lang="en-US"/>
          </a:p>
        </p:txBody>
      </p:sp>
      <p:sp>
        <p:nvSpPr>
          <p:cNvPr id="23" name="Text 19"/>
          <p:cNvSpPr txBox="1"/>
          <p:nvPr/>
        </p:nvSpPr>
        <p:spPr>
          <a:xfrm>
            <a:off x="1691640" y="4451929"/>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a:t>
            </a:r>
            <a:endParaRPr lang="en-US" sz="950" dirty="0"/>
          </a:p>
        </p:txBody>
      </p:sp>
      <p:sp>
        <p:nvSpPr>
          <p:cNvPr id="24" name="Shape 20"/>
          <p:cNvSpPr/>
          <p:nvPr/>
        </p:nvSpPr>
        <p:spPr>
          <a:xfrm>
            <a:off x="2907792" y="4451929"/>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25" name="Shape 21"/>
          <p:cNvSpPr/>
          <p:nvPr/>
        </p:nvSpPr>
        <p:spPr>
          <a:xfrm>
            <a:off x="2907792" y="4451929"/>
            <a:ext cx="54864" cy="310896"/>
          </a:xfrm>
          <a:prstGeom prst="rect">
            <a:avLst/>
          </a:prstGeom>
          <a:solidFill>
            <a:srgbClr val="B71C1C"/>
          </a:solidFill>
          <a:ln/>
        </p:spPr>
        <p:txBody>
          <a:bodyPr/>
          <a:lstStyle/>
          <a:p>
            <a:endParaRPr lang="en-US"/>
          </a:p>
        </p:txBody>
      </p:sp>
      <p:sp>
        <p:nvSpPr>
          <p:cNvPr id="26" name="Text 22"/>
          <p:cNvSpPr txBox="1"/>
          <p:nvPr/>
        </p:nvSpPr>
        <p:spPr>
          <a:xfrm>
            <a:off x="2999232" y="4451929"/>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LÍNEA</a:t>
            </a:r>
            <a:endParaRPr lang="en-US" sz="950" dirty="0"/>
          </a:p>
        </p:txBody>
      </p:sp>
      <p:sp>
        <p:nvSpPr>
          <p:cNvPr id="27" name="Shape 23"/>
          <p:cNvSpPr/>
          <p:nvPr/>
        </p:nvSpPr>
        <p:spPr>
          <a:xfrm>
            <a:off x="4617720" y="768096"/>
            <a:ext cx="310896" cy="310896"/>
          </a:xfrm>
          <a:prstGeom prst="rect">
            <a:avLst/>
          </a:prstGeom>
          <a:solidFill>
            <a:srgbClr val="1B5E20"/>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VL</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VALOR</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Batman: La Serie Animada se pintó a propósito sobre papel NEGRO, algo nuevo en la industria. Toda la serie vive en valores oscuros y usa la luz con cuidado para definir el volumen. El valor crea ánimo, amenaza, y atmósfera sin ruido visual extra.</a:t>
            </a:r>
            <a:endParaRPr lang="en-US" sz="1000" dirty="0"/>
          </a:p>
        </p:txBody>
      </p:sp>
      <p:sp>
        <p:nvSpPr>
          <p:cNvPr id="32" name="Shape 28"/>
          <p:cNvSpPr/>
          <p:nvPr/>
        </p:nvSpPr>
        <p:spPr>
          <a:xfrm>
            <a:off x="4617720" y="2048256"/>
            <a:ext cx="310896" cy="310896"/>
          </a:xfrm>
          <a:prstGeom prst="rect">
            <a:avLst/>
          </a:prstGeom>
          <a:solidFill>
            <a:srgbClr val="BF360C"/>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FO</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La silueta de Batman está diseñada para intimidar, la capa se abre en una forma angular de sombra, y las orejas empujan la figura hacia arriba y en punta. Cada decisión de forma se lee como peligrosa y precisa.</a:t>
            </a:r>
            <a:endParaRPr lang="en-US" sz="1000" dirty="0"/>
          </a:p>
        </p:txBody>
      </p:sp>
      <p:sp>
        <p:nvSpPr>
          <p:cNvPr id="37" name="Shape 33"/>
          <p:cNvSpPr/>
          <p:nvPr/>
        </p:nvSpPr>
        <p:spPr>
          <a:xfrm>
            <a:off x="4617720" y="3328416"/>
            <a:ext cx="310896" cy="310896"/>
          </a:xfrm>
          <a:prstGeom prst="rect">
            <a:avLst/>
          </a:prstGeom>
          <a:solidFill>
            <a:srgbClr val="B71C1C"/>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LÍNEA</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La arquitectura Art Déco del fondo usa líneas verticales y diagonales fuertes y rígidas que refuerzan la sensación opresiva de la ciudad. La dirección de la línea cuenta la historia. Las horizontales indican calma, las diagonales filosas indican amenaza.</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9434A9E7-C36A-427D-FCA4-BFCAD2840390}"/>
              </a:ext>
            </a:extLst>
          </p:cNvPr>
          <p:cNvPicPr>
            <a:picLocks noChangeAspect="1"/>
          </p:cNvPicPr>
          <p:nvPr/>
        </p:nvPicPr>
        <p:blipFill>
          <a:blip r:embed="rId5"/>
          <a:stretch>
            <a:fillRect/>
          </a:stretch>
        </p:blipFill>
        <p:spPr>
          <a:xfrm>
            <a:off x="2783404" y="502470"/>
            <a:ext cx="1569169" cy="37433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ELEMENTOS DEL ARTE EN ESTE PERSONAJE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05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07" name="CharacterGlow9007"/>
          <p:cNvSpPr/>
          <p:nvPr/>
        </p:nvSpPr>
        <p:spPr>
          <a:xfrm>
            <a:off x="2241652" y="731520"/>
            <a:ext cx="2511857" cy="3926134"/>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05</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Looney Tunes  /  1940</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Bugs Bunny</a:t>
            </a:r>
            <a:endParaRPr lang="en-US" sz="3400" dirty="0"/>
          </a:p>
        </p:txBody>
      </p:sp>
      <p:sp>
        <p:nvSpPr>
          <p:cNvPr id="13" name="Shape 9"/>
          <p:cNvSpPr/>
          <p:nvPr/>
        </p:nvSpPr>
        <p:spPr>
          <a:xfrm>
            <a:off x="292608" y="3364992"/>
            <a:ext cx="365760" cy="22860"/>
          </a:xfrm>
          <a:prstGeom prst="rect">
            <a:avLst/>
          </a:prstGeom>
          <a:solidFill>
            <a:srgbClr val="00B8B8"/>
          </a:solidFill>
          <a:ln/>
        </p:spPr>
        <p:txBody>
          <a:bodyPr/>
          <a:lstStyle/>
          <a:p>
            <a:endParaRPr lang="en-US"/>
          </a:p>
        </p:txBody>
      </p:sp>
      <p:sp>
        <p:nvSpPr>
          <p:cNvPr id="14" name="Shape 10"/>
          <p:cNvSpPr/>
          <p:nvPr/>
        </p:nvSpPr>
        <p:spPr>
          <a:xfrm>
            <a:off x="292608" y="3438144"/>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38144"/>
            <a:ext cx="45720" cy="640080"/>
          </a:xfrm>
          <a:prstGeom prst="rect">
            <a:avLst/>
          </a:prstGeom>
          <a:solidFill>
            <a:srgbClr val="00B8B8"/>
          </a:solidFill>
          <a:ln/>
        </p:spPr>
        <p:txBody>
          <a:bodyPr/>
          <a:lstStyle/>
          <a:p>
            <a:endParaRPr lang="en-US"/>
          </a:p>
        </p:txBody>
      </p:sp>
      <p:sp>
        <p:nvSpPr>
          <p:cNvPr id="16" name="Text 12"/>
          <p:cNvSpPr txBox="1"/>
          <p:nvPr/>
        </p:nvSpPr>
        <p:spPr>
          <a:xfrm>
            <a:off x="521208" y="3534156"/>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"La línea fluida como energía"</a:t>
            </a:r>
            <a:endParaRPr lang="en-US" sz="1050" dirty="0"/>
          </a:p>
        </p:txBody>
      </p:sp>
      <p:sp>
        <p:nvSpPr>
          <p:cNvPr id="17" name="Text 13"/>
          <p:cNvSpPr txBox="1"/>
          <p:nvPr/>
        </p:nvSpPr>
        <p:spPr>
          <a:xfrm>
            <a:off x="292608" y="4187952"/>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ELEMENTOS CLAVE</a:t>
            </a:r>
            <a:endParaRPr lang="en-US" sz="800" dirty="0"/>
          </a:p>
        </p:txBody>
      </p:sp>
      <p:sp>
        <p:nvSpPr>
          <p:cNvPr id="18" name="Shape 14"/>
          <p:cNvSpPr/>
          <p:nvPr/>
        </p:nvSpPr>
        <p:spPr>
          <a:xfrm>
            <a:off x="292608" y="4425696"/>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19" name="Shape 15"/>
          <p:cNvSpPr/>
          <p:nvPr/>
        </p:nvSpPr>
        <p:spPr>
          <a:xfrm>
            <a:off x="292608" y="4425696"/>
            <a:ext cx="54864" cy="310896"/>
          </a:xfrm>
          <a:prstGeom prst="rect">
            <a:avLst/>
          </a:prstGeom>
          <a:solidFill>
            <a:srgbClr val="B71C1C"/>
          </a:solidFill>
          <a:ln/>
        </p:spPr>
        <p:txBody>
          <a:bodyPr/>
          <a:lstStyle/>
          <a:p>
            <a:endParaRPr lang="en-US"/>
          </a:p>
        </p:txBody>
      </p:sp>
      <p:sp>
        <p:nvSpPr>
          <p:cNvPr id="20" name="Text 16"/>
          <p:cNvSpPr txBox="1"/>
          <p:nvPr/>
        </p:nvSpPr>
        <p:spPr>
          <a:xfrm>
            <a:off x="384048" y="4425696"/>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LÍNEA</a:t>
            </a:r>
            <a:endParaRPr lang="en-US" sz="950" dirty="0"/>
          </a:p>
        </p:txBody>
      </p:sp>
      <p:sp>
        <p:nvSpPr>
          <p:cNvPr id="21" name="Shape 17"/>
          <p:cNvSpPr/>
          <p:nvPr/>
        </p:nvSpPr>
        <p:spPr>
          <a:xfrm>
            <a:off x="1600200" y="4425696"/>
            <a:ext cx="1225296" cy="310896"/>
          </a:xfrm>
          <a:prstGeom prst="rect">
            <a:avLst/>
          </a:prstGeom>
          <a:solidFill>
            <a:srgbClr val="6A1B9A">
              <a:alpha val="80000"/>
            </a:srgbClr>
          </a:solidFill>
          <a:ln w="12700">
            <a:solidFill>
              <a:srgbClr val="6A1B9A"/>
            </a:solidFill>
            <a:prstDash val="solid"/>
          </a:ln>
        </p:spPr>
        <p:txBody>
          <a:bodyPr/>
          <a:lstStyle/>
          <a:p>
            <a:endParaRPr lang="en-US"/>
          </a:p>
        </p:txBody>
      </p:sp>
      <p:sp>
        <p:nvSpPr>
          <p:cNvPr id="22" name="Shape 18"/>
          <p:cNvSpPr/>
          <p:nvPr/>
        </p:nvSpPr>
        <p:spPr>
          <a:xfrm>
            <a:off x="1600200" y="4425696"/>
            <a:ext cx="54864" cy="310896"/>
          </a:xfrm>
          <a:prstGeom prst="rect">
            <a:avLst/>
          </a:prstGeom>
          <a:solidFill>
            <a:srgbClr val="6A1B9A"/>
          </a:solidFill>
          <a:ln/>
        </p:spPr>
        <p:txBody>
          <a:bodyPr/>
          <a:lstStyle/>
          <a:p>
            <a:endParaRPr lang="en-US"/>
          </a:p>
        </p:txBody>
      </p:sp>
      <p:sp>
        <p:nvSpPr>
          <p:cNvPr id="23" name="Text 19"/>
          <p:cNvSpPr txBox="1"/>
          <p:nvPr/>
        </p:nvSpPr>
        <p:spPr>
          <a:xfrm>
            <a:off x="1691640" y="4425696"/>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VOLUMEN</a:t>
            </a:r>
            <a:endParaRPr lang="en-US" sz="950" dirty="0"/>
          </a:p>
        </p:txBody>
      </p:sp>
      <p:sp>
        <p:nvSpPr>
          <p:cNvPr id="24" name="Shape 20"/>
          <p:cNvSpPr/>
          <p:nvPr/>
        </p:nvSpPr>
        <p:spPr>
          <a:xfrm>
            <a:off x="2907792" y="4425696"/>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25" name="Shape 21"/>
          <p:cNvSpPr/>
          <p:nvPr/>
        </p:nvSpPr>
        <p:spPr>
          <a:xfrm>
            <a:off x="2907792" y="4425696"/>
            <a:ext cx="54864" cy="310896"/>
          </a:xfrm>
          <a:prstGeom prst="rect">
            <a:avLst/>
          </a:prstGeom>
          <a:solidFill>
            <a:srgbClr val="BF360C"/>
          </a:solidFill>
          <a:ln/>
        </p:spPr>
        <p:txBody>
          <a:bodyPr/>
          <a:lstStyle/>
          <a:p>
            <a:endParaRPr lang="en-US"/>
          </a:p>
        </p:txBody>
      </p:sp>
      <p:sp>
        <p:nvSpPr>
          <p:cNvPr id="26" name="Text 22"/>
          <p:cNvSpPr txBox="1"/>
          <p:nvPr/>
        </p:nvSpPr>
        <p:spPr>
          <a:xfrm>
            <a:off x="2999232" y="4425696"/>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a:t>
            </a:r>
            <a:endParaRPr lang="en-US" sz="950" dirty="0"/>
          </a:p>
        </p:txBody>
      </p:sp>
      <p:sp>
        <p:nvSpPr>
          <p:cNvPr id="27" name="Shape 23"/>
          <p:cNvSpPr/>
          <p:nvPr/>
        </p:nvSpPr>
        <p:spPr>
          <a:xfrm>
            <a:off x="4617720" y="768096"/>
            <a:ext cx="310896" cy="310896"/>
          </a:xfrm>
          <a:prstGeom prst="rect">
            <a:avLst/>
          </a:prstGeom>
          <a:solidFill>
            <a:srgbClr val="B71C1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LÍNEA</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Bugs está dibujado con líneas curvas y elásticas que sugieren movimiento constante e inteligencia. Nada en su diseño es tieso o rígido, incluso en reposo esas líneas sugieren que podría saltar en cualquier momento.</a:t>
            </a:r>
            <a:endParaRPr lang="en-US" sz="1000" dirty="0"/>
          </a:p>
        </p:txBody>
      </p:sp>
      <p:sp>
        <p:nvSpPr>
          <p:cNvPr id="32" name="Shape 28"/>
          <p:cNvSpPr/>
          <p:nvPr/>
        </p:nvSpPr>
        <p:spPr>
          <a:xfrm>
            <a:off x="4617720" y="2048256"/>
            <a:ext cx="310896" cy="310896"/>
          </a:xfrm>
          <a:prstGeom prst="rect">
            <a:avLst/>
          </a:prstGeom>
          <a:solidFill>
            <a:srgbClr val="6A1B9A"/>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VO</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VOLUMEN</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Chuck Jones y su equipo le dieron a Bugs volumen y peso con formas que se traslapan, el pecho ancho, la panza redonda, y las patas gruesas se sienten tridimensionales incluso en 2D. El volumen lo hace sentir físico y presente en la escena.</a:t>
            </a:r>
            <a:endParaRPr lang="en-US" sz="1000" dirty="0"/>
          </a:p>
        </p:txBody>
      </p:sp>
      <p:sp>
        <p:nvSpPr>
          <p:cNvPr id="37" name="Shape 33"/>
          <p:cNvSpPr/>
          <p:nvPr/>
        </p:nvSpPr>
        <p:spPr>
          <a:xfrm>
            <a:off x="4617720" y="3328416"/>
            <a:ext cx="310896" cy="310896"/>
          </a:xfrm>
          <a:prstGeom prst="rect">
            <a:avLst/>
          </a:prstGeom>
          <a:solidFill>
            <a:srgbClr val="BF360C"/>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FO</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Las orejas largas son la firma de forma de Bugs, cambian entre relajadas, alertas, y expresivas según su ánimo. Los diseñadores usan los rasgos del personaje como vocabulario visual de la emoción.</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0F0ACF3F-B865-3C0E-70DF-106500DF5A8D}"/>
              </a:ext>
            </a:extLst>
          </p:cNvPr>
          <p:cNvPicPr>
            <a:picLocks noChangeAspect="1"/>
          </p:cNvPicPr>
          <p:nvPr/>
        </p:nvPicPr>
        <p:blipFill>
          <a:blip r:embed="rId5"/>
          <a:stretch>
            <a:fillRect/>
          </a:stretch>
        </p:blipFill>
        <p:spPr>
          <a:xfrm>
            <a:off x="2560320" y="499735"/>
            <a:ext cx="1874520" cy="35537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ELEMENTOS DEL ARTE EN ESTE PERSONAJE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06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08" name="CharacterGlow9008"/>
          <p:cNvSpPr/>
          <p:nvPr/>
        </p:nvSpPr>
        <p:spPr>
          <a:xfrm>
            <a:off x="2630800" y="731520"/>
            <a:ext cx="2155182" cy="4032050"/>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06</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Los Simpson  /  1989</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2800" b="1" dirty="0">
                <a:solidFill>
                  <a:srgbClr val="FFFFFF"/>
                </a:solidFill>
                <a:latin typeface="Oswald" pitchFamily="34" charset="0"/>
                <a:ea typeface="Oswald" pitchFamily="34" charset="-122"/>
                <a:cs typeface="Oswald" pitchFamily="34" charset="-120"/>
              </a:rPr>
              <a:t>Homero Simpson</a:t>
            </a:r>
            <a:endParaRPr lang="en-US" sz="3400" dirty="0"/>
          </a:p>
        </p:txBody>
      </p:sp>
      <p:sp>
        <p:nvSpPr>
          <p:cNvPr id="13" name="Shape 9"/>
          <p:cNvSpPr/>
          <p:nvPr/>
        </p:nvSpPr>
        <p:spPr>
          <a:xfrm>
            <a:off x="292608" y="3389381"/>
            <a:ext cx="365760" cy="22860"/>
          </a:xfrm>
          <a:prstGeom prst="rect">
            <a:avLst/>
          </a:prstGeom>
          <a:solidFill>
            <a:srgbClr val="00B8B8"/>
          </a:solidFill>
          <a:ln/>
        </p:spPr>
        <p:txBody>
          <a:bodyPr/>
          <a:lstStyle/>
          <a:p>
            <a:endParaRPr lang="en-US"/>
          </a:p>
        </p:txBody>
      </p:sp>
      <p:sp>
        <p:nvSpPr>
          <p:cNvPr id="14" name="Shape 10"/>
          <p:cNvSpPr/>
          <p:nvPr/>
        </p:nvSpPr>
        <p:spPr>
          <a:xfrm>
            <a:off x="292608" y="3462533"/>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62533"/>
            <a:ext cx="45720" cy="640080"/>
          </a:xfrm>
          <a:prstGeom prst="rect">
            <a:avLst/>
          </a:prstGeom>
          <a:solidFill>
            <a:srgbClr val="00B8B8"/>
          </a:solidFill>
          <a:ln/>
        </p:spPr>
        <p:txBody>
          <a:bodyPr/>
          <a:lstStyle/>
          <a:p>
            <a:endParaRPr lang="en-US"/>
          </a:p>
        </p:txBody>
      </p:sp>
      <p:sp>
        <p:nvSpPr>
          <p:cNvPr id="16" name="Text 12"/>
          <p:cNvSpPr txBox="1"/>
          <p:nvPr/>
        </p:nvSpPr>
        <p:spPr>
          <a:xfrm>
            <a:off x="521208" y="3558545"/>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"Lenguaje de formas para reír"</a:t>
            </a:r>
            <a:endParaRPr lang="en-US" sz="1050" dirty="0"/>
          </a:p>
        </p:txBody>
      </p:sp>
      <p:sp>
        <p:nvSpPr>
          <p:cNvPr id="17" name="Text 13"/>
          <p:cNvSpPr txBox="1"/>
          <p:nvPr/>
        </p:nvSpPr>
        <p:spPr>
          <a:xfrm>
            <a:off x="292608" y="4212341"/>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ELEMENTOS CLAVE</a:t>
            </a:r>
            <a:endParaRPr lang="en-US" sz="800" dirty="0"/>
          </a:p>
        </p:txBody>
      </p:sp>
      <p:sp>
        <p:nvSpPr>
          <p:cNvPr id="18" name="Shape 14"/>
          <p:cNvSpPr/>
          <p:nvPr/>
        </p:nvSpPr>
        <p:spPr>
          <a:xfrm>
            <a:off x="292608" y="4450085"/>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19" name="Shape 15"/>
          <p:cNvSpPr/>
          <p:nvPr/>
        </p:nvSpPr>
        <p:spPr>
          <a:xfrm>
            <a:off x="292608" y="4450085"/>
            <a:ext cx="54864" cy="310896"/>
          </a:xfrm>
          <a:prstGeom prst="rect">
            <a:avLst/>
          </a:prstGeom>
          <a:solidFill>
            <a:srgbClr val="BF360C"/>
          </a:solidFill>
          <a:ln/>
        </p:spPr>
        <p:txBody>
          <a:bodyPr/>
          <a:lstStyle/>
          <a:p>
            <a:endParaRPr lang="en-US"/>
          </a:p>
        </p:txBody>
      </p:sp>
      <p:sp>
        <p:nvSpPr>
          <p:cNvPr id="20" name="Text 16"/>
          <p:cNvSpPr txBox="1"/>
          <p:nvPr/>
        </p:nvSpPr>
        <p:spPr>
          <a:xfrm>
            <a:off x="384048" y="4450085"/>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a:t>
            </a:r>
            <a:endParaRPr lang="en-US" sz="950" dirty="0"/>
          </a:p>
        </p:txBody>
      </p:sp>
      <p:sp>
        <p:nvSpPr>
          <p:cNvPr id="21" name="Shape 17"/>
          <p:cNvSpPr/>
          <p:nvPr/>
        </p:nvSpPr>
        <p:spPr>
          <a:xfrm>
            <a:off x="1600200" y="4450085"/>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22" name="Shape 18"/>
          <p:cNvSpPr/>
          <p:nvPr/>
        </p:nvSpPr>
        <p:spPr>
          <a:xfrm>
            <a:off x="1600200" y="4450085"/>
            <a:ext cx="54864" cy="310896"/>
          </a:xfrm>
          <a:prstGeom prst="rect">
            <a:avLst/>
          </a:prstGeom>
          <a:solidFill>
            <a:srgbClr val="E65100"/>
          </a:solidFill>
          <a:ln/>
        </p:spPr>
        <p:txBody>
          <a:bodyPr/>
          <a:lstStyle/>
          <a:p>
            <a:endParaRPr lang="en-US"/>
          </a:p>
        </p:txBody>
      </p:sp>
      <p:sp>
        <p:nvSpPr>
          <p:cNvPr id="23" name="Text 19"/>
          <p:cNvSpPr txBox="1"/>
          <p:nvPr/>
        </p:nvSpPr>
        <p:spPr>
          <a:xfrm>
            <a:off x="1691640" y="4450085"/>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4" name="Shape 20"/>
          <p:cNvSpPr/>
          <p:nvPr/>
        </p:nvSpPr>
        <p:spPr>
          <a:xfrm>
            <a:off x="2907792" y="4450085"/>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25" name="Shape 21"/>
          <p:cNvSpPr/>
          <p:nvPr/>
        </p:nvSpPr>
        <p:spPr>
          <a:xfrm>
            <a:off x="2907792" y="4450085"/>
            <a:ext cx="54864" cy="310896"/>
          </a:xfrm>
          <a:prstGeom prst="rect">
            <a:avLst/>
          </a:prstGeom>
          <a:solidFill>
            <a:srgbClr val="B71C1C"/>
          </a:solidFill>
          <a:ln/>
        </p:spPr>
        <p:txBody>
          <a:bodyPr/>
          <a:lstStyle/>
          <a:p>
            <a:endParaRPr lang="en-US"/>
          </a:p>
        </p:txBody>
      </p:sp>
      <p:sp>
        <p:nvSpPr>
          <p:cNvPr id="26" name="Text 22"/>
          <p:cNvSpPr txBox="1"/>
          <p:nvPr/>
        </p:nvSpPr>
        <p:spPr>
          <a:xfrm>
            <a:off x="2999232" y="4450085"/>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LÍNEA</a:t>
            </a:r>
            <a:endParaRPr lang="en-US" sz="950" dirty="0"/>
          </a:p>
        </p:txBody>
      </p:sp>
      <p:sp>
        <p:nvSpPr>
          <p:cNvPr id="27" name="Shape 23"/>
          <p:cNvSpPr/>
          <p:nvPr/>
        </p:nvSpPr>
        <p:spPr>
          <a:xfrm>
            <a:off x="4617720" y="768096"/>
            <a:ext cx="310896" cy="310896"/>
          </a:xfrm>
          <a:prstGeom prst="rect">
            <a:avLst/>
          </a:prstGeom>
          <a:solidFill>
            <a:srgbClr val="BF360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FO</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La silueta en forma de D de Homero, la panza redonda hacia adelante y la espalda encorvada, comunica flojera y edad madura sin una sola línea de diálogo. Entre más redondo y encorvado, más gracioso.</a:t>
            </a:r>
            <a:endParaRPr lang="en-US" sz="1000" dirty="0"/>
          </a:p>
        </p:txBody>
      </p:sp>
      <p:sp>
        <p:nvSpPr>
          <p:cNvPr id="32" name="Shape 28"/>
          <p:cNvSpPr/>
          <p:nvPr/>
        </p:nvSpPr>
        <p:spPr>
          <a:xfrm>
            <a:off x="4617720" y="2048256"/>
            <a:ext cx="310896" cy="310896"/>
          </a:xfrm>
          <a:prstGeom prst="rect">
            <a:avLst/>
          </a:prstGeom>
          <a:solidFill>
            <a:srgbClr val="E65100"/>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CO</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La piel amarilla de los Simpson resalta contra cualquier fondo y avisa de inmediato que este es un mundo animado con sus propias reglas. Ese amarillo se eligió para detener al público que cambiaba de canal. El color crea la identidad del mundo.</a:t>
            </a:r>
            <a:endParaRPr lang="en-US" sz="1000" dirty="0"/>
          </a:p>
        </p:txBody>
      </p:sp>
      <p:sp>
        <p:nvSpPr>
          <p:cNvPr id="37" name="Shape 33"/>
          <p:cNvSpPr/>
          <p:nvPr/>
        </p:nvSpPr>
        <p:spPr>
          <a:xfrm>
            <a:off x="4617720" y="3328416"/>
            <a:ext cx="310896" cy="310896"/>
          </a:xfrm>
          <a:prstGeom prst="rect">
            <a:avLst/>
          </a:prstGeom>
          <a:solidFill>
            <a:srgbClr val="B71C1C"/>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LÍNEA</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La barba de un día dibujada como un simple anillo de contorno quebrado, y el cabello como solo dos picos conectados. Los Simpson prueban que menos líneas hechas con intención le ganan siempre al trazo complicado.</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5" name="Picture 44">
            <a:extLst>
              <a:ext uri="{FF2B5EF4-FFF2-40B4-BE49-F238E27FC236}">
                <a16:creationId xmlns:a16="http://schemas.microsoft.com/office/drawing/2014/main" id="{A2BDD408-049B-DA0C-12FD-6819FE38E78C}"/>
              </a:ext>
            </a:extLst>
          </p:cNvPr>
          <p:cNvPicPr>
            <a:picLocks noChangeAspect="1"/>
          </p:cNvPicPr>
          <p:nvPr/>
        </p:nvPicPr>
        <p:blipFill>
          <a:blip r:embed="rId5"/>
          <a:stretch>
            <a:fillRect/>
          </a:stretch>
        </p:blipFill>
        <p:spPr>
          <a:xfrm>
            <a:off x="2904219" y="801963"/>
            <a:ext cx="1608345" cy="33859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8"/>
        </a:solidFill>
        <a:effectLst/>
      </p:bgPr>
    </p:bg>
    <p:spTree>
      <p:nvGrpSpPr>
        <p:cNvPr id="1" name=""/>
        <p:cNvGrpSpPr/>
        <p:nvPr/>
      </p:nvGrpSpPr>
      <p:grpSpPr>
        <a:xfrm>
          <a:off x="0" y="0"/>
          <a:ext cx="0" cy="0"/>
          <a:chOff x="0" y="0"/>
          <a:chExt cx="0" cy="0"/>
        </a:xfrm>
      </p:grpSpPr>
      <p:sp>
        <p:nvSpPr>
          <p:cNvPr id="45" name="CharacterGlow9008">
            <a:extLst>
              <a:ext uri="{FF2B5EF4-FFF2-40B4-BE49-F238E27FC236}">
                <a16:creationId xmlns:a16="http://schemas.microsoft.com/office/drawing/2014/main" id="{7706461B-C154-7898-FF6F-EBD5BC002AD8}"/>
              </a:ext>
            </a:extLst>
          </p:cNvPr>
          <p:cNvSpPr/>
          <p:nvPr/>
        </p:nvSpPr>
        <p:spPr>
          <a:xfrm>
            <a:off x="955865" y="99815"/>
            <a:ext cx="3902505" cy="4258591"/>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ELEMENTOS DEL ARTE EN ESTE PERSONAJE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07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07</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Studio Ghibli  /  1988</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Totoro</a:t>
            </a:r>
            <a:endParaRPr lang="en-US" sz="3400" dirty="0"/>
          </a:p>
        </p:txBody>
      </p:sp>
      <p:sp>
        <p:nvSpPr>
          <p:cNvPr id="13" name="Shape 9"/>
          <p:cNvSpPr/>
          <p:nvPr/>
        </p:nvSpPr>
        <p:spPr>
          <a:xfrm>
            <a:off x="292608" y="3374136"/>
            <a:ext cx="365760" cy="22860"/>
          </a:xfrm>
          <a:prstGeom prst="rect">
            <a:avLst/>
          </a:prstGeom>
          <a:solidFill>
            <a:srgbClr val="00B8B8"/>
          </a:solidFill>
          <a:ln/>
        </p:spPr>
        <p:txBody>
          <a:bodyPr/>
          <a:lstStyle/>
          <a:p>
            <a:endParaRPr lang="en-US"/>
          </a:p>
        </p:txBody>
      </p:sp>
      <p:sp>
        <p:nvSpPr>
          <p:cNvPr id="14" name="Shape 10"/>
          <p:cNvSpPr/>
          <p:nvPr/>
        </p:nvSpPr>
        <p:spPr>
          <a:xfrm>
            <a:off x="292608" y="3447288"/>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47288"/>
            <a:ext cx="45720" cy="640080"/>
          </a:xfrm>
          <a:prstGeom prst="rect">
            <a:avLst/>
          </a:prstGeom>
          <a:solidFill>
            <a:srgbClr val="00B8B8"/>
          </a:solidFill>
          <a:ln/>
        </p:spPr>
        <p:txBody>
          <a:bodyPr/>
          <a:lstStyle/>
          <a:p>
            <a:endParaRPr lang="en-US"/>
          </a:p>
        </p:txBody>
      </p:sp>
      <p:sp>
        <p:nvSpPr>
          <p:cNvPr id="16" name="Text 12"/>
          <p:cNvSpPr txBox="1"/>
          <p:nvPr/>
        </p:nvSpPr>
        <p:spPr>
          <a:xfrm>
            <a:off x="521208" y="3543300"/>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"El volumen y la textura creando calidez"</a:t>
            </a:r>
            <a:endParaRPr lang="en-US" sz="1050" dirty="0"/>
          </a:p>
        </p:txBody>
      </p:sp>
      <p:sp>
        <p:nvSpPr>
          <p:cNvPr id="17" name="Text 13"/>
          <p:cNvSpPr txBox="1"/>
          <p:nvPr/>
        </p:nvSpPr>
        <p:spPr>
          <a:xfrm>
            <a:off x="292608" y="4197096"/>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ELEMENTOS CLAVE</a:t>
            </a:r>
            <a:endParaRPr lang="en-US" sz="800" dirty="0"/>
          </a:p>
        </p:txBody>
      </p:sp>
      <p:sp>
        <p:nvSpPr>
          <p:cNvPr id="18" name="Shape 14"/>
          <p:cNvSpPr/>
          <p:nvPr/>
        </p:nvSpPr>
        <p:spPr>
          <a:xfrm>
            <a:off x="292608" y="4434840"/>
            <a:ext cx="1225296" cy="310896"/>
          </a:xfrm>
          <a:prstGeom prst="rect">
            <a:avLst/>
          </a:prstGeom>
          <a:solidFill>
            <a:srgbClr val="6A1B9A">
              <a:alpha val="80000"/>
            </a:srgbClr>
          </a:solidFill>
          <a:ln w="12700">
            <a:solidFill>
              <a:srgbClr val="6A1B9A"/>
            </a:solidFill>
            <a:prstDash val="solid"/>
          </a:ln>
        </p:spPr>
        <p:txBody>
          <a:bodyPr/>
          <a:lstStyle/>
          <a:p>
            <a:endParaRPr lang="en-US"/>
          </a:p>
        </p:txBody>
      </p:sp>
      <p:sp>
        <p:nvSpPr>
          <p:cNvPr id="19" name="Shape 15"/>
          <p:cNvSpPr/>
          <p:nvPr/>
        </p:nvSpPr>
        <p:spPr>
          <a:xfrm>
            <a:off x="292608" y="4434840"/>
            <a:ext cx="54864" cy="310896"/>
          </a:xfrm>
          <a:prstGeom prst="rect">
            <a:avLst/>
          </a:prstGeom>
          <a:solidFill>
            <a:srgbClr val="6A1B9A"/>
          </a:solidFill>
          <a:ln/>
        </p:spPr>
        <p:txBody>
          <a:bodyPr/>
          <a:lstStyle/>
          <a:p>
            <a:endParaRPr lang="en-US"/>
          </a:p>
        </p:txBody>
      </p:sp>
      <p:sp>
        <p:nvSpPr>
          <p:cNvPr id="20" name="Text 16"/>
          <p:cNvSpPr txBox="1"/>
          <p:nvPr/>
        </p:nvSpPr>
        <p:spPr>
          <a:xfrm>
            <a:off x="384048" y="4434840"/>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VOLUMEN</a:t>
            </a:r>
            <a:endParaRPr lang="en-US" sz="950" dirty="0"/>
          </a:p>
        </p:txBody>
      </p:sp>
      <p:sp>
        <p:nvSpPr>
          <p:cNvPr id="21" name="Shape 17"/>
          <p:cNvSpPr/>
          <p:nvPr/>
        </p:nvSpPr>
        <p:spPr>
          <a:xfrm>
            <a:off x="1600200" y="4434840"/>
            <a:ext cx="1225296" cy="310896"/>
          </a:xfrm>
          <a:prstGeom prst="rect">
            <a:avLst/>
          </a:prstGeom>
          <a:solidFill>
            <a:srgbClr val="0D47A1">
              <a:alpha val="80000"/>
            </a:srgbClr>
          </a:solidFill>
          <a:ln w="12700">
            <a:solidFill>
              <a:srgbClr val="0D47A1"/>
            </a:solidFill>
            <a:prstDash val="solid"/>
          </a:ln>
        </p:spPr>
        <p:txBody>
          <a:bodyPr/>
          <a:lstStyle/>
          <a:p>
            <a:endParaRPr lang="en-US"/>
          </a:p>
        </p:txBody>
      </p:sp>
      <p:sp>
        <p:nvSpPr>
          <p:cNvPr id="22" name="Shape 18"/>
          <p:cNvSpPr/>
          <p:nvPr/>
        </p:nvSpPr>
        <p:spPr>
          <a:xfrm>
            <a:off x="1600200" y="4434840"/>
            <a:ext cx="54864" cy="310896"/>
          </a:xfrm>
          <a:prstGeom prst="rect">
            <a:avLst/>
          </a:prstGeom>
          <a:solidFill>
            <a:srgbClr val="0D47A1"/>
          </a:solidFill>
          <a:ln/>
        </p:spPr>
        <p:txBody>
          <a:bodyPr/>
          <a:lstStyle/>
          <a:p>
            <a:endParaRPr lang="en-US"/>
          </a:p>
        </p:txBody>
      </p:sp>
      <p:sp>
        <p:nvSpPr>
          <p:cNvPr id="23" name="Text 19"/>
          <p:cNvSpPr txBox="1"/>
          <p:nvPr/>
        </p:nvSpPr>
        <p:spPr>
          <a:xfrm>
            <a:off x="1691640" y="4434840"/>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TEXTURA</a:t>
            </a:r>
            <a:endParaRPr lang="en-US" sz="950" dirty="0"/>
          </a:p>
        </p:txBody>
      </p:sp>
      <p:sp>
        <p:nvSpPr>
          <p:cNvPr id="24" name="Shape 20"/>
          <p:cNvSpPr/>
          <p:nvPr/>
        </p:nvSpPr>
        <p:spPr>
          <a:xfrm>
            <a:off x="2907792" y="4434840"/>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25" name="Shape 21"/>
          <p:cNvSpPr/>
          <p:nvPr/>
        </p:nvSpPr>
        <p:spPr>
          <a:xfrm>
            <a:off x="2907792" y="4434840"/>
            <a:ext cx="54864" cy="310896"/>
          </a:xfrm>
          <a:prstGeom prst="rect">
            <a:avLst/>
          </a:prstGeom>
          <a:solidFill>
            <a:srgbClr val="BF360C"/>
          </a:solidFill>
          <a:ln/>
        </p:spPr>
        <p:txBody>
          <a:bodyPr/>
          <a:lstStyle/>
          <a:p>
            <a:endParaRPr lang="en-US"/>
          </a:p>
        </p:txBody>
      </p:sp>
      <p:sp>
        <p:nvSpPr>
          <p:cNvPr id="26" name="Text 22"/>
          <p:cNvSpPr txBox="1"/>
          <p:nvPr/>
        </p:nvSpPr>
        <p:spPr>
          <a:xfrm>
            <a:off x="2999232" y="4434840"/>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a:t>
            </a:r>
            <a:endParaRPr lang="en-US" sz="950" dirty="0"/>
          </a:p>
        </p:txBody>
      </p:sp>
      <p:sp>
        <p:nvSpPr>
          <p:cNvPr id="27" name="Shape 23"/>
          <p:cNvSpPr/>
          <p:nvPr/>
        </p:nvSpPr>
        <p:spPr>
          <a:xfrm>
            <a:off x="4617720" y="768096"/>
            <a:ext cx="310896" cy="310896"/>
          </a:xfrm>
          <a:prstGeom prst="rect">
            <a:avLst/>
          </a:prstGeom>
          <a:solidFill>
            <a:srgbClr val="6A1B9A"/>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VO</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VOLUMEN</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El cuerpo enorme y redondo de Totoro tiene volumen y peso innegables, se siente suave al tacto. Hayao Miyazaki lo diseñó como puro volumen redondo para indicar seguridad y ternura. El volumen comunica el personaje antes de que al público le digan quién es.</a:t>
            </a:r>
            <a:endParaRPr lang="en-US" sz="1000" dirty="0"/>
          </a:p>
        </p:txBody>
      </p:sp>
      <p:sp>
        <p:nvSpPr>
          <p:cNvPr id="32" name="Shape 28"/>
          <p:cNvSpPr/>
          <p:nvPr/>
        </p:nvSpPr>
        <p:spPr>
          <a:xfrm>
            <a:off x="4617720" y="2048256"/>
            <a:ext cx="310896" cy="310896"/>
          </a:xfrm>
          <a:prstGeom prst="rect">
            <a:avLst/>
          </a:prstGeom>
          <a:solidFill>
            <a:srgbClr val="0D47A1"/>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TX</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TEXTURA</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El pelaje denso dibujado con miles de trazos cortos le da a Totoro presencia táctil, dan ganas de tocar la pantalla. La textura en el diseño de personajes crea conexión emocional. Un Totoro sin textura se sentiría vacío y frío.</a:t>
            </a:r>
            <a:endParaRPr lang="en-US" sz="1000" dirty="0"/>
          </a:p>
        </p:txBody>
      </p:sp>
      <p:sp>
        <p:nvSpPr>
          <p:cNvPr id="37" name="Shape 33"/>
          <p:cNvSpPr/>
          <p:nvPr/>
        </p:nvSpPr>
        <p:spPr>
          <a:xfrm>
            <a:off x="4617720" y="3328416"/>
            <a:ext cx="310896" cy="310896"/>
          </a:xfrm>
          <a:prstGeom prst="rect">
            <a:avLst/>
          </a:prstGeom>
          <a:solidFill>
            <a:srgbClr val="BF360C"/>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FO</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Las puntas triangulares de las orejas contrastan con la forma redonda de Totoro, y añaden personalidad y un toque salvaje. El contraste de formas, curvas suaves y puntas filosas, crea interés visual dentro de un solo personaje.</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4" name="Picture 43">
            <a:extLst>
              <a:ext uri="{FF2B5EF4-FFF2-40B4-BE49-F238E27FC236}">
                <a16:creationId xmlns:a16="http://schemas.microsoft.com/office/drawing/2014/main" id="{98D805C2-98F0-E9DB-4673-0E93AE85BA2A}"/>
              </a:ext>
            </a:extLst>
          </p:cNvPr>
          <p:cNvPicPr>
            <a:picLocks noChangeAspect="1"/>
          </p:cNvPicPr>
          <p:nvPr/>
        </p:nvPicPr>
        <p:blipFill>
          <a:blip r:embed="rId5"/>
          <a:stretch>
            <a:fillRect/>
          </a:stretch>
        </p:blipFill>
        <p:spPr>
          <a:xfrm>
            <a:off x="1293269" y="479064"/>
            <a:ext cx="3119318" cy="31831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ELEMENTOS DEL ARTE EN ESTE PERSONAJE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08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10" name="CharacterGlow9010"/>
          <p:cNvSpPr/>
          <p:nvPr/>
        </p:nvSpPr>
        <p:spPr>
          <a:xfrm>
            <a:off x="2444366" y="731520"/>
            <a:ext cx="2438530" cy="3848633"/>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08</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Hora de Aventura  /  2010</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Finn el Humano</a:t>
            </a:r>
            <a:endParaRPr lang="en-US" sz="3400" dirty="0"/>
          </a:p>
        </p:txBody>
      </p:sp>
      <p:sp>
        <p:nvSpPr>
          <p:cNvPr id="13" name="Shape 9"/>
          <p:cNvSpPr/>
          <p:nvPr/>
        </p:nvSpPr>
        <p:spPr>
          <a:xfrm>
            <a:off x="292608" y="3392424"/>
            <a:ext cx="365760" cy="22860"/>
          </a:xfrm>
          <a:prstGeom prst="rect">
            <a:avLst/>
          </a:prstGeom>
          <a:solidFill>
            <a:srgbClr val="00B8B8"/>
          </a:solidFill>
          <a:ln/>
        </p:spPr>
        <p:txBody>
          <a:bodyPr/>
          <a:lstStyle/>
          <a:p>
            <a:endParaRPr lang="en-US"/>
          </a:p>
        </p:txBody>
      </p:sp>
      <p:sp>
        <p:nvSpPr>
          <p:cNvPr id="14" name="Shape 10"/>
          <p:cNvSpPr/>
          <p:nvPr/>
        </p:nvSpPr>
        <p:spPr>
          <a:xfrm>
            <a:off x="292608" y="3465576"/>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65576"/>
            <a:ext cx="45720" cy="640080"/>
          </a:xfrm>
          <a:prstGeom prst="rect">
            <a:avLst/>
          </a:prstGeom>
          <a:solidFill>
            <a:srgbClr val="00B8B8"/>
          </a:solidFill>
          <a:ln/>
        </p:spPr>
        <p:txBody>
          <a:bodyPr/>
          <a:lstStyle/>
          <a:p>
            <a:endParaRPr lang="en-US"/>
          </a:p>
        </p:txBody>
      </p:sp>
      <p:sp>
        <p:nvSpPr>
          <p:cNvPr id="16" name="Text 12"/>
          <p:cNvSpPr txBox="1"/>
          <p:nvPr/>
        </p:nvSpPr>
        <p:spPr>
          <a:xfrm>
            <a:off x="521208" y="3561588"/>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"Formas simples para emociones complejas"</a:t>
            </a:r>
            <a:endParaRPr lang="en-US" sz="1050" dirty="0"/>
          </a:p>
        </p:txBody>
      </p:sp>
      <p:sp>
        <p:nvSpPr>
          <p:cNvPr id="17" name="Text 13"/>
          <p:cNvSpPr txBox="1"/>
          <p:nvPr/>
        </p:nvSpPr>
        <p:spPr>
          <a:xfrm>
            <a:off x="292608" y="4215384"/>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ELEMENTOS CLAVE</a:t>
            </a:r>
            <a:endParaRPr lang="en-US" sz="800" dirty="0"/>
          </a:p>
        </p:txBody>
      </p:sp>
      <p:sp>
        <p:nvSpPr>
          <p:cNvPr id="18" name="Shape 14"/>
          <p:cNvSpPr/>
          <p:nvPr/>
        </p:nvSpPr>
        <p:spPr>
          <a:xfrm>
            <a:off x="292608" y="4453128"/>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19" name="Shape 15"/>
          <p:cNvSpPr/>
          <p:nvPr/>
        </p:nvSpPr>
        <p:spPr>
          <a:xfrm>
            <a:off x="292608" y="4453128"/>
            <a:ext cx="54864" cy="310896"/>
          </a:xfrm>
          <a:prstGeom prst="rect">
            <a:avLst/>
          </a:prstGeom>
          <a:solidFill>
            <a:srgbClr val="BF360C"/>
          </a:solidFill>
          <a:ln/>
        </p:spPr>
        <p:txBody>
          <a:bodyPr/>
          <a:lstStyle/>
          <a:p>
            <a:endParaRPr lang="en-US"/>
          </a:p>
        </p:txBody>
      </p:sp>
      <p:sp>
        <p:nvSpPr>
          <p:cNvPr id="20" name="Text 16"/>
          <p:cNvSpPr txBox="1"/>
          <p:nvPr/>
        </p:nvSpPr>
        <p:spPr>
          <a:xfrm>
            <a:off x="384048"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a:t>
            </a:r>
            <a:endParaRPr lang="en-US" sz="950" dirty="0"/>
          </a:p>
        </p:txBody>
      </p:sp>
      <p:sp>
        <p:nvSpPr>
          <p:cNvPr id="21" name="Shape 17"/>
          <p:cNvSpPr/>
          <p:nvPr/>
        </p:nvSpPr>
        <p:spPr>
          <a:xfrm>
            <a:off x="1600200" y="4453128"/>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22" name="Shape 18"/>
          <p:cNvSpPr/>
          <p:nvPr/>
        </p:nvSpPr>
        <p:spPr>
          <a:xfrm>
            <a:off x="1600200" y="4453128"/>
            <a:ext cx="54864" cy="310896"/>
          </a:xfrm>
          <a:prstGeom prst="rect">
            <a:avLst/>
          </a:prstGeom>
          <a:solidFill>
            <a:srgbClr val="E65100"/>
          </a:solidFill>
          <a:ln/>
        </p:spPr>
        <p:txBody>
          <a:bodyPr/>
          <a:lstStyle/>
          <a:p>
            <a:endParaRPr lang="en-US"/>
          </a:p>
        </p:txBody>
      </p:sp>
      <p:sp>
        <p:nvSpPr>
          <p:cNvPr id="23" name="Text 19"/>
          <p:cNvSpPr txBox="1"/>
          <p:nvPr/>
        </p:nvSpPr>
        <p:spPr>
          <a:xfrm>
            <a:off x="1691640"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4" name="Shape 20"/>
          <p:cNvSpPr/>
          <p:nvPr/>
        </p:nvSpPr>
        <p:spPr>
          <a:xfrm>
            <a:off x="2907792" y="4453128"/>
            <a:ext cx="1225296" cy="310896"/>
          </a:xfrm>
          <a:prstGeom prst="rect">
            <a:avLst/>
          </a:prstGeom>
          <a:solidFill>
            <a:srgbClr val="006064">
              <a:alpha val="80000"/>
            </a:srgbClr>
          </a:solidFill>
          <a:ln w="12700">
            <a:solidFill>
              <a:srgbClr val="006064"/>
            </a:solidFill>
            <a:prstDash val="solid"/>
          </a:ln>
        </p:spPr>
        <p:txBody>
          <a:bodyPr/>
          <a:lstStyle/>
          <a:p>
            <a:endParaRPr lang="en-US"/>
          </a:p>
        </p:txBody>
      </p:sp>
      <p:sp>
        <p:nvSpPr>
          <p:cNvPr id="25" name="Shape 21"/>
          <p:cNvSpPr/>
          <p:nvPr/>
        </p:nvSpPr>
        <p:spPr>
          <a:xfrm>
            <a:off x="2907792" y="4453128"/>
            <a:ext cx="54864" cy="310896"/>
          </a:xfrm>
          <a:prstGeom prst="rect">
            <a:avLst/>
          </a:prstGeom>
          <a:solidFill>
            <a:srgbClr val="006064"/>
          </a:solidFill>
          <a:ln/>
        </p:spPr>
        <p:txBody>
          <a:bodyPr/>
          <a:lstStyle/>
          <a:p>
            <a:endParaRPr lang="en-US"/>
          </a:p>
        </p:txBody>
      </p:sp>
      <p:sp>
        <p:nvSpPr>
          <p:cNvPr id="26" name="Text 22"/>
          <p:cNvSpPr txBox="1"/>
          <p:nvPr/>
        </p:nvSpPr>
        <p:spPr>
          <a:xfrm>
            <a:off x="2999232"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ESPACIO</a:t>
            </a:r>
            <a:endParaRPr lang="en-US" sz="950" dirty="0"/>
          </a:p>
        </p:txBody>
      </p:sp>
      <p:sp>
        <p:nvSpPr>
          <p:cNvPr id="27" name="Shape 23"/>
          <p:cNvSpPr/>
          <p:nvPr/>
        </p:nvSpPr>
        <p:spPr>
          <a:xfrm>
            <a:off x="4617720" y="768096"/>
            <a:ext cx="310896" cy="310896"/>
          </a:xfrm>
          <a:prstGeom prst="rect">
            <a:avLst/>
          </a:prstGeom>
          <a:solidFill>
            <a:srgbClr val="BF360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FO</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Finn está dibujado casi por completo con formas simples de frijol y óvalo, pequeñas, legibles, y fáciles de animar miles de veces. Pendleton Ward lo diseñó para ser expresivo con líneas mínimas. La simpleza permite un rango emocional amplio.</a:t>
            </a:r>
            <a:endParaRPr lang="en-US" sz="1000" dirty="0"/>
          </a:p>
        </p:txBody>
      </p:sp>
      <p:sp>
        <p:nvSpPr>
          <p:cNvPr id="32" name="Shape 28"/>
          <p:cNvSpPr/>
          <p:nvPr/>
        </p:nvSpPr>
        <p:spPr>
          <a:xfrm>
            <a:off x="4617720" y="2048256"/>
            <a:ext cx="310896" cy="310896"/>
          </a:xfrm>
          <a:prstGeom prst="rect">
            <a:avLst/>
          </a:prstGeom>
          <a:solidFill>
            <a:srgbClr val="E65100"/>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CO</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El gorro blanco de Finn contra el paisaje de fantasía saturado siempre lo convierte en el punto focal sin importar qué pase a su alrededor. El blanco crea un ancla visual, la mirada va ahí primero. Esa es jerarquía intencional por medio del color.</a:t>
            </a:r>
            <a:endParaRPr lang="en-US" sz="1000" dirty="0"/>
          </a:p>
        </p:txBody>
      </p:sp>
      <p:sp>
        <p:nvSpPr>
          <p:cNvPr id="37" name="Shape 33"/>
          <p:cNvSpPr/>
          <p:nvPr/>
        </p:nvSpPr>
        <p:spPr>
          <a:xfrm>
            <a:off x="4617720" y="3328416"/>
            <a:ext cx="310896" cy="310896"/>
          </a:xfrm>
          <a:prstGeom prst="rect">
            <a:avLst/>
          </a:prstGeom>
          <a:solidFill>
            <a:srgbClr val="006064"/>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ES</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ESPACIO</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Hora de Aventura usa constantemente la escala y el espacio para mostrar a Finn pequeño en un mundo enorme y peligroso. Fondos gigantes con un Finn diminuto comunican vulnerabilidad y asombro al mismo tiempo.</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6A5C3E7A-92F3-295C-78F9-B9A2408754D2}"/>
              </a:ext>
            </a:extLst>
          </p:cNvPr>
          <p:cNvPicPr>
            <a:picLocks noChangeAspect="1"/>
          </p:cNvPicPr>
          <p:nvPr/>
        </p:nvPicPr>
        <p:blipFill>
          <a:blip r:embed="rId5"/>
          <a:stretch>
            <a:fillRect/>
          </a:stretch>
        </p:blipFill>
        <p:spPr>
          <a:xfrm>
            <a:off x="2770632" y="410955"/>
            <a:ext cx="1919213" cy="356341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ELEMENTOS DEL ARTE EN ESTE PERSONAJE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09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11" name="CharacterGlow9011"/>
          <p:cNvSpPr/>
          <p:nvPr/>
        </p:nvSpPr>
        <p:spPr>
          <a:xfrm>
            <a:off x="1348438" y="731520"/>
            <a:ext cx="3534458" cy="3379033"/>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09</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Marvel / Sony Animation  /  1994</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Spider-Man</a:t>
            </a:r>
            <a:endParaRPr lang="en-US" sz="3400" dirty="0"/>
          </a:p>
        </p:txBody>
      </p:sp>
      <p:sp>
        <p:nvSpPr>
          <p:cNvPr id="13" name="Shape 9"/>
          <p:cNvSpPr/>
          <p:nvPr/>
        </p:nvSpPr>
        <p:spPr>
          <a:xfrm>
            <a:off x="292608" y="3392424"/>
            <a:ext cx="365760" cy="22860"/>
          </a:xfrm>
          <a:prstGeom prst="rect">
            <a:avLst/>
          </a:prstGeom>
          <a:solidFill>
            <a:srgbClr val="00B8B8"/>
          </a:solidFill>
          <a:ln/>
        </p:spPr>
        <p:txBody>
          <a:bodyPr/>
          <a:lstStyle/>
          <a:p>
            <a:endParaRPr lang="en-US"/>
          </a:p>
        </p:txBody>
      </p:sp>
      <p:sp>
        <p:nvSpPr>
          <p:cNvPr id="14" name="Shape 10"/>
          <p:cNvSpPr/>
          <p:nvPr/>
        </p:nvSpPr>
        <p:spPr>
          <a:xfrm>
            <a:off x="292608" y="3465576"/>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65576"/>
            <a:ext cx="45720" cy="640080"/>
          </a:xfrm>
          <a:prstGeom prst="rect">
            <a:avLst/>
          </a:prstGeom>
          <a:solidFill>
            <a:srgbClr val="00B8B8"/>
          </a:solidFill>
          <a:ln/>
        </p:spPr>
        <p:txBody>
          <a:bodyPr/>
          <a:lstStyle/>
          <a:p>
            <a:endParaRPr lang="en-US"/>
          </a:p>
        </p:txBody>
      </p:sp>
      <p:sp>
        <p:nvSpPr>
          <p:cNvPr id="16" name="Text 12"/>
          <p:cNvSpPr txBox="1"/>
          <p:nvPr/>
        </p:nvSpPr>
        <p:spPr>
          <a:xfrm>
            <a:off x="521208" y="3561588"/>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"Línea y volumen construidos para el movimiento"</a:t>
            </a:r>
            <a:endParaRPr lang="en-US" sz="1050" dirty="0"/>
          </a:p>
        </p:txBody>
      </p:sp>
      <p:sp>
        <p:nvSpPr>
          <p:cNvPr id="17" name="Text 13"/>
          <p:cNvSpPr txBox="1"/>
          <p:nvPr/>
        </p:nvSpPr>
        <p:spPr>
          <a:xfrm>
            <a:off x="292608" y="4215384"/>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ELEMENTOS CLAVE</a:t>
            </a:r>
            <a:endParaRPr lang="en-US" sz="800" dirty="0"/>
          </a:p>
        </p:txBody>
      </p:sp>
      <p:sp>
        <p:nvSpPr>
          <p:cNvPr id="18" name="Shape 14"/>
          <p:cNvSpPr/>
          <p:nvPr/>
        </p:nvSpPr>
        <p:spPr>
          <a:xfrm>
            <a:off x="292608" y="4453128"/>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19" name="Shape 15"/>
          <p:cNvSpPr/>
          <p:nvPr/>
        </p:nvSpPr>
        <p:spPr>
          <a:xfrm>
            <a:off x="292608" y="4453128"/>
            <a:ext cx="54864" cy="310896"/>
          </a:xfrm>
          <a:prstGeom prst="rect">
            <a:avLst/>
          </a:prstGeom>
          <a:solidFill>
            <a:srgbClr val="B71C1C"/>
          </a:solidFill>
          <a:ln/>
        </p:spPr>
        <p:txBody>
          <a:bodyPr/>
          <a:lstStyle/>
          <a:p>
            <a:endParaRPr lang="en-US"/>
          </a:p>
        </p:txBody>
      </p:sp>
      <p:sp>
        <p:nvSpPr>
          <p:cNvPr id="20" name="Text 16"/>
          <p:cNvSpPr txBox="1"/>
          <p:nvPr/>
        </p:nvSpPr>
        <p:spPr>
          <a:xfrm>
            <a:off x="384048"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LÍNEA</a:t>
            </a:r>
            <a:endParaRPr lang="en-US" sz="950" dirty="0"/>
          </a:p>
        </p:txBody>
      </p:sp>
      <p:sp>
        <p:nvSpPr>
          <p:cNvPr id="21" name="Shape 17"/>
          <p:cNvSpPr/>
          <p:nvPr/>
        </p:nvSpPr>
        <p:spPr>
          <a:xfrm>
            <a:off x="1600200" y="4453128"/>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22" name="Shape 18"/>
          <p:cNvSpPr/>
          <p:nvPr/>
        </p:nvSpPr>
        <p:spPr>
          <a:xfrm>
            <a:off x="1600200" y="4453128"/>
            <a:ext cx="54864" cy="310896"/>
          </a:xfrm>
          <a:prstGeom prst="rect">
            <a:avLst/>
          </a:prstGeom>
          <a:solidFill>
            <a:srgbClr val="E65100"/>
          </a:solidFill>
          <a:ln/>
        </p:spPr>
        <p:txBody>
          <a:bodyPr/>
          <a:lstStyle/>
          <a:p>
            <a:endParaRPr lang="en-US"/>
          </a:p>
        </p:txBody>
      </p:sp>
      <p:sp>
        <p:nvSpPr>
          <p:cNvPr id="23" name="Text 19"/>
          <p:cNvSpPr txBox="1"/>
          <p:nvPr/>
        </p:nvSpPr>
        <p:spPr>
          <a:xfrm>
            <a:off x="1691640"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4" name="Shape 20"/>
          <p:cNvSpPr/>
          <p:nvPr/>
        </p:nvSpPr>
        <p:spPr>
          <a:xfrm>
            <a:off x="2907792" y="4453128"/>
            <a:ext cx="1225296" cy="310896"/>
          </a:xfrm>
          <a:prstGeom prst="rect">
            <a:avLst/>
          </a:prstGeom>
          <a:solidFill>
            <a:srgbClr val="6A1B9A">
              <a:alpha val="80000"/>
            </a:srgbClr>
          </a:solidFill>
          <a:ln w="12700">
            <a:solidFill>
              <a:srgbClr val="6A1B9A"/>
            </a:solidFill>
            <a:prstDash val="solid"/>
          </a:ln>
        </p:spPr>
        <p:txBody>
          <a:bodyPr/>
          <a:lstStyle/>
          <a:p>
            <a:endParaRPr lang="en-US"/>
          </a:p>
        </p:txBody>
      </p:sp>
      <p:sp>
        <p:nvSpPr>
          <p:cNvPr id="25" name="Shape 21"/>
          <p:cNvSpPr/>
          <p:nvPr/>
        </p:nvSpPr>
        <p:spPr>
          <a:xfrm>
            <a:off x="2907792" y="4453128"/>
            <a:ext cx="54864" cy="310896"/>
          </a:xfrm>
          <a:prstGeom prst="rect">
            <a:avLst/>
          </a:prstGeom>
          <a:solidFill>
            <a:srgbClr val="6A1B9A"/>
          </a:solidFill>
          <a:ln/>
        </p:spPr>
        <p:txBody>
          <a:bodyPr/>
          <a:lstStyle/>
          <a:p>
            <a:endParaRPr lang="en-US"/>
          </a:p>
        </p:txBody>
      </p:sp>
      <p:sp>
        <p:nvSpPr>
          <p:cNvPr id="26" name="Text 22"/>
          <p:cNvSpPr txBox="1"/>
          <p:nvPr/>
        </p:nvSpPr>
        <p:spPr>
          <a:xfrm>
            <a:off x="2999232" y="445312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VOLUMEN</a:t>
            </a:r>
            <a:endParaRPr lang="en-US" sz="950" dirty="0"/>
          </a:p>
        </p:txBody>
      </p:sp>
      <p:sp>
        <p:nvSpPr>
          <p:cNvPr id="27" name="Shape 23"/>
          <p:cNvSpPr/>
          <p:nvPr/>
        </p:nvSpPr>
        <p:spPr>
          <a:xfrm>
            <a:off x="4617720" y="768096"/>
            <a:ext cx="310896" cy="310896"/>
          </a:xfrm>
          <a:prstGeom prst="rect">
            <a:avLst/>
          </a:prstGeom>
          <a:solidFill>
            <a:srgbClr val="B71C1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LÍNEA</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El patrón de telaraña de Spider-Man es una textura de líneas que lo cubre todo y crea ritmo y energía visual en cada superficie del traje. Esas líneas diagonales y radiales sugieren velocidad incluso cuando el personaje está quieto.</a:t>
            </a:r>
            <a:endParaRPr lang="en-US" sz="1000" dirty="0"/>
          </a:p>
        </p:txBody>
      </p:sp>
      <p:sp>
        <p:nvSpPr>
          <p:cNvPr id="32" name="Shape 28"/>
          <p:cNvSpPr/>
          <p:nvPr/>
        </p:nvSpPr>
        <p:spPr>
          <a:xfrm>
            <a:off x="4617720" y="2048256"/>
            <a:ext cx="310896" cy="310896"/>
          </a:xfrm>
          <a:prstGeom prst="rect">
            <a:avLst/>
          </a:prstGeom>
          <a:solidFill>
            <a:srgbClr val="E65100"/>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CO</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La división de rojo y azul es un contraste complementario clásico, cálido y frío divididos justo por el centro de la figura. Los pares de colores complementarios crean la máxima vibración y energía visual.</a:t>
            </a:r>
            <a:endParaRPr lang="en-US" sz="1000" dirty="0"/>
          </a:p>
        </p:txBody>
      </p:sp>
      <p:sp>
        <p:nvSpPr>
          <p:cNvPr id="37" name="Shape 33"/>
          <p:cNvSpPr/>
          <p:nvPr/>
        </p:nvSpPr>
        <p:spPr>
          <a:xfrm>
            <a:off x="4617720" y="3328416"/>
            <a:ext cx="310896" cy="310896"/>
          </a:xfrm>
          <a:prstGeom prst="rect">
            <a:avLst/>
          </a:prstGeom>
          <a:solidFill>
            <a:srgbClr val="6A1B9A"/>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VO</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VOLUMEN</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El volumen muscular bajo el traje está exagerado para sugerir capacidad sobrehumana, hombros más anchos, cintura más angosta, extremidades más largas que la anatomía real. Exagerar el volumen es una herramienta de diseño, no un error.</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4" name="Picture 43">
            <a:extLst>
              <a:ext uri="{FF2B5EF4-FFF2-40B4-BE49-F238E27FC236}">
                <a16:creationId xmlns:a16="http://schemas.microsoft.com/office/drawing/2014/main" id="{B8E39F60-4881-B082-314F-5F8021BBC4CF}"/>
              </a:ext>
            </a:extLst>
          </p:cNvPr>
          <p:cNvPicPr>
            <a:picLocks noChangeAspect="1"/>
          </p:cNvPicPr>
          <p:nvPr/>
        </p:nvPicPr>
        <p:blipFill>
          <a:blip r:embed="rId5"/>
          <a:stretch>
            <a:fillRect/>
          </a:stretch>
        </p:blipFill>
        <p:spPr>
          <a:xfrm>
            <a:off x="1818041" y="867308"/>
            <a:ext cx="2762372" cy="27720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ELEMENTOS DEL ARTE EN ESTE PERSONAJE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10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12" name="CharacterGlow9012"/>
          <p:cNvSpPr/>
          <p:nvPr/>
        </p:nvSpPr>
        <p:spPr>
          <a:xfrm>
            <a:off x="2307031" y="731520"/>
            <a:ext cx="2573122" cy="4156029"/>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10</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Dragon Ball Z  /  1989</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Goku</a:t>
            </a:r>
            <a:endParaRPr lang="en-US" sz="3400" dirty="0"/>
          </a:p>
        </p:txBody>
      </p:sp>
      <p:sp>
        <p:nvSpPr>
          <p:cNvPr id="13" name="Shape 9"/>
          <p:cNvSpPr/>
          <p:nvPr/>
        </p:nvSpPr>
        <p:spPr>
          <a:xfrm>
            <a:off x="292608" y="3382081"/>
            <a:ext cx="365760" cy="22860"/>
          </a:xfrm>
          <a:prstGeom prst="rect">
            <a:avLst/>
          </a:prstGeom>
          <a:solidFill>
            <a:srgbClr val="00B8B8"/>
          </a:solidFill>
          <a:ln/>
        </p:spPr>
        <p:txBody>
          <a:bodyPr/>
          <a:lstStyle/>
          <a:p>
            <a:endParaRPr lang="en-US"/>
          </a:p>
        </p:txBody>
      </p:sp>
      <p:sp>
        <p:nvSpPr>
          <p:cNvPr id="14" name="Shape 10"/>
          <p:cNvSpPr/>
          <p:nvPr/>
        </p:nvSpPr>
        <p:spPr>
          <a:xfrm>
            <a:off x="292608" y="3455233"/>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55233"/>
            <a:ext cx="45720" cy="640080"/>
          </a:xfrm>
          <a:prstGeom prst="rect">
            <a:avLst/>
          </a:prstGeom>
          <a:solidFill>
            <a:srgbClr val="00B8B8"/>
          </a:solidFill>
          <a:ln/>
        </p:spPr>
        <p:txBody>
          <a:bodyPr/>
          <a:lstStyle/>
          <a:p>
            <a:endParaRPr lang="en-US"/>
          </a:p>
        </p:txBody>
      </p:sp>
      <p:sp>
        <p:nvSpPr>
          <p:cNvPr id="16" name="Text 12"/>
          <p:cNvSpPr txBox="1"/>
          <p:nvPr/>
        </p:nvSpPr>
        <p:spPr>
          <a:xfrm>
            <a:off x="521208" y="3551245"/>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"Volumen y línea comunicando poder"</a:t>
            </a:r>
            <a:endParaRPr lang="en-US" sz="1050" dirty="0"/>
          </a:p>
        </p:txBody>
      </p:sp>
      <p:sp>
        <p:nvSpPr>
          <p:cNvPr id="17" name="Text 13"/>
          <p:cNvSpPr txBox="1"/>
          <p:nvPr/>
        </p:nvSpPr>
        <p:spPr>
          <a:xfrm>
            <a:off x="292608" y="4205041"/>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ELEMENTOS CLAVE</a:t>
            </a:r>
            <a:endParaRPr lang="en-US" sz="800" dirty="0"/>
          </a:p>
        </p:txBody>
      </p:sp>
      <p:sp>
        <p:nvSpPr>
          <p:cNvPr id="18" name="Shape 14"/>
          <p:cNvSpPr/>
          <p:nvPr/>
        </p:nvSpPr>
        <p:spPr>
          <a:xfrm>
            <a:off x="292608" y="4442785"/>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19" name="Shape 15"/>
          <p:cNvSpPr/>
          <p:nvPr/>
        </p:nvSpPr>
        <p:spPr>
          <a:xfrm>
            <a:off x="292608" y="4442785"/>
            <a:ext cx="54864" cy="310896"/>
          </a:xfrm>
          <a:prstGeom prst="rect">
            <a:avLst/>
          </a:prstGeom>
          <a:solidFill>
            <a:srgbClr val="B71C1C"/>
          </a:solidFill>
          <a:ln/>
        </p:spPr>
        <p:txBody>
          <a:bodyPr/>
          <a:lstStyle/>
          <a:p>
            <a:endParaRPr lang="en-US"/>
          </a:p>
        </p:txBody>
      </p:sp>
      <p:sp>
        <p:nvSpPr>
          <p:cNvPr id="20" name="Text 16"/>
          <p:cNvSpPr txBox="1"/>
          <p:nvPr/>
        </p:nvSpPr>
        <p:spPr>
          <a:xfrm>
            <a:off x="384048" y="4442785"/>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LÍNEA</a:t>
            </a:r>
            <a:endParaRPr lang="en-US" sz="950" dirty="0"/>
          </a:p>
        </p:txBody>
      </p:sp>
      <p:sp>
        <p:nvSpPr>
          <p:cNvPr id="21" name="Shape 17"/>
          <p:cNvSpPr/>
          <p:nvPr/>
        </p:nvSpPr>
        <p:spPr>
          <a:xfrm>
            <a:off x="1600200" y="4442785"/>
            <a:ext cx="1225296" cy="310896"/>
          </a:xfrm>
          <a:prstGeom prst="rect">
            <a:avLst/>
          </a:prstGeom>
          <a:solidFill>
            <a:srgbClr val="6A1B9A">
              <a:alpha val="80000"/>
            </a:srgbClr>
          </a:solidFill>
          <a:ln w="12700">
            <a:solidFill>
              <a:srgbClr val="6A1B9A"/>
            </a:solidFill>
            <a:prstDash val="solid"/>
          </a:ln>
        </p:spPr>
        <p:txBody>
          <a:bodyPr/>
          <a:lstStyle/>
          <a:p>
            <a:endParaRPr lang="en-US"/>
          </a:p>
        </p:txBody>
      </p:sp>
      <p:sp>
        <p:nvSpPr>
          <p:cNvPr id="22" name="Shape 18"/>
          <p:cNvSpPr/>
          <p:nvPr/>
        </p:nvSpPr>
        <p:spPr>
          <a:xfrm>
            <a:off x="1600200" y="4442785"/>
            <a:ext cx="54864" cy="310896"/>
          </a:xfrm>
          <a:prstGeom prst="rect">
            <a:avLst/>
          </a:prstGeom>
          <a:solidFill>
            <a:srgbClr val="6A1B9A"/>
          </a:solidFill>
          <a:ln/>
        </p:spPr>
        <p:txBody>
          <a:bodyPr/>
          <a:lstStyle/>
          <a:p>
            <a:endParaRPr lang="en-US"/>
          </a:p>
        </p:txBody>
      </p:sp>
      <p:sp>
        <p:nvSpPr>
          <p:cNvPr id="23" name="Text 19"/>
          <p:cNvSpPr txBox="1"/>
          <p:nvPr/>
        </p:nvSpPr>
        <p:spPr>
          <a:xfrm>
            <a:off x="1691640" y="4442785"/>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VOLUMEN</a:t>
            </a:r>
            <a:endParaRPr lang="en-US" sz="950" dirty="0"/>
          </a:p>
        </p:txBody>
      </p:sp>
      <p:sp>
        <p:nvSpPr>
          <p:cNvPr id="24" name="Shape 20"/>
          <p:cNvSpPr/>
          <p:nvPr/>
        </p:nvSpPr>
        <p:spPr>
          <a:xfrm>
            <a:off x="2907792" y="4442785"/>
            <a:ext cx="1225296" cy="310896"/>
          </a:xfrm>
          <a:prstGeom prst="rect">
            <a:avLst/>
          </a:prstGeom>
          <a:solidFill>
            <a:srgbClr val="1B5E20">
              <a:alpha val="80000"/>
            </a:srgbClr>
          </a:solidFill>
          <a:ln w="12700">
            <a:solidFill>
              <a:srgbClr val="1B5E20"/>
            </a:solidFill>
            <a:prstDash val="solid"/>
          </a:ln>
        </p:spPr>
        <p:txBody>
          <a:bodyPr/>
          <a:lstStyle/>
          <a:p>
            <a:endParaRPr lang="en-US"/>
          </a:p>
        </p:txBody>
      </p:sp>
      <p:sp>
        <p:nvSpPr>
          <p:cNvPr id="25" name="Shape 21"/>
          <p:cNvSpPr/>
          <p:nvPr/>
        </p:nvSpPr>
        <p:spPr>
          <a:xfrm>
            <a:off x="2907792" y="4442785"/>
            <a:ext cx="54864" cy="310896"/>
          </a:xfrm>
          <a:prstGeom prst="rect">
            <a:avLst/>
          </a:prstGeom>
          <a:solidFill>
            <a:srgbClr val="1B5E20"/>
          </a:solidFill>
          <a:ln/>
        </p:spPr>
        <p:txBody>
          <a:bodyPr/>
          <a:lstStyle/>
          <a:p>
            <a:endParaRPr lang="en-US"/>
          </a:p>
        </p:txBody>
      </p:sp>
      <p:sp>
        <p:nvSpPr>
          <p:cNvPr id="26" name="Text 22"/>
          <p:cNvSpPr txBox="1"/>
          <p:nvPr/>
        </p:nvSpPr>
        <p:spPr>
          <a:xfrm>
            <a:off x="2999232" y="4442785"/>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VALOR</a:t>
            </a:r>
            <a:endParaRPr lang="en-US" sz="950" dirty="0"/>
          </a:p>
        </p:txBody>
      </p:sp>
      <p:sp>
        <p:nvSpPr>
          <p:cNvPr id="27" name="Shape 23"/>
          <p:cNvSpPr/>
          <p:nvPr/>
        </p:nvSpPr>
        <p:spPr>
          <a:xfrm>
            <a:off x="4617720" y="768096"/>
            <a:ext cx="310896" cy="310896"/>
          </a:xfrm>
          <a:prstGeom prst="rect">
            <a:avLst/>
          </a:prstGeom>
          <a:solidFill>
            <a:srgbClr val="B71C1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LÍNEA</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El cabello puntiagudo de Goku es una serie de líneas diagonales filosas y agresivas que salen hacia afuera como una explosión. Cada punta es una línea que dirige la energía lejos del cuerpo, hasta la silueta comunica poder.</a:t>
            </a:r>
            <a:endParaRPr lang="en-US" sz="1000" dirty="0"/>
          </a:p>
        </p:txBody>
      </p:sp>
      <p:sp>
        <p:nvSpPr>
          <p:cNvPr id="32" name="Shape 28"/>
          <p:cNvSpPr/>
          <p:nvPr/>
        </p:nvSpPr>
        <p:spPr>
          <a:xfrm>
            <a:off x="4617720" y="2048256"/>
            <a:ext cx="310896" cy="310896"/>
          </a:xfrm>
          <a:prstGeom prst="rect">
            <a:avLst/>
          </a:prstGeom>
          <a:solidFill>
            <a:srgbClr val="6A1B9A"/>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VO</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VOLUMEN</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Las secuencias de transformación le dan a Goku un volumen muscular cada vez más exagerado, más ancho, más duro, más geométrico conforme crece su fuerza. El volumen exagerado funciona como un medidor visual de su poder.</a:t>
            </a:r>
            <a:endParaRPr lang="en-US" sz="1000" dirty="0"/>
          </a:p>
        </p:txBody>
      </p:sp>
      <p:sp>
        <p:nvSpPr>
          <p:cNvPr id="37" name="Shape 33"/>
          <p:cNvSpPr/>
          <p:nvPr/>
        </p:nvSpPr>
        <p:spPr>
          <a:xfrm>
            <a:off x="4617720" y="3328416"/>
            <a:ext cx="310896" cy="310896"/>
          </a:xfrm>
          <a:prstGeom prst="rect">
            <a:avLst/>
          </a:prstGeom>
          <a:solidFill>
            <a:srgbClr val="1B5E20"/>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VL</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VALOR</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Goku Súper Saiyajin usa un contraste de valor extremo, cabello dorado brillante con contornos negros profundos, para señalar el cambio de normal a extraordinario. El cambio de valor comunica el nivel de poder más rápido que el diálogo.</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26A6EA57-9966-3AB0-C8F6-7EA50CCB738A}"/>
              </a:ext>
            </a:extLst>
          </p:cNvPr>
          <p:cNvPicPr>
            <a:picLocks noChangeAspect="1"/>
          </p:cNvPicPr>
          <p:nvPr/>
        </p:nvPicPr>
        <p:blipFill>
          <a:blip r:embed="rId5"/>
          <a:stretch>
            <a:fillRect/>
          </a:stretch>
        </p:blipFill>
        <p:spPr>
          <a:xfrm>
            <a:off x="2633472" y="437896"/>
            <a:ext cx="1920240" cy="38031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ELEMENTOS DEL ARTE EN ESTE PERSONAJE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11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13" name="CharacterGlow9013"/>
          <p:cNvSpPr/>
          <p:nvPr/>
        </p:nvSpPr>
        <p:spPr>
          <a:xfrm>
            <a:off x="2784913" y="731520"/>
            <a:ext cx="2097983" cy="4115208"/>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11</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Frozen, Disney  /  2013</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Elsa</a:t>
            </a:r>
            <a:endParaRPr lang="en-US" sz="3400" dirty="0"/>
          </a:p>
        </p:txBody>
      </p:sp>
      <p:sp>
        <p:nvSpPr>
          <p:cNvPr id="13" name="Shape 9"/>
          <p:cNvSpPr/>
          <p:nvPr/>
        </p:nvSpPr>
        <p:spPr>
          <a:xfrm>
            <a:off x="292608" y="3376984"/>
            <a:ext cx="365760" cy="22860"/>
          </a:xfrm>
          <a:prstGeom prst="rect">
            <a:avLst/>
          </a:prstGeom>
          <a:solidFill>
            <a:srgbClr val="00B8B8"/>
          </a:solidFill>
          <a:ln/>
        </p:spPr>
        <p:txBody>
          <a:bodyPr/>
          <a:lstStyle/>
          <a:p>
            <a:endParaRPr lang="en-US"/>
          </a:p>
        </p:txBody>
      </p:sp>
      <p:sp>
        <p:nvSpPr>
          <p:cNvPr id="14" name="Shape 10"/>
          <p:cNvSpPr/>
          <p:nvPr/>
        </p:nvSpPr>
        <p:spPr>
          <a:xfrm>
            <a:off x="292608" y="3450136"/>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50136"/>
            <a:ext cx="45720" cy="640080"/>
          </a:xfrm>
          <a:prstGeom prst="rect">
            <a:avLst/>
          </a:prstGeom>
          <a:solidFill>
            <a:srgbClr val="00B8B8"/>
          </a:solidFill>
          <a:ln/>
        </p:spPr>
        <p:txBody>
          <a:bodyPr/>
          <a:lstStyle/>
          <a:p>
            <a:endParaRPr lang="en-US"/>
          </a:p>
        </p:txBody>
      </p:sp>
      <p:sp>
        <p:nvSpPr>
          <p:cNvPr id="16" name="Text 12"/>
          <p:cNvSpPr txBox="1"/>
          <p:nvPr/>
        </p:nvSpPr>
        <p:spPr>
          <a:xfrm>
            <a:off x="521208" y="3546148"/>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"Color y volumen cuentan su cambio"</a:t>
            </a:r>
            <a:endParaRPr lang="en-US" sz="1050" dirty="0"/>
          </a:p>
        </p:txBody>
      </p:sp>
      <p:sp>
        <p:nvSpPr>
          <p:cNvPr id="17" name="Text 13"/>
          <p:cNvSpPr txBox="1"/>
          <p:nvPr/>
        </p:nvSpPr>
        <p:spPr>
          <a:xfrm>
            <a:off x="292608" y="4199944"/>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ELEMENTOS CLAVE</a:t>
            </a:r>
            <a:endParaRPr lang="en-US" sz="800" dirty="0"/>
          </a:p>
        </p:txBody>
      </p:sp>
      <p:sp>
        <p:nvSpPr>
          <p:cNvPr id="18" name="Shape 14"/>
          <p:cNvSpPr/>
          <p:nvPr/>
        </p:nvSpPr>
        <p:spPr>
          <a:xfrm>
            <a:off x="292608" y="4437688"/>
            <a:ext cx="1225296" cy="310896"/>
          </a:xfrm>
          <a:prstGeom prst="rect">
            <a:avLst/>
          </a:prstGeom>
          <a:solidFill>
            <a:srgbClr val="E65100">
              <a:alpha val="80000"/>
            </a:srgbClr>
          </a:solidFill>
          <a:ln w="12700">
            <a:solidFill>
              <a:srgbClr val="E65100"/>
            </a:solidFill>
            <a:prstDash val="solid"/>
          </a:ln>
        </p:spPr>
        <p:txBody>
          <a:bodyPr/>
          <a:lstStyle/>
          <a:p>
            <a:endParaRPr lang="en-US"/>
          </a:p>
        </p:txBody>
      </p:sp>
      <p:sp>
        <p:nvSpPr>
          <p:cNvPr id="19" name="Shape 15"/>
          <p:cNvSpPr/>
          <p:nvPr/>
        </p:nvSpPr>
        <p:spPr>
          <a:xfrm>
            <a:off x="292608" y="4437688"/>
            <a:ext cx="54864" cy="310896"/>
          </a:xfrm>
          <a:prstGeom prst="rect">
            <a:avLst/>
          </a:prstGeom>
          <a:solidFill>
            <a:srgbClr val="E65100"/>
          </a:solidFill>
          <a:ln/>
        </p:spPr>
        <p:txBody>
          <a:bodyPr/>
          <a:lstStyle/>
          <a:p>
            <a:endParaRPr lang="en-US"/>
          </a:p>
        </p:txBody>
      </p:sp>
      <p:sp>
        <p:nvSpPr>
          <p:cNvPr id="20" name="Text 16"/>
          <p:cNvSpPr txBox="1"/>
          <p:nvPr/>
        </p:nvSpPr>
        <p:spPr>
          <a:xfrm>
            <a:off x="384048" y="443768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COLOR</a:t>
            </a:r>
            <a:endParaRPr lang="en-US" sz="950" dirty="0"/>
          </a:p>
        </p:txBody>
      </p:sp>
      <p:sp>
        <p:nvSpPr>
          <p:cNvPr id="21" name="Shape 17"/>
          <p:cNvSpPr/>
          <p:nvPr/>
        </p:nvSpPr>
        <p:spPr>
          <a:xfrm>
            <a:off x="1600200" y="4437688"/>
            <a:ext cx="1225296" cy="310896"/>
          </a:xfrm>
          <a:prstGeom prst="rect">
            <a:avLst/>
          </a:prstGeom>
          <a:solidFill>
            <a:srgbClr val="6A1B9A">
              <a:alpha val="80000"/>
            </a:srgbClr>
          </a:solidFill>
          <a:ln w="12700">
            <a:solidFill>
              <a:srgbClr val="6A1B9A"/>
            </a:solidFill>
            <a:prstDash val="solid"/>
          </a:ln>
        </p:spPr>
        <p:txBody>
          <a:bodyPr/>
          <a:lstStyle/>
          <a:p>
            <a:endParaRPr lang="en-US"/>
          </a:p>
        </p:txBody>
      </p:sp>
      <p:sp>
        <p:nvSpPr>
          <p:cNvPr id="22" name="Shape 18"/>
          <p:cNvSpPr/>
          <p:nvPr/>
        </p:nvSpPr>
        <p:spPr>
          <a:xfrm>
            <a:off x="1600200" y="4437688"/>
            <a:ext cx="54864" cy="310896"/>
          </a:xfrm>
          <a:prstGeom prst="rect">
            <a:avLst/>
          </a:prstGeom>
          <a:solidFill>
            <a:srgbClr val="6A1B9A"/>
          </a:solidFill>
          <a:ln/>
        </p:spPr>
        <p:txBody>
          <a:bodyPr/>
          <a:lstStyle/>
          <a:p>
            <a:endParaRPr lang="en-US"/>
          </a:p>
        </p:txBody>
      </p:sp>
      <p:sp>
        <p:nvSpPr>
          <p:cNvPr id="23" name="Text 19"/>
          <p:cNvSpPr txBox="1"/>
          <p:nvPr/>
        </p:nvSpPr>
        <p:spPr>
          <a:xfrm>
            <a:off x="1691640" y="443768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VOLUMEN</a:t>
            </a:r>
            <a:endParaRPr lang="en-US" sz="950" dirty="0"/>
          </a:p>
        </p:txBody>
      </p:sp>
      <p:sp>
        <p:nvSpPr>
          <p:cNvPr id="24" name="Shape 20"/>
          <p:cNvSpPr/>
          <p:nvPr/>
        </p:nvSpPr>
        <p:spPr>
          <a:xfrm>
            <a:off x="2907792" y="4437688"/>
            <a:ext cx="1225296" cy="310896"/>
          </a:xfrm>
          <a:prstGeom prst="rect">
            <a:avLst/>
          </a:prstGeom>
          <a:solidFill>
            <a:srgbClr val="1B5E20">
              <a:alpha val="80000"/>
            </a:srgbClr>
          </a:solidFill>
          <a:ln w="12700">
            <a:solidFill>
              <a:srgbClr val="1B5E20"/>
            </a:solidFill>
            <a:prstDash val="solid"/>
          </a:ln>
        </p:spPr>
        <p:txBody>
          <a:bodyPr/>
          <a:lstStyle/>
          <a:p>
            <a:endParaRPr lang="en-US"/>
          </a:p>
        </p:txBody>
      </p:sp>
      <p:sp>
        <p:nvSpPr>
          <p:cNvPr id="25" name="Shape 21"/>
          <p:cNvSpPr/>
          <p:nvPr/>
        </p:nvSpPr>
        <p:spPr>
          <a:xfrm>
            <a:off x="2907792" y="4437688"/>
            <a:ext cx="54864" cy="310896"/>
          </a:xfrm>
          <a:prstGeom prst="rect">
            <a:avLst/>
          </a:prstGeom>
          <a:solidFill>
            <a:srgbClr val="1B5E20"/>
          </a:solidFill>
          <a:ln/>
        </p:spPr>
        <p:txBody>
          <a:bodyPr/>
          <a:lstStyle/>
          <a:p>
            <a:endParaRPr lang="en-US"/>
          </a:p>
        </p:txBody>
      </p:sp>
      <p:sp>
        <p:nvSpPr>
          <p:cNvPr id="26" name="Text 22"/>
          <p:cNvSpPr txBox="1"/>
          <p:nvPr/>
        </p:nvSpPr>
        <p:spPr>
          <a:xfrm>
            <a:off x="2999232" y="443768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VALOR</a:t>
            </a:r>
            <a:endParaRPr lang="en-US" sz="950" dirty="0"/>
          </a:p>
        </p:txBody>
      </p:sp>
      <p:sp>
        <p:nvSpPr>
          <p:cNvPr id="27" name="Shape 23"/>
          <p:cNvSpPr/>
          <p:nvPr/>
        </p:nvSpPr>
        <p:spPr>
          <a:xfrm>
            <a:off x="4617720" y="768096"/>
            <a:ext cx="310896" cy="310896"/>
          </a:xfrm>
          <a:prstGeom prst="rect">
            <a:avLst/>
          </a:prstGeom>
          <a:solidFill>
            <a:srgbClr val="E65100"/>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CO</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COLOR</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El diseño de Elsa pasa de azules oscuros y apagados cuando está reprimida a azules de hielo luminosos cuando se libera. La paleta de color ES su cambio de personaje, contado de forma visual sin explicaciones. El equipo metió la historia emocional dentro del color.</a:t>
            </a:r>
            <a:endParaRPr lang="en-US" sz="1000" dirty="0"/>
          </a:p>
        </p:txBody>
      </p:sp>
      <p:sp>
        <p:nvSpPr>
          <p:cNvPr id="32" name="Shape 28"/>
          <p:cNvSpPr/>
          <p:nvPr/>
        </p:nvSpPr>
        <p:spPr>
          <a:xfrm>
            <a:off x="4617720" y="2048256"/>
            <a:ext cx="310896" cy="310896"/>
          </a:xfrm>
          <a:prstGeom prst="rect">
            <a:avLst/>
          </a:prstGeom>
          <a:solidFill>
            <a:srgbClr val="6A1B9A"/>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VO</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VOLUMEN</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Su palacio de hielo y sus vestidos usan formas cristalinas angulares que expresan su precisión y su aislamiento, bellas, filosas, y frías al tacto por diseño. Las formas redondas se sienten cálidas, las angulares se sienten frías y distantes.</a:t>
            </a:r>
            <a:endParaRPr lang="en-US" sz="1000" dirty="0"/>
          </a:p>
        </p:txBody>
      </p:sp>
      <p:sp>
        <p:nvSpPr>
          <p:cNvPr id="37" name="Shape 33"/>
          <p:cNvSpPr/>
          <p:nvPr/>
        </p:nvSpPr>
        <p:spPr>
          <a:xfrm>
            <a:off x="4617720" y="3328416"/>
            <a:ext cx="310896" cy="310896"/>
          </a:xfrm>
          <a:prstGeom prst="rect">
            <a:avLst/>
          </a:prstGeom>
          <a:solidFill>
            <a:srgbClr val="1B5E20"/>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VL</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VALOR</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Los ambientes de hielo usan un rango completo de valor, luces casi blancas y sombras azul marino profundo, para crear luminosidad y profundidad. Ese rango hace que la nieve y el hielo se sientan como si brillaran de verdad.</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90863F84-F5A1-938A-9735-F450ED4DB5DF}"/>
              </a:ext>
            </a:extLst>
          </p:cNvPr>
          <p:cNvPicPr>
            <a:picLocks noChangeAspect="1"/>
          </p:cNvPicPr>
          <p:nvPr/>
        </p:nvPicPr>
        <p:blipFill>
          <a:blip r:embed="rId5"/>
          <a:stretch>
            <a:fillRect/>
          </a:stretch>
        </p:blipFill>
        <p:spPr>
          <a:xfrm>
            <a:off x="3095809" y="595993"/>
            <a:ext cx="1828800" cy="363310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ELEMENTOS DEL ARTE EN ESTE PERSONAJE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12 / 12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2000"/>
          </a:blip>
          <a:stretch>
            <a:fillRect/>
          </a:stretch>
        </p:blipFill>
        <p:spPr>
          <a:xfrm>
            <a:off x="5029200" y="676656"/>
            <a:ext cx="3840480" cy="4297680"/>
          </a:xfrm>
          <a:prstGeom prst="rect">
            <a:avLst/>
          </a:prstGeom>
        </p:spPr>
      </p:pic>
      <p:sp>
        <p:nvSpPr>
          <p:cNvPr id="9014" name="CharacterGlow9014"/>
          <p:cNvSpPr/>
          <p:nvPr/>
        </p:nvSpPr>
        <p:spPr>
          <a:xfrm>
            <a:off x="2111640" y="731520"/>
            <a:ext cx="2771256" cy="4077455"/>
          </a:xfrm>
          <a:prstGeom prst="ellipse">
            <a:avLst/>
          </a:prstGeom>
          <a:gradFill rotWithShape="1">
            <a:gsLst>
              <a:gs pos="0">
                <a:srgbClr val="21444B">
                  <a:alpha val="72000"/>
                </a:srgbClr>
              </a:gs>
              <a:gs pos="25000">
                <a:srgbClr val="1E3E45">
                  <a:alpha val="62000"/>
                </a:srgbClr>
              </a:gs>
              <a:gs pos="45000">
                <a:srgbClr val="18333A">
                  <a:alpha val="45000"/>
                </a:srgbClr>
              </a:gs>
              <a:gs pos="62000">
                <a:srgbClr val="12272C">
                  <a:alpha val="28000"/>
                </a:srgbClr>
              </a:gs>
              <a:gs pos="78000">
                <a:srgbClr val="0D1B1F">
                  <a:alpha val="14000"/>
                </a:srgbClr>
              </a:gs>
              <a:gs pos="90000">
                <a:srgbClr val="0A1113">
                  <a:alpha val="5000"/>
                </a:srgbClr>
              </a:gs>
              <a:gs pos="100000">
                <a:srgbClr val="080808">
                  <a:alpha val="0"/>
                </a:srgbClr>
              </a:gs>
            </a:gsLst>
            <a:path path="circle">
              <a:fillToRect l="50000" t="50000" r="50000" b="50000"/>
            </a:path>
          </a:gradFill>
          <a:ln>
            <a:noFill/>
          </a:ln>
        </p:spPr>
        <p:txBody>
          <a:bodyPr/>
          <a:lstStyle/>
          <a:p>
            <a:endParaRPr/>
          </a:p>
        </p:txBody>
      </p:sp>
      <p:sp>
        <p:nvSpPr>
          <p:cNvPr id="9" name="Shape 5"/>
          <p:cNvSpPr/>
          <p:nvPr/>
        </p:nvSpPr>
        <p:spPr>
          <a:xfrm>
            <a:off x="292608" y="749808"/>
            <a:ext cx="438912" cy="438912"/>
          </a:xfrm>
          <a:prstGeom prst="rect">
            <a:avLst/>
          </a:prstGeom>
          <a:solidFill>
            <a:srgbClr val="00B8B8"/>
          </a:solidFill>
          <a:ln/>
        </p:spPr>
        <p:txBody>
          <a:bodyPr/>
          <a:lstStyle/>
          <a:p>
            <a:endParaRPr lang="en-US"/>
          </a:p>
        </p:txBody>
      </p:sp>
      <p:sp>
        <p:nvSpPr>
          <p:cNvPr id="10" name="Text 6"/>
          <p:cNvSpPr txBox="1"/>
          <p:nvPr/>
        </p:nvSpPr>
        <p:spPr>
          <a:xfrm>
            <a:off x="292608" y="749808"/>
            <a:ext cx="438912" cy="438912"/>
          </a:xfrm>
          <a:prstGeom prst="rect">
            <a:avLst/>
          </a:prstGeom>
          <a:noFill/>
          <a:ln/>
        </p:spPr>
        <p:txBody>
          <a:bodyPr wrap="square" lIns="0" tIns="0" rIns="0" bIns="0" rtlCol="0" anchor="ctr"/>
          <a:lstStyle/>
          <a:p>
            <a:pPr marL="0" indent="0" algn="ctr">
              <a:buNone/>
            </a:pPr>
            <a:r>
              <a:rPr lang="en-US" sz="1500" b="1" dirty="0">
                <a:solidFill>
                  <a:srgbClr val="080808"/>
                </a:solidFill>
                <a:latin typeface="Oswald" pitchFamily="34" charset="0"/>
                <a:ea typeface="Oswald" pitchFamily="34" charset="-122"/>
                <a:cs typeface="Oswald" pitchFamily="34" charset="-120"/>
              </a:rPr>
              <a:t>12</a:t>
            </a:r>
            <a:endParaRPr lang="en-US" sz="1500" dirty="0"/>
          </a:p>
        </p:txBody>
      </p:sp>
      <p:sp>
        <p:nvSpPr>
          <p:cNvPr id="11" name="Text 7"/>
          <p:cNvSpPr txBox="1"/>
          <p:nvPr/>
        </p:nvSpPr>
        <p:spPr>
          <a:xfrm>
            <a:off x="804672" y="758952"/>
            <a:ext cx="3657600" cy="237744"/>
          </a:xfrm>
          <a:prstGeom prst="rect">
            <a:avLst/>
          </a:prstGeom>
          <a:noFill/>
          <a:ln/>
        </p:spPr>
        <p:txBody>
          <a:bodyPr wrap="square" lIns="0" tIns="0" rIns="0" bIns="0" rtlCol="0" anchor="ctr"/>
          <a:lstStyle/>
          <a:p>
            <a:pPr marL="0" indent="0" algn="l">
              <a:buNone/>
            </a:pPr>
            <a:r>
              <a:rPr lang="en-US" sz="900" b="1" kern="0" spc="80" dirty="0">
                <a:solidFill>
                  <a:srgbClr val="777777"/>
                </a:solidFill>
                <a:latin typeface="Oswald" pitchFamily="34" charset="0"/>
                <a:ea typeface="Oswald" pitchFamily="34" charset="-122"/>
                <a:cs typeface="Oswald" pitchFamily="34" charset="-120"/>
              </a:rPr>
              <a:t>Nickelodeon  /  2001</a:t>
            </a:r>
            <a:endParaRPr lang="en-US" sz="900" dirty="0"/>
          </a:p>
        </p:txBody>
      </p:sp>
      <p:sp>
        <p:nvSpPr>
          <p:cNvPr id="12" name="Text 8"/>
          <p:cNvSpPr txBox="1"/>
          <p:nvPr/>
        </p:nvSpPr>
        <p:spPr>
          <a:xfrm>
            <a:off x="292608" y="1207008"/>
            <a:ext cx="4114800" cy="713232"/>
          </a:xfrm>
          <a:prstGeom prst="rect">
            <a:avLst/>
          </a:prstGeom>
          <a:noFill/>
          <a:ln/>
        </p:spPr>
        <p:txBody>
          <a:bodyPr wrap="square" lIns="0" tIns="0" rIns="0" bIns="0" rtlCol="0" anchor="t"/>
          <a:lstStyle/>
          <a:p>
            <a:pPr marL="0" indent="0" algn="l">
              <a:buNone/>
            </a:pPr>
            <a:r>
              <a:rPr lang="en-US" sz="3400" b="1" dirty="0">
                <a:solidFill>
                  <a:srgbClr val="FFFFFF"/>
                </a:solidFill>
                <a:latin typeface="Oswald" pitchFamily="34" charset="0"/>
                <a:ea typeface="Oswald" pitchFamily="34" charset="-122"/>
                <a:cs typeface="Oswald" pitchFamily="34" charset="-120"/>
              </a:rPr>
              <a:t>Invasor Zim</a:t>
            </a:r>
            <a:endParaRPr lang="en-US" sz="3400" dirty="0"/>
          </a:p>
        </p:txBody>
      </p:sp>
      <p:sp>
        <p:nvSpPr>
          <p:cNvPr id="13" name="Shape 9"/>
          <p:cNvSpPr/>
          <p:nvPr/>
        </p:nvSpPr>
        <p:spPr>
          <a:xfrm>
            <a:off x="292608" y="3384194"/>
            <a:ext cx="365760" cy="22860"/>
          </a:xfrm>
          <a:prstGeom prst="rect">
            <a:avLst/>
          </a:prstGeom>
          <a:solidFill>
            <a:srgbClr val="00B8B8"/>
          </a:solidFill>
          <a:ln/>
        </p:spPr>
        <p:txBody>
          <a:bodyPr/>
          <a:lstStyle/>
          <a:p>
            <a:endParaRPr lang="en-US"/>
          </a:p>
        </p:txBody>
      </p:sp>
      <p:sp>
        <p:nvSpPr>
          <p:cNvPr id="14" name="Shape 10"/>
          <p:cNvSpPr/>
          <p:nvPr/>
        </p:nvSpPr>
        <p:spPr>
          <a:xfrm>
            <a:off x="292608" y="3457346"/>
            <a:ext cx="4114800" cy="640080"/>
          </a:xfrm>
          <a:prstGeom prst="rect">
            <a:avLst/>
          </a:prstGeom>
          <a:solidFill>
            <a:srgbClr val="00B8B8">
              <a:alpha val="12000"/>
            </a:srgbClr>
          </a:solidFill>
          <a:ln w="12700">
            <a:solidFill>
              <a:srgbClr val="00B8B8"/>
            </a:solidFill>
            <a:prstDash val="solid"/>
          </a:ln>
        </p:spPr>
        <p:txBody>
          <a:bodyPr/>
          <a:lstStyle/>
          <a:p>
            <a:endParaRPr lang="en-US"/>
          </a:p>
        </p:txBody>
      </p:sp>
      <p:sp>
        <p:nvSpPr>
          <p:cNvPr id="15" name="Shape 11"/>
          <p:cNvSpPr/>
          <p:nvPr/>
        </p:nvSpPr>
        <p:spPr>
          <a:xfrm>
            <a:off x="292608" y="3457346"/>
            <a:ext cx="45720" cy="640080"/>
          </a:xfrm>
          <a:prstGeom prst="rect">
            <a:avLst/>
          </a:prstGeom>
          <a:solidFill>
            <a:srgbClr val="00B8B8"/>
          </a:solidFill>
          <a:ln/>
        </p:spPr>
        <p:txBody>
          <a:bodyPr/>
          <a:lstStyle/>
          <a:p>
            <a:endParaRPr lang="en-US"/>
          </a:p>
        </p:txBody>
      </p:sp>
      <p:sp>
        <p:nvSpPr>
          <p:cNvPr id="16" name="Text 12"/>
          <p:cNvSpPr txBox="1"/>
          <p:nvPr/>
        </p:nvSpPr>
        <p:spPr>
          <a:xfrm>
            <a:off x="521208" y="3553358"/>
            <a:ext cx="3840480" cy="460858"/>
          </a:xfrm>
          <a:prstGeom prst="rect">
            <a:avLst/>
          </a:prstGeom>
          <a:noFill/>
          <a:ln/>
        </p:spPr>
        <p:txBody>
          <a:bodyPr wrap="square" lIns="0" tIns="0" rIns="0" bIns="0" rtlCol="0" anchor="ctr"/>
          <a:lstStyle/>
          <a:p>
            <a:pPr marL="0" indent="0" algn="l">
              <a:lnSpc>
                <a:spcPct val="125000"/>
              </a:lnSpc>
              <a:buNone/>
            </a:pPr>
            <a:r>
              <a:rPr lang="en-US" sz="1050" dirty="0">
                <a:solidFill>
                  <a:srgbClr val="80E0E0"/>
                </a:solidFill>
                <a:latin typeface="Arial" pitchFamily="34" charset="0"/>
                <a:ea typeface="Arial" pitchFamily="34" charset="-122"/>
                <a:cs typeface="Arial" pitchFamily="34" charset="-120"/>
              </a:rPr>
              <a:t>"Forma y espacio que incomodan"</a:t>
            </a:r>
            <a:endParaRPr lang="en-US" sz="1050" dirty="0"/>
          </a:p>
        </p:txBody>
      </p:sp>
      <p:sp>
        <p:nvSpPr>
          <p:cNvPr id="17" name="Text 13"/>
          <p:cNvSpPr txBox="1"/>
          <p:nvPr/>
        </p:nvSpPr>
        <p:spPr>
          <a:xfrm>
            <a:off x="292608" y="4207154"/>
            <a:ext cx="1828800" cy="201168"/>
          </a:xfrm>
          <a:prstGeom prst="rect">
            <a:avLst/>
          </a:prstGeom>
          <a:noFill/>
          <a:ln/>
        </p:spPr>
        <p:txBody>
          <a:bodyPr wrap="square" lIns="0" tIns="0" rIns="0" bIns="0" rtlCol="0" anchor="ctr"/>
          <a:lstStyle/>
          <a:p>
            <a:pPr marL="0" indent="0" algn="l">
              <a:buNone/>
            </a:pPr>
            <a:r>
              <a:rPr lang="en-US" sz="800" b="1" kern="0" spc="150" dirty="0">
                <a:solidFill>
                  <a:srgbClr val="777777"/>
                </a:solidFill>
                <a:latin typeface="Oswald" pitchFamily="34" charset="0"/>
                <a:ea typeface="Oswald" pitchFamily="34" charset="-122"/>
                <a:cs typeface="Oswald" pitchFamily="34" charset="-120"/>
              </a:rPr>
              <a:t>ELEMENTOS CLAVE</a:t>
            </a:r>
            <a:endParaRPr lang="en-US" sz="800" dirty="0"/>
          </a:p>
        </p:txBody>
      </p:sp>
      <p:sp>
        <p:nvSpPr>
          <p:cNvPr id="18" name="Shape 14"/>
          <p:cNvSpPr/>
          <p:nvPr/>
        </p:nvSpPr>
        <p:spPr>
          <a:xfrm>
            <a:off x="292608" y="4444898"/>
            <a:ext cx="1225296" cy="310896"/>
          </a:xfrm>
          <a:prstGeom prst="rect">
            <a:avLst/>
          </a:prstGeom>
          <a:solidFill>
            <a:srgbClr val="BF360C">
              <a:alpha val="80000"/>
            </a:srgbClr>
          </a:solidFill>
          <a:ln w="12700">
            <a:solidFill>
              <a:srgbClr val="BF360C"/>
            </a:solidFill>
            <a:prstDash val="solid"/>
          </a:ln>
        </p:spPr>
        <p:txBody>
          <a:bodyPr/>
          <a:lstStyle/>
          <a:p>
            <a:endParaRPr lang="en-US"/>
          </a:p>
        </p:txBody>
      </p:sp>
      <p:sp>
        <p:nvSpPr>
          <p:cNvPr id="19" name="Shape 15"/>
          <p:cNvSpPr/>
          <p:nvPr/>
        </p:nvSpPr>
        <p:spPr>
          <a:xfrm>
            <a:off x="292608" y="4444898"/>
            <a:ext cx="54864" cy="310896"/>
          </a:xfrm>
          <a:prstGeom prst="rect">
            <a:avLst/>
          </a:prstGeom>
          <a:solidFill>
            <a:srgbClr val="BF360C"/>
          </a:solidFill>
          <a:ln/>
        </p:spPr>
        <p:txBody>
          <a:bodyPr/>
          <a:lstStyle/>
          <a:p>
            <a:endParaRPr lang="en-US"/>
          </a:p>
        </p:txBody>
      </p:sp>
      <p:sp>
        <p:nvSpPr>
          <p:cNvPr id="20" name="Text 16"/>
          <p:cNvSpPr txBox="1"/>
          <p:nvPr/>
        </p:nvSpPr>
        <p:spPr>
          <a:xfrm>
            <a:off x="384048" y="444489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FORMA</a:t>
            </a:r>
            <a:endParaRPr lang="en-US" sz="950" dirty="0"/>
          </a:p>
        </p:txBody>
      </p:sp>
      <p:sp>
        <p:nvSpPr>
          <p:cNvPr id="21" name="Shape 17"/>
          <p:cNvSpPr/>
          <p:nvPr/>
        </p:nvSpPr>
        <p:spPr>
          <a:xfrm>
            <a:off x="1600200" y="4444898"/>
            <a:ext cx="1225296" cy="310896"/>
          </a:xfrm>
          <a:prstGeom prst="rect">
            <a:avLst/>
          </a:prstGeom>
          <a:solidFill>
            <a:srgbClr val="B71C1C">
              <a:alpha val="80000"/>
            </a:srgbClr>
          </a:solidFill>
          <a:ln w="12700">
            <a:solidFill>
              <a:srgbClr val="B71C1C"/>
            </a:solidFill>
            <a:prstDash val="solid"/>
          </a:ln>
        </p:spPr>
        <p:txBody>
          <a:bodyPr/>
          <a:lstStyle/>
          <a:p>
            <a:endParaRPr lang="en-US"/>
          </a:p>
        </p:txBody>
      </p:sp>
      <p:sp>
        <p:nvSpPr>
          <p:cNvPr id="22" name="Shape 18"/>
          <p:cNvSpPr/>
          <p:nvPr/>
        </p:nvSpPr>
        <p:spPr>
          <a:xfrm>
            <a:off x="1600200" y="4444898"/>
            <a:ext cx="54864" cy="310896"/>
          </a:xfrm>
          <a:prstGeom prst="rect">
            <a:avLst/>
          </a:prstGeom>
          <a:solidFill>
            <a:srgbClr val="B71C1C"/>
          </a:solidFill>
          <a:ln/>
        </p:spPr>
        <p:txBody>
          <a:bodyPr/>
          <a:lstStyle/>
          <a:p>
            <a:endParaRPr lang="en-US"/>
          </a:p>
        </p:txBody>
      </p:sp>
      <p:sp>
        <p:nvSpPr>
          <p:cNvPr id="23" name="Text 19"/>
          <p:cNvSpPr txBox="1"/>
          <p:nvPr/>
        </p:nvSpPr>
        <p:spPr>
          <a:xfrm>
            <a:off x="1691640" y="444489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LÍNEA</a:t>
            </a:r>
            <a:endParaRPr lang="en-US" sz="950" dirty="0"/>
          </a:p>
        </p:txBody>
      </p:sp>
      <p:sp>
        <p:nvSpPr>
          <p:cNvPr id="24" name="Shape 20"/>
          <p:cNvSpPr/>
          <p:nvPr/>
        </p:nvSpPr>
        <p:spPr>
          <a:xfrm>
            <a:off x="2907792" y="4444898"/>
            <a:ext cx="1225296" cy="310896"/>
          </a:xfrm>
          <a:prstGeom prst="rect">
            <a:avLst/>
          </a:prstGeom>
          <a:solidFill>
            <a:srgbClr val="006064">
              <a:alpha val="80000"/>
            </a:srgbClr>
          </a:solidFill>
          <a:ln w="12700">
            <a:solidFill>
              <a:srgbClr val="006064"/>
            </a:solidFill>
            <a:prstDash val="solid"/>
          </a:ln>
        </p:spPr>
        <p:txBody>
          <a:bodyPr/>
          <a:lstStyle/>
          <a:p>
            <a:endParaRPr lang="en-US"/>
          </a:p>
        </p:txBody>
      </p:sp>
      <p:sp>
        <p:nvSpPr>
          <p:cNvPr id="25" name="Shape 21"/>
          <p:cNvSpPr/>
          <p:nvPr/>
        </p:nvSpPr>
        <p:spPr>
          <a:xfrm>
            <a:off x="2907792" y="4444898"/>
            <a:ext cx="54864" cy="310896"/>
          </a:xfrm>
          <a:prstGeom prst="rect">
            <a:avLst/>
          </a:prstGeom>
          <a:solidFill>
            <a:srgbClr val="006064"/>
          </a:solidFill>
          <a:ln/>
        </p:spPr>
        <p:txBody>
          <a:bodyPr/>
          <a:lstStyle/>
          <a:p>
            <a:endParaRPr lang="en-US"/>
          </a:p>
        </p:txBody>
      </p:sp>
      <p:sp>
        <p:nvSpPr>
          <p:cNvPr id="26" name="Text 22"/>
          <p:cNvSpPr txBox="1"/>
          <p:nvPr/>
        </p:nvSpPr>
        <p:spPr>
          <a:xfrm>
            <a:off x="2999232" y="4444898"/>
            <a:ext cx="1115568" cy="310896"/>
          </a:xfrm>
          <a:prstGeom prst="rect">
            <a:avLst/>
          </a:prstGeom>
          <a:noFill/>
          <a:ln/>
        </p:spPr>
        <p:txBody>
          <a:bodyPr wrap="square" lIns="0" tIns="0" rIns="0" bIns="0" rtlCol="0" anchor="ctr"/>
          <a:lstStyle/>
          <a:p>
            <a:pPr marL="0" indent="0" algn="l">
              <a:buNone/>
            </a:pPr>
            <a:r>
              <a:rPr lang="en-US" sz="950" b="1" dirty="0">
                <a:solidFill>
                  <a:srgbClr val="FFFFFF"/>
                </a:solidFill>
                <a:latin typeface="Oswald" pitchFamily="34" charset="0"/>
                <a:ea typeface="Oswald" pitchFamily="34" charset="-122"/>
                <a:cs typeface="Oswald" pitchFamily="34" charset="-120"/>
              </a:rPr>
              <a:t>ESPACIO</a:t>
            </a:r>
            <a:endParaRPr lang="en-US" sz="950" dirty="0"/>
          </a:p>
        </p:txBody>
      </p:sp>
      <p:sp>
        <p:nvSpPr>
          <p:cNvPr id="27" name="Shape 23"/>
          <p:cNvSpPr/>
          <p:nvPr/>
        </p:nvSpPr>
        <p:spPr>
          <a:xfrm>
            <a:off x="4617720" y="768096"/>
            <a:ext cx="310896" cy="310896"/>
          </a:xfrm>
          <a:prstGeom prst="rect">
            <a:avLst/>
          </a:prstGeom>
          <a:solidFill>
            <a:srgbClr val="BF360C"/>
          </a:solidFill>
          <a:ln/>
        </p:spPr>
        <p:txBody>
          <a:bodyPr/>
          <a:lstStyle/>
          <a:p>
            <a:endParaRPr lang="en-US"/>
          </a:p>
        </p:txBody>
      </p:sp>
      <p:sp>
        <p:nvSpPr>
          <p:cNvPr id="28" name="Text 24"/>
          <p:cNvSpPr txBox="1"/>
          <p:nvPr/>
        </p:nvSpPr>
        <p:spPr>
          <a:xfrm>
            <a:off x="4617720" y="76809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FO</a:t>
            </a:r>
            <a:endParaRPr lang="en-US" sz="800" dirty="0"/>
          </a:p>
        </p:txBody>
      </p:sp>
      <p:sp>
        <p:nvSpPr>
          <p:cNvPr id="29" name="Text 25"/>
          <p:cNvSpPr txBox="1"/>
          <p:nvPr/>
        </p:nvSpPr>
        <p:spPr>
          <a:xfrm>
            <a:off x="5001768" y="75895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FORMA</a:t>
            </a:r>
            <a:endParaRPr lang="en-US" sz="1250" dirty="0"/>
          </a:p>
        </p:txBody>
      </p:sp>
      <p:sp>
        <p:nvSpPr>
          <p:cNvPr id="30" name="Shape 26"/>
          <p:cNvSpPr/>
          <p:nvPr/>
        </p:nvSpPr>
        <p:spPr>
          <a:xfrm>
            <a:off x="5001768" y="1019556"/>
            <a:ext cx="201168" cy="16459"/>
          </a:xfrm>
          <a:prstGeom prst="rect">
            <a:avLst/>
          </a:prstGeom>
          <a:solidFill>
            <a:srgbClr val="00B8B8"/>
          </a:solidFill>
          <a:ln/>
        </p:spPr>
        <p:txBody>
          <a:bodyPr/>
          <a:lstStyle/>
          <a:p>
            <a:endParaRPr lang="en-US"/>
          </a:p>
        </p:txBody>
      </p:sp>
      <p:sp>
        <p:nvSpPr>
          <p:cNvPr id="31" name="Text 27"/>
          <p:cNvSpPr txBox="1"/>
          <p:nvPr/>
        </p:nvSpPr>
        <p:spPr>
          <a:xfrm>
            <a:off x="5001768" y="105156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Zim está construido con formas muy angulares, cabeza puntiaguda, ojos triangulares enormes, cuerpo rígido. Jhonen Vasquez usó geometría filosa para indicar que este personaje es alienígena, extraño, y peligroso. El lenguaje de formas puede crear incomodidad a propósito.</a:t>
            </a:r>
            <a:endParaRPr lang="en-US" sz="1000" dirty="0"/>
          </a:p>
        </p:txBody>
      </p:sp>
      <p:sp>
        <p:nvSpPr>
          <p:cNvPr id="32" name="Shape 28"/>
          <p:cNvSpPr/>
          <p:nvPr/>
        </p:nvSpPr>
        <p:spPr>
          <a:xfrm>
            <a:off x="4617720" y="2048256"/>
            <a:ext cx="310896" cy="310896"/>
          </a:xfrm>
          <a:prstGeom prst="rect">
            <a:avLst/>
          </a:prstGeom>
          <a:solidFill>
            <a:srgbClr val="B71C1C"/>
          </a:solidFill>
          <a:ln/>
        </p:spPr>
        <p:txBody>
          <a:bodyPr/>
          <a:lstStyle/>
          <a:p>
            <a:endParaRPr lang="en-US"/>
          </a:p>
        </p:txBody>
      </p:sp>
      <p:sp>
        <p:nvSpPr>
          <p:cNvPr id="33" name="Text 29"/>
          <p:cNvSpPr txBox="1"/>
          <p:nvPr/>
        </p:nvSpPr>
        <p:spPr>
          <a:xfrm>
            <a:off x="4617720" y="204825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LN</a:t>
            </a:r>
            <a:endParaRPr lang="en-US" sz="800" dirty="0"/>
          </a:p>
        </p:txBody>
      </p:sp>
      <p:sp>
        <p:nvSpPr>
          <p:cNvPr id="34" name="Text 30"/>
          <p:cNvSpPr txBox="1"/>
          <p:nvPr/>
        </p:nvSpPr>
        <p:spPr>
          <a:xfrm>
            <a:off x="5001768" y="203911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LÍNEA</a:t>
            </a:r>
            <a:endParaRPr lang="en-US" sz="1250" dirty="0"/>
          </a:p>
        </p:txBody>
      </p:sp>
      <p:sp>
        <p:nvSpPr>
          <p:cNvPr id="35" name="Shape 31"/>
          <p:cNvSpPr/>
          <p:nvPr/>
        </p:nvSpPr>
        <p:spPr>
          <a:xfrm>
            <a:off x="5001768" y="2299716"/>
            <a:ext cx="201168" cy="16459"/>
          </a:xfrm>
          <a:prstGeom prst="rect">
            <a:avLst/>
          </a:prstGeom>
          <a:solidFill>
            <a:srgbClr val="00B8B8"/>
          </a:solidFill>
          <a:ln/>
        </p:spPr>
        <p:txBody>
          <a:bodyPr/>
          <a:lstStyle/>
          <a:p>
            <a:endParaRPr lang="en-US"/>
          </a:p>
        </p:txBody>
      </p:sp>
      <p:sp>
        <p:nvSpPr>
          <p:cNvPr id="36" name="Text 32"/>
          <p:cNvSpPr txBox="1"/>
          <p:nvPr/>
        </p:nvSpPr>
        <p:spPr>
          <a:xfrm>
            <a:off x="5001768" y="233172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El trazo en Invasor Zim es rasposo, dentado, e irregular, muy distinto a las líneas limpias de la mayoría de la animación de Nickelodeon. Esas líneas agresivas extienden la personalidad inquietante del programa hasta el arte mismo.</a:t>
            </a:r>
            <a:endParaRPr lang="en-US" sz="1000" dirty="0"/>
          </a:p>
        </p:txBody>
      </p:sp>
      <p:sp>
        <p:nvSpPr>
          <p:cNvPr id="37" name="Shape 33"/>
          <p:cNvSpPr/>
          <p:nvPr/>
        </p:nvSpPr>
        <p:spPr>
          <a:xfrm>
            <a:off x="4617720" y="3328416"/>
            <a:ext cx="310896" cy="310896"/>
          </a:xfrm>
          <a:prstGeom prst="rect">
            <a:avLst/>
          </a:prstGeom>
          <a:solidFill>
            <a:srgbClr val="006064"/>
          </a:solidFill>
          <a:ln/>
        </p:spPr>
        <p:txBody>
          <a:bodyPr/>
          <a:lstStyle/>
          <a:p>
            <a:endParaRPr lang="en-US"/>
          </a:p>
        </p:txBody>
      </p:sp>
      <p:sp>
        <p:nvSpPr>
          <p:cNvPr id="38" name="Text 34"/>
          <p:cNvSpPr txBox="1"/>
          <p:nvPr/>
        </p:nvSpPr>
        <p:spPr>
          <a:xfrm>
            <a:off x="4617720" y="3328416"/>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Oswald" pitchFamily="34" charset="0"/>
                <a:ea typeface="Oswald" pitchFamily="34" charset="-122"/>
                <a:cs typeface="Oswald" pitchFamily="34" charset="-120"/>
              </a:rPr>
              <a:t>ES</a:t>
            </a:r>
            <a:endParaRPr lang="en-US" sz="800" dirty="0"/>
          </a:p>
        </p:txBody>
      </p:sp>
      <p:sp>
        <p:nvSpPr>
          <p:cNvPr id="39" name="Text 35"/>
          <p:cNvSpPr txBox="1"/>
          <p:nvPr/>
        </p:nvSpPr>
        <p:spPr>
          <a:xfrm>
            <a:off x="5001768" y="3319272"/>
            <a:ext cx="3822192" cy="246888"/>
          </a:xfrm>
          <a:prstGeom prst="rect">
            <a:avLst/>
          </a:prstGeom>
          <a:noFill/>
          <a:ln/>
        </p:spPr>
        <p:txBody>
          <a:bodyPr wrap="square" lIns="0" tIns="0" rIns="0" bIns="0" rtlCol="0" anchor="ctr"/>
          <a:lstStyle/>
          <a:p>
            <a:pPr marL="0" indent="0" algn="l">
              <a:buNone/>
            </a:pPr>
            <a:r>
              <a:rPr lang="en-US" sz="1250" b="1" dirty="0">
                <a:solidFill>
                  <a:srgbClr val="80E0E0"/>
                </a:solidFill>
                <a:latin typeface="Oswald" pitchFamily="34" charset="0"/>
                <a:ea typeface="Oswald" pitchFamily="34" charset="-122"/>
                <a:cs typeface="Oswald" pitchFamily="34" charset="-120"/>
              </a:rPr>
              <a:t>ESPACIO</a:t>
            </a:r>
            <a:endParaRPr lang="en-US" sz="1250" dirty="0"/>
          </a:p>
        </p:txBody>
      </p:sp>
      <p:sp>
        <p:nvSpPr>
          <p:cNvPr id="40" name="Shape 36"/>
          <p:cNvSpPr/>
          <p:nvPr/>
        </p:nvSpPr>
        <p:spPr>
          <a:xfrm>
            <a:off x="5001768" y="3579876"/>
            <a:ext cx="201168" cy="16459"/>
          </a:xfrm>
          <a:prstGeom prst="rect">
            <a:avLst/>
          </a:prstGeom>
          <a:solidFill>
            <a:srgbClr val="00B8B8"/>
          </a:solidFill>
          <a:ln/>
        </p:spPr>
        <p:txBody>
          <a:bodyPr/>
          <a:lstStyle/>
          <a:p>
            <a:endParaRPr lang="en-US"/>
          </a:p>
        </p:txBody>
      </p:sp>
      <p:sp>
        <p:nvSpPr>
          <p:cNvPr id="41" name="Text 37"/>
          <p:cNvSpPr txBox="1"/>
          <p:nvPr/>
        </p:nvSpPr>
        <p:spPr>
          <a:xfrm>
            <a:off x="5001768" y="3611880"/>
            <a:ext cx="3822192" cy="932688"/>
          </a:xfrm>
          <a:prstGeom prst="rect">
            <a:avLst/>
          </a:prstGeom>
          <a:noFill/>
          <a:ln/>
        </p:spPr>
        <p:txBody>
          <a:bodyPr wrap="square" lIns="0" tIns="0" rIns="0" bIns="0" rtlCol="0" anchor="ctr"/>
          <a:lstStyle/>
          <a:p>
            <a:pPr marL="0" indent="0" algn="l">
              <a:lnSpc>
                <a:spcPct val="125000"/>
              </a:lnSpc>
              <a:buNone/>
            </a:pPr>
            <a:r>
              <a:rPr lang="en-US" sz="1000" dirty="0">
                <a:solidFill>
                  <a:srgbClr val="FFFFFF"/>
                </a:solidFill>
                <a:latin typeface="Arial" pitchFamily="34" charset="0"/>
                <a:ea typeface="Arial" pitchFamily="34" charset="-122"/>
                <a:cs typeface="Arial" pitchFamily="34" charset="-120"/>
              </a:rPr>
              <a:t>Zim siempre está dibujado un poco más grande o más pequeño de lo que debería respecto al ambiente, las relaciones de espacio están mal de formas difíciles de nombrar. Ese error sutil de espacio crea sensación de amenaza e irrealidad.</a:t>
            </a:r>
            <a:endParaRPr lang="en-US" sz="1000" dirty="0"/>
          </a:p>
        </p:txBody>
      </p:sp>
      <p:sp>
        <p:nvSpPr>
          <p:cNvPr id="42" name="Text 38"/>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pic>
        <p:nvPicPr>
          <p:cNvPr id="43" name="Picture 42">
            <a:extLst>
              <a:ext uri="{FF2B5EF4-FFF2-40B4-BE49-F238E27FC236}">
                <a16:creationId xmlns:a16="http://schemas.microsoft.com/office/drawing/2014/main" id="{9E929BA3-AE96-F6F1-AB3B-A98909E435DD}"/>
              </a:ext>
            </a:extLst>
          </p:cNvPr>
          <p:cNvPicPr>
            <a:picLocks noChangeAspect="1"/>
          </p:cNvPicPr>
          <p:nvPr/>
        </p:nvPicPr>
        <p:blipFill>
          <a:blip r:embed="rId5"/>
          <a:stretch>
            <a:fillRect/>
          </a:stretch>
        </p:blipFill>
        <p:spPr>
          <a:xfrm>
            <a:off x="2486400" y="667032"/>
            <a:ext cx="2204472" cy="35401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405"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gn="l">
              <a:buNone/>
            </a:pPr>
            <a:r>
              <a:rPr lang="en-US" sz="1900" b="1" dirty="0">
                <a:solidFill>
                  <a:srgbClr val="80E0E0"/>
                </a:solidFill>
                <a:latin typeface="Oswald" pitchFamily="34" charset="0"/>
                <a:ea typeface="Oswald" pitchFamily="34" charset="-122"/>
                <a:cs typeface="Oswald" pitchFamily="34" charset="-120"/>
              </a:rPr>
              <a:t>DISCUSIÓN EN CLASE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buNone/>
            </a:pPr>
            <a:r>
              <a:rPr lang="en-US" sz="900" b="1" kern="0" spc="130" dirty="0">
                <a:solidFill>
                  <a:srgbClr val="80E0E0"/>
                </a:solidFill>
                <a:latin typeface="Oswald" pitchFamily="34" charset="0"/>
                <a:ea typeface="Oswald" pitchFamily="34" charset="-122"/>
                <a:cs typeface="Oswald" pitchFamily="34" charset="-120"/>
              </a:rPr>
              <a:t>15 / 15</a:t>
            </a:r>
            <a:endParaRPr lang="en-US" sz="900" dirty="0"/>
          </a:p>
        </p:txBody>
      </p:sp>
      <p:sp>
        <p:nvSpPr>
          <p:cNvPr id="7" name="Shape 4"/>
          <p:cNvSpPr/>
          <p:nvPr/>
        </p:nvSpPr>
        <p:spPr>
          <a:xfrm>
            <a:off x="859536" y="699516"/>
            <a:ext cx="457200" cy="22860"/>
          </a:xfrm>
          <a:prstGeom prst="rect">
            <a:avLst/>
          </a:prstGeom>
          <a:solidFill>
            <a:srgbClr val="00B8B8"/>
          </a:solidFill>
          <a:ln/>
        </p:spPr>
        <p:txBody>
          <a:bodyPr/>
          <a:lstStyle/>
          <a:p>
            <a:endParaRPr lang="en-US"/>
          </a:p>
        </p:txBody>
      </p:sp>
      <p:pic>
        <p:nvPicPr>
          <p:cNvPr id="8" name="Image 1" descr="preencoded.png"/>
          <p:cNvPicPr>
            <a:picLocks noChangeAspect="1"/>
          </p:cNvPicPr>
          <p:nvPr/>
        </p:nvPicPr>
        <p:blipFill>
          <a:blip r:embed="rId4">
            <a:alphaModFix amt="15000"/>
          </a:blip>
          <a:stretch>
            <a:fillRect/>
          </a:stretch>
        </p:blipFill>
        <p:spPr>
          <a:xfrm>
            <a:off x="6067958" y="676656"/>
            <a:ext cx="3254350" cy="4211726"/>
          </a:xfrm>
          <a:prstGeom prst="rect">
            <a:avLst/>
          </a:prstGeom>
        </p:spPr>
      </p:pic>
      <p:sp>
        <p:nvSpPr>
          <p:cNvPr id="9" name="Text 5"/>
          <p:cNvSpPr txBox="1"/>
          <p:nvPr/>
        </p:nvSpPr>
        <p:spPr>
          <a:xfrm>
            <a:off x="292608" y="795528"/>
            <a:ext cx="7772400" cy="493776"/>
          </a:xfrm>
          <a:prstGeom prst="rect">
            <a:avLst/>
          </a:prstGeom>
          <a:noFill/>
          <a:ln/>
        </p:spPr>
        <p:txBody>
          <a:bodyPr wrap="square" lIns="0" tIns="0" rIns="0" bIns="0" rtlCol="0" anchor="ctr"/>
          <a:lstStyle/>
          <a:p>
            <a:pPr marL="0" indent="0" algn="l">
              <a:buNone/>
            </a:pPr>
            <a:r>
              <a:rPr lang="en-US" sz="2600" b="1" dirty="0">
                <a:solidFill>
                  <a:srgbClr val="FFFFFF"/>
                </a:solidFill>
                <a:latin typeface="Oswald" pitchFamily="34" charset="0"/>
                <a:ea typeface="Oswald" pitchFamily="34" charset="-122"/>
                <a:cs typeface="Oswald" pitchFamily="34" charset="-120"/>
              </a:rPr>
              <a:t>¿Cuál personaje usó mejor los elementos?</a:t>
            </a:r>
            <a:endParaRPr lang="en-US" sz="2600" dirty="0"/>
          </a:p>
        </p:txBody>
      </p:sp>
      <p:sp>
        <p:nvSpPr>
          <p:cNvPr id="10" name="Shape 6"/>
          <p:cNvSpPr/>
          <p:nvPr/>
        </p:nvSpPr>
        <p:spPr>
          <a:xfrm>
            <a:off x="292608" y="1316736"/>
            <a:ext cx="457200" cy="22860"/>
          </a:xfrm>
          <a:prstGeom prst="rect">
            <a:avLst/>
          </a:prstGeom>
          <a:solidFill>
            <a:srgbClr val="00B8B8"/>
          </a:solidFill>
          <a:ln/>
        </p:spPr>
        <p:txBody>
          <a:bodyPr/>
          <a:lstStyle/>
          <a:p>
            <a:endParaRPr lang="en-US"/>
          </a:p>
        </p:txBody>
      </p:sp>
      <p:sp>
        <p:nvSpPr>
          <p:cNvPr id="11" name="Shape 7"/>
          <p:cNvSpPr/>
          <p:nvPr/>
        </p:nvSpPr>
        <p:spPr>
          <a:xfrm>
            <a:off x="292608" y="1371600"/>
            <a:ext cx="4160520" cy="1408176"/>
          </a:xfrm>
          <a:prstGeom prst="rect">
            <a:avLst/>
          </a:prstGeom>
          <a:solidFill>
            <a:srgbClr val="00B8B8">
              <a:alpha val="8000"/>
            </a:srgbClr>
          </a:solidFill>
          <a:ln w="12700">
            <a:solidFill>
              <a:srgbClr val="00B8B8"/>
            </a:solidFill>
            <a:prstDash val="solid"/>
          </a:ln>
        </p:spPr>
        <p:txBody>
          <a:bodyPr/>
          <a:lstStyle/>
          <a:p>
            <a:endParaRPr lang="en-US"/>
          </a:p>
        </p:txBody>
      </p:sp>
      <p:sp>
        <p:nvSpPr>
          <p:cNvPr id="12" name="Shape 8"/>
          <p:cNvSpPr/>
          <p:nvPr/>
        </p:nvSpPr>
        <p:spPr>
          <a:xfrm>
            <a:off x="292608" y="1371600"/>
            <a:ext cx="45720" cy="1408176"/>
          </a:xfrm>
          <a:prstGeom prst="rect">
            <a:avLst/>
          </a:prstGeom>
          <a:solidFill>
            <a:srgbClr val="00B8B8"/>
          </a:solidFill>
          <a:ln/>
        </p:spPr>
        <p:txBody>
          <a:bodyPr/>
          <a:lstStyle/>
          <a:p>
            <a:endParaRPr lang="en-US"/>
          </a:p>
        </p:txBody>
      </p:sp>
      <p:sp>
        <p:nvSpPr>
          <p:cNvPr id="13" name="Shape 9"/>
          <p:cNvSpPr/>
          <p:nvPr/>
        </p:nvSpPr>
        <p:spPr>
          <a:xfrm>
            <a:off x="402336" y="1463040"/>
            <a:ext cx="274320" cy="274320"/>
          </a:xfrm>
          <a:prstGeom prst="rect">
            <a:avLst/>
          </a:prstGeom>
          <a:solidFill>
            <a:srgbClr val="00B8B8"/>
          </a:solidFill>
          <a:ln/>
        </p:spPr>
        <p:txBody>
          <a:bodyPr/>
          <a:lstStyle/>
          <a:p>
            <a:endParaRPr lang="en-US"/>
          </a:p>
        </p:txBody>
      </p:sp>
      <p:sp>
        <p:nvSpPr>
          <p:cNvPr id="14" name="Text 10"/>
          <p:cNvSpPr txBox="1"/>
          <p:nvPr/>
        </p:nvSpPr>
        <p:spPr>
          <a:xfrm>
            <a:off x="402336" y="1463040"/>
            <a:ext cx="274320" cy="274320"/>
          </a:xfrm>
          <a:prstGeom prst="rect">
            <a:avLst/>
          </a:prstGeom>
          <a:noFill/>
          <a:ln/>
        </p:spPr>
        <p:txBody>
          <a:bodyPr wrap="square" lIns="0" tIns="0" rIns="0" bIns="0" rtlCol="0" anchor="ctr"/>
          <a:lstStyle/>
          <a:p>
            <a:pPr marL="0" indent="0" algn="ctr">
              <a:buNone/>
            </a:pPr>
            <a:r>
              <a:rPr lang="en-US" sz="1100" b="1" dirty="0">
                <a:solidFill>
                  <a:srgbClr val="080808"/>
                </a:solidFill>
                <a:latin typeface="Oswald" pitchFamily="34" charset="0"/>
                <a:ea typeface="Oswald" pitchFamily="34" charset="-122"/>
                <a:cs typeface="Oswald" pitchFamily="34" charset="-120"/>
              </a:rPr>
              <a:t>01</a:t>
            </a:r>
            <a:endParaRPr lang="en-US" sz="1100" dirty="0"/>
          </a:p>
        </p:txBody>
      </p:sp>
      <p:sp>
        <p:nvSpPr>
          <p:cNvPr id="15" name="Text 11"/>
          <p:cNvSpPr txBox="1"/>
          <p:nvPr/>
        </p:nvSpPr>
        <p:spPr>
          <a:xfrm>
            <a:off x="749808" y="1463040"/>
            <a:ext cx="3630168" cy="1271016"/>
          </a:xfrm>
          <a:prstGeom prst="rect">
            <a:avLst/>
          </a:prstGeom>
          <a:noFill/>
          <a:ln/>
        </p:spPr>
        <p:txBody>
          <a:bodyPr wrap="square" lIns="0" tIns="0" rIns="0" bIns="0" rtlCol="0" anchor="t"/>
          <a:lstStyle/>
          <a:p>
            <a:pPr marL="0" indent="0" algn="l">
              <a:lnSpc>
                <a:spcPct val="125000"/>
              </a:lnSpc>
              <a:buNone/>
            </a:pPr>
            <a:r>
              <a:rPr lang="en-US" sz="1050" dirty="0">
                <a:solidFill>
                  <a:srgbClr val="FFFFFF"/>
                </a:solidFill>
                <a:latin typeface="Arial" pitchFamily="34" charset="0"/>
                <a:ea typeface="Arial" pitchFamily="34" charset="-122"/>
                <a:cs typeface="Arial" pitchFamily="34" charset="-120"/>
              </a:rPr>
              <a:t>Nombra UN elemento que notaste en un personaje que NO analizamos. ¿Qué estaba haciendo?</a:t>
            </a:r>
            <a:endParaRPr lang="en-US" sz="1050" dirty="0"/>
          </a:p>
        </p:txBody>
      </p:sp>
      <p:sp>
        <p:nvSpPr>
          <p:cNvPr id="16" name="Shape 12"/>
          <p:cNvSpPr/>
          <p:nvPr/>
        </p:nvSpPr>
        <p:spPr>
          <a:xfrm>
            <a:off x="4562856" y="1371600"/>
            <a:ext cx="4160520" cy="1408176"/>
          </a:xfrm>
          <a:prstGeom prst="rect">
            <a:avLst/>
          </a:prstGeom>
          <a:solidFill>
            <a:srgbClr val="00B8B8">
              <a:alpha val="8000"/>
            </a:srgbClr>
          </a:solidFill>
          <a:ln w="12700">
            <a:solidFill>
              <a:srgbClr val="00B8B8"/>
            </a:solidFill>
            <a:prstDash val="solid"/>
          </a:ln>
        </p:spPr>
        <p:txBody>
          <a:bodyPr/>
          <a:lstStyle/>
          <a:p>
            <a:endParaRPr lang="en-US"/>
          </a:p>
        </p:txBody>
      </p:sp>
      <p:sp>
        <p:nvSpPr>
          <p:cNvPr id="17" name="Shape 13"/>
          <p:cNvSpPr/>
          <p:nvPr/>
        </p:nvSpPr>
        <p:spPr>
          <a:xfrm>
            <a:off x="4562856" y="1371600"/>
            <a:ext cx="45720" cy="1408176"/>
          </a:xfrm>
          <a:prstGeom prst="rect">
            <a:avLst/>
          </a:prstGeom>
          <a:solidFill>
            <a:srgbClr val="00B8B8"/>
          </a:solidFill>
          <a:ln/>
        </p:spPr>
        <p:txBody>
          <a:bodyPr/>
          <a:lstStyle/>
          <a:p>
            <a:endParaRPr lang="en-US"/>
          </a:p>
        </p:txBody>
      </p:sp>
      <p:sp>
        <p:nvSpPr>
          <p:cNvPr id="18" name="Shape 14"/>
          <p:cNvSpPr/>
          <p:nvPr/>
        </p:nvSpPr>
        <p:spPr>
          <a:xfrm>
            <a:off x="4672584" y="1463040"/>
            <a:ext cx="274320" cy="274320"/>
          </a:xfrm>
          <a:prstGeom prst="rect">
            <a:avLst/>
          </a:prstGeom>
          <a:solidFill>
            <a:srgbClr val="00B8B8"/>
          </a:solidFill>
          <a:ln/>
        </p:spPr>
        <p:txBody>
          <a:bodyPr/>
          <a:lstStyle/>
          <a:p>
            <a:endParaRPr lang="en-US"/>
          </a:p>
        </p:txBody>
      </p:sp>
      <p:sp>
        <p:nvSpPr>
          <p:cNvPr id="19" name="Text 15"/>
          <p:cNvSpPr txBox="1"/>
          <p:nvPr/>
        </p:nvSpPr>
        <p:spPr>
          <a:xfrm>
            <a:off x="4672584" y="1463040"/>
            <a:ext cx="274320" cy="274320"/>
          </a:xfrm>
          <a:prstGeom prst="rect">
            <a:avLst/>
          </a:prstGeom>
          <a:noFill/>
          <a:ln/>
        </p:spPr>
        <p:txBody>
          <a:bodyPr wrap="square" lIns="0" tIns="0" rIns="0" bIns="0" rtlCol="0" anchor="ctr"/>
          <a:lstStyle/>
          <a:p>
            <a:pPr marL="0" indent="0" algn="ctr">
              <a:buNone/>
            </a:pPr>
            <a:r>
              <a:rPr lang="en-US" sz="1100" b="1" dirty="0">
                <a:solidFill>
                  <a:srgbClr val="080808"/>
                </a:solidFill>
                <a:latin typeface="Oswald" pitchFamily="34" charset="0"/>
                <a:ea typeface="Oswald" pitchFamily="34" charset="-122"/>
                <a:cs typeface="Oswald" pitchFamily="34" charset="-120"/>
              </a:rPr>
              <a:t>02</a:t>
            </a:r>
            <a:endParaRPr lang="en-US" sz="1100" dirty="0"/>
          </a:p>
        </p:txBody>
      </p:sp>
      <p:sp>
        <p:nvSpPr>
          <p:cNvPr id="20" name="Text 16"/>
          <p:cNvSpPr txBox="1"/>
          <p:nvPr/>
        </p:nvSpPr>
        <p:spPr>
          <a:xfrm>
            <a:off x="5020056" y="1463040"/>
            <a:ext cx="3630168" cy="1271016"/>
          </a:xfrm>
          <a:prstGeom prst="rect">
            <a:avLst/>
          </a:prstGeom>
          <a:noFill/>
          <a:ln/>
        </p:spPr>
        <p:txBody>
          <a:bodyPr wrap="square" lIns="0" tIns="0" rIns="0" bIns="0" rtlCol="0" anchor="t"/>
          <a:lstStyle/>
          <a:p>
            <a:pPr marL="0" indent="0" algn="l">
              <a:lnSpc>
                <a:spcPct val="125000"/>
              </a:lnSpc>
              <a:buNone/>
            </a:pPr>
            <a:r>
              <a:rPr lang="en-US" sz="1050" dirty="0">
                <a:solidFill>
                  <a:srgbClr val="FFFFFF"/>
                </a:solidFill>
                <a:latin typeface="Arial" pitchFamily="34" charset="0"/>
                <a:ea typeface="Arial" pitchFamily="34" charset="-122"/>
                <a:cs typeface="Arial" pitchFamily="34" charset="-120"/>
              </a:rPr>
              <a:t>¿Cuál diseño de personaje funcionaría mejor como LOGO? ¿Por qué ayuda su forma?</a:t>
            </a:r>
            <a:endParaRPr lang="en-US" sz="1050" dirty="0"/>
          </a:p>
        </p:txBody>
      </p:sp>
      <p:sp>
        <p:nvSpPr>
          <p:cNvPr id="21" name="Shape 17"/>
          <p:cNvSpPr/>
          <p:nvPr/>
        </p:nvSpPr>
        <p:spPr>
          <a:xfrm>
            <a:off x="292608" y="2889504"/>
            <a:ext cx="4160520" cy="1408176"/>
          </a:xfrm>
          <a:prstGeom prst="rect">
            <a:avLst/>
          </a:prstGeom>
          <a:solidFill>
            <a:srgbClr val="00B8B8">
              <a:alpha val="8000"/>
            </a:srgbClr>
          </a:solidFill>
          <a:ln w="12700">
            <a:solidFill>
              <a:srgbClr val="00B8B8"/>
            </a:solidFill>
            <a:prstDash val="solid"/>
          </a:ln>
        </p:spPr>
        <p:txBody>
          <a:bodyPr/>
          <a:lstStyle/>
          <a:p>
            <a:endParaRPr lang="en-US"/>
          </a:p>
        </p:txBody>
      </p:sp>
      <p:sp>
        <p:nvSpPr>
          <p:cNvPr id="22" name="Shape 18"/>
          <p:cNvSpPr/>
          <p:nvPr/>
        </p:nvSpPr>
        <p:spPr>
          <a:xfrm>
            <a:off x="292608" y="2889504"/>
            <a:ext cx="45720" cy="1408176"/>
          </a:xfrm>
          <a:prstGeom prst="rect">
            <a:avLst/>
          </a:prstGeom>
          <a:solidFill>
            <a:srgbClr val="00B8B8"/>
          </a:solidFill>
          <a:ln/>
        </p:spPr>
        <p:txBody>
          <a:bodyPr/>
          <a:lstStyle/>
          <a:p>
            <a:endParaRPr lang="en-US"/>
          </a:p>
        </p:txBody>
      </p:sp>
      <p:sp>
        <p:nvSpPr>
          <p:cNvPr id="23" name="Shape 19"/>
          <p:cNvSpPr/>
          <p:nvPr/>
        </p:nvSpPr>
        <p:spPr>
          <a:xfrm>
            <a:off x="402336" y="2980944"/>
            <a:ext cx="274320" cy="274320"/>
          </a:xfrm>
          <a:prstGeom prst="rect">
            <a:avLst/>
          </a:prstGeom>
          <a:solidFill>
            <a:srgbClr val="00B8B8"/>
          </a:solidFill>
          <a:ln/>
        </p:spPr>
        <p:txBody>
          <a:bodyPr/>
          <a:lstStyle/>
          <a:p>
            <a:endParaRPr lang="en-US"/>
          </a:p>
        </p:txBody>
      </p:sp>
      <p:sp>
        <p:nvSpPr>
          <p:cNvPr id="24" name="Text 20"/>
          <p:cNvSpPr txBox="1"/>
          <p:nvPr/>
        </p:nvSpPr>
        <p:spPr>
          <a:xfrm>
            <a:off x="402336" y="2980944"/>
            <a:ext cx="274320" cy="274320"/>
          </a:xfrm>
          <a:prstGeom prst="rect">
            <a:avLst/>
          </a:prstGeom>
          <a:noFill/>
          <a:ln/>
        </p:spPr>
        <p:txBody>
          <a:bodyPr wrap="square" lIns="0" tIns="0" rIns="0" bIns="0" rtlCol="0" anchor="ctr"/>
          <a:lstStyle/>
          <a:p>
            <a:pPr marL="0" indent="0" algn="ctr">
              <a:buNone/>
            </a:pPr>
            <a:r>
              <a:rPr lang="en-US" sz="1100" b="1" dirty="0">
                <a:solidFill>
                  <a:srgbClr val="080808"/>
                </a:solidFill>
                <a:latin typeface="Oswald" pitchFamily="34" charset="0"/>
                <a:ea typeface="Oswald" pitchFamily="34" charset="-122"/>
                <a:cs typeface="Oswald" pitchFamily="34" charset="-120"/>
              </a:rPr>
              <a:t>03</a:t>
            </a:r>
            <a:endParaRPr lang="en-US" sz="1100" dirty="0"/>
          </a:p>
        </p:txBody>
      </p:sp>
      <p:sp>
        <p:nvSpPr>
          <p:cNvPr id="25" name="Text 21"/>
          <p:cNvSpPr txBox="1"/>
          <p:nvPr/>
        </p:nvSpPr>
        <p:spPr>
          <a:xfrm>
            <a:off x="749808" y="2980944"/>
            <a:ext cx="3630168" cy="1271016"/>
          </a:xfrm>
          <a:prstGeom prst="rect">
            <a:avLst/>
          </a:prstGeom>
          <a:noFill/>
          <a:ln/>
        </p:spPr>
        <p:txBody>
          <a:bodyPr wrap="square" lIns="0" tIns="0" rIns="0" bIns="0" rtlCol="0" anchor="t"/>
          <a:lstStyle/>
          <a:p>
            <a:pPr marL="0" indent="0" algn="l">
              <a:lnSpc>
                <a:spcPct val="125000"/>
              </a:lnSpc>
              <a:buNone/>
            </a:pPr>
            <a:r>
              <a:rPr lang="en-US" sz="1050" dirty="0">
                <a:solidFill>
                  <a:srgbClr val="FFFFFF"/>
                </a:solidFill>
                <a:latin typeface="Arial" pitchFamily="34" charset="0"/>
                <a:ea typeface="Arial" pitchFamily="34" charset="-122"/>
                <a:cs typeface="Arial" pitchFamily="34" charset="-120"/>
              </a:rPr>
              <a:t>¿Cuál personaje se caería si le quitaras UNO de sus elementos clave? ¿Cuál y por qué?</a:t>
            </a:r>
            <a:endParaRPr lang="en-US" sz="1050" dirty="0"/>
          </a:p>
        </p:txBody>
      </p:sp>
      <p:sp>
        <p:nvSpPr>
          <p:cNvPr id="26" name="Shape 22"/>
          <p:cNvSpPr/>
          <p:nvPr/>
        </p:nvSpPr>
        <p:spPr>
          <a:xfrm>
            <a:off x="4562856" y="2889504"/>
            <a:ext cx="4160520" cy="1408176"/>
          </a:xfrm>
          <a:prstGeom prst="rect">
            <a:avLst/>
          </a:prstGeom>
          <a:solidFill>
            <a:srgbClr val="00B8B8">
              <a:alpha val="8000"/>
            </a:srgbClr>
          </a:solidFill>
          <a:ln w="12700">
            <a:solidFill>
              <a:srgbClr val="00B8B8"/>
            </a:solidFill>
            <a:prstDash val="solid"/>
          </a:ln>
        </p:spPr>
        <p:txBody>
          <a:bodyPr/>
          <a:lstStyle/>
          <a:p>
            <a:endParaRPr lang="en-US"/>
          </a:p>
        </p:txBody>
      </p:sp>
      <p:sp>
        <p:nvSpPr>
          <p:cNvPr id="27" name="Shape 23"/>
          <p:cNvSpPr/>
          <p:nvPr/>
        </p:nvSpPr>
        <p:spPr>
          <a:xfrm>
            <a:off x="4562856" y="2889504"/>
            <a:ext cx="45720" cy="1408176"/>
          </a:xfrm>
          <a:prstGeom prst="rect">
            <a:avLst/>
          </a:prstGeom>
          <a:solidFill>
            <a:srgbClr val="00B8B8"/>
          </a:solidFill>
          <a:ln/>
        </p:spPr>
        <p:txBody>
          <a:bodyPr/>
          <a:lstStyle/>
          <a:p>
            <a:endParaRPr lang="en-US"/>
          </a:p>
        </p:txBody>
      </p:sp>
      <p:sp>
        <p:nvSpPr>
          <p:cNvPr id="28" name="Shape 24"/>
          <p:cNvSpPr/>
          <p:nvPr/>
        </p:nvSpPr>
        <p:spPr>
          <a:xfrm>
            <a:off x="4672584" y="2980944"/>
            <a:ext cx="274320" cy="274320"/>
          </a:xfrm>
          <a:prstGeom prst="rect">
            <a:avLst/>
          </a:prstGeom>
          <a:solidFill>
            <a:srgbClr val="00B8B8"/>
          </a:solidFill>
          <a:ln/>
        </p:spPr>
        <p:txBody>
          <a:bodyPr/>
          <a:lstStyle/>
          <a:p>
            <a:endParaRPr lang="en-US"/>
          </a:p>
        </p:txBody>
      </p:sp>
      <p:sp>
        <p:nvSpPr>
          <p:cNvPr id="29" name="Text 25"/>
          <p:cNvSpPr txBox="1"/>
          <p:nvPr/>
        </p:nvSpPr>
        <p:spPr>
          <a:xfrm>
            <a:off x="4672584" y="2980944"/>
            <a:ext cx="274320" cy="274320"/>
          </a:xfrm>
          <a:prstGeom prst="rect">
            <a:avLst/>
          </a:prstGeom>
          <a:noFill/>
          <a:ln/>
        </p:spPr>
        <p:txBody>
          <a:bodyPr wrap="square" lIns="0" tIns="0" rIns="0" bIns="0" rtlCol="0" anchor="ctr"/>
          <a:lstStyle/>
          <a:p>
            <a:pPr marL="0" indent="0" algn="ctr">
              <a:buNone/>
            </a:pPr>
            <a:r>
              <a:rPr lang="en-US" sz="1100" b="1" dirty="0">
                <a:solidFill>
                  <a:srgbClr val="080808"/>
                </a:solidFill>
                <a:latin typeface="Oswald" pitchFamily="34" charset="0"/>
                <a:ea typeface="Oswald" pitchFamily="34" charset="-122"/>
                <a:cs typeface="Oswald" pitchFamily="34" charset="-120"/>
              </a:rPr>
              <a:t>04</a:t>
            </a:r>
            <a:endParaRPr lang="en-US" sz="1100" dirty="0"/>
          </a:p>
        </p:txBody>
      </p:sp>
      <p:sp>
        <p:nvSpPr>
          <p:cNvPr id="30" name="Text 26"/>
          <p:cNvSpPr txBox="1"/>
          <p:nvPr/>
        </p:nvSpPr>
        <p:spPr>
          <a:xfrm>
            <a:off x="5020056" y="2980944"/>
            <a:ext cx="3630168" cy="1271016"/>
          </a:xfrm>
          <a:prstGeom prst="rect">
            <a:avLst/>
          </a:prstGeom>
          <a:noFill/>
          <a:ln/>
        </p:spPr>
        <p:txBody>
          <a:bodyPr wrap="square" lIns="0" tIns="0" rIns="0" bIns="0" rtlCol="0" anchor="t"/>
          <a:lstStyle/>
          <a:p>
            <a:pPr marL="0" indent="0" algn="l">
              <a:lnSpc>
                <a:spcPct val="125000"/>
              </a:lnSpc>
              <a:buNone/>
            </a:pPr>
            <a:r>
              <a:rPr lang="en-US" sz="1050" dirty="0">
                <a:solidFill>
                  <a:srgbClr val="FFFFFF"/>
                </a:solidFill>
                <a:latin typeface="Arial" pitchFamily="34" charset="0"/>
                <a:ea typeface="Arial" pitchFamily="34" charset="-122"/>
                <a:cs typeface="Arial" pitchFamily="34" charset="-120"/>
              </a:rPr>
              <a:t>Escoge un personaje de esta lista. ¿Qué UN cambio haría más fuerte su diseño?</a:t>
            </a:r>
            <a:endParaRPr lang="en-US" sz="1050" dirty="0"/>
          </a:p>
        </p:txBody>
      </p:sp>
      <p:sp>
        <p:nvSpPr>
          <p:cNvPr id="31" name="Text 27"/>
          <p:cNvSpPr txBox="1"/>
          <p:nvPr/>
        </p:nvSpPr>
        <p:spPr>
          <a:xfrm>
            <a:off x="292608" y="4809744"/>
            <a:ext cx="8558784" cy="219456"/>
          </a:xfrm>
          <a:prstGeom prst="rect">
            <a:avLst/>
          </a:prstGeom>
          <a:noFill/>
          <a:ln/>
        </p:spPr>
        <p:txBody>
          <a:bodyPr wrap="square" lIns="0" tIns="0" rIns="0" bIns="0" rtlCol="0" anchor="ctr"/>
          <a:lstStyle/>
          <a:p>
            <a:pPr marL="0" indent="0" algn="l">
              <a:buNone/>
            </a:pPr>
            <a:r>
              <a:rPr lang="en-US" sz="950" b="1" kern="0" spc="100" dirty="0">
                <a:solidFill>
                  <a:srgbClr val="777777"/>
                </a:solidFill>
                <a:latin typeface="Oswald" pitchFamily="34" charset="0"/>
                <a:ea typeface="Oswald" pitchFamily="34" charset="-122"/>
                <a:cs typeface="Oswald" pitchFamily="34" charset="-120"/>
              </a:rPr>
              <a:t>MR. SILVA  /  PIONEER VALLEY HIGH SCHOOL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2203</Words>
  <Application>Microsoft Macintosh PowerPoint</Application>
  <PresentationFormat>On-screen Show (16:9)</PresentationFormat>
  <Paragraphs>299</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Oswald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 creativesilva.com</cp:lastModifiedBy>
  <cp:revision>6</cp:revision>
  <dcterms:created xsi:type="dcterms:W3CDTF">2026-09-28T17:56:35Z</dcterms:created>
  <dcterms:modified xsi:type="dcterms:W3CDTF">2026-09-30T11:34:17Z</dcterms:modified>
</cp:coreProperties>
</file>