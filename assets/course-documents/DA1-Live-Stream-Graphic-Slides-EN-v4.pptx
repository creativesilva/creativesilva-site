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25"/>
    <p:restoredTop sz="94610"/>
  </p:normalViewPr>
  <p:slideViewPr>
    <p:cSldViewPr snapToGrid="0" snapToObjects="1">
      <p:cViewPr varScale="1">
        <p:scale>
          <a:sx n="207" d="100"/>
          <a:sy n="207" d="100"/>
        </p:scale>
        <p:origin x="7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2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DIGITAL ARTS 1  |  Photoshop Lesson 1</a:t>
            </a:r>
            <a:endParaRPr lang="en-US" sz="1600" dirty="0"/>
          </a:p>
        </p:txBody>
      </p:sp>
      <p:sp>
        <p:nvSpPr>
          <p:cNvPr id="4" name="Text 2"/>
          <p:cNvSpPr txBox="1"/>
          <p:nvPr/>
        </p:nvSpPr>
        <p:spPr>
          <a:xfrm>
            <a:off x="182880" y="804672"/>
            <a:ext cx="493776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Building a Promotional Graphic</a:t>
            </a:r>
            <a:endParaRPr lang="en-US" sz="3000" dirty="0"/>
          </a:p>
        </p:txBody>
      </p:sp>
      <p:sp>
        <p:nvSpPr>
          <p:cNvPr id="5" name="Text 3"/>
          <p:cNvSpPr txBox="1"/>
          <p:nvPr/>
        </p:nvSpPr>
        <p:spPr>
          <a:xfrm>
            <a:off x="182880" y="1572768"/>
            <a:ext cx="4937760" cy="13716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You will build a professional 1920 × 1080 pixel live stream promotional image from scratch.</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You will learn to use Layers, the Rectangular Marquee selection tool, the Type tool, Adjustment Layers, the Brush tool, Generative Fill, and the Export As command.</a:t>
            </a:r>
            <a:endParaRPr lang="en-US" sz="1250" dirty="0"/>
          </a:p>
        </p:txBody>
      </p:sp>
      <p:pic>
        <p:nvPicPr>
          <p:cNvPr id="6" name="Image 0" descr="preencoded.png"/>
          <p:cNvPicPr>
            <a:picLocks noChangeAspect="1"/>
          </p:cNvPicPr>
          <p:nvPr/>
        </p:nvPicPr>
        <p:blipFill>
          <a:blip r:embed="rId3"/>
          <a:stretch>
            <a:fillRect/>
          </a:stretch>
        </p:blipFill>
        <p:spPr>
          <a:xfrm>
            <a:off x="5349240" y="749808"/>
            <a:ext cx="3566160" cy="2331720"/>
          </a:xfrm>
          <a:prstGeom prst="rect">
            <a:avLst/>
          </a:prstGeom>
        </p:spPr>
      </p:pic>
      <p:sp>
        <p:nvSpPr>
          <p:cNvPr id="7" name="Text 4"/>
          <p:cNvSpPr txBox="1"/>
          <p:nvPr/>
        </p:nvSpPr>
        <p:spPr>
          <a:xfrm>
            <a:off x="5349240" y="3108960"/>
            <a:ext cx="356616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The finished graphic you will build in this lesson</a:t>
            </a:r>
            <a:endParaRPr lang="en-US" sz="950" dirty="0"/>
          </a:p>
        </p:txBody>
      </p:sp>
      <p:sp>
        <p:nvSpPr>
          <p:cNvPr id="8" name="Shape 5"/>
          <p:cNvSpPr/>
          <p:nvPr/>
        </p:nvSpPr>
        <p:spPr>
          <a:xfrm>
            <a:off x="0" y="3401568"/>
            <a:ext cx="9144000" cy="18288"/>
          </a:xfrm>
          <a:prstGeom prst="rect">
            <a:avLst/>
          </a:prstGeom>
          <a:solidFill>
            <a:srgbClr val="333333"/>
          </a:solidFill>
          <a:ln/>
        </p:spPr>
        <p:txBody>
          <a:bodyPr/>
          <a:lstStyle/>
          <a:p>
            <a:endParaRPr lang="en-US"/>
          </a:p>
        </p:txBody>
      </p:sp>
      <p:sp>
        <p:nvSpPr>
          <p:cNvPr id="9" name="Text 6"/>
          <p:cNvSpPr txBox="1"/>
          <p:nvPr/>
        </p:nvSpPr>
        <p:spPr>
          <a:xfrm>
            <a:off x="164592" y="3419856"/>
            <a:ext cx="8778240" cy="256032"/>
          </a:xfrm>
          <a:prstGeom prst="rect">
            <a:avLst/>
          </a:prstGeom>
          <a:noFill/>
          <a:ln/>
        </p:spPr>
        <p:txBody>
          <a:bodyPr wrap="square" lIns="0" tIns="0" rIns="0" bIns="0" rtlCol="0" anchor="ctr"/>
          <a:lstStyle/>
          <a:p>
            <a:pPr marL="0" indent="0">
              <a:buNone/>
            </a:pPr>
            <a:r>
              <a:rPr lang="en-US" sz="1000" b="1" dirty="0">
                <a:solidFill>
                  <a:srgbClr val="AAAAAA"/>
                </a:solidFill>
                <a:latin typeface="Calibri" pitchFamily="34" charset="0"/>
                <a:ea typeface="Calibri" pitchFamily="34" charset="-122"/>
                <a:cs typeface="Calibri" pitchFamily="34" charset="-120"/>
              </a:rPr>
              <a:t>Steps in this lesson:</a:t>
            </a:r>
            <a:endParaRPr lang="en-US" sz="1000" dirty="0"/>
          </a:p>
        </p:txBody>
      </p:sp>
      <p:sp>
        <p:nvSpPr>
          <p:cNvPr id="10" name="Shape 7"/>
          <p:cNvSpPr/>
          <p:nvPr/>
        </p:nvSpPr>
        <p:spPr>
          <a:xfrm>
            <a:off x="13716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1" name="Text 8"/>
          <p:cNvSpPr txBox="1"/>
          <p:nvPr/>
        </p:nvSpPr>
        <p:spPr>
          <a:xfrm>
            <a:off x="22860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 New Document</a:t>
            </a:r>
            <a:endParaRPr lang="en-US" sz="1000" dirty="0"/>
          </a:p>
        </p:txBody>
      </p:sp>
      <p:sp>
        <p:nvSpPr>
          <p:cNvPr id="12" name="Shape 9"/>
          <p:cNvSpPr/>
          <p:nvPr/>
        </p:nvSpPr>
        <p:spPr>
          <a:xfrm>
            <a:off x="237744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3" name="Text 10"/>
          <p:cNvSpPr txBox="1"/>
          <p:nvPr/>
        </p:nvSpPr>
        <p:spPr>
          <a:xfrm>
            <a:off x="246888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2. Place Photo</a:t>
            </a:r>
            <a:endParaRPr lang="en-US" sz="1000" dirty="0"/>
          </a:p>
        </p:txBody>
      </p:sp>
      <p:sp>
        <p:nvSpPr>
          <p:cNvPr id="14" name="Shape 11"/>
          <p:cNvSpPr/>
          <p:nvPr/>
        </p:nvSpPr>
        <p:spPr>
          <a:xfrm>
            <a:off x="461772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5" name="Text 12"/>
          <p:cNvSpPr txBox="1"/>
          <p:nvPr/>
        </p:nvSpPr>
        <p:spPr>
          <a:xfrm>
            <a:off x="470916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3. Set Units</a:t>
            </a:r>
            <a:endParaRPr lang="en-US" sz="1000" dirty="0"/>
          </a:p>
        </p:txBody>
      </p:sp>
      <p:sp>
        <p:nvSpPr>
          <p:cNvPr id="16" name="Shape 13"/>
          <p:cNvSpPr/>
          <p:nvPr/>
        </p:nvSpPr>
        <p:spPr>
          <a:xfrm>
            <a:off x="685800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7" name="Text 14"/>
          <p:cNvSpPr txBox="1"/>
          <p:nvPr/>
        </p:nvSpPr>
        <p:spPr>
          <a:xfrm>
            <a:off x="694944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4. New Layer</a:t>
            </a:r>
            <a:endParaRPr lang="en-US" sz="1000" dirty="0"/>
          </a:p>
        </p:txBody>
      </p:sp>
      <p:sp>
        <p:nvSpPr>
          <p:cNvPr id="18" name="Shape 15"/>
          <p:cNvSpPr/>
          <p:nvPr/>
        </p:nvSpPr>
        <p:spPr>
          <a:xfrm>
            <a:off x="13716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9" name="Text 16"/>
          <p:cNvSpPr txBox="1"/>
          <p:nvPr/>
        </p:nvSpPr>
        <p:spPr>
          <a:xfrm>
            <a:off x="22860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5. Orange Bar</a:t>
            </a:r>
            <a:endParaRPr lang="en-US" sz="1000" dirty="0"/>
          </a:p>
        </p:txBody>
      </p:sp>
      <p:sp>
        <p:nvSpPr>
          <p:cNvPr id="20" name="Shape 17"/>
          <p:cNvSpPr/>
          <p:nvPr/>
        </p:nvSpPr>
        <p:spPr>
          <a:xfrm>
            <a:off x="237744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1" name="Text 18"/>
          <p:cNvSpPr txBox="1"/>
          <p:nvPr/>
        </p:nvSpPr>
        <p:spPr>
          <a:xfrm>
            <a:off x="246888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6. Blue Bar</a:t>
            </a:r>
            <a:endParaRPr lang="en-US" sz="1000" dirty="0"/>
          </a:p>
        </p:txBody>
      </p:sp>
      <p:sp>
        <p:nvSpPr>
          <p:cNvPr id="22" name="Shape 19"/>
          <p:cNvSpPr/>
          <p:nvPr/>
        </p:nvSpPr>
        <p:spPr>
          <a:xfrm>
            <a:off x="461772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3" name="Text 20"/>
          <p:cNvSpPr txBox="1"/>
          <p:nvPr/>
        </p:nvSpPr>
        <p:spPr>
          <a:xfrm>
            <a:off x="470916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7. Color Blend Mode</a:t>
            </a:r>
            <a:endParaRPr lang="en-US" sz="1000" dirty="0"/>
          </a:p>
        </p:txBody>
      </p:sp>
      <p:sp>
        <p:nvSpPr>
          <p:cNvPr id="24" name="Shape 21"/>
          <p:cNvSpPr/>
          <p:nvPr/>
        </p:nvSpPr>
        <p:spPr>
          <a:xfrm>
            <a:off x="685800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5" name="Text 22"/>
          <p:cNvSpPr txBox="1"/>
          <p:nvPr/>
        </p:nvSpPr>
        <p:spPr>
          <a:xfrm>
            <a:off x="694944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8. Title Text</a:t>
            </a:r>
            <a:endParaRPr lang="en-US" sz="1000" dirty="0"/>
          </a:p>
        </p:txBody>
      </p:sp>
      <p:sp>
        <p:nvSpPr>
          <p:cNvPr id="26" name="Shape 23"/>
          <p:cNvSpPr/>
          <p:nvPr/>
        </p:nvSpPr>
        <p:spPr>
          <a:xfrm>
            <a:off x="13716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7" name="Text 24"/>
          <p:cNvSpPr txBox="1"/>
          <p:nvPr/>
        </p:nvSpPr>
        <p:spPr>
          <a:xfrm>
            <a:off x="22860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9. Subtitle Text</a:t>
            </a:r>
            <a:endParaRPr lang="en-US" sz="1000" dirty="0"/>
          </a:p>
        </p:txBody>
      </p:sp>
      <p:sp>
        <p:nvSpPr>
          <p:cNvPr id="28" name="Shape 25"/>
          <p:cNvSpPr/>
          <p:nvPr/>
        </p:nvSpPr>
        <p:spPr>
          <a:xfrm>
            <a:off x="237744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9" name="Text 26"/>
          <p:cNvSpPr txBox="1"/>
          <p:nvPr/>
        </p:nvSpPr>
        <p:spPr>
          <a:xfrm>
            <a:off x="246888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10. Solid Color Layer</a:t>
            </a:r>
            <a:endParaRPr lang="en-US" sz="1000" dirty="0"/>
          </a:p>
        </p:txBody>
      </p:sp>
      <p:sp>
        <p:nvSpPr>
          <p:cNvPr id="30" name="Shape 27"/>
          <p:cNvSpPr/>
          <p:nvPr/>
        </p:nvSpPr>
        <p:spPr>
          <a:xfrm>
            <a:off x="461772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1" name="Text 28"/>
          <p:cNvSpPr txBox="1"/>
          <p:nvPr/>
        </p:nvSpPr>
        <p:spPr>
          <a:xfrm>
            <a:off x="470916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11. Sample + Paint</a:t>
            </a:r>
            <a:endParaRPr lang="en-US" sz="1000" dirty="0"/>
          </a:p>
        </p:txBody>
      </p:sp>
      <p:sp>
        <p:nvSpPr>
          <p:cNvPr id="32" name="Shape 29"/>
          <p:cNvSpPr/>
          <p:nvPr/>
        </p:nvSpPr>
        <p:spPr>
          <a:xfrm>
            <a:off x="685800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3" name="Text 30"/>
          <p:cNvSpPr txBox="1"/>
          <p:nvPr/>
        </p:nvSpPr>
        <p:spPr>
          <a:xfrm>
            <a:off x="694944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12. Move + Gen Fill</a:t>
            </a:r>
            <a:endParaRPr lang="en-US" sz="1000" dirty="0"/>
          </a:p>
        </p:txBody>
      </p:sp>
      <p:sp>
        <p:nvSpPr>
          <p:cNvPr id="34" name="Shape 31"/>
          <p:cNvSpPr/>
          <p:nvPr/>
        </p:nvSpPr>
        <p:spPr>
          <a:xfrm>
            <a:off x="137160" y="4790683"/>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5" name="Text 32"/>
          <p:cNvSpPr txBox="1"/>
          <p:nvPr/>
        </p:nvSpPr>
        <p:spPr>
          <a:xfrm>
            <a:off x="228600" y="4818163"/>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13. Export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01</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Create a New Document</a:t>
            </a:r>
            <a:endParaRPr lang="en-US" sz="2000" dirty="0"/>
          </a:p>
        </p:txBody>
      </p:sp>
      <p:sp>
        <p:nvSpPr>
          <p:cNvPr id="5" name="Shape 3"/>
          <p:cNvSpPr/>
          <p:nvPr/>
        </p:nvSpPr>
        <p:spPr>
          <a:xfrm>
            <a:off x="182880" y="777240"/>
            <a:ext cx="8778240" cy="685800"/>
          </a:xfrm>
          <a:prstGeom prst="roundRect">
            <a:avLst>
              <a:gd name="adj" fmla="val 10667"/>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Photoshop document is called a PSD file. It stores every layer, mask, and adjustment you make — all in one file. Your final deliverable is a 1920 × 1080 pixel canvas, which is the standard size for HD video and live stream graphics.</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File &gt; New</a:t>
            </a:r>
            <a:endParaRPr lang="en-US" sz="1300" dirty="0"/>
          </a:p>
        </p:txBody>
      </p:sp>
      <p:sp>
        <p:nvSpPr>
          <p:cNvPr id="10" name="Text 8"/>
          <p:cNvSpPr txBox="1"/>
          <p:nvPr/>
        </p:nvSpPr>
        <p:spPr>
          <a:xfrm>
            <a:off x="658368" y="1810512"/>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opens the New Document dialog. You can also click New File on the Home screen.</a:t>
            </a:r>
            <a:endParaRPr lang="en-US" sz="1150" dirty="0"/>
          </a:p>
        </p:txBody>
      </p:sp>
      <p:sp>
        <p:nvSpPr>
          <p:cNvPr id="11" name="Shape 9"/>
          <p:cNvSpPr/>
          <p:nvPr/>
        </p:nvSpPr>
        <p:spPr>
          <a:xfrm>
            <a:off x="182880" y="2304549"/>
            <a:ext cx="365760" cy="365760"/>
          </a:xfrm>
          <a:prstGeom prst="ellipse">
            <a:avLst/>
          </a:prstGeom>
          <a:solidFill>
            <a:srgbClr val="FF6B1A"/>
          </a:solidFill>
          <a:ln/>
        </p:spPr>
        <p:txBody>
          <a:bodyPr/>
          <a:lstStyle/>
          <a:p>
            <a:endParaRPr lang="en-US"/>
          </a:p>
        </p:txBody>
      </p:sp>
      <p:sp>
        <p:nvSpPr>
          <p:cNvPr id="12" name="Text 10"/>
          <p:cNvSpPr txBox="1"/>
          <p:nvPr/>
        </p:nvSpPr>
        <p:spPr>
          <a:xfrm>
            <a:off x="182880" y="23045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221992"/>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Film &amp; Video category</a:t>
            </a:r>
            <a:endParaRPr lang="en-US" sz="1300" dirty="0"/>
          </a:p>
        </p:txBody>
      </p:sp>
      <p:sp>
        <p:nvSpPr>
          <p:cNvPr id="14" name="Text 12"/>
          <p:cNvSpPr txBox="1"/>
          <p:nvPr/>
        </p:nvSpPr>
        <p:spPr>
          <a:xfrm>
            <a:off x="658368" y="2496573"/>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at the row of tabs across the top of the dialog — Photo, Print, Art &amp; Illustration, Film &amp; Video, etc. Click Film &amp; Video.</a:t>
            </a:r>
            <a:endParaRPr lang="en-US" sz="1150" dirty="0"/>
          </a:p>
        </p:txBody>
      </p:sp>
      <p:sp>
        <p:nvSpPr>
          <p:cNvPr id="15" name="Shape 13"/>
          <p:cNvSpPr/>
          <p:nvPr/>
        </p:nvSpPr>
        <p:spPr>
          <a:xfrm>
            <a:off x="182880" y="3008898"/>
            <a:ext cx="365760" cy="365760"/>
          </a:xfrm>
          <a:prstGeom prst="ellipse">
            <a:avLst/>
          </a:prstGeom>
          <a:solidFill>
            <a:srgbClr val="FF6B1A"/>
          </a:solidFill>
          <a:ln/>
        </p:spPr>
        <p:txBody>
          <a:bodyPr/>
          <a:lstStyle/>
          <a:p>
            <a:endParaRPr lang="en-US"/>
          </a:p>
        </p:txBody>
      </p:sp>
      <p:sp>
        <p:nvSpPr>
          <p:cNvPr id="16" name="Text 14"/>
          <p:cNvSpPr txBox="1"/>
          <p:nvPr/>
        </p:nvSpPr>
        <p:spPr>
          <a:xfrm>
            <a:off x="182880" y="300889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917197"/>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HDTV 1080p preset</a:t>
            </a:r>
            <a:endParaRPr lang="en-US" sz="1300" dirty="0"/>
          </a:p>
        </p:txBody>
      </p:sp>
      <p:sp>
        <p:nvSpPr>
          <p:cNvPr id="18" name="Text 16"/>
          <p:cNvSpPr txBox="1"/>
          <p:nvPr/>
        </p:nvSpPr>
        <p:spPr>
          <a:xfrm>
            <a:off x="658368" y="3228093"/>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sets the canvas to exactly 1920 px wide and 1080 px tall at 72 pixels per inch. The Preset Details panel on the right confirms the settings. HDTV 1080p is the broadcast and streaming standard.</a:t>
            </a:r>
            <a:endParaRPr lang="en-US" sz="1150" dirty="0"/>
          </a:p>
        </p:txBody>
      </p:sp>
      <p:sp>
        <p:nvSpPr>
          <p:cNvPr id="19" name="Shape 17"/>
          <p:cNvSpPr/>
          <p:nvPr/>
        </p:nvSpPr>
        <p:spPr>
          <a:xfrm>
            <a:off x="178308" y="3713247"/>
            <a:ext cx="365760" cy="365760"/>
          </a:xfrm>
          <a:prstGeom prst="ellipse">
            <a:avLst/>
          </a:prstGeom>
          <a:solidFill>
            <a:srgbClr val="FF6B1A"/>
          </a:solidFill>
          <a:ln/>
        </p:spPr>
        <p:txBody>
          <a:bodyPr/>
          <a:lstStyle/>
          <a:p>
            <a:endParaRPr lang="en-US"/>
          </a:p>
        </p:txBody>
      </p:sp>
      <p:sp>
        <p:nvSpPr>
          <p:cNvPr id="20" name="Text 18"/>
          <p:cNvSpPr txBox="1"/>
          <p:nvPr/>
        </p:nvSpPr>
        <p:spPr>
          <a:xfrm>
            <a:off x="178308" y="371324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648456"/>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Create</a:t>
            </a:r>
            <a:endParaRPr lang="en-US" sz="1300" dirty="0"/>
          </a:p>
        </p:txBody>
      </p:sp>
      <p:sp>
        <p:nvSpPr>
          <p:cNvPr id="22" name="Text 20"/>
          <p:cNvSpPr txBox="1"/>
          <p:nvPr/>
        </p:nvSpPr>
        <p:spPr>
          <a:xfrm>
            <a:off x="658368" y="3959352"/>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new blank canvas opens. Photoshop adds cyan guide lines automatically — these mark the safe zone where important content should stay.</a:t>
            </a:r>
            <a:endParaRPr lang="en-US" sz="1150" dirty="0"/>
          </a:p>
        </p:txBody>
      </p:sp>
      <p:sp>
        <p:nvSpPr>
          <p:cNvPr id="23" name="Shape 21"/>
          <p:cNvSpPr/>
          <p:nvPr/>
        </p:nvSpPr>
        <p:spPr>
          <a:xfrm>
            <a:off x="178308" y="4517919"/>
            <a:ext cx="365760" cy="365760"/>
          </a:xfrm>
          <a:prstGeom prst="ellipse">
            <a:avLst/>
          </a:prstGeom>
          <a:solidFill>
            <a:srgbClr val="FF6B1A"/>
          </a:solidFill>
          <a:ln/>
        </p:spPr>
        <p:txBody>
          <a:bodyPr/>
          <a:lstStyle/>
          <a:p>
            <a:endParaRPr lang="en-US"/>
          </a:p>
        </p:txBody>
      </p:sp>
      <p:sp>
        <p:nvSpPr>
          <p:cNvPr id="24" name="Text 22"/>
          <p:cNvSpPr txBox="1"/>
          <p:nvPr/>
        </p:nvSpPr>
        <p:spPr>
          <a:xfrm>
            <a:off x="178308" y="45179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411980"/>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File &gt; Save As — name it 01Working.psd</a:t>
            </a:r>
            <a:endParaRPr lang="en-US" sz="1300" dirty="0"/>
          </a:p>
        </p:txBody>
      </p:sp>
      <p:sp>
        <p:nvSpPr>
          <p:cNvPr id="26" name="Text 24"/>
          <p:cNvSpPr txBox="1"/>
          <p:nvPr/>
        </p:nvSpPr>
        <p:spPr>
          <a:xfrm>
            <a:off x="658368" y="4660556"/>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Save immediately as a PSD file so you have a working copy to build on. Click OK or Save when the dialog appears.</a:t>
            </a:r>
            <a:endParaRPr lang="en-US" sz="1150" dirty="0"/>
          </a:p>
        </p:txBody>
      </p:sp>
      <p:pic>
        <p:nvPicPr>
          <p:cNvPr id="27" name="Image 0" descr="preencoded.png"/>
          <p:cNvPicPr>
            <a:picLocks noChangeAspect="1"/>
          </p:cNvPicPr>
          <p:nvPr/>
        </p:nvPicPr>
        <p:blipFill>
          <a:blip r:embed="rId3"/>
          <a:stretch>
            <a:fillRect/>
          </a:stretch>
        </p:blipFill>
        <p:spPr>
          <a:xfrm>
            <a:off x="5257800" y="1600200"/>
            <a:ext cx="3703320" cy="2811780"/>
          </a:xfrm>
          <a:prstGeom prst="rect">
            <a:avLst/>
          </a:prstGeom>
        </p:spPr>
      </p:pic>
      <p:sp>
        <p:nvSpPr>
          <p:cNvPr id="28" name="Text 25"/>
          <p:cNvSpPr txBox="1"/>
          <p:nvPr/>
        </p:nvSpPr>
        <p:spPr>
          <a:xfrm>
            <a:off x="5092103" y="4444767"/>
            <a:ext cx="4051897" cy="256032"/>
          </a:xfrm>
          <a:prstGeom prst="rect">
            <a:avLst/>
          </a:prstGeom>
          <a:noFill/>
          <a:ln/>
        </p:spPr>
        <p:txBody>
          <a:bodyPr wrap="square" lIns="0" tIns="0" rIns="0" bIns="0" rtlCol="0" anchor="ctr"/>
          <a:lstStyle/>
          <a:p>
            <a:pPr marL="0" indent="0" algn="ctr">
              <a:buNone/>
            </a:pPr>
            <a:r>
              <a:rPr lang="en-US" sz="950" i="1" dirty="0">
                <a:solidFill>
                  <a:srgbClr val="AAAAAA"/>
                </a:solidFill>
                <a:latin typeface="Calibri" pitchFamily="34" charset="0"/>
                <a:ea typeface="Calibri" pitchFamily="34" charset="-122"/>
                <a:cs typeface="Calibri" pitchFamily="34" charset="-120"/>
              </a:rPr>
              <a:t>New Document dialog — Film &amp; Video tab, HDTV 1080p highlighted (PDF p.6)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02</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Place the Photo — File &gt; Place Embedded</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Place Embedded copies the photo file into your PSD document as a Smart Object. A Smart Object preserves the original image data so you can resize, rotate, or transform it without permanently losing quality.</a:t>
            </a:r>
            <a:endParaRPr lang="en-US" sz="1200" dirty="0"/>
          </a:p>
        </p:txBody>
      </p:sp>
      <p:sp>
        <p:nvSpPr>
          <p:cNvPr id="7" name="Shape 5"/>
          <p:cNvSpPr/>
          <p:nvPr/>
        </p:nvSpPr>
        <p:spPr>
          <a:xfrm>
            <a:off x="182880" y="1508760"/>
            <a:ext cx="365760" cy="365760"/>
          </a:xfrm>
          <a:prstGeom prst="ellipse">
            <a:avLst/>
          </a:prstGeom>
          <a:solidFill>
            <a:srgbClr val="FF6B1A"/>
          </a:solidFill>
          <a:ln/>
        </p:spPr>
        <p:txBody>
          <a:bodyPr/>
          <a:lstStyle/>
          <a:p>
            <a:endParaRPr lang="en-US"/>
          </a:p>
        </p:txBody>
      </p:sp>
      <p:sp>
        <p:nvSpPr>
          <p:cNvPr id="8" name="Text 6"/>
          <p:cNvSpPr txBox="1"/>
          <p:nvPr/>
        </p:nvSpPr>
        <p:spPr>
          <a:xfrm>
            <a:off x="182880" y="15087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File &gt; Place Embedded</a:t>
            </a:r>
            <a:endParaRPr lang="en-US" sz="1300" dirty="0"/>
          </a:p>
        </p:txBody>
      </p:sp>
      <p:sp>
        <p:nvSpPr>
          <p:cNvPr id="10" name="Text 8"/>
          <p:cNvSpPr txBox="1"/>
          <p:nvPr/>
        </p:nvSpPr>
        <p:spPr>
          <a:xfrm>
            <a:off x="658368" y="1645920"/>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Navigate to your Lesson01 folder. Select Arch.jpg. Click Place.</a:t>
            </a:r>
            <a:endParaRPr lang="en-US" sz="1150" dirty="0"/>
          </a:p>
        </p:txBody>
      </p:sp>
      <p:sp>
        <p:nvSpPr>
          <p:cNvPr id="11" name="Shape 9"/>
          <p:cNvSpPr/>
          <p:nvPr/>
        </p:nvSpPr>
        <p:spPr>
          <a:xfrm>
            <a:off x="182880" y="2039112"/>
            <a:ext cx="365760" cy="365760"/>
          </a:xfrm>
          <a:prstGeom prst="ellipse">
            <a:avLst/>
          </a:prstGeom>
          <a:solidFill>
            <a:srgbClr val="FF6B1A"/>
          </a:solidFill>
          <a:ln/>
        </p:spPr>
        <p:txBody>
          <a:bodyPr/>
          <a:lstStyle/>
          <a:p>
            <a:endParaRPr lang="en-US"/>
          </a:p>
        </p:txBody>
      </p:sp>
      <p:sp>
        <p:nvSpPr>
          <p:cNvPr id="12" name="Text 10"/>
          <p:cNvSpPr txBox="1"/>
          <p:nvPr/>
        </p:nvSpPr>
        <p:spPr>
          <a:xfrm>
            <a:off x="182880" y="20391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1969151"/>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 bounding box with handles appears around the photo</a:t>
            </a:r>
            <a:endParaRPr lang="en-US" sz="1300" dirty="0"/>
          </a:p>
        </p:txBody>
      </p:sp>
      <p:sp>
        <p:nvSpPr>
          <p:cNvPr id="14" name="Text 12"/>
          <p:cNvSpPr txBox="1"/>
          <p:nvPr/>
        </p:nvSpPr>
        <p:spPr>
          <a:xfrm>
            <a:off x="658368" y="2280047"/>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photo is placed but not yet committed. You can see the Transform handles at each corner and the midpoints of each edge. A diagonal X shows the layer boundary.</a:t>
            </a:r>
            <a:endParaRPr lang="en-US" sz="1150" dirty="0"/>
          </a:p>
        </p:txBody>
      </p:sp>
      <p:sp>
        <p:nvSpPr>
          <p:cNvPr id="15" name="Shape 13"/>
          <p:cNvSpPr/>
          <p:nvPr/>
        </p:nvSpPr>
        <p:spPr>
          <a:xfrm>
            <a:off x="182880" y="2880360"/>
            <a:ext cx="365760" cy="365760"/>
          </a:xfrm>
          <a:prstGeom prst="ellipse">
            <a:avLst/>
          </a:prstGeom>
          <a:solidFill>
            <a:srgbClr val="FF6B1A"/>
          </a:solidFill>
          <a:ln/>
        </p:spPr>
        <p:txBody>
          <a:bodyPr/>
          <a:lstStyle/>
          <a:p>
            <a:endParaRPr lang="en-US"/>
          </a:p>
        </p:txBody>
      </p:sp>
      <p:sp>
        <p:nvSpPr>
          <p:cNvPr id="16" name="Text 14"/>
          <p:cNvSpPr txBox="1"/>
          <p:nvPr/>
        </p:nvSpPr>
        <p:spPr>
          <a:xfrm>
            <a:off x="182880" y="2880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795087"/>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Drag a corner handle to resize the image</a:t>
            </a:r>
            <a:endParaRPr lang="en-US" sz="1300" dirty="0"/>
          </a:p>
        </p:txBody>
      </p:sp>
      <p:sp>
        <p:nvSpPr>
          <p:cNvPr id="18" name="Text 16"/>
          <p:cNvSpPr txBox="1"/>
          <p:nvPr/>
        </p:nvSpPr>
        <p:spPr>
          <a:xfrm>
            <a:off x="658368" y="3105983"/>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and drag any corner handle outward so the photo covers the full width of the canvas. The image will scale proportionally. To reposition, click and drag anywhere inside the bounding box (not on a handle).</a:t>
            </a:r>
            <a:endParaRPr lang="en-US" sz="1150" dirty="0"/>
          </a:p>
        </p:txBody>
      </p:sp>
      <p:sp>
        <p:nvSpPr>
          <p:cNvPr id="19" name="Shape 17"/>
          <p:cNvSpPr/>
          <p:nvPr/>
        </p:nvSpPr>
        <p:spPr>
          <a:xfrm>
            <a:off x="182880" y="3721608"/>
            <a:ext cx="365760" cy="365760"/>
          </a:xfrm>
          <a:prstGeom prst="ellipse">
            <a:avLst/>
          </a:prstGeom>
          <a:solidFill>
            <a:srgbClr val="FF6B1A"/>
          </a:solidFill>
          <a:ln/>
        </p:spPr>
        <p:txBody>
          <a:bodyPr/>
          <a:lstStyle/>
          <a:p>
            <a:endParaRPr lang="en-US"/>
          </a:p>
        </p:txBody>
      </p:sp>
      <p:sp>
        <p:nvSpPr>
          <p:cNvPr id="20" name="Text 18"/>
          <p:cNvSpPr txBox="1"/>
          <p:nvPr/>
        </p:nvSpPr>
        <p:spPr>
          <a:xfrm>
            <a:off x="182880" y="3721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668033"/>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checkmark ✓ in the options bar to commit</a:t>
            </a:r>
            <a:endParaRPr lang="en-US" sz="1300" dirty="0"/>
          </a:p>
        </p:txBody>
      </p:sp>
      <p:sp>
        <p:nvSpPr>
          <p:cNvPr id="22" name="Text 20"/>
          <p:cNvSpPr txBox="1"/>
          <p:nvPr/>
        </p:nvSpPr>
        <p:spPr>
          <a:xfrm>
            <a:off x="658368" y="3978929"/>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checkmark is at the far right end of the options bar at the very top of Photoshop. You can also press Enter or Return. The bounding box disappears and the Arch layer appears in the Layers panel.</a:t>
            </a:r>
            <a:endParaRPr lang="en-US" sz="1150" dirty="0"/>
          </a:p>
        </p:txBody>
      </p:sp>
      <p:pic>
        <p:nvPicPr>
          <p:cNvPr id="23" name="Image 0" descr="preencoded.png"/>
          <p:cNvPicPr>
            <a:picLocks noChangeAspect="1"/>
          </p:cNvPicPr>
          <p:nvPr/>
        </p:nvPicPr>
        <p:blipFill>
          <a:blip r:embed="rId3"/>
          <a:stretch>
            <a:fillRect/>
          </a:stretch>
        </p:blipFill>
        <p:spPr>
          <a:xfrm>
            <a:off x="5257800" y="1463040"/>
            <a:ext cx="3703320" cy="2926080"/>
          </a:xfrm>
          <a:prstGeom prst="rect">
            <a:avLst/>
          </a:prstGeom>
        </p:spPr>
      </p:pic>
      <p:sp>
        <p:nvSpPr>
          <p:cNvPr id="24" name="Text 21"/>
          <p:cNvSpPr txBox="1"/>
          <p:nvPr/>
        </p:nvSpPr>
        <p:spPr>
          <a:xfrm>
            <a:off x="5257800" y="4416552"/>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Arch.jpg placed on canvas — bounding box handles visible at corners and edges (PDF p.7)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03</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Set Units to Pixels — One-Time Setup</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Photoshop measures distances and sizes in whatever unit is currently set. For screen and video work you always want Pixels. If your ruler or info panel is showing inches or centimeters you will not get accurate measurements when you draw your selection.</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Windows: Edit &gt; Preferences &gt; Units &amp; Rulers</a:t>
            </a:r>
            <a:endParaRPr lang="en-US" sz="1300" dirty="0"/>
          </a:p>
          <a:p>
            <a:pPr marL="0" indent="0">
              <a:buNone/>
            </a:pPr>
            <a:r>
              <a:rPr lang="en-US" sz="1300" b="1" dirty="0">
                <a:solidFill>
                  <a:srgbClr val="FFCC00"/>
                </a:solidFill>
                <a:latin typeface="Calibri" pitchFamily="34" charset="0"/>
                <a:ea typeface="Calibri" pitchFamily="34" charset="-122"/>
                <a:cs typeface="Calibri" pitchFamily="34" charset="-120"/>
              </a:rPr>
              <a:t>macOS: Photoshop &gt; Settings &gt; Units &amp; Rulers</a:t>
            </a:r>
            <a:endParaRPr lang="en-US" sz="1300" dirty="0"/>
          </a:p>
        </p:txBody>
      </p:sp>
      <p:sp>
        <p:nvSpPr>
          <p:cNvPr id="10" name="Text 8"/>
          <p:cNvSpPr txBox="1"/>
          <p:nvPr/>
        </p:nvSpPr>
        <p:spPr>
          <a:xfrm>
            <a:off x="658368" y="1883664"/>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Both paths open the same Preferences dialog box.</a:t>
            </a:r>
            <a:endParaRPr lang="en-US" sz="1150" dirty="0"/>
          </a:p>
        </p:txBody>
      </p:sp>
      <p:sp>
        <p:nvSpPr>
          <p:cNvPr id="11" name="Shape 9"/>
          <p:cNvSpPr/>
          <p:nvPr/>
        </p:nvSpPr>
        <p:spPr>
          <a:xfrm>
            <a:off x="182880" y="2325103"/>
            <a:ext cx="365760" cy="365760"/>
          </a:xfrm>
          <a:prstGeom prst="ellipse">
            <a:avLst/>
          </a:prstGeom>
          <a:solidFill>
            <a:srgbClr val="FF6B1A"/>
          </a:solidFill>
          <a:ln/>
        </p:spPr>
        <p:txBody>
          <a:bodyPr/>
          <a:lstStyle/>
          <a:p>
            <a:endParaRPr lang="en-US"/>
          </a:p>
        </p:txBody>
      </p:sp>
      <p:sp>
        <p:nvSpPr>
          <p:cNvPr id="12" name="Text 10"/>
          <p:cNvSpPr txBox="1"/>
          <p:nvPr/>
        </p:nvSpPr>
        <p:spPr>
          <a:xfrm>
            <a:off x="182880" y="232510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247825"/>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Units section, set Rulers to Pixels</a:t>
            </a:r>
            <a:endParaRPr lang="en-US" sz="1300" dirty="0"/>
          </a:p>
        </p:txBody>
      </p:sp>
      <p:sp>
        <p:nvSpPr>
          <p:cNvPr id="14" name="Text 12"/>
          <p:cNvSpPr txBox="1"/>
          <p:nvPr/>
        </p:nvSpPr>
        <p:spPr>
          <a:xfrm>
            <a:off x="658368" y="2503857"/>
            <a:ext cx="3164929"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for the Units section at the top of the panel. Click the Rulers dropdown and choose Pixels.</a:t>
            </a:r>
            <a:endParaRPr lang="en-US" sz="1150" dirty="0"/>
          </a:p>
        </p:txBody>
      </p:sp>
      <p:sp>
        <p:nvSpPr>
          <p:cNvPr id="15" name="Shape 13"/>
          <p:cNvSpPr/>
          <p:nvPr/>
        </p:nvSpPr>
        <p:spPr>
          <a:xfrm>
            <a:off x="182880" y="3050006"/>
            <a:ext cx="365760" cy="365760"/>
          </a:xfrm>
          <a:prstGeom prst="ellipse">
            <a:avLst/>
          </a:prstGeom>
          <a:solidFill>
            <a:srgbClr val="FF6B1A"/>
          </a:solidFill>
          <a:ln/>
        </p:spPr>
        <p:txBody>
          <a:bodyPr/>
          <a:lstStyle/>
          <a:p>
            <a:endParaRPr lang="en-US"/>
          </a:p>
        </p:txBody>
      </p:sp>
      <p:sp>
        <p:nvSpPr>
          <p:cNvPr id="16" name="Text 14"/>
          <p:cNvSpPr txBox="1"/>
          <p:nvPr/>
        </p:nvSpPr>
        <p:spPr>
          <a:xfrm>
            <a:off x="182880" y="305000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979345"/>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OK</a:t>
            </a:r>
            <a:endParaRPr lang="en-US" sz="1300" dirty="0"/>
          </a:p>
        </p:txBody>
      </p:sp>
      <p:sp>
        <p:nvSpPr>
          <p:cNvPr id="18" name="Text 16"/>
          <p:cNvSpPr txBox="1"/>
          <p:nvPr/>
        </p:nvSpPr>
        <p:spPr>
          <a:xfrm>
            <a:off x="658368" y="3245503"/>
            <a:ext cx="294400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setting stays until you change it. You only need to do this once on this computer.</a:t>
            </a:r>
            <a:endParaRPr lang="en-US" sz="1150" dirty="0"/>
          </a:p>
        </p:txBody>
      </p:sp>
      <p:sp>
        <p:nvSpPr>
          <p:cNvPr id="19" name="Shape 17"/>
          <p:cNvSpPr/>
          <p:nvPr/>
        </p:nvSpPr>
        <p:spPr>
          <a:xfrm>
            <a:off x="182879" y="4470330"/>
            <a:ext cx="8778239" cy="499638"/>
          </a:xfrm>
          <a:prstGeom prst="roundRect">
            <a:avLst>
              <a:gd name="adj" fmla="val 9091"/>
            </a:avLst>
          </a:prstGeom>
          <a:solidFill>
            <a:srgbClr val="1A0A0A"/>
          </a:solidFill>
          <a:ln w="12700">
            <a:solidFill>
              <a:srgbClr val="444444"/>
            </a:solidFill>
            <a:prstDash val="solid"/>
          </a:ln>
        </p:spPr>
        <p:txBody>
          <a:bodyPr/>
          <a:lstStyle/>
          <a:p>
            <a:endParaRPr lang="en-US"/>
          </a:p>
        </p:txBody>
      </p:sp>
      <p:sp>
        <p:nvSpPr>
          <p:cNvPr id="20" name="Text 18"/>
          <p:cNvSpPr txBox="1"/>
          <p:nvPr/>
        </p:nvSpPr>
        <p:spPr>
          <a:xfrm>
            <a:off x="320040" y="4409253"/>
            <a:ext cx="8503920" cy="621792"/>
          </a:xfrm>
          <a:prstGeom prst="rect">
            <a:avLst/>
          </a:prstGeom>
          <a:noFill/>
          <a:ln/>
        </p:spPr>
        <p:txBody>
          <a:bodyPr wrap="square" lIns="0" tIns="0" rIns="0" bIns="0" rtlCol="0" anchor="ctr"/>
          <a:lstStyle/>
          <a:p>
            <a:pPr marL="0" indent="0">
              <a:buNone/>
            </a:pPr>
            <a:r>
              <a:rPr lang="en-US" sz="1200" dirty="0">
                <a:solidFill>
                  <a:srgbClr val="FF8844"/>
                </a:solidFill>
                <a:latin typeface="Calibri" pitchFamily="34" charset="0"/>
                <a:ea typeface="Calibri" pitchFamily="34" charset="-122"/>
                <a:cs typeface="Calibri" pitchFamily="34" charset="-120"/>
              </a:rPr>
              <a:t>⚠️  Why this matters: In the next step you will draw a rectangle that needs to be exactly 96 pixels wide. If your units are set to inches, the info indicator will show inches and you will not know when you hit the right size.</a:t>
            </a:r>
            <a:endParaRPr lang="en-US" sz="1200" dirty="0"/>
          </a:p>
        </p:txBody>
      </p:sp>
      <p:pic>
        <p:nvPicPr>
          <p:cNvPr id="24" name="Picture 23">
            <a:extLst>
              <a:ext uri="{FF2B5EF4-FFF2-40B4-BE49-F238E27FC236}">
                <a16:creationId xmlns:a16="http://schemas.microsoft.com/office/drawing/2014/main" id="{B795D9D4-4F3B-7270-D77B-C38CEC3F1D85}"/>
              </a:ext>
            </a:extLst>
          </p:cNvPr>
          <p:cNvPicPr>
            <a:picLocks noChangeAspect="1"/>
          </p:cNvPicPr>
          <p:nvPr/>
        </p:nvPicPr>
        <p:blipFill>
          <a:blip r:embed="rId3"/>
          <a:stretch>
            <a:fillRect/>
          </a:stretch>
        </p:blipFill>
        <p:spPr>
          <a:xfrm>
            <a:off x="3878899" y="1508760"/>
            <a:ext cx="5082222" cy="27195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04</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Create a New Layer — Name It Rectangles</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Layers are the foundation of Photoshop. Think of each layer like a clear sheet of film stacked on top of the others. You will draw the colored bars on a separate layer from the photo so you can edit them independently at any time — without touching or changing the original Arch photo.</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Layers panel, click the Arch layer to select it</a:t>
            </a:r>
            <a:endParaRPr lang="en-US" sz="1300" dirty="0"/>
          </a:p>
        </p:txBody>
      </p:sp>
      <p:sp>
        <p:nvSpPr>
          <p:cNvPr id="10" name="Text 8"/>
          <p:cNvSpPr txBox="1"/>
          <p:nvPr/>
        </p:nvSpPr>
        <p:spPr>
          <a:xfrm>
            <a:off x="658368" y="1883664"/>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New layers are always created directly above the currently selected layer. Clicking Arch first ensures the Rectangles layer lands in the right position in the stack.</a:t>
            </a:r>
            <a:endParaRPr lang="en-US" sz="1150" dirty="0"/>
          </a:p>
        </p:txBody>
      </p:sp>
      <p:sp>
        <p:nvSpPr>
          <p:cNvPr id="11" name="Shape 9"/>
          <p:cNvSpPr/>
          <p:nvPr/>
        </p:nvSpPr>
        <p:spPr>
          <a:xfrm>
            <a:off x="182880" y="2496312"/>
            <a:ext cx="365760" cy="365760"/>
          </a:xfrm>
          <a:prstGeom prst="ellipse">
            <a:avLst/>
          </a:prstGeom>
          <a:solidFill>
            <a:srgbClr val="FF6B1A"/>
          </a:solidFill>
          <a:ln/>
        </p:spPr>
        <p:txBody>
          <a:bodyPr/>
          <a:lstStyle/>
          <a:p>
            <a:endParaRPr lang="en-US"/>
          </a:p>
        </p:txBody>
      </p:sp>
      <p:sp>
        <p:nvSpPr>
          <p:cNvPr id="12" name="Text 10"/>
          <p:cNvSpPr txBox="1"/>
          <p:nvPr/>
        </p:nvSpPr>
        <p:spPr>
          <a:xfrm>
            <a:off x="182880" y="24963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39572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Create a New Layer button</a:t>
            </a:r>
            <a:endParaRPr lang="en-US" sz="1300" dirty="0"/>
          </a:p>
        </p:txBody>
      </p:sp>
      <p:sp>
        <p:nvSpPr>
          <p:cNvPr id="14" name="Text 12"/>
          <p:cNvSpPr txBox="1"/>
          <p:nvPr/>
        </p:nvSpPr>
        <p:spPr>
          <a:xfrm>
            <a:off x="658368" y="2706624"/>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button is at the bottom of the Layers panel — it looks like a square with a folded corner. A new empty transparent layer appears above Arch.</a:t>
            </a:r>
            <a:endParaRPr lang="en-US" sz="1150" dirty="0"/>
          </a:p>
        </p:txBody>
      </p:sp>
      <p:sp>
        <p:nvSpPr>
          <p:cNvPr id="15" name="Shape 13"/>
          <p:cNvSpPr/>
          <p:nvPr/>
        </p:nvSpPr>
        <p:spPr>
          <a:xfrm>
            <a:off x="182880" y="3282696"/>
            <a:ext cx="365760" cy="365760"/>
          </a:xfrm>
          <a:prstGeom prst="ellipse">
            <a:avLst/>
          </a:prstGeom>
          <a:solidFill>
            <a:srgbClr val="FF6B1A"/>
          </a:solidFill>
          <a:ln/>
        </p:spPr>
        <p:txBody>
          <a:bodyPr/>
          <a:lstStyle/>
          <a:p>
            <a:endParaRPr lang="en-US"/>
          </a:p>
        </p:txBody>
      </p:sp>
      <p:sp>
        <p:nvSpPr>
          <p:cNvPr id="16" name="Text 14"/>
          <p:cNvSpPr txBox="1"/>
          <p:nvPr/>
        </p:nvSpPr>
        <p:spPr>
          <a:xfrm>
            <a:off x="182880" y="32826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182112"/>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Double-click the new layer name in the Layers panel</a:t>
            </a:r>
            <a:endParaRPr lang="en-US" sz="1300" dirty="0"/>
          </a:p>
        </p:txBody>
      </p:sp>
      <p:sp>
        <p:nvSpPr>
          <p:cNvPr id="18" name="Text 16"/>
          <p:cNvSpPr txBox="1"/>
          <p:nvPr/>
        </p:nvSpPr>
        <p:spPr>
          <a:xfrm>
            <a:off x="658368" y="3493008"/>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It will say Layer 1 by default. Double-click directly on the name text. Type Rectangles and press Enter or Return. Good layer naming is a professional habit.</a:t>
            </a:r>
            <a:endParaRPr lang="en-US" sz="1150" dirty="0"/>
          </a:p>
        </p:txBody>
      </p:sp>
      <p:sp>
        <p:nvSpPr>
          <p:cNvPr id="19" name="Shape 17"/>
          <p:cNvSpPr/>
          <p:nvPr/>
        </p:nvSpPr>
        <p:spPr>
          <a:xfrm>
            <a:off x="182880" y="4069080"/>
            <a:ext cx="4846320" cy="841248"/>
          </a:xfrm>
          <a:prstGeom prst="roundRect">
            <a:avLst>
              <a:gd name="adj" fmla="val 8696"/>
            </a:avLst>
          </a:prstGeom>
          <a:solidFill>
            <a:srgbClr val="2A2A2A"/>
          </a:solidFill>
          <a:ln w="12700">
            <a:solidFill>
              <a:srgbClr val="444444"/>
            </a:solidFill>
            <a:prstDash val="solid"/>
          </a:ln>
        </p:spPr>
        <p:txBody>
          <a:bodyPr/>
          <a:lstStyle/>
          <a:p>
            <a:endParaRPr lang="en-US"/>
          </a:p>
        </p:txBody>
      </p:sp>
      <p:sp>
        <p:nvSpPr>
          <p:cNvPr id="20" name="Text 18"/>
          <p:cNvSpPr txBox="1"/>
          <p:nvPr/>
        </p:nvSpPr>
        <p:spPr>
          <a:xfrm>
            <a:off x="320040" y="4160520"/>
            <a:ext cx="4572000" cy="658368"/>
          </a:xfrm>
          <a:prstGeom prst="rect">
            <a:avLst/>
          </a:prstGeom>
          <a:noFill/>
          <a:ln/>
        </p:spPr>
        <p:txBody>
          <a:bodyPr wrap="square" lIns="0" tIns="0" rIns="0" bIns="0" rtlCol="0" anchor="ctr"/>
          <a:lstStyle/>
          <a:p>
            <a:pPr marL="0" indent="0">
              <a:buNone/>
            </a:pPr>
            <a:r>
              <a:rPr lang="en-US" sz="1200" dirty="0">
                <a:solidFill>
                  <a:srgbClr val="A0E0E0"/>
                </a:solidFill>
                <a:latin typeface="Calibri" pitchFamily="34" charset="0"/>
                <a:ea typeface="Calibri" pitchFamily="34" charset="-122"/>
                <a:cs typeface="Calibri" pitchFamily="34" charset="-120"/>
              </a:rPr>
              <a:t>💡 Industry Habit: Name every layer as you create it. On real client projects a document can have 50+ layers. Clear names save you hours of hunting.</a:t>
            </a:r>
            <a:endParaRPr lang="en-US" sz="1200" dirty="0"/>
          </a:p>
        </p:txBody>
      </p:sp>
      <p:pic>
        <p:nvPicPr>
          <p:cNvPr id="24" name="Picture 23">
            <a:extLst>
              <a:ext uri="{FF2B5EF4-FFF2-40B4-BE49-F238E27FC236}">
                <a16:creationId xmlns:a16="http://schemas.microsoft.com/office/drawing/2014/main" id="{77811225-6E9D-54AE-6092-C5BD765B3EAC}"/>
              </a:ext>
            </a:extLst>
          </p:cNvPr>
          <p:cNvPicPr>
            <a:picLocks noChangeAspect="1"/>
          </p:cNvPicPr>
          <p:nvPr/>
        </p:nvPicPr>
        <p:blipFill>
          <a:blip r:embed="rId3"/>
          <a:stretch>
            <a:fillRect/>
          </a:stretch>
        </p:blipFill>
        <p:spPr>
          <a:xfrm>
            <a:off x="5133923" y="1600201"/>
            <a:ext cx="3827197" cy="27660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05a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Draw the Orange Bar — Select the Rectangular Marquee Tool</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Rectangular Marquee tool creates a selection — a defined area of pixels marked by a dotted border called "marching ants." Any edit you make (like filling with color) will only affect the pixels inside the selection. This is how you paint inside the lines in Photoshop.</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Make sure the Rectangles layer is selected in the Layers panel</a:t>
            </a:r>
            <a:endParaRPr lang="en-US" sz="1300" dirty="0"/>
          </a:p>
        </p:txBody>
      </p:sp>
      <p:sp>
        <p:nvSpPr>
          <p:cNvPr id="10" name="Text 8"/>
          <p:cNvSpPr txBox="1"/>
          <p:nvPr/>
        </p:nvSpPr>
        <p:spPr>
          <a:xfrm>
            <a:off x="658367" y="185207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Whatever layer is highlighted in the Layers panel is the one you will paint or draw on. Confirm Rectangles is selected before you draw anything.</a:t>
            </a:r>
            <a:endParaRPr lang="en-US" sz="1150" dirty="0"/>
          </a:p>
        </p:txBody>
      </p:sp>
      <p:sp>
        <p:nvSpPr>
          <p:cNvPr id="11" name="Shape 9"/>
          <p:cNvSpPr/>
          <p:nvPr/>
        </p:nvSpPr>
        <p:spPr>
          <a:xfrm>
            <a:off x="182880" y="2276856"/>
            <a:ext cx="365760" cy="365760"/>
          </a:xfrm>
          <a:prstGeom prst="ellipse">
            <a:avLst/>
          </a:prstGeom>
          <a:solidFill>
            <a:srgbClr val="FF6B1A"/>
          </a:solidFill>
          <a:ln/>
        </p:spPr>
        <p:txBody>
          <a:bodyPr/>
          <a:lstStyle/>
          <a:p>
            <a:endParaRPr lang="en-US"/>
          </a:p>
        </p:txBody>
      </p:sp>
      <p:sp>
        <p:nvSpPr>
          <p:cNvPr id="12" name="Text 10"/>
          <p:cNvSpPr txBox="1"/>
          <p:nvPr/>
        </p:nvSpPr>
        <p:spPr>
          <a:xfrm>
            <a:off x="182880" y="22768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331720"/>
            <a:ext cx="5343533"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Select the Rectangular Marquee tool — press M or click the icon in the Tools panel</a:t>
            </a:r>
            <a:endParaRPr lang="en-US" sz="1300" dirty="0"/>
          </a:p>
        </p:txBody>
      </p:sp>
      <p:sp>
        <p:nvSpPr>
          <p:cNvPr id="14" name="Text 12"/>
          <p:cNvSpPr txBox="1"/>
          <p:nvPr/>
        </p:nvSpPr>
        <p:spPr>
          <a:xfrm>
            <a:off x="658366" y="2704964"/>
            <a:ext cx="5124317"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Tools panel runs along the left edge of the screen. The Rectangular Marquee tool looks like a dotted rectangle. Press the keyboard shortcut M to grab it instantly.</a:t>
            </a:r>
            <a:endParaRPr lang="en-US" sz="1150" dirty="0"/>
          </a:p>
        </p:txBody>
      </p:sp>
      <p:sp>
        <p:nvSpPr>
          <p:cNvPr id="15" name="Shape 13"/>
          <p:cNvSpPr/>
          <p:nvPr/>
        </p:nvSpPr>
        <p:spPr>
          <a:xfrm>
            <a:off x="182880" y="3196383"/>
            <a:ext cx="365760" cy="365760"/>
          </a:xfrm>
          <a:prstGeom prst="ellipse">
            <a:avLst/>
          </a:prstGeom>
          <a:solidFill>
            <a:srgbClr val="FF6B1A"/>
          </a:solidFill>
          <a:ln/>
        </p:spPr>
        <p:txBody>
          <a:bodyPr/>
          <a:lstStyle/>
          <a:p>
            <a:endParaRPr lang="en-US"/>
          </a:p>
        </p:txBody>
      </p:sp>
      <p:sp>
        <p:nvSpPr>
          <p:cNvPr id="16" name="Text 14"/>
          <p:cNvSpPr txBox="1"/>
          <p:nvPr/>
        </p:nvSpPr>
        <p:spPr>
          <a:xfrm>
            <a:off x="182880" y="319638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6" y="3125220"/>
            <a:ext cx="5124317"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Drag from just outside the upper-left corner of the canvas, straight down</a:t>
            </a:r>
            <a:endParaRPr lang="en-US" sz="1300" dirty="0"/>
          </a:p>
        </p:txBody>
      </p:sp>
      <p:sp>
        <p:nvSpPr>
          <p:cNvPr id="18" name="Text 16"/>
          <p:cNvSpPr txBox="1"/>
          <p:nvPr/>
        </p:nvSpPr>
        <p:spPr>
          <a:xfrm>
            <a:off x="658365" y="3490612"/>
            <a:ext cx="5343533"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Start your drag just slightly off the canvas edge (to the upper-left). Drag down and to the right. Watch the live info indicator near your cursor — it shows the Width and Height of your selection as you drag.</a:t>
            </a:r>
            <a:endParaRPr lang="en-US" sz="1150" dirty="0"/>
          </a:p>
        </p:txBody>
      </p:sp>
      <p:sp>
        <p:nvSpPr>
          <p:cNvPr id="19" name="Shape 17"/>
          <p:cNvSpPr/>
          <p:nvPr/>
        </p:nvSpPr>
        <p:spPr>
          <a:xfrm>
            <a:off x="182880" y="4115910"/>
            <a:ext cx="365760" cy="365760"/>
          </a:xfrm>
          <a:prstGeom prst="ellipse">
            <a:avLst/>
          </a:prstGeom>
          <a:solidFill>
            <a:srgbClr val="FF6B1A"/>
          </a:solidFill>
          <a:ln/>
        </p:spPr>
        <p:txBody>
          <a:bodyPr/>
          <a:lstStyle/>
          <a:p>
            <a:endParaRPr lang="en-US"/>
          </a:p>
        </p:txBody>
      </p:sp>
      <p:sp>
        <p:nvSpPr>
          <p:cNvPr id="20" name="Text 18"/>
          <p:cNvSpPr txBox="1"/>
          <p:nvPr/>
        </p:nvSpPr>
        <p:spPr>
          <a:xfrm>
            <a:off x="182880" y="411591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7" y="4024331"/>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Release when the info indicator reads W: 96px and H: 1080px</a:t>
            </a:r>
            <a:endParaRPr lang="en-US" sz="1300" dirty="0"/>
          </a:p>
        </p:txBody>
      </p:sp>
      <p:sp>
        <p:nvSpPr>
          <p:cNvPr id="22" name="Text 20"/>
          <p:cNvSpPr txBox="1"/>
          <p:nvPr/>
        </p:nvSpPr>
        <p:spPr>
          <a:xfrm>
            <a:off x="658366" y="4366260"/>
            <a:ext cx="512431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selection should snap to the canvas edge and run the full height of the canvas. A dotted marquee border appears around the selected area. If you missed the size, press Ctrl+D (Win) or Cmd+D (Mac) to deselect and try again.</a:t>
            </a:r>
            <a:endParaRPr lang="en-US" sz="1150" dirty="0"/>
          </a:p>
        </p:txBody>
      </p:sp>
      <p:pic>
        <p:nvPicPr>
          <p:cNvPr id="26" name="Picture 25">
            <a:extLst>
              <a:ext uri="{FF2B5EF4-FFF2-40B4-BE49-F238E27FC236}">
                <a16:creationId xmlns:a16="http://schemas.microsoft.com/office/drawing/2014/main" id="{5807F7F1-913D-DE40-65DD-FC03DBF361AB}"/>
              </a:ext>
            </a:extLst>
          </p:cNvPr>
          <p:cNvPicPr>
            <a:picLocks noChangeAspect="1"/>
          </p:cNvPicPr>
          <p:nvPr/>
        </p:nvPicPr>
        <p:blipFill>
          <a:blip r:embed="rId3"/>
          <a:stretch>
            <a:fillRect/>
          </a:stretch>
        </p:blipFill>
        <p:spPr>
          <a:xfrm>
            <a:off x="6165815" y="1506347"/>
            <a:ext cx="2795305" cy="33086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05b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Fill the Orange Bar with Color</a:t>
            </a:r>
            <a:endParaRPr lang="en-US" sz="2000" dirty="0"/>
          </a:p>
        </p:txBody>
      </p:sp>
      <p:sp>
        <p:nvSpPr>
          <p:cNvPr id="5" name="Shape 3"/>
          <p:cNvSpPr/>
          <p:nvPr/>
        </p:nvSpPr>
        <p:spPr>
          <a:xfrm>
            <a:off x="182880" y="832104"/>
            <a:ext cx="365760" cy="365760"/>
          </a:xfrm>
          <a:prstGeom prst="ellipse">
            <a:avLst/>
          </a:prstGeom>
          <a:solidFill>
            <a:srgbClr val="FF6B1A"/>
          </a:solidFill>
          <a:ln/>
        </p:spPr>
        <p:txBody>
          <a:bodyPr/>
          <a:lstStyle/>
          <a:p>
            <a:endParaRPr lang="en-US"/>
          </a:p>
        </p:txBody>
      </p:sp>
      <p:sp>
        <p:nvSpPr>
          <p:cNvPr id="6" name="Text 4"/>
          <p:cNvSpPr txBox="1"/>
          <p:nvPr/>
        </p:nvSpPr>
        <p:spPr>
          <a:xfrm>
            <a:off x="182880" y="832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804672"/>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Contextual Task Bar, click Fill Selection</a:t>
            </a:r>
            <a:endParaRPr lang="en-US" sz="1300" dirty="0"/>
          </a:p>
        </p:txBody>
      </p:sp>
      <p:sp>
        <p:nvSpPr>
          <p:cNvPr id="8" name="Text 6"/>
          <p:cNvSpPr txBox="1"/>
          <p:nvPr/>
        </p:nvSpPr>
        <p:spPr>
          <a:xfrm>
            <a:off x="658368" y="1141108"/>
            <a:ext cx="490465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Contextual Task Bar is the floating bar that appears near your selection on the canvas. Click the Fill Selection button, then choose Fill Color from the dropdown menu that appears.</a:t>
            </a:r>
            <a:endParaRPr lang="en-US" sz="1150" dirty="0"/>
          </a:p>
        </p:txBody>
      </p:sp>
      <p:sp>
        <p:nvSpPr>
          <p:cNvPr id="9" name="Shape 7"/>
          <p:cNvSpPr/>
          <p:nvPr/>
        </p:nvSpPr>
        <p:spPr>
          <a:xfrm>
            <a:off x="182880" y="1813419"/>
            <a:ext cx="365760" cy="365760"/>
          </a:xfrm>
          <a:prstGeom prst="ellipse">
            <a:avLst/>
          </a:prstGeom>
          <a:solidFill>
            <a:srgbClr val="FF6B1A"/>
          </a:solidFill>
          <a:ln/>
        </p:spPr>
        <p:txBody>
          <a:bodyPr/>
          <a:lstStyle/>
          <a:p>
            <a:endParaRPr lang="en-US"/>
          </a:p>
        </p:txBody>
      </p:sp>
      <p:sp>
        <p:nvSpPr>
          <p:cNvPr id="10" name="Text 8"/>
          <p:cNvSpPr txBox="1"/>
          <p:nvPr/>
        </p:nvSpPr>
        <p:spPr>
          <a:xfrm>
            <a:off x="182880" y="18134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58368" y="1724690"/>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The Color Picker dialog opens — type ff7f00 in the # field</a:t>
            </a:r>
            <a:endParaRPr lang="en-US" sz="1300" dirty="0"/>
          </a:p>
        </p:txBody>
      </p:sp>
      <p:sp>
        <p:nvSpPr>
          <p:cNvPr id="12" name="Text 10"/>
          <p:cNvSpPr txBox="1"/>
          <p:nvPr/>
        </p:nvSpPr>
        <p:spPr>
          <a:xfrm>
            <a:off x="657142" y="2087121"/>
            <a:ext cx="4853574"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for the small # symbol near the bottom of the Color Picker. Click in that field and type ff7f00. This is a hexadecimal color code — a 6-digit code used in design and web work to define exact colors. ff7f00 is the orange you need.</a:t>
            </a:r>
            <a:endParaRPr lang="en-US" sz="1150" dirty="0"/>
          </a:p>
        </p:txBody>
      </p:sp>
      <p:sp>
        <p:nvSpPr>
          <p:cNvPr id="13" name="Shape 11"/>
          <p:cNvSpPr/>
          <p:nvPr/>
        </p:nvSpPr>
        <p:spPr>
          <a:xfrm>
            <a:off x="182880" y="2800669"/>
            <a:ext cx="365760" cy="365760"/>
          </a:xfrm>
          <a:prstGeom prst="ellipse">
            <a:avLst/>
          </a:prstGeom>
          <a:solidFill>
            <a:srgbClr val="FF6B1A"/>
          </a:solidFill>
          <a:ln/>
        </p:spPr>
        <p:txBody>
          <a:bodyPr/>
          <a:lstStyle/>
          <a:p>
            <a:endParaRPr lang="en-US"/>
          </a:p>
        </p:txBody>
      </p:sp>
      <p:sp>
        <p:nvSpPr>
          <p:cNvPr id="14" name="Text 12"/>
          <p:cNvSpPr txBox="1"/>
          <p:nvPr/>
        </p:nvSpPr>
        <p:spPr>
          <a:xfrm>
            <a:off x="182880" y="280066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58368" y="2819212"/>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OK to close the Color Picker, then click OK again to close the Fill dialog</a:t>
            </a:r>
            <a:endParaRPr lang="en-US" sz="1300" dirty="0"/>
          </a:p>
        </p:txBody>
      </p:sp>
      <p:sp>
        <p:nvSpPr>
          <p:cNvPr id="16" name="Text 14"/>
          <p:cNvSpPr txBox="1"/>
          <p:nvPr/>
        </p:nvSpPr>
        <p:spPr>
          <a:xfrm>
            <a:off x="658368" y="3097515"/>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orange color fills your 96px selection on the Rectangles layer.</a:t>
            </a:r>
            <a:endParaRPr lang="en-US" sz="1150" dirty="0"/>
          </a:p>
        </p:txBody>
      </p:sp>
      <p:sp>
        <p:nvSpPr>
          <p:cNvPr id="17" name="Shape 15"/>
          <p:cNvSpPr/>
          <p:nvPr/>
        </p:nvSpPr>
        <p:spPr>
          <a:xfrm>
            <a:off x="182880" y="3633028"/>
            <a:ext cx="365760" cy="365760"/>
          </a:xfrm>
          <a:prstGeom prst="ellipse">
            <a:avLst/>
          </a:prstGeom>
          <a:solidFill>
            <a:srgbClr val="FF6B1A"/>
          </a:solidFill>
          <a:ln/>
        </p:spPr>
        <p:txBody>
          <a:bodyPr/>
          <a:lstStyle/>
          <a:p>
            <a:endParaRPr lang="en-US"/>
          </a:p>
        </p:txBody>
      </p:sp>
      <p:sp>
        <p:nvSpPr>
          <p:cNvPr id="18" name="Text 16"/>
          <p:cNvSpPr txBox="1"/>
          <p:nvPr/>
        </p:nvSpPr>
        <p:spPr>
          <a:xfrm>
            <a:off x="182880" y="36330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58368" y="3605596"/>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Select &gt; Deselect — or press Ctrl+D (Win) / Cmd+D (Mac)</a:t>
            </a:r>
            <a:endParaRPr lang="en-US" sz="1300" dirty="0"/>
          </a:p>
        </p:txBody>
      </p:sp>
      <p:sp>
        <p:nvSpPr>
          <p:cNvPr id="20" name="Text 18"/>
          <p:cNvSpPr txBox="1"/>
          <p:nvPr/>
        </p:nvSpPr>
        <p:spPr>
          <a:xfrm>
            <a:off x="658368" y="3881058"/>
            <a:ext cx="4812707"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removes the marching ants selection border. The orange bar stays. Your canvas should now show a vertical orange stripe along the left edge.</a:t>
            </a:r>
            <a:endParaRPr lang="en-US" sz="1150" dirty="0"/>
          </a:p>
        </p:txBody>
      </p:sp>
      <p:pic>
        <p:nvPicPr>
          <p:cNvPr id="21" name="Image 0" descr="preencoded.png"/>
          <p:cNvPicPr>
            <a:picLocks noChangeAspect="1"/>
          </p:cNvPicPr>
          <p:nvPr/>
        </p:nvPicPr>
        <p:blipFill>
          <a:blip r:embed="rId3"/>
          <a:stretch>
            <a:fillRect/>
          </a:stretch>
        </p:blipFill>
        <p:spPr>
          <a:xfrm>
            <a:off x="5619218" y="749808"/>
            <a:ext cx="3341902" cy="1417320"/>
          </a:xfrm>
          <a:prstGeom prst="rect">
            <a:avLst/>
          </a:prstGeom>
        </p:spPr>
      </p:pic>
      <p:sp>
        <p:nvSpPr>
          <p:cNvPr id="22" name="Text 19"/>
          <p:cNvSpPr txBox="1"/>
          <p:nvPr/>
        </p:nvSpPr>
        <p:spPr>
          <a:xfrm>
            <a:off x="5619218" y="2194560"/>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Contextual Task Bar — Fill Selection &gt; Fill Color</a:t>
            </a:r>
            <a:endParaRPr lang="en-US" sz="950" dirty="0"/>
          </a:p>
        </p:txBody>
      </p:sp>
      <p:pic>
        <p:nvPicPr>
          <p:cNvPr id="23" name="Image 1" descr="preencoded.png"/>
          <p:cNvPicPr>
            <a:picLocks noChangeAspect="1"/>
          </p:cNvPicPr>
          <p:nvPr/>
        </p:nvPicPr>
        <p:blipFill>
          <a:blip r:embed="rId4"/>
          <a:stretch>
            <a:fillRect/>
          </a:stretch>
        </p:blipFill>
        <p:spPr>
          <a:xfrm>
            <a:off x="5619218" y="2487168"/>
            <a:ext cx="3341902" cy="2331720"/>
          </a:xfrm>
          <a:prstGeom prst="rect">
            <a:avLst/>
          </a:prstGeom>
        </p:spPr>
      </p:pic>
      <p:sp>
        <p:nvSpPr>
          <p:cNvPr id="24" name="Text 20"/>
          <p:cNvSpPr txBox="1"/>
          <p:nvPr/>
        </p:nvSpPr>
        <p:spPr>
          <a:xfrm>
            <a:off x="5619218" y="4820574"/>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Color Picker — type ff7f00 in the # field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06a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Draw the Blue Bar — Make the Selection</a:t>
            </a:r>
            <a:endParaRPr lang="en-US" sz="2000" dirty="0"/>
          </a:p>
        </p:txBody>
      </p:sp>
      <p:sp>
        <p:nvSpPr>
          <p:cNvPr id="5" name="Shape 3"/>
          <p:cNvSpPr/>
          <p:nvPr/>
        </p:nvSpPr>
        <p:spPr>
          <a:xfrm>
            <a:off x="182880" y="777240"/>
            <a:ext cx="8778240" cy="548640"/>
          </a:xfrm>
          <a:prstGeom prst="roundRect">
            <a:avLst>
              <a:gd name="adj" fmla="val 1333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You are still working on the Rectangles layer with the Rectangular Marquee tool. This second rectangle uses Edit &gt; Fill instead of the Contextual Task Bar — both methods fill a selection with color, just from different menus.</a:t>
            </a:r>
            <a:endParaRPr lang="en-US" sz="1200" dirty="0"/>
          </a:p>
        </p:txBody>
      </p:sp>
      <p:sp>
        <p:nvSpPr>
          <p:cNvPr id="7" name="Shape 5"/>
          <p:cNvSpPr/>
          <p:nvPr/>
        </p:nvSpPr>
        <p:spPr>
          <a:xfrm>
            <a:off x="182880" y="1464240"/>
            <a:ext cx="365760" cy="365760"/>
          </a:xfrm>
          <a:prstGeom prst="ellipse">
            <a:avLst/>
          </a:prstGeom>
          <a:solidFill>
            <a:srgbClr val="FF6B1A"/>
          </a:solidFill>
          <a:ln/>
        </p:spPr>
        <p:txBody>
          <a:bodyPr/>
          <a:lstStyle/>
          <a:p>
            <a:endParaRPr lang="en-US"/>
          </a:p>
        </p:txBody>
      </p:sp>
      <p:sp>
        <p:nvSpPr>
          <p:cNvPr id="8" name="Text 6"/>
          <p:cNvSpPr txBox="1"/>
          <p:nvPr/>
        </p:nvSpPr>
        <p:spPr>
          <a:xfrm>
            <a:off x="182880" y="1464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3850033"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Confirm the Rectangles layer is still selected in the Layers panel</a:t>
            </a:r>
            <a:endParaRPr lang="en-US" sz="1300" dirty="0"/>
          </a:p>
        </p:txBody>
      </p:sp>
      <p:sp>
        <p:nvSpPr>
          <p:cNvPr id="10" name="Text 8"/>
          <p:cNvSpPr txBox="1"/>
          <p:nvPr/>
        </p:nvSpPr>
        <p:spPr>
          <a:xfrm>
            <a:off x="658367" y="1825693"/>
            <a:ext cx="3850034"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at the Layers panel on the right. Rectangles should still be highlighted. If not, click it to select it.</a:t>
            </a:r>
            <a:endParaRPr lang="en-US" sz="1150" dirty="0"/>
          </a:p>
        </p:txBody>
      </p:sp>
      <p:sp>
        <p:nvSpPr>
          <p:cNvPr id="11" name="Shape 9"/>
          <p:cNvSpPr/>
          <p:nvPr/>
        </p:nvSpPr>
        <p:spPr>
          <a:xfrm>
            <a:off x="182880" y="2334120"/>
            <a:ext cx="365760" cy="365760"/>
          </a:xfrm>
          <a:prstGeom prst="ellipse">
            <a:avLst/>
          </a:prstGeom>
          <a:solidFill>
            <a:srgbClr val="FF6B1A"/>
          </a:solidFill>
          <a:ln/>
        </p:spPr>
        <p:txBody>
          <a:bodyPr/>
          <a:lstStyle/>
          <a:p>
            <a:endParaRPr lang="en-US"/>
          </a:p>
        </p:txBody>
      </p:sp>
      <p:sp>
        <p:nvSpPr>
          <p:cNvPr id="12" name="Text 10"/>
          <p:cNvSpPr txBox="1"/>
          <p:nvPr/>
        </p:nvSpPr>
        <p:spPr>
          <a:xfrm>
            <a:off x="182880" y="23341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348761"/>
            <a:ext cx="397723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Drag from just outside the upper-right corner of the canvas, down and to the left</a:t>
            </a:r>
            <a:endParaRPr lang="en-US" sz="1300" dirty="0"/>
          </a:p>
        </p:txBody>
      </p:sp>
      <p:sp>
        <p:nvSpPr>
          <p:cNvPr id="14" name="Text 12"/>
          <p:cNvSpPr txBox="1"/>
          <p:nvPr/>
        </p:nvSpPr>
        <p:spPr>
          <a:xfrm>
            <a:off x="667435" y="2709014"/>
            <a:ext cx="4036233"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Start your drag just slightly off the canvas edge at the top-right corner. Drag down and to the left toward the center of the canvas.</a:t>
            </a:r>
            <a:endParaRPr lang="en-US" sz="1150" dirty="0"/>
          </a:p>
        </p:txBody>
      </p:sp>
      <p:sp>
        <p:nvSpPr>
          <p:cNvPr id="15" name="Shape 13"/>
          <p:cNvSpPr/>
          <p:nvPr/>
        </p:nvSpPr>
        <p:spPr>
          <a:xfrm>
            <a:off x="182880" y="3211758"/>
            <a:ext cx="365760" cy="365760"/>
          </a:xfrm>
          <a:prstGeom prst="ellipse">
            <a:avLst/>
          </a:prstGeom>
          <a:solidFill>
            <a:srgbClr val="FF6B1A"/>
          </a:solidFill>
          <a:ln/>
        </p:spPr>
        <p:txBody>
          <a:bodyPr/>
          <a:lstStyle/>
          <a:p>
            <a:endParaRPr lang="en-US"/>
          </a:p>
        </p:txBody>
      </p:sp>
      <p:sp>
        <p:nvSpPr>
          <p:cNvPr id="16" name="Text 14"/>
          <p:cNvSpPr txBox="1"/>
          <p:nvPr/>
        </p:nvSpPr>
        <p:spPr>
          <a:xfrm>
            <a:off x="182880" y="321175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67435" y="3232082"/>
            <a:ext cx="3770597"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Release when the info indicator reads W: 660px and H: 1080px</a:t>
            </a:r>
            <a:endParaRPr lang="en-US" sz="1300" dirty="0"/>
          </a:p>
        </p:txBody>
      </p:sp>
      <p:sp>
        <p:nvSpPr>
          <p:cNvPr id="18" name="Text 16"/>
          <p:cNvSpPr txBox="1"/>
          <p:nvPr/>
        </p:nvSpPr>
        <p:spPr>
          <a:xfrm>
            <a:off x="667435" y="3661850"/>
            <a:ext cx="397723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selection runs the full height of the canvas on the right side. If you missed the size, press Ctrl+D (Win) / Cmd+D (Mac) to deselect and redraw.</a:t>
            </a:r>
            <a:endParaRPr lang="en-US" sz="1150" dirty="0"/>
          </a:p>
        </p:txBody>
      </p:sp>
      <p:sp>
        <p:nvSpPr>
          <p:cNvPr id="19" name="Shape 17"/>
          <p:cNvSpPr/>
          <p:nvPr/>
        </p:nvSpPr>
        <p:spPr>
          <a:xfrm>
            <a:off x="182880" y="4205064"/>
            <a:ext cx="365760" cy="365760"/>
          </a:xfrm>
          <a:prstGeom prst="ellipse">
            <a:avLst/>
          </a:prstGeom>
          <a:solidFill>
            <a:srgbClr val="FF6B1A"/>
          </a:solidFill>
          <a:ln/>
        </p:spPr>
        <p:txBody>
          <a:bodyPr/>
          <a:lstStyle/>
          <a:p>
            <a:endParaRPr lang="en-US"/>
          </a:p>
        </p:txBody>
      </p:sp>
      <p:sp>
        <p:nvSpPr>
          <p:cNvPr id="20" name="Text 18"/>
          <p:cNvSpPr txBox="1"/>
          <p:nvPr/>
        </p:nvSpPr>
        <p:spPr>
          <a:xfrm>
            <a:off x="182880" y="42050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414951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Edit &gt; Fill</a:t>
            </a:r>
            <a:endParaRPr lang="en-US" sz="1300" dirty="0"/>
          </a:p>
        </p:txBody>
      </p:sp>
      <p:sp>
        <p:nvSpPr>
          <p:cNvPr id="22" name="Text 20"/>
          <p:cNvSpPr txBox="1"/>
          <p:nvPr/>
        </p:nvSpPr>
        <p:spPr>
          <a:xfrm>
            <a:off x="658368" y="4295820"/>
            <a:ext cx="6866276"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opens the Fill dialog box. Click the Contents dropdown and choose Color. The Color Picker opens.</a:t>
            </a:r>
            <a:endParaRPr lang="en-US" sz="1150" dirty="0"/>
          </a:p>
        </p:txBody>
      </p:sp>
      <p:sp>
        <p:nvSpPr>
          <p:cNvPr id="23" name="Shape 21"/>
          <p:cNvSpPr/>
          <p:nvPr/>
        </p:nvSpPr>
        <p:spPr>
          <a:xfrm>
            <a:off x="182880" y="4645152"/>
            <a:ext cx="365760" cy="365760"/>
          </a:xfrm>
          <a:prstGeom prst="ellipse">
            <a:avLst/>
          </a:prstGeom>
          <a:solidFill>
            <a:srgbClr val="FF6B1A"/>
          </a:solidFill>
          <a:ln/>
        </p:spPr>
        <p:txBody>
          <a:bodyPr/>
          <a:lstStyle/>
          <a:p>
            <a:endParaRPr lang="en-US"/>
          </a:p>
        </p:txBody>
      </p:sp>
      <p:sp>
        <p:nvSpPr>
          <p:cNvPr id="24" name="Text 22"/>
          <p:cNvSpPr txBox="1"/>
          <p:nvPr/>
        </p:nvSpPr>
        <p:spPr>
          <a:xfrm>
            <a:off x="182880" y="46451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61772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Type 0053b2 in the # field — click OK, then OK again</a:t>
            </a:r>
            <a:endParaRPr lang="en-US" sz="1300" dirty="0"/>
          </a:p>
        </p:txBody>
      </p:sp>
      <p:sp>
        <p:nvSpPr>
          <p:cNvPr id="26" name="Text 24"/>
          <p:cNvSpPr txBox="1"/>
          <p:nvPr/>
        </p:nvSpPr>
        <p:spPr>
          <a:xfrm>
            <a:off x="658368" y="4764024"/>
            <a:ext cx="72545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0053b2 is a vivid blue hex code. The blue fills the rectangular selection on the right side of your canvas.</a:t>
            </a:r>
            <a:endParaRPr lang="en-US" sz="1150" dirty="0"/>
          </a:p>
        </p:txBody>
      </p:sp>
      <p:pic>
        <p:nvPicPr>
          <p:cNvPr id="30" name="Picture 29">
            <a:extLst>
              <a:ext uri="{FF2B5EF4-FFF2-40B4-BE49-F238E27FC236}">
                <a16:creationId xmlns:a16="http://schemas.microsoft.com/office/drawing/2014/main" id="{FC01CF31-756F-AD7A-CD57-62CEB6FF091C}"/>
              </a:ext>
            </a:extLst>
          </p:cNvPr>
          <p:cNvPicPr>
            <a:picLocks noChangeAspect="1"/>
          </p:cNvPicPr>
          <p:nvPr/>
        </p:nvPicPr>
        <p:blipFill>
          <a:blip r:embed="rId3"/>
          <a:stretch>
            <a:fillRect/>
          </a:stretch>
        </p:blipFill>
        <p:spPr>
          <a:xfrm>
            <a:off x="4718615" y="1445303"/>
            <a:ext cx="4242505" cy="26493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06b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Apply the Color Blend Mode to the Rectangles Layer</a:t>
            </a:r>
            <a:endParaRPr lang="en-US" sz="2000" dirty="0"/>
          </a:p>
        </p:txBody>
      </p:sp>
      <p:sp>
        <p:nvSpPr>
          <p:cNvPr id="5" name="Shape 3"/>
          <p:cNvSpPr/>
          <p:nvPr/>
        </p:nvSpPr>
        <p:spPr>
          <a:xfrm>
            <a:off x="182880" y="886968"/>
            <a:ext cx="365760" cy="365760"/>
          </a:xfrm>
          <a:prstGeom prst="ellipse">
            <a:avLst/>
          </a:prstGeom>
          <a:solidFill>
            <a:srgbClr val="FF6B1A"/>
          </a:solidFill>
          <a:ln/>
        </p:spPr>
        <p:txBody>
          <a:bodyPr/>
          <a:lstStyle/>
          <a:p>
            <a:endParaRPr lang="en-US"/>
          </a:p>
        </p:txBody>
      </p:sp>
      <p:sp>
        <p:nvSpPr>
          <p:cNvPr id="6" name="Text 4"/>
          <p:cNvSpPr txBox="1"/>
          <p:nvPr/>
        </p:nvSpPr>
        <p:spPr>
          <a:xfrm>
            <a:off x="182880" y="8869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804672"/>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Select &gt; Deselect — or press Ctrl+D / Cmd+D</a:t>
            </a:r>
            <a:endParaRPr lang="en-US" sz="1300" dirty="0"/>
          </a:p>
        </p:txBody>
      </p:sp>
      <p:sp>
        <p:nvSpPr>
          <p:cNvPr id="8" name="Text 6"/>
          <p:cNvSpPr txBox="1"/>
          <p:nvPr/>
        </p:nvSpPr>
        <p:spPr>
          <a:xfrm>
            <a:off x="658368" y="1069848"/>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marching ants selection disappears. You should now see a solid orange bar on the left and a solid blue bar on the right over the photo.</a:t>
            </a:r>
            <a:endParaRPr lang="en-US" sz="1150" dirty="0"/>
          </a:p>
        </p:txBody>
      </p:sp>
      <p:sp>
        <p:nvSpPr>
          <p:cNvPr id="9" name="Shape 7"/>
          <p:cNvSpPr/>
          <p:nvPr/>
        </p:nvSpPr>
        <p:spPr>
          <a:xfrm>
            <a:off x="182880" y="1600200"/>
            <a:ext cx="365760" cy="365760"/>
          </a:xfrm>
          <a:prstGeom prst="ellipse">
            <a:avLst/>
          </a:prstGeom>
          <a:solidFill>
            <a:srgbClr val="FF6B1A"/>
          </a:solidFill>
          <a:ln/>
        </p:spPr>
        <p:txBody>
          <a:bodyPr/>
          <a:lstStyle/>
          <a:p>
            <a:endParaRPr lang="en-US"/>
          </a:p>
        </p:txBody>
      </p:sp>
      <p:sp>
        <p:nvSpPr>
          <p:cNvPr id="10" name="Text 8"/>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58368" y="1639465"/>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Layers panel, find the blending mode dropdown — it currently says Normal</a:t>
            </a:r>
            <a:endParaRPr lang="en-US" sz="1300" dirty="0"/>
          </a:p>
        </p:txBody>
      </p:sp>
      <p:sp>
        <p:nvSpPr>
          <p:cNvPr id="12" name="Text 10"/>
          <p:cNvSpPr txBox="1"/>
          <p:nvPr/>
        </p:nvSpPr>
        <p:spPr>
          <a:xfrm>
            <a:off x="658368" y="2103540"/>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dropdown is at the top-left of the Layers panel, just above your layer list. It controls how the colors on this layer interact with the layers below it.</a:t>
            </a:r>
            <a:endParaRPr lang="en-US" sz="1150" dirty="0"/>
          </a:p>
        </p:txBody>
      </p:sp>
      <p:sp>
        <p:nvSpPr>
          <p:cNvPr id="13" name="Shape 11"/>
          <p:cNvSpPr/>
          <p:nvPr/>
        </p:nvSpPr>
        <p:spPr>
          <a:xfrm>
            <a:off x="182880" y="2624538"/>
            <a:ext cx="365760" cy="365760"/>
          </a:xfrm>
          <a:prstGeom prst="ellipse">
            <a:avLst/>
          </a:prstGeom>
          <a:solidFill>
            <a:srgbClr val="FF6B1A"/>
          </a:solidFill>
          <a:ln/>
        </p:spPr>
        <p:txBody>
          <a:bodyPr/>
          <a:lstStyle/>
          <a:p>
            <a:endParaRPr lang="en-US"/>
          </a:p>
        </p:txBody>
      </p:sp>
      <p:sp>
        <p:nvSpPr>
          <p:cNvPr id="14" name="Text 12"/>
          <p:cNvSpPr txBox="1"/>
          <p:nvPr/>
        </p:nvSpPr>
        <p:spPr>
          <a:xfrm>
            <a:off x="182880" y="262453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58368" y="2548907"/>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dropdown and choose Color</a:t>
            </a:r>
            <a:endParaRPr lang="en-US" sz="1300" dirty="0"/>
          </a:p>
        </p:txBody>
      </p:sp>
      <p:sp>
        <p:nvSpPr>
          <p:cNvPr id="16" name="Text 14"/>
          <p:cNvSpPr txBox="1"/>
          <p:nvPr/>
        </p:nvSpPr>
        <p:spPr>
          <a:xfrm>
            <a:off x="658368" y="3085887"/>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blending mode changes to Color. The photo (Arch layer) now shows through both bars. The Color blending mode keeps the luminosity — the light and dark values — from the layer below, and applies only the hue and saturation from the Rectangles layer. This creates a tinted look instead of a solid block of color.</a:t>
            </a:r>
            <a:endParaRPr lang="en-US" sz="1150" dirty="0"/>
          </a:p>
        </p:txBody>
      </p:sp>
      <p:sp>
        <p:nvSpPr>
          <p:cNvPr id="17" name="Shape 15"/>
          <p:cNvSpPr/>
          <p:nvPr/>
        </p:nvSpPr>
        <p:spPr>
          <a:xfrm>
            <a:off x="182880" y="3874787"/>
            <a:ext cx="365760" cy="365760"/>
          </a:xfrm>
          <a:prstGeom prst="ellipse">
            <a:avLst/>
          </a:prstGeom>
          <a:solidFill>
            <a:srgbClr val="FF6B1A"/>
          </a:solidFill>
          <a:ln/>
        </p:spPr>
        <p:txBody>
          <a:bodyPr/>
          <a:lstStyle/>
          <a:p>
            <a:endParaRPr lang="en-US"/>
          </a:p>
        </p:txBody>
      </p:sp>
      <p:sp>
        <p:nvSpPr>
          <p:cNvPr id="18" name="Text 16"/>
          <p:cNvSpPr txBox="1"/>
          <p:nvPr/>
        </p:nvSpPr>
        <p:spPr>
          <a:xfrm>
            <a:off x="182880" y="387478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58368" y="3795253"/>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File &gt; Save — or press Ctrl+S / Cmd+S</a:t>
            </a:r>
            <a:endParaRPr lang="en-US" sz="1300" dirty="0"/>
          </a:p>
        </p:txBody>
      </p:sp>
      <p:sp>
        <p:nvSpPr>
          <p:cNvPr id="20" name="Text 18"/>
          <p:cNvSpPr txBox="1"/>
          <p:nvPr/>
        </p:nvSpPr>
        <p:spPr>
          <a:xfrm>
            <a:off x="658368" y="3983664"/>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Save your progress. Always save after completing a major step.</a:t>
            </a:r>
            <a:endParaRPr lang="en-US" sz="1150" dirty="0"/>
          </a:p>
        </p:txBody>
      </p:sp>
      <p:sp>
        <p:nvSpPr>
          <p:cNvPr id="21" name="Shape 19"/>
          <p:cNvSpPr/>
          <p:nvPr/>
        </p:nvSpPr>
        <p:spPr>
          <a:xfrm>
            <a:off x="182880" y="4464961"/>
            <a:ext cx="8778240" cy="465572"/>
          </a:xfrm>
          <a:prstGeom prst="roundRect">
            <a:avLst>
              <a:gd name="adj" fmla="val 9756"/>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320040" y="4414283"/>
            <a:ext cx="8486430" cy="566928"/>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Blend Modes: A blend mode tells Photoshop a mathematical formula for how pixels on one layer mix with pixels on the layer below. Color blend mode is one of over 27 available blend modes. You will explore more in future lessons.</a:t>
            </a:r>
            <a:endParaRPr lang="en-US" sz="1200" dirty="0"/>
          </a:p>
        </p:txBody>
      </p:sp>
      <p:pic>
        <p:nvPicPr>
          <p:cNvPr id="23" name="Image 0" descr="preencoded.png"/>
          <p:cNvPicPr>
            <a:picLocks noChangeAspect="1"/>
          </p:cNvPicPr>
          <p:nvPr/>
        </p:nvPicPr>
        <p:blipFill>
          <a:blip r:embed="rId3"/>
          <a:stretch>
            <a:fillRect/>
          </a:stretch>
        </p:blipFill>
        <p:spPr>
          <a:xfrm>
            <a:off x="5257800" y="749808"/>
            <a:ext cx="3703320" cy="2743200"/>
          </a:xfrm>
          <a:prstGeom prst="rect">
            <a:avLst/>
          </a:prstGeom>
        </p:spPr>
      </p:pic>
      <p:sp>
        <p:nvSpPr>
          <p:cNvPr id="24" name="Text 21"/>
          <p:cNvSpPr txBox="1"/>
          <p:nvPr/>
        </p:nvSpPr>
        <p:spPr>
          <a:xfrm>
            <a:off x="5257800" y="3520440"/>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Canvas showing orange and blue Color-blended bars over the Arch photo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07a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Add the Title Text — Set Up the Type Tool</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Type in Photoshop lives on its own Type layer. When you click the canvas with the Type tool, Photoshop automatically creates a new layer for that text. You set your font, size, alignment, and color in the options bar before you click and type.</a:t>
            </a:r>
            <a:endParaRPr lang="en-US" sz="1200" dirty="0"/>
          </a:p>
        </p:txBody>
      </p:sp>
      <p:sp>
        <p:nvSpPr>
          <p:cNvPr id="7" name="Shape 5"/>
          <p:cNvSpPr/>
          <p:nvPr/>
        </p:nvSpPr>
        <p:spPr>
          <a:xfrm>
            <a:off x="182880" y="1547914"/>
            <a:ext cx="365760" cy="365760"/>
          </a:xfrm>
          <a:prstGeom prst="ellipse">
            <a:avLst/>
          </a:prstGeom>
          <a:solidFill>
            <a:srgbClr val="FF6B1A"/>
          </a:solidFill>
          <a:ln/>
        </p:spPr>
        <p:txBody>
          <a:bodyPr/>
          <a:lstStyle/>
          <a:p>
            <a:endParaRPr lang="en-US"/>
          </a:p>
        </p:txBody>
      </p:sp>
      <p:sp>
        <p:nvSpPr>
          <p:cNvPr id="8" name="Text 6"/>
          <p:cNvSpPr txBox="1"/>
          <p:nvPr/>
        </p:nvSpPr>
        <p:spPr>
          <a:xfrm>
            <a:off x="182880" y="154791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61109"/>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Select the Horizontal Type tool — press T or click the T icon in the Tools panel</a:t>
            </a:r>
            <a:endParaRPr lang="en-US" sz="1300" dirty="0"/>
          </a:p>
        </p:txBody>
      </p:sp>
      <p:sp>
        <p:nvSpPr>
          <p:cNvPr id="10" name="Text 8"/>
          <p:cNvSpPr txBox="1"/>
          <p:nvPr/>
        </p:nvSpPr>
        <p:spPr>
          <a:xfrm>
            <a:off x="658368" y="1872005"/>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options bar across the top of Photoshop now shows type options: font family, style, size, alignment buttons, and a color swatch.</a:t>
            </a:r>
            <a:endParaRPr lang="en-US" sz="1150" dirty="0"/>
          </a:p>
        </p:txBody>
      </p:sp>
      <p:sp>
        <p:nvSpPr>
          <p:cNvPr id="11" name="Shape 9"/>
          <p:cNvSpPr/>
          <p:nvPr/>
        </p:nvSpPr>
        <p:spPr>
          <a:xfrm>
            <a:off x="182880" y="2363724"/>
            <a:ext cx="365760" cy="365760"/>
          </a:xfrm>
          <a:prstGeom prst="ellipse">
            <a:avLst/>
          </a:prstGeom>
          <a:solidFill>
            <a:srgbClr val="FF6B1A"/>
          </a:solidFill>
          <a:ln/>
        </p:spPr>
        <p:txBody>
          <a:bodyPr/>
          <a:lstStyle/>
          <a:p>
            <a:endParaRPr lang="en-US"/>
          </a:p>
        </p:txBody>
      </p:sp>
      <p:sp>
        <p:nvSpPr>
          <p:cNvPr id="12" name="Text 10"/>
          <p:cNvSpPr txBox="1"/>
          <p:nvPr/>
        </p:nvSpPr>
        <p:spPr>
          <a:xfrm>
            <a:off x="182880" y="23637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304241"/>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a font — the book uses Abril Fatface (Adobe Fonts)</a:t>
            </a:r>
            <a:endParaRPr lang="en-US" sz="1300" dirty="0"/>
          </a:p>
        </p:txBody>
      </p:sp>
      <p:sp>
        <p:nvSpPr>
          <p:cNvPr id="14" name="Text 12"/>
          <p:cNvSpPr txBox="1"/>
          <p:nvPr/>
        </p:nvSpPr>
        <p:spPr>
          <a:xfrm>
            <a:off x="658368" y="2678240"/>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the font name field in the options bar and type Abril Fatface, then press Enter. If you do not have this font, any heavy bold serif display font works. The key is a strong, readable typeface.</a:t>
            </a:r>
            <a:endParaRPr lang="en-US" sz="1150" dirty="0"/>
          </a:p>
        </p:txBody>
      </p:sp>
      <p:sp>
        <p:nvSpPr>
          <p:cNvPr id="15" name="Shape 13"/>
          <p:cNvSpPr/>
          <p:nvPr/>
        </p:nvSpPr>
        <p:spPr>
          <a:xfrm>
            <a:off x="182880" y="3293343"/>
            <a:ext cx="365760" cy="365760"/>
          </a:xfrm>
          <a:prstGeom prst="ellipse">
            <a:avLst/>
          </a:prstGeom>
          <a:solidFill>
            <a:srgbClr val="FF6B1A"/>
          </a:solidFill>
          <a:ln/>
        </p:spPr>
        <p:txBody>
          <a:bodyPr/>
          <a:lstStyle/>
          <a:p>
            <a:endParaRPr lang="en-US"/>
          </a:p>
        </p:txBody>
      </p:sp>
      <p:sp>
        <p:nvSpPr>
          <p:cNvPr id="16" name="Text 14"/>
          <p:cNvSpPr txBox="1"/>
          <p:nvPr/>
        </p:nvSpPr>
        <p:spPr>
          <a:xfrm>
            <a:off x="182880" y="329334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208163"/>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Set the font size to 210 pt</a:t>
            </a:r>
            <a:endParaRPr lang="en-US" sz="1300" dirty="0"/>
          </a:p>
        </p:txBody>
      </p:sp>
      <p:sp>
        <p:nvSpPr>
          <p:cNvPr id="18" name="Text 16"/>
          <p:cNvSpPr txBox="1"/>
          <p:nvPr/>
        </p:nvSpPr>
        <p:spPr>
          <a:xfrm>
            <a:off x="658368" y="3409331"/>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the size field in the options bar and type 210, then press Enter. Points (pt) are the standard unit for measuring type size.</a:t>
            </a:r>
            <a:endParaRPr lang="en-US" sz="1150" dirty="0"/>
          </a:p>
        </p:txBody>
      </p:sp>
      <p:sp>
        <p:nvSpPr>
          <p:cNvPr id="19" name="Shape 17"/>
          <p:cNvSpPr/>
          <p:nvPr/>
        </p:nvSpPr>
        <p:spPr>
          <a:xfrm>
            <a:off x="182880" y="3906298"/>
            <a:ext cx="365760" cy="365760"/>
          </a:xfrm>
          <a:prstGeom prst="ellipse">
            <a:avLst/>
          </a:prstGeom>
          <a:solidFill>
            <a:srgbClr val="FF6B1A"/>
          </a:solidFill>
          <a:ln/>
        </p:spPr>
        <p:txBody>
          <a:bodyPr/>
          <a:lstStyle/>
          <a:p>
            <a:endParaRPr lang="en-US"/>
          </a:p>
        </p:txBody>
      </p:sp>
      <p:sp>
        <p:nvSpPr>
          <p:cNvPr id="20" name="Text 18"/>
          <p:cNvSpPr txBox="1"/>
          <p:nvPr/>
        </p:nvSpPr>
        <p:spPr>
          <a:xfrm>
            <a:off x="182880" y="390629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858062"/>
            <a:ext cx="830275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Center Text alignment button in the options bar</a:t>
            </a:r>
            <a:endParaRPr lang="en-US" sz="1300" dirty="0"/>
          </a:p>
        </p:txBody>
      </p:sp>
      <p:sp>
        <p:nvSpPr>
          <p:cNvPr id="22" name="Text 20"/>
          <p:cNvSpPr txBox="1"/>
          <p:nvPr/>
        </p:nvSpPr>
        <p:spPr>
          <a:xfrm>
            <a:off x="658368" y="4051007"/>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three alignment buttons are in the options bar — left align, center, and right align. Choose Center Text.</a:t>
            </a:r>
            <a:endParaRPr lang="en-US" sz="1150" dirty="0"/>
          </a:p>
        </p:txBody>
      </p:sp>
      <p:sp>
        <p:nvSpPr>
          <p:cNvPr id="23" name="Shape 21"/>
          <p:cNvSpPr/>
          <p:nvPr/>
        </p:nvSpPr>
        <p:spPr>
          <a:xfrm>
            <a:off x="182880" y="4434840"/>
            <a:ext cx="365760" cy="365760"/>
          </a:xfrm>
          <a:prstGeom prst="ellipse">
            <a:avLst/>
          </a:prstGeom>
          <a:solidFill>
            <a:srgbClr val="FF6B1A"/>
          </a:solidFill>
          <a:ln/>
        </p:spPr>
        <p:txBody>
          <a:bodyPr/>
          <a:lstStyle/>
          <a:p>
            <a:endParaRPr lang="en-US"/>
          </a:p>
        </p:txBody>
      </p:sp>
      <p:sp>
        <p:nvSpPr>
          <p:cNvPr id="24" name="Text 22"/>
          <p:cNvSpPr txBox="1"/>
          <p:nvPr/>
        </p:nvSpPr>
        <p:spPr>
          <a:xfrm>
            <a:off x="182880" y="44348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407408"/>
            <a:ext cx="830275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color swatch in the options bar and set color to pure white — type ffffff</a:t>
            </a:r>
            <a:endParaRPr lang="en-US" sz="1300" dirty="0"/>
          </a:p>
        </p:txBody>
      </p:sp>
      <p:sp>
        <p:nvSpPr>
          <p:cNvPr id="26" name="Text 24"/>
          <p:cNvSpPr txBox="1"/>
          <p:nvPr/>
        </p:nvSpPr>
        <p:spPr>
          <a:xfrm>
            <a:off x="658368" y="4671725"/>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Type ffffff in the # field of the Color Picker that opens and click OK. White text will read clearly against the colored and tinted photo background.</a:t>
            </a:r>
            <a:endParaRPr lang="en-US" sz="1150" dirty="0"/>
          </a:p>
        </p:txBody>
      </p:sp>
      <p:pic>
        <p:nvPicPr>
          <p:cNvPr id="27" name="Image 0" descr="preencoded.png"/>
          <p:cNvPicPr>
            <a:picLocks noChangeAspect="1"/>
          </p:cNvPicPr>
          <p:nvPr/>
        </p:nvPicPr>
        <p:blipFill>
          <a:blip r:embed="rId3"/>
          <a:stretch>
            <a:fillRect/>
          </a:stretch>
        </p:blipFill>
        <p:spPr>
          <a:xfrm>
            <a:off x="5321808" y="1504009"/>
            <a:ext cx="3703320" cy="841248"/>
          </a:xfrm>
          <a:prstGeom prst="rect">
            <a:avLst/>
          </a:prstGeom>
        </p:spPr>
      </p:pic>
      <p:sp>
        <p:nvSpPr>
          <p:cNvPr id="28" name="Text 25"/>
          <p:cNvSpPr txBox="1"/>
          <p:nvPr/>
        </p:nvSpPr>
        <p:spPr>
          <a:xfrm>
            <a:off x="5321808" y="2345257"/>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Type tool options bar — font, size, alignment buttons, color swatch labeled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07b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Enable All Caps and Type the Title Text</a:t>
            </a:r>
            <a:endParaRPr lang="en-US" sz="2000" dirty="0"/>
          </a:p>
        </p:txBody>
      </p:sp>
      <p:sp>
        <p:nvSpPr>
          <p:cNvPr id="5" name="Shape 3"/>
          <p:cNvSpPr/>
          <p:nvPr/>
        </p:nvSpPr>
        <p:spPr>
          <a:xfrm>
            <a:off x="182880" y="832104"/>
            <a:ext cx="365760" cy="365760"/>
          </a:xfrm>
          <a:prstGeom prst="ellipse">
            <a:avLst/>
          </a:prstGeom>
          <a:solidFill>
            <a:srgbClr val="FF6B1A"/>
          </a:solidFill>
          <a:ln/>
        </p:spPr>
        <p:txBody>
          <a:bodyPr/>
          <a:lstStyle/>
          <a:p>
            <a:endParaRPr lang="en-US"/>
          </a:p>
        </p:txBody>
      </p:sp>
      <p:sp>
        <p:nvSpPr>
          <p:cNvPr id="6" name="Text 4"/>
          <p:cNvSpPr txBox="1"/>
          <p:nvPr/>
        </p:nvSpPr>
        <p:spPr>
          <a:xfrm>
            <a:off x="182880" y="832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8" y="80467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Enable the All Caps type option in the Properties panel</a:t>
            </a:r>
            <a:endParaRPr lang="en-US" sz="1300" dirty="0"/>
          </a:p>
        </p:txBody>
      </p:sp>
      <p:sp>
        <p:nvSpPr>
          <p:cNvPr id="8" name="Text 6"/>
          <p:cNvSpPr txBox="1"/>
          <p:nvPr/>
        </p:nvSpPr>
        <p:spPr>
          <a:xfrm>
            <a:off x="658366" y="1147910"/>
            <a:ext cx="521116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With the Type tool selected, scroll down in the Properties panel on the right until you see the Type Options section. Click the TT (All Caps) button. This automatically makes every letter a capital — so you do not have to hold Shift or use Caps Lock while typing.</a:t>
            </a:r>
            <a:endParaRPr lang="en-US" sz="1150" dirty="0"/>
          </a:p>
        </p:txBody>
      </p:sp>
      <p:sp>
        <p:nvSpPr>
          <p:cNvPr id="9" name="Shape 7"/>
          <p:cNvSpPr/>
          <p:nvPr/>
        </p:nvSpPr>
        <p:spPr>
          <a:xfrm>
            <a:off x="182880" y="1725252"/>
            <a:ext cx="365760" cy="365760"/>
          </a:xfrm>
          <a:prstGeom prst="ellipse">
            <a:avLst/>
          </a:prstGeom>
          <a:solidFill>
            <a:srgbClr val="FF6B1A"/>
          </a:solidFill>
          <a:ln/>
        </p:spPr>
        <p:txBody>
          <a:bodyPr/>
          <a:lstStyle/>
          <a:p>
            <a:endParaRPr lang="en-US"/>
          </a:p>
        </p:txBody>
      </p:sp>
      <p:sp>
        <p:nvSpPr>
          <p:cNvPr id="10" name="Text 8"/>
          <p:cNvSpPr txBox="1"/>
          <p:nvPr/>
        </p:nvSpPr>
        <p:spPr>
          <a:xfrm>
            <a:off x="182880" y="17252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1" name="Text 9"/>
          <p:cNvSpPr txBox="1"/>
          <p:nvPr/>
        </p:nvSpPr>
        <p:spPr>
          <a:xfrm>
            <a:off x="658368" y="166420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approximately in the lower-center of the canvas</a:t>
            </a:r>
            <a:endParaRPr lang="en-US" sz="1300" dirty="0"/>
          </a:p>
        </p:txBody>
      </p:sp>
      <p:sp>
        <p:nvSpPr>
          <p:cNvPr id="12" name="Text 10"/>
          <p:cNvSpPr txBox="1"/>
          <p:nvPr/>
        </p:nvSpPr>
        <p:spPr>
          <a:xfrm>
            <a:off x="658368" y="2004653"/>
            <a:ext cx="51014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new Type layer is created automatically. You will see placeholder Lorem Ipsum text appear selected in blue. This is normal — it shows your current type settings as a preview.</a:t>
            </a:r>
            <a:endParaRPr lang="en-US" sz="1150" dirty="0"/>
          </a:p>
        </p:txBody>
      </p:sp>
      <p:sp>
        <p:nvSpPr>
          <p:cNvPr id="13" name="Shape 11"/>
          <p:cNvSpPr/>
          <p:nvPr/>
        </p:nvSpPr>
        <p:spPr>
          <a:xfrm>
            <a:off x="182880" y="2534215"/>
            <a:ext cx="365760" cy="365760"/>
          </a:xfrm>
          <a:prstGeom prst="ellipse">
            <a:avLst/>
          </a:prstGeom>
          <a:solidFill>
            <a:srgbClr val="FF6B1A"/>
          </a:solidFill>
          <a:ln/>
        </p:spPr>
        <p:txBody>
          <a:bodyPr/>
          <a:lstStyle/>
          <a:p>
            <a:endParaRPr lang="en-US"/>
          </a:p>
        </p:txBody>
      </p:sp>
      <p:sp>
        <p:nvSpPr>
          <p:cNvPr id="14" name="Text 12"/>
          <p:cNvSpPr txBox="1"/>
          <p:nvPr/>
        </p:nvSpPr>
        <p:spPr>
          <a:xfrm>
            <a:off x="182880" y="25342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5" name="Text 13"/>
          <p:cNvSpPr txBox="1"/>
          <p:nvPr/>
        </p:nvSpPr>
        <p:spPr>
          <a:xfrm>
            <a:off x="658368" y="245059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Type:  History 301</a:t>
            </a:r>
            <a:endParaRPr lang="en-US" sz="1300" dirty="0"/>
          </a:p>
        </p:txBody>
      </p:sp>
      <p:sp>
        <p:nvSpPr>
          <p:cNvPr id="16" name="Text 14"/>
          <p:cNvSpPr txBox="1"/>
          <p:nvPr/>
        </p:nvSpPr>
        <p:spPr>
          <a:xfrm>
            <a:off x="658369" y="2816663"/>
            <a:ext cx="510143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Because All Caps is active, the text appears as HISTORY 301 even though you type in lowercase. The text replaces the Lorem Ipsum placeholder automatically as you begin typing.</a:t>
            </a:r>
            <a:endParaRPr lang="en-US" sz="1150" dirty="0"/>
          </a:p>
        </p:txBody>
      </p:sp>
      <p:sp>
        <p:nvSpPr>
          <p:cNvPr id="17" name="Shape 15"/>
          <p:cNvSpPr/>
          <p:nvPr/>
        </p:nvSpPr>
        <p:spPr>
          <a:xfrm>
            <a:off x="182880" y="3343178"/>
            <a:ext cx="365760" cy="365760"/>
          </a:xfrm>
          <a:prstGeom prst="ellipse">
            <a:avLst/>
          </a:prstGeom>
          <a:solidFill>
            <a:srgbClr val="FF6B1A"/>
          </a:solidFill>
          <a:ln/>
        </p:spPr>
        <p:txBody>
          <a:bodyPr/>
          <a:lstStyle/>
          <a:p>
            <a:endParaRPr lang="en-US"/>
          </a:p>
        </p:txBody>
      </p:sp>
      <p:sp>
        <p:nvSpPr>
          <p:cNvPr id="18" name="Text 16"/>
          <p:cNvSpPr txBox="1"/>
          <p:nvPr/>
        </p:nvSpPr>
        <p:spPr>
          <a:xfrm>
            <a:off x="182880" y="334317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19" name="Text 17"/>
          <p:cNvSpPr txBox="1"/>
          <p:nvPr/>
        </p:nvSpPr>
        <p:spPr>
          <a:xfrm>
            <a:off x="658368" y="3308914"/>
            <a:ext cx="7255266"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checkmark ✓ in the options bar to commit</a:t>
            </a:r>
            <a:endParaRPr lang="en-US" sz="1300" dirty="0"/>
          </a:p>
        </p:txBody>
      </p:sp>
      <p:sp>
        <p:nvSpPr>
          <p:cNvPr id="20" name="Text 18"/>
          <p:cNvSpPr txBox="1"/>
          <p:nvPr/>
        </p:nvSpPr>
        <p:spPr>
          <a:xfrm>
            <a:off x="658367" y="3619810"/>
            <a:ext cx="83027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Committing exits type editing mode. You can also press Ctrl+Enter (Win) or Cmd+Return (Mac). Do not press just Enter/Return — that adds a line break in the text.</a:t>
            </a:r>
            <a:endParaRPr lang="en-US" sz="1150" dirty="0"/>
          </a:p>
        </p:txBody>
      </p:sp>
      <p:sp>
        <p:nvSpPr>
          <p:cNvPr id="21" name="Shape 19"/>
          <p:cNvSpPr/>
          <p:nvPr/>
        </p:nvSpPr>
        <p:spPr>
          <a:xfrm>
            <a:off x="182880" y="4077010"/>
            <a:ext cx="365760" cy="365760"/>
          </a:xfrm>
          <a:prstGeom prst="ellipse">
            <a:avLst/>
          </a:prstGeom>
          <a:solidFill>
            <a:srgbClr val="FF6B1A"/>
          </a:solidFill>
          <a:ln/>
        </p:spPr>
        <p:txBody>
          <a:bodyPr/>
          <a:lstStyle/>
          <a:p>
            <a:endParaRPr lang="en-US"/>
          </a:p>
        </p:txBody>
      </p:sp>
      <p:sp>
        <p:nvSpPr>
          <p:cNvPr id="22" name="Text 20"/>
          <p:cNvSpPr txBox="1"/>
          <p:nvPr/>
        </p:nvSpPr>
        <p:spPr>
          <a:xfrm>
            <a:off x="182880" y="407701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23" name="Text 21"/>
          <p:cNvSpPr txBox="1"/>
          <p:nvPr/>
        </p:nvSpPr>
        <p:spPr>
          <a:xfrm>
            <a:off x="658368" y="4005072"/>
            <a:ext cx="7255266"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If the text is not centered, select the Move tool (V) and drag it</a:t>
            </a:r>
            <a:endParaRPr lang="en-US" sz="1300" dirty="0"/>
          </a:p>
        </p:txBody>
      </p:sp>
      <p:sp>
        <p:nvSpPr>
          <p:cNvPr id="24" name="Text 22"/>
          <p:cNvSpPr txBox="1"/>
          <p:nvPr/>
        </p:nvSpPr>
        <p:spPr>
          <a:xfrm>
            <a:off x="658367" y="4259890"/>
            <a:ext cx="83027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Press V to switch to the Move tool. Click and drag the text layer on the canvas to center it horizontally. Smart Guides — the pink magenta lines that appear — will snap to the center of the canvas to help you align it.</a:t>
            </a:r>
            <a:endParaRPr lang="en-US" sz="1150" dirty="0"/>
          </a:p>
        </p:txBody>
      </p:sp>
      <p:pic>
        <p:nvPicPr>
          <p:cNvPr id="28" name="Picture 27">
            <a:extLst>
              <a:ext uri="{FF2B5EF4-FFF2-40B4-BE49-F238E27FC236}">
                <a16:creationId xmlns:a16="http://schemas.microsoft.com/office/drawing/2014/main" id="{390B587E-F483-D81E-4311-4955D05D6F05}"/>
              </a:ext>
            </a:extLst>
          </p:cNvPr>
          <p:cNvPicPr>
            <a:picLocks noChangeAspect="1"/>
          </p:cNvPicPr>
          <p:nvPr/>
        </p:nvPicPr>
        <p:blipFill>
          <a:blip r:embed="rId3"/>
          <a:stretch>
            <a:fillRect/>
          </a:stretch>
        </p:blipFill>
        <p:spPr>
          <a:xfrm>
            <a:off x="5869528" y="907968"/>
            <a:ext cx="3091592" cy="1933103"/>
          </a:xfrm>
          <a:prstGeom prst="rect">
            <a:avLst/>
          </a:prstGeom>
        </p:spPr>
      </p:pic>
      <p:pic>
        <p:nvPicPr>
          <p:cNvPr id="29" name="Picture 28">
            <a:extLst>
              <a:ext uri="{FF2B5EF4-FFF2-40B4-BE49-F238E27FC236}">
                <a16:creationId xmlns:a16="http://schemas.microsoft.com/office/drawing/2014/main" id="{F75059E8-A8A9-998A-E6A5-D4D798664432}"/>
              </a:ext>
            </a:extLst>
          </p:cNvPr>
          <p:cNvPicPr>
            <a:picLocks noChangeAspect="1"/>
          </p:cNvPicPr>
          <p:nvPr/>
        </p:nvPicPr>
        <p:blipFill>
          <a:blip r:embed="rId4"/>
          <a:stretch>
            <a:fillRect/>
          </a:stretch>
        </p:blipFill>
        <p:spPr>
          <a:xfrm>
            <a:off x="5869526" y="2961442"/>
            <a:ext cx="3091593" cy="2374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08</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Add the Subtitle Text — Live Stream</a:t>
            </a:r>
            <a:endParaRPr lang="en-US" sz="2000" dirty="0"/>
          </a:p>
        </p:txBody>
      </p:sp>
      <p:sp>
        <p:nvSpPr>
          <p:cNvPr id="5" name="Shape 3"/>
          <p:cNvSpPr/>
          <p:nvPr/>
        </p:nvSpPr>
        <p:spPr>
          <a:xfrm>
            <a:off x="182880" y="777240"/>
            <a:ext cx="8778240" cy="548640"/>
          </a:xfrm>
          <a:prstGeom prst="roundRect">
            <a:avLst>
              <a:gd name="adj" fmla="val 1333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This second line of text gets its own Type layer with different settings — a different font, smaller size, and right-aligned. You must deselect the existing type layer first so Photoshop creates a new one.</a:t>
            </a:r>
            <a:endParaRPr lang="en-US" sz="1200" dirty="0"/>
          </a:p>
        </p:txBody>
      </p:sp>
      <p:sp>
        <p:nvSpPr>
          <p:cNvPr id="7" name="Shape 5"/>
          <p:cNvSpPr/>
          <p:nvPr/>
        </p:nvSpPr>
        <p:spPr>
          <a:xfrm>
            <a:off x="182880" y="1472184"/>
            <a:ext cx="365760" cy="365760"/>
          </a:xfrm>
          <a:prstGeom prst="ellipse">
            <a:avLst/>
          </a:prstGeom>
          <a:solidFill>
            <a:srgbClr val="FF6B1A"/>
          </a:solidFill>
          <a:ln/>
        </p:spPr>
        <p:txBody>
          <a:bodyPr/>
          <a:lstStyle/>
          <a:p>
            <a:endParaRPr lang="en-US"/>
          </a:p>
        </p:txBody>
      </p:sp>
      <p:sp>
        <p:nvSpPr>
          <p:cNvPr id="8" name="Text 6"/>
          <p:cNvSpPr txBox="1"/>
          <p:nvPr/>
        </p:nvSpPr>
        <p:spPr>
          <a:xfrm>
            <a:off x="182880" y="14721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4475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Select &gt; Deselect Layers</a:t>
            </a:r>
            <a:endParaRPr lang="en-US" sz="1300" dirty="0"/>
          </a:p>
        </p:txBody>
      </p:sp>
      <p:sp>
        <p:nvSpPr>
          <p:cNvPr id="10" name="Text 8"/>
          <p:cNvSpPr txBox="1"/>
          <p:nvPr/>
        </p:nvSpPr>
        <p:spPr>
          <a:xfrm>
            <a:off x="658368" y="1755648"/>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deselects the History 301 type layer. If you skip this step and click on the canvas, Photoshop may add to the existing layer instead of creating a new one.</a:t>
            </a:r>
            <a:endParaRPr lang="en-US" sz="1150" dirty="0"/>
          </a:p>
        </p:txBody>
      </p:sp>
      <p:sp>
        <p:nvSpPr>
          <p:cNvPr id="11" name="Shape 9"/>
          <p:cNvSpPr/>
          <p:nvPr/>
        </p:nvSpPr>
        <p:spPr>
          <a:xfrm>
            <a:off x="182880" y="2322013"/>
            <a:ext cx="365760" cy="365760"/>
          </a:xfrm>
          <a:prstGeom prst="ellipse">
            <a:avLst/>
          </a:prstGeom>
          <a:solidFill>
            <a:srgbClr val="FF6B1A"/>
          </a:solidFill>
          <a:ln/>
        </p:spPr>
        <p:txBody>
          <a:bodyPr/>
          <a:lstStyle/>
          <a:p>
            <a:endParaRPr lang="en-US"/>
          </a:p>
        </p:txBody>
      </p:sp>
      <p:sp>
        <p:nvSpPr>
          <p:cNvPr id="12" name="Text 10"/>
          <p:cNvSpPr txBox="1"/>
          <p:nvPr/>
        </p:nvSpPr>
        <p:spPr>
          <a:xfrm>
            <a:off x="182880" y="232201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212848"/>
            <a:ext cx="467478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With the Type tool still active, change the font to a condensed style</a:t>
            </a:r>
            <a:endParaRPr lang="en-US" sz="1300" dirty="0"/>
          </a:p>
        </p:txBody>
      </p:sp>
      <p:sp>
        <p:nvSpPr>
          <p:cNvPr id="14" name="Text 12"/>
          <p:cNvSpPr txBox="1"/>
          <p:nvPr/>
        </p:nvSpPr>
        <p:spPr>
          <a:xfrm>
            <a:off x="658368" y="252374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book uses Acumin Pro Condensed Black Italic (Adobe Fonts). Any narrow, condensed bold-italic font works. Change the font in the options bar font field.</a:t>
            </a:r>
            <a:endParaRPr lang="en-US" sz="1150" dirty="0"/>
          </a:p>
        </p:txBody>
      </p:sp>
      <p:sp>
        <p:nvSpPr>
          <p:cNvPr id="15" name="Shape 13"/>
          <p:cNvSpPr/>
          <p:nvPr/>
        </p:nvSpPr>
        <p:spPr>
          <a:xfrm>
            <a:off x="182880" y="3053533"/>
            <a:ext cx="365760" cy="365760"/>
          </a:xfrm>
          <a:prstGeom prst="ellipse">
            <a:avLst/>
          </a:prstGeom>
          <a:solidFill>
            <a:srgbClr val="FF6B1A"/>
          </a:solidFill>
          <a:ln/>
        </p:spPr>
        <p:txBody>
          <a:bodyPr/>
          <a:lstStyle/>
          <a:p>
            <a:endParaRPr lang="en-US"/>
          </a:p>
        </p:txBody>
      </p:sp>
      <p:sp>
        <p:nvSpPr>
          <p:cNvPr id="16" name="Text 14"/>
          <p:cNvSpPr txBox="1"/>
          <p:nvPr/>
        </p:nvSpPr>
        <p:spPr>
          <a:xfrm>
            <a:off x="182880" y="305353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9443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Change the size to 165 pt and click the Right Align Text button</a:t>
            </a:r>
            <a:endParaRPr lang="en-US" sz="1300" dirty="0"/>
          </a:p>
        </p:txBody>
      </p:sp>
      <p:sp>
        <p:nvSpPr>
          <p:cNvPr id="18" name="Text 16"/>
          <p:cNvSpPr txBox="1"/>
          <p:nvPr/>
        </p:nvSpPr>
        <p:spPr>
          <a:xfrm>
            <a:off x="658368" y="3200949"/>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text will anchor to the right side of the canvas. Right alignment makes it read naturally next to the right edge guide.</a:t>
            </a:r>
            <a:endParaRPr lang="en-US" sz="1150" dirty="0"/>
          </a:p>
        </p:txBody>
      </p:sp>
      <p:sp>
        <p:nvSpPr>
          <p:cNvPr id="19" name="Shape 17"/>
          <p:cNvSpPr/>
          <p:nvPr/>
        </p:nvSpPr>
        <p:spPr>
          <a:xfrm>
            <a:off x="182880" y="3682888"/>
            <a:ext cx="365760" cy="365760"/>
          </a:xfrm>
          <a:prstGeom prst="ellipse">
            <a:avLst/>
          </a:prstGeom>
          <a:solidFill>
            <a:srgbClr val="FF6B1A"/>
          </a:solidFill>
          <a:ln/>
        </p:spPr>
        <p:txBody>
          <a:bodyPr/>
          <a:lstStyle/>
          <a:p>
            <a:endParaRPr lang="en-US"/>
          </a:p>
        </p:txBody>
      </p:sp>
      <p:sp>
        <p:nvSpPr>
          <p:cNvPr id="20" name="Text 18"/>
          <p:cNvSpPr txBox="1"/>
          <p:nvPr/>
        </p:nvSpPr>
        <p:spPr>
          <a:xfrm>
            <a:off x="182880" y="3682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67588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near the right guide, two-thirds down from the top, and type:  Live Stream</a:t>
            </a:r>
            <a:endParaRPr lang="en-US" sz="1300" dirty="0"/>
          </a:p>
        </p:txBody>
      </p:sp>
      <p:sp>
        <p:nvSpPr>
          <p:cNvPr id="22" name="Text 20"/>
          <p:cNvSpPr txBox="1"/>
          <p:nvPr/>
        </p:nvSpPr>
        <p:spPr>
          <a:xfrm>
            <a:off x="658368" y="4046437"/>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Because All Caps is still active from the previous step, LIVE STREAM will</a:t>
            </a:r>
          </a:p>
          <a:p>
            <a:pPr marL="0" indent="0">
              <a:buNone/>
            </a:pPr>
            <a:r>
              <a:rPr lang="en-US" sz="1150" dirty="0">
                <a:solidFill>
                  <a:srgbClr val="FFFFFF"/>
                </a:solidFill>
                <a:latin typeface="Calibri" pitchFamily="34" charset="0"/>
                <a:ea typeface="Calibri" pitchFamily="34" charset="-122"/>
                <a:cs typeface="Calibri" pitchFamily="34" charset="-120"/>
              </a:rPr>
              <a:t> appear. Position the click point roughly between the History 301 text and the bottom of the canvas, near the right inner guide line.</a:t>
            </a:r>
            <a:endParaRPr lang="en-US" sz="1150" dirty="0"/>
          </a:p>
        </p:txBody>
      </p:sp>
      <p:sp>
        <p:nvSpPr>
          <p:cNvPr id="23" name="Shape 21"/>
          <p:cNvSpPr/>
          <p:nvPr/>
        </p:nvSpPr>
        <p:spPr>
          <a:xfrm>
            <a:off x="182880" y="4534493"/>
            <a:ext cx="365760" cy="365760"/>
          </a:xfrm>
          <a:prstGeom prst="ellipse">
            <a:avLst/>
          </a:prstGeom>
          <a:solidFill>
            <a:srgbClr val="FF6B1A"/>
          </a:solidFill>
          <a:ln/>
        </p:spPr>
        <p:txBody>
          <a:bodyPr/>
          <a:lstStyle/>
          <a:p>
            <a:endParaRPr lang="en-US"/>
          </a:p>
        </p:txBody>
      </p:sp>
      <p:sp>
        <p:nvSpPr>
          <p:cNvPr id="24" name="Text 22"/>
          <p:cNvSpPr txBox="1"/>
          <p:nvPr/>
        </p:nvSpPr>
        <p:spPr>
          <a:xfrm>
            <a:off x="182880" y="453449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7" y="4457917"/>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checkmark ✓ to commit</a:t>
            </a:r>
            <a:endParaRPr lang="en-US" sz="1300" dirty="0"/>
          </a:p>
        </p:txBody>
      </p:sp>
      <p:sp>
        <p:nvSpPr>
          <p:cNvPr id="26" name="Text 24"/>
          <p:cNvSpPr txBox="1"/>
          <p:nvPr/>
        </p:nvSpPr>
        <p:spPr>
          <a:xfrm>
            <a:off x="658368" y="4627515"/>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second Type layer called Live Stream (or LIVE STREAM) now appears in the Layers panel above the History 301 layer.</a:t>
            </a:r>
            <a:endParaRPr lang="en-US" sz="1150" dirty="0"/>
          </a:p>
        </p:txBody>
      </p:sp>
      <p:pic>
        <p:nvPicPr>
          <p:cNvPr id="27" name="Image 0" descr="preencoded.png"/>
          <p:cNvPicPr>
            <a:picLocks noChangeAspect="1"/>
          </p:cNvPicPr>
          <p:nvPr/>
        </p:nvPicPr>
        <p:blipFill>
          <a:blip r:embed="rId3"/>
          <a:stretch>
            <a:fillRect/>
          </a:stretch>
        </p:blipFill>
        <p:spPr>
          <a:xfrm>
            <a:off x="5407115" y="1468046"/>
            <a:ext cx="3518245" cy="2331720"/>
          </a:xfrm>
          <a:prstGeom prst="rect">
            <a:avLst/>
          </a:prstGeom>
        </p:spPr>
      </p:pic>
      <p:sp>
        <p:nvSpPr>
          <p:cNvPr id="28" name="Text 25"/>
          <p:cNvSpPr txBox="1"/>
          <p:nvPr/>
        </p:nvSpPr>
        <p:spPr>
          <a:xfrm>
            <a:off x="5407115" y="3827198"/>
            <a:ext cx="3518246"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Canvas with both text layers — HISTORY 301 centered, LIVE STREAM right-aligned below</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09a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Add a Solid Color Adjustment Layer — Dark Green</a:t>
            </a:r>
            <a:endParaRPr lang="en-US" sz="2000" dirty="0"/>
          </a:p>
        </p:txBody>
      </p:sp>
      <p:sp>
        <p:nvSpPr>
          <p:cNvPr id="5" name="Shape 3"/>
          <p:cNvSpPr/>
          <p:nvPr/>
        </p:nvSpPr>
        <p:spPr>
          <a:xfrm>
            <a:off x="182880" y="777240"/>
            <a:ext cx="8778240" cy="749808"/>
          </a:xfrm>
          <a:prstGeom prst="roundRect">
            <a:avLst>
              <a:gd name="adj" fmla="val 9756"/>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white text is currently hard to read against the lighter parts of the Arch photo. You need to add a dark, semi-transparent layer of green over the photo to improve contrast. You could fill a regular pixel layer with green, but a Solid Color Fill Layer is smarter — its color can be edited at any time simply by double-clicking its thumbnail in the Layers panel. No redoing steps.</a:t>
            </a:r>
            <a:endParaRPr lang="en-US" sz="1200" dirty="0"/>
          </a:p>
        </p:txBody>
      </p:sp>
      <p:sp>
        <p:nvSpPr>
          <p:cNvPr id="7" name="Shape 5"/>
          <p:cNvSpPr/>
          <p:nvPr/>
        </p:nvSpPr>
        <p:spPr>
          <a:xfrm>
            <a:off x="182880" y="1744218"/>
            <a:ext cx="365760" cy="365760"/>
          </a:xfrm>
          <a:prstGeom prst="ellipse">
            <a:avLst/>
          </a:prstGeom>
          <a:solidFill>
            <a:srgbClr val="FF6B1A"/>
          </a:solidFill>
          <a:ln/>
        </p:spPr>
        <p:txBody>
          <a:bodyPr/>
          <a:lstStyle/>
          <a:p>
            <a:endParaRPr lang="en-US"/>
          </a:p>
        </p:txBody>
      </p:sp>
      <p:sp>
        <p:nvSpPr>
          <p:cNvPr id="8" name="Text 6"/>
          <p:cNvSpPr txBox="1"/>
          <p:nvPr/>
        </p:nvSpPr>
        <p:spPr>
          <a:xfrm>
            <a:off x="182880" y="174421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664208"/>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Layers panel, click the Arch layer to select it</a:t>
            </a:r>
            <a:endParaRPr lang="en-US" sz="1300" dirty="0"/>
          </a:p>
        </p:txBody>
      </p:sp>
      <p:sp>
        <p:nvSpPr>
          <p:cNvPr id="10" name="Text 8"/>
          <p:cNvSpPr txBox="1"/>
          <p:nvPr/>
        </p:nvSpPr>
        <p:spPr>
          <a:xfrm>
            <a:off x="658367" y="1975104"/>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Solid Color layer must be created above Arch but below the Rectangles and text layers. Selecting Arch first puts the new layer in exactly the right position in the stack.</a:t>
            </a:r>
            <a:endParaRPr lang="en-US" sz="1150" dirty="0"/>
          </a:p>
        </p:txBody>
      </p:sp>
      <p:sp>
        <p:nvSpPr>
          <p:cNvPr id="11" name="Shape 9"/>
          <p:cNvSpPr/>
          <p:nvPr/>
        </p:nvSpPr>
        <p:spPr>
          <a:xfrm>
            <a:off x="182880" y="2450592"/>
            <a:ext cx="365760" cy="365760"/>
          </a:xfrm>
          <a:prstGeom prst="ellipse">
            <a:avLst/>
          </a:prstGeom>
          <a:solidFill>
            <a:srgbClr val="FF6B1A"/>
          </a:solidFill>
          <a:ln/>
        </p:spPr>
        <p:txBody>
          <a:bodyPr/>
          <a:lstStyle/>
          <a:p>
            <a:endParaRPr lang="en-US"/>
          </a:p>
        </p:txBody>
      </p:sp>
      <p:sp>
        <p:nvSpPr>
          <p:cNvPr id="12" name="Text 10"/>
          <p:cNvSpPr txBox="1"/>
          <p:nvPr/>
        </p:nvSpPr>
        <p:spPr>
          <a:xfrm>
            <a:off x="182880" y="24505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2" y="2478024"/>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the Create New Fill or Adjustment Layer button at the bottom of the Layers panel</a:t>
            </a:r>
            <a:endParaRPr lang="en-US" sz="1300" dirty="0"/>
          </a:p>
        </p:txBody>
      </p:sp>
      <p:sp>
        <p:nvSpPr>
          <p:cNvPr id="14" name="Text 12"/>
          <p:cNvSpPr txBox="1"/>
          <p:nvPr/>
        </p:nvSpPr>
        <p:spPr>
          <a:xfrm>
            <a:off x="658356" y="2839243"/>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is the half-filled circle icon at the very bottom of the Layers panel. A menu pops up with multiple options. Choose Solid Color from the top of the list.</a:t>
            </a:r>
            <a:endParaRPr lang="en-US" sz="1150" dirty="0"/>
          </a:p>
        </p:txBody>
      </p:sp>
      <p:sp>
        <p:nvSpPr>
          <p:cNvPr id="15" name="Shape 13"/>
          <p:cNvSpPr/>
          <p:nvPr/>
        </p:nvSpPr>
        <p:spPr>
          <a:xfrm>
            <a:off x="182880" y="3395519"/>
            <a:ext cx="365760" cy="365760"/>
          </a:xfrm>
          <a:prstGeom prst="ellipse">
            <a:avLst/>
          </a:prstGeom>
          <a:solidFill>
            <a:srgbClr val="FF6B1A"/>
          </a:solidFill>
          <a:ln/>
        </p:spPr>
        <p:txBody>
          <a:bodyPr/>
          <a:lstStyle/>
          <a:p>
            <a:endParaRPr lang="en-US"/>
          </a:p>
        </p:txBody>
      </p:sp>
      <p:sp>
        <p:nvSpPr>
          <p:cNvPr id="16" name="Text 14"/>
          <p:cNvSpPr txBox="1"/>
          <p:nvPr/>
        </p:nvSpPr>
        <p:spPr>
          <a:xfrm>
            <a:off x="182880" y="33955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5" y="3304202"/>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Color Picker that opens, type 0c3303 in the # field — click OK</a:t>
            </a:r>
            <a:endParaRPr lang="en-US" sz="1300" dirty="0"/>
          </a:p>
        </p:txBody>
      </p:sp>
      <p:sp>
        <p:nvSpPr>
          <p:cNvPr id="18" name="Text 16"/>
          <p:cNvSpPr txBox="1"/>
          <p:nvPr/>
        </p:nvSpPr>
        <p:spPr>
          <a:xfrm>
            <a:off x="658362" y="3665421"/>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0c3303 is a very dark forest green. A new layer called Color Fill 1 appears in the Layers panel above Arch. The canvas turns solid green — do not worry, the next step fixes this.</a:t>
            </a:r>
            <a:endParaRPr lang="en-US" sz="1150" dirty="0"/>
          </a:p>
        </p:txBody>
      </p:sp>
      <p:sp>
        <p:nvSpPr>
          <p:cNvPr id="19" name="Shape 17"/>
          <p:cNvSpPr/>
          <p:nvPr/>
        </p:nvSpPr>
        <p:spPr>
          <a:xfrm>
            <a:off x="182880" y="4244289"/>
            <a:ext cx="365760" cy="365760"/>
          </a:xfrm>
          <a:prstGeom prst="ellipse">
            <a:avLst/>
          </a:prstGeom>
          <a:solidFill>
            <a:srgbClr val="FF6B1A"/>
          </a:solidFill>
          <a:ln/>
        </p:spPr>
        <p:txBody>
          <a:bodyPr/>
          <a:lstStyle/>
          <a:p>
            <a:endParaRPr lang="en-US"/>
          </a:p>
        </p:txBody>
      </p:sp>
      <p:sp>
        <p:nvSpPr>
          <p:cNvPr id="20" name="Text 18"/>
          <p:cNvSpPr txBox="1"/>
          <p:nvPr/>
        </p:nvSpPr>
        <p:spPr>
          <a:xfrm>
            <a:off x="182880" y="424428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7" y="4261104"/>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Look at your Layers panel — you should see the Color Fill 1 layer with a colored square thumbnail and a white mask thumbnail</a:t>
            </a:r>
            <a:endParaRPr lang="en-US" sz="1300" dirty="0"/>
          </a:p>
        </p:txBody>
      </p:sp>
      <p:sp>
        <p:nvSpPr>
          <p:cNvPr id="22" name="Text 20"/>
          <p:cNvSpPr txBox="1"/>
          <p:nvPr/>
        </p:nvSpPr>
        <p:spPr>
          <a:xfrm>
            <a:off x="658365" y="4622323"/>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white square is a layer mask — it controls where the color is visible. You will not edit the mask in this lesson, but it is there by default.</a:t>
            </a:r>
            <a:endParaRPr lang="en-US" sz="1150" dirty="0"/>
          </a:p>
        </p:txBody>
      </p:sp>
      <p:pic>
        <p:nvPicPr>
          <p:cNvPr id="23" name="Image 0" descr="preencoded.png"/>
          <p:cNvPicPr>
            <a:picLocks noChangeAspect="1"/>
          </p:cNvPicPr>
          <p:nvPr/>
        </p:nvPicPr>
        <p:blipFill>
          <a:blip r:embed="rId3"/>
          <a:stretch>
            <a:fillRect/>
          </a:stretch>
        </p:blipFill>
        <p:spPr>
          <a:xfrm>
            <a:off x="5864420" y="1556767"/>
            <a:ext cx="3050979" cy="3143250"/>
          </a:xfrm>
          <a:prstGeom prst="rect">
            <a:avLst/>
          </a:prstGeom>
        </p:spPr>
      </p:pic>
      <p:sp>
        <p:nvSpPr>
          <p:cNvPr id="24" name="Text 21"/>
          <p:cNvSpPr txBox="1"/>
          <p:nvPr/>
        </p:nvSpPr>
        <p:spPr>
          <a:xfrm>
            <a:off x="5864420" y="4796028"/>
            <a:ext cx="3091847"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Layers panel — clicking Create New Fill Layer button, choosing Solid Color (PDF p.18, right column)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09b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Set Hard Light Blend Mode — 90% Opacity — Hide Guides</a:t>
            </a:r>
            <a:endParaRPr lang="en-US" sz="2000" dirty="0"/>
          </a:p>
        </p:txBody>
      </p:sp>
      <p:sp>
        <p:nvSpPr>
          <p:cNvPr id="5" name="Shape 3"/>
          <p:cNvSpPr/>
          <p:nvPr/>
        </p:nvSpPr>
        <p:spPr>
          <a:xfrm>
            <a:off x="182880" y="884445"/>
            <a:ext cx="365760" cy="365760"/>
          </a:xfrm>
          <a:prstGeom prst="ellipse">
            <a:avLst/>
          </a:prstGeom>
          <a:solidFill>
            <a:srgbClr val="FF6B1A"/>
          </a:solidFill>
          <a:ln/>
        </p:spPr>
        <p:txBody>
          <a:bodyPr/>
          <a:lstStyle/>
          <a:p>
            <a:endParaRPr lang="en-US"/>
          </a:p>
        </p:txBody>
      </p:sp>
      <p:sp>
        <p:nvSpPr>
          <p:cNvPr id="6" name="Text 4"/>
          <p:cNvSpPr txBox="1"/>
          <p:nvPr/>
        </p:nvSpPr>
        <p:spPr>
          <a:xfrm>
            <a:off x="182880" y="88444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7" name="Text 5"/>
          <p:cNvSpPr txBox="1"/>
          <p:nvPr/>
        </p:nvSpPr>
        <p:spPr>
          <a:xfrm>
            <a:off x="658368" y="804672"/>
            <a:ext cx="502920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With Color Fill 1 still selected, change the blend mode to Hard Light</a:t>
            </a:r>
            <a:endParaRPr lang="en-US" sz="1300" dirty="0"/>
          </a:p>
        </p:txBody>
      </p:sp>
      <p:sp>
        <p:nvSpPr>
          <p:cNvPr id="8" name="Text 6"/>
          <p:cNvSpPr txBox="1"/>
          <p:nvPr/>
        </p:nvSpPr>
        <p:spPr>
          <a:xfrm>
            <a:off x="658368" y="1477649"/>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the blending mode dropdown at the top-left of the Layers panel — currently says Normal. Choose Hard Light. The green no longer covers everything — the photo shows through with a green tint and stronger contrast. Hard Light blend mode multiplies dark tones and screens light tones, increasing overall contrast and shadow depth while letting the image show through.</a:t>
            </a:r>
            <a:endParaRPr lang="en-US" sz="1150" dirty="0"/>
          </a:p>
        </p:txBody>
      </p:sp>
      <p:sp>
        <p:nvSpPr>
          <p:cNvPr id="9" name="Shape 7"/>
          <p:cNvSpPr/>
          <p:nvPr/>
        </p:nvSpPr>
        <p:spPr>
          <a:xfrm>
            <a:off x="182880" y="2254886"/>
            <a:ext cx="365760" cy="365760"/>
          </a:xfrm>
          <a:prstGeom prst="ellipse">
            <a:avLst/>
          </a:prstGeom>
          <a:solidFill>
            <a:srgbClr val="FF6B1A"/>
          </a:solidFill>
          <a:ln/>
        </p:spPr>
        <p:txBody>
          <a:bodyPr/>
          <a:lstStyle/>
          <a:p>
            <a:endParaRPr lang="en-US"/>
          </a:p>
        </p:txBody>
      </p:sp>
      <p:sp>
        <p:nvSpPr>
          <p:cNvPr id="10" name="Text 8"/>
          <p:cNvSpPr txBox="1"/>
          <p:nvPr/>
        </p:nvSpPr>
        <p:spPr>
          <a:xfrm>
            <a:off x="182880" y="22548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1" name="Text 9"/>
          <p:cNvSpPr txBox="1"/>
          <p:nvPr/>
        </p:nvSpPr>
        <p:spPr>
          <a:xfrm>
            <a:off x="656742" y="217093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Change the Opacity value to 90%</a:t>
            </a:r>
            <a:endParaRPr lang="en-US" sz="1300" dirty="0"/>
          </a:p>
        </p:txBody>
      </p:sp>
      <p:sp>
        <p:nvSpPr>
          <p:cNvPr id="12" name="Text 10"/>
          <p:cNvSpPr txBox="1"/>
          <p:nvPr/>
        </p:nvSpPr>
        <p:spPr>
          <a:xfrm>
            <a:off x="656742" y="261518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Opacity field is at the top-right of the Layers panel, right next to the blend mode. Click on it and type 90, then press Enter. Dropping to 90% lets just a hint of the original photo's tone come through the green, making the result feel more natural and less like a flat color overlay.</a:t>
            </a:r>
            <a:endParaRPr lang="en-US" sz="1150" dirty="0"/>
          </a:p>
        </p:txBody>
      </p:sp>
      <p:sp>
        <p:nvSpPr>
          <p:cNvPr id="13" name="Shape 11"/>
          <p:cNvSpPr/>
          <p:nvPr/>
        </p:nvSpPr>
        <p:spPr>
          <a:xfrm>
            <a:off x="182880" y="3202180"/>
            <a:ext cx="365760" cy="365760"/>
          </a:xfrm>
          <a:prstGeom prst="ellipse">
            <a:avLst/>
          </a:prstGeom>
          <a:solidFill>
            <a:srgbClr val="FF6B1A"/>
          </a:solidFill>
          <a:ln/>
        </p:spPr>
        <p:txBody>
          <a:bodyPr/>
          <a:lstStyle/>
          <a:p>
            <a:endParaRPr lang="en-US"/>
          </a:p>
        </p:txBody>
      </p:sp>
      <p:sp>
        <p:nvSpPr>
          <p:cNvPr id="14" name="Text 12"/>
          <p:cNvSpPr txBox="1"/>
          <p:nvPr/>
        </p:nvSpPr>
        <p:spPr>
          <a:xfrm>
            <a:off x="182880" y="32021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5" name="Text 13"/>
          <p:cNvSpPr txBox="1"/>
          <p:nvPr/>
        </p:nvSpPr>
        <p:spPr>
          <a:xfrm>
            <a:off x="656742" y="314492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Choose View &gt; Show &gt; Guides to hide the cyan guide lines</a:t>
            </a:r>
            <a:endParaRPr lang="en-US" sz="1300" dirty="0"/>
          </a:p>
        </p:txBody>
      </p:sp>
      <p:sp>
        <p:nvSpPr>
          <p:cNvPr id="16" name="Text 14"/>
          <p:cNvSpPr txBox="1"/>
          <p:nvPr/>
        </p:nvSpPr>
        <p:spPr>
          <a:xfrm>
            <a:off x="658368" y="357684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cyan guide lines were there to help you place elements inside the safe zone. Now that your design is taking shape, hiding them lets you see the composition more clearly. Guides are non-destructive — they do not print or export.</a:t>
            </a:r>
            <a:endParaRPr lang="en-US" sz="1150" dirty="0"/>
          </a:p>
        </p:txBody>
      </p:sp>
      <p:sp>
        <p:nvSpPr>
          <p:cNvPr id="17" name="Shape 15"/>
          <p:cNvSpPr/>
          <p:nvPr/>
        </p:nvSpPr>
        <p:spPr>
          <a:xfrm>
            <a:off x="182880" y="4217164"/>
            <a:ext cx="5029200" cy="804672"/>
          </a:xfrm>
          <a:prstGeom prst="roundRect">
            <a:avLst>
              <a:gd name="adj" fmla="val 9091"/>
            </a:avLst>
          </a:prstGeom>
          <a:solidFill>
            <a:srgbClr val="2A2A2A"/>
          </a:solidFill>
          <a:ln w="12700">
            <a:solidFill>
              <a:srgbClr val="444444"/>
            </a:solidFill>
            <a:prstDash val="solid"/>
          </a:ln>
        </p:spPr>
        <p:txBody>
          <a:bodyPr/>
          <a:lstStyle/>
          <a:p>
            <a:endParaRPr lang="en-US"/>
          </a:p>
        </p:txBody>
      </p:sp>
      <p:sp>
        <p:nvSpPr>
          <p:cNvPr id="18" name="Text 16"/>
          <p:cNvSpPr txBox="1"/>
          <p:nvPr/>
        </p:nvSpPr>
        <p:spPr>
          <a:xfrm>
            <a:off x="320040" y="4308604"/>
            <a:ext cx="4754880" cy="621792"/>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At this point your Layers panel (from top to bottom) should read:</a:t>
            </a:r>
            <a:endParaRPr lang="en-US" sz="1200" dirty="0"/>
          </a:p>
          <a:p>
            <a:pPr marL="0" indent="0">
              <a:buNone/>
            </a:pPr>
            <a:r>
              <a:rPr lang="en-US" sz="1200" dirty="0">
                <a:solidFill>
                  <a:srgbClr val="A0D8D8"/>
                </a:solidFill>
                <a:latin typeface="Calibri" pitchFamily="34" charset="0"/>
                <a:ea typeface="Calibri" pitchFamily="34" charset="-122"/>
                <a:cs typeface="Calibri" pitchFamily="34" charset="-120"/>
              </a:rPr>
              <a:t>Live Stream  |  History 301  |  Rectangles  |  Color Fill 1  |  Arch  |  Background</a:t>
            </a:r>
            <a:endParaRPr lang="en-US" sz="1200" dirty="0"/>
          </a:p>
        </p:txBody>
      </p:sp>
      <p:pic>
        <p:nvPicPr>
          <p:cNvPr id="19" name="Image 0" descr="preencoded.png"/>
          <p:cNvPicPr>
            <a:picLocks noChangeAspect="1"/>
          </p:cNvPicPr>
          <p:nvPr/>
        </p:nvPicPr>
        <p:blipFill>
          <a:blip r:embed="rId3"/>
          <a:stretch>
            <a:fillRect/>
          </a:stretch>
        </p:blipFill>
        <p:spPr>
          <a:xfrm>
            <a:off x="5318556" y="749808"/>
            <a:ext cx="3642564" cy="3977640"/>
          </a:xfrm>
          <a:prstGeom prst="rect">
            <a:avLst/>
          </a:prstGeom>
        </p:spPr>
      </p:pic>
      <p:sp>
        <p:nvSpPr>
          <p:cNvPr id="20" name="Text 17"/>
          <p:cNvSpPr txBox="1"/>
          <p:nvPr/>
        </p:nvSpPr>
        <p:spPr>
          <a:xfrm>
            <a:off x="5606990" y="4755555"/>
            <a:ext cx="321697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Canvas + Layers panel — Hard Light blend, 90% opacity, full layer stack visible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10a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Sample a Color for Painting — Eyedropper Tool</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Before you paint the spatter brush effect, you need to set the foreground color to the blue that matches the right side of your canvas. You could type a hex code — but a faster and more precise method is to sample a color directly from the canvas using the Eyedropper tool. Sampling reads the exact pixel color at the point you click.</a:t>
            </a:r>
            <a:endParaRPr lang="en-US" sz="1200" dirty="0"/>
          </a:p>
        </p:txBody>
      </p:sp>
      <p:sp>
        <p:nvSpPr>
          <p:cNvPr id="7" name="Shape 5"/>
          <p:cNvSpPr/>
          <p:nvPr/>
        </p:nvSpPr>
        <p:spPr>
          <a:xfrm>
            <a:off x="182880" y="1679981"/>
            <a:ext cx="365760" cy="365760"/>
          </a:xfrm>
          <a:prstGeom prst="ellipse">
            <a:avLst/>
          </a:prstGeom>
          <a:solidFill>
            <a:srgbClr val="FF6B1A"/>
          </a:solidFill>
          <a:ln/>
        </p:spPr>
        <p:txBody>
          <a:bodyPr/>
          <a:lstStyle/>
          <a:p>
            <a:endParaRPr lang="en-US"/>
          </a:p>
        </p:txBody>
      </p:sp>
      <p:sp>
        <p:nvSpPr>
          <p:cNvPr id="8" name="Text 6"/>
          <p:cNvSpPr txBox="1"/>
          <p:nvPr/>
        </p:nvSpPr>
        <p:spPr>
          <a:xfrm>
            <a:off x="182880" y="167998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Select the Eyedropper tool — press I or click it in the Tools panel</a:t>
            </a:r>
            <a:endParaRPr lang="en-US" sz="1300" dirty="0"/>
          </a:p>
        </p:txBody>
      </p:sp>
      <p:sp>
        <p:nvSpPr>
          <p:cNvPr id="10" name="Text 8"/>
          <p:cNvSpPr txBox="1"/>
          <p:nvPr/>
        </p:nvSpPr>
        <p:spPr>
          <a:xfrm>
            <a:off x="681228" y="1755648"/>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Eyedropper icon looks like a dropper/pipette.</a:t>
            </a:r>
            <a:endParaRPr lang="en-US" sz="1150" dirty="0"/>
          </a:p>
        </p:txBody>
      </p:sp>
      <p:sp>
        <p:nvSpPr>
          <p:cNvPr id="11" name="Shape 9"/>
          <p:cNvSpPr/>
          <p:nvPr/>
        </p:nvSpPr>
        <p:spPr>
          <a:xfrm>
            <a:off x="182880" y="2245802"/>
            <a:ext cx="365760" cy="365760"/>
          </a:xfrm>
          <a:prstGeom prst="ellipse">
            <a:avLst/>
          </a:prstGeom>
          <a:solidFill>
            <a:srgbClr val="FF6B1A"/>
          </a:solidFill>
          <a:ln/>
        </p:spPr>
        <p:txBody>
          <a:bodyPr/>
          <a:lstStyle/>
          <a:p>
            <a:endParaRPr lang="en-US"/>
          </a:p>
        </p:txBody>
      </p:sp>
      <p:sp>
        <p:nvSpPr>
          <p:cNvPr id="12" name="Text 10"/>
          <p:cNvSpPr txBox="1"/>
          <p:nvPr/>
        </p:nvSpPr>
        <p:spPr>
          <a:xfrm>
            <a:off x="182880" y="224580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81228" y="2139635"/>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on a lighter blue area in the right side of your canvas</a:t>
            </a:r>
            <a:endParaRPr lang="en-US" sz="1300" dirty="0"/>
          </a:p>
        </p:txBody>
      </p:sp>
      <p:sp>
        <p:nvSpPr>
          <p:cNvPr id="14" name="Text 12"/>
          <p:cNvSpPr txBox="1"/>
          <p:nvPr/>
        </p:nvSpPr>
        <p:spPr>
          <a:xfrm>
            <a:off x="681228" y="2450531"/>
            <a:ext cx="45994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As soon as you click, that color is loaded as the foreground color. You can see it update in the foreground color swatch at the bottom of the Tools panel (the square in the lower-left, overlapping the background color square).</a:t>
            </a:r>
            <a:endParaRPr lang="en-US" sz="1150" dirty="0"/>
          </a:p>
        </p:txBody>
      </p:sp>
      <p:sp>
        <p:nvSpPr>
          <p:cNvPr id="15" name="Shape 13"/>
          <p:cNvSpPr/>
          <p:nvPr/>
        </p:nvSpPr>
        <p:spPr>
          <a:xfrm>
            <a:off x="182880" y="3170453"/>
            <a:ext cx="365760" cy="365760"/>
          </a:xfrm>
          <a:prstGeom prst="ellipse">
            <a:avLst/>
          </a:prstGeom>
          <a:solidFill>
            <a:srgbClr val="FF6B1A"/>
          </a:solidFill>
          <a:ln/>
        </p:spPr>
        <p:txBody>
          <a:bodyPr/>
          <a:lstStyle/>
          <a:p>
            <a:endParaRPr lang="en-US"/>
          </a:p>
        </p:txBody>
      </p:sp>
      <p:sp>
        <p:nvSpPr>
          <p:cNvPr id="16" name="Text 14"/>
          <p:cNvSpPr txBox="1"/>
          <p:nvPr/>
        </p:nvSpPr>
        <p:spPr>
          <a:xfrm>
            <a:off x="182880" y="317045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06324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Open the Color panel — Window &gt; Color</a:t>
            </a:r>
            <a:endParaRPr lang="en-US" sz="1300" dirty="0"/>
          </a:p>
        </p:txBody>
      </p:sp>
      <p:sp>
        <p:nvSpPr>
          <p:cNvPr id="18" name="Text 16"/>
          <p:cNvSpPr txBox="1"/>
          <p:nvPr/>
        </p:nvSpPr>
        <p:spPr>
          <a:xfrm>
            <a:off x="658368" y="337413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opens the Color panel, which shows you the RGB values of the current foreground color. You need to brighten the sampled blue slightly for better contrast against the green-tinted image.</a:t>
            </a:r>
            <a:endParaRPr lang="en-US" sz="1150" dirty="0"/>
          </a:p>
        </p:txBody>
      </p:sp>
      <p:sp>
        <p:nvSpPr>
          <p:cNvPr id="19" name="Shape 17"/>
          <p:cNvSpPr/>
          <p:nvPr/>
        </p:nvSpPr>
        <p:spPr>
          <a:xfrm>
            <a:off x="182880" y="4107378"/>
            <a:ext cx="365760" cy="365760"/>
          </a:xfrm>
          <a:prstGeom prst="ellipse">
            <a:avLst/>
          </a:prstGeom>
          <a:solidFill>
            <a:srgbClr val="FF6B1A"/>
          </a:solidFill>
          <a:ln/>
        </p:spPr>
        <p:txBody>
          <a:bodyPr/>
          <a:lstStyle/>
          <a:p>
            <a:endParaRPr lang="en-US"/>
          </a:p>
        </p:txBody>
      </p:sp>
      <p:sp>
        <p:nvSpPr>
          <p:cNvPr id="20" name="Text 18"/>
          <p:cNvSpPr txBox="1"/>
          <p:nvPr/>
        </p:nvSpPr>
        <p:spPr>
          <a:xfrm>
            <a:off x="182880" y="410737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98221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From the Color panel menu (≡ icon), choose Web Color Sliders</a:t>
            </a:r>
            <a:endParaRPr lang="en-US" sz="1300" dirty="0"/>
          </a:p>
        </p:txBody>
      </p:sp>
      <p:sp>
        <p:nvSpPr>
          <p:cNvPr id="22" name="Text 20"/>
          <p:cNvSpPr txBox="1"/>
          <p:nvPr/>
        </p:nvSpPr>
        <p:spPr>
          <a:xfrm>
            <a:off x="658368" y="4293108"/>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panel switches to showing a hex code field. Type 4099ff and press Enter. This sets the foreground color to the exact bright blue you will use for painting.</a:t>
            </a:r>
            <a:endParaRPr lang="en-US" sz="1150" dirty="0"/>
          </a:p>
        </p:txBody>
      </p:sp>
      <p:pic>
        <p:nvPicPr>
          <p:cNvPr id="23" name="Image 0" descr="preencoded.png"/>
          <p:cNvPicPr>
            <a:picLocks noChangeAspect="1"/>
          </p:cNvPicPr>
          <p:nvPr/>
        </p:nvPicPr>
        <p:blipFill>
          <a:blip r:embed="rId3"/>
          <a:stretch>
            <a:fillRect/>
          </a:stretch>
        </p:blipFill>
        <p:spPr>
          <a:xfrm>
            <a:off x="5321808" y="1578291"/>
            <a:ext cx="3639312" cy="3154680"/>
          </a:xfrm>
          <a:prstGeom prst="rect">
            <a:avLst/>
          </a:prstGeom>
        </p:spPr>
      </p:pic>
      <p:sp>
        <p:nvSpPr>
          <p:cNvPr id="24" name="Text 21"/>
          <p:cNvSpPr txBox="1"/>
          <p:nvPr/>
        </p:nvSpPr>
        <p:spPr>
          <a:xfrm>
            <a:off x="5321806" y="4760403"/>
            <a:ext cx="3639313"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Color panel showing Web Color Sliders with 4099ff blue value entered (PDF p.25, right column)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10b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Create the Paint Layer and Choose the Brush</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paint effect needs its own layer — placed below the Live Stream text but above the Rectangles layer. You will use a specific spatter brush from the Special Effects Brushes group.</a:t>
            </a:r>
            <a:endParaRPr lang="en-US" sz="1200" dirty="0"/>
          </a:p>
        </p:txBody>
      </p:sp>
      <p:sp>
        <p:nvSpPr>
          <p:cNvPr id="7" name="Shape 5"/>
          <p:cNvSpPr/>
          <p:nvPr/>
        </p:nvSpPr>
        <p:spPr>
          <a:xfrm>
            <a:off x="182880" y="1508760"/>
            <a:ext cx="365760" cy="365760"/>
          </a:xfrm>
          <a:prstGeom prst="ellipse">
            <a:avLst/>
          </a:prstGeom>
          <a:solidFill>
            <a:srgbClr val="FF6B1A"/>
          </a:solidFill>
          <a:ln/>
        </p:spPr>
        <p:txBody>
          <a:bodyPr/>
          <a:lstStyle/>
          <a:p>
            <a:endParaRPr lang="en-US"/>
          </a:p>
        </p:txBody>
      </p:sp>
      <p:sp>
        <p:nvSpPr>
          <p:cNvPr id="8" name="Text 6"/>
          <p:cNvSpPr txBox="1"/>
          <p:nvPr/>
        </p:nvSpPr>
        <p:spPr>
          <a:xfrm>
            <a:off x="182880" y="15087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Layers panel, click the Rectangles layer to select it</a:t>
            </a:r>
            <a:endParaRPr lang="en-US" sz="1300" dirty="0"/>
          </a:p>
        </p:txBody>
      </p:sp>
      <p:sp>
        <p:nvSpPr>
          <p:cNvPr id="10" name="Text 8"/>
          <p:cNvSpPr txBox="1"/>
          <p:nvPr/>
        </p:nvSpPr>
        <p:spPr>
          <a:xfrm>
            <a:off x="658368" y="1792224"/>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new Paint layer will be created directly above Rectangles — which is the position you need.</a:t>
            </a:r>
            <a:endParaRPr lang="en-US" sz="1150" dirty="0"/>
          </a:p>
        </p:txBody>
      </p:sp>
      <p:sp>
        <p:nvSpPr>
          <p:cNvPr id="11" name="Shape 9"/>
          <p:cNvSpPr/>
          <p:nvPr/>
        </p:nvSpPr>
        <p:spPr>
          <a:xfrm>
            <a:off x="182880" y="2267712"/>
            <a:ext cx="365760" cy="365760"/>
          </a:xfrm>
          <a:prstGeom prst="ellipse">
            <a:avLst/>
          </a:prstGeom>
          <a:solidFill>
            <a:srgbClr val="FF6B1A"/>
          </a:solidFill>
          <a:ln/>
        </p:spPr>
        <p:txBody>
          <a:bodyPr/>
          <a:lstStyle/>
          <a:p>
            <a:endParaRPr lang="en-US"/>
          </a:p>
        </p:txBody>
      </p:sp>
      <p:sp>
        <p:nvSpPr>
          <p:cNvPr id="12" name="Text 10"/>
          <p:cNvSpPr txBox="1"/>
          <p:nvPr/>
        </p:nvSpPr>
        <p:spPr>
          <a:xfrm>
            <a:off x="182880" y="22677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240280"/>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Hold Alt (Win) or Option (Mac) and click the Create a New Layer button</a:t>
            </a:r>
            <a:endParaRPr lang="en-US" sz="1300" dirty="0"/>
          </a:p>
        </p:txBody>
      </p:sp>
      <p:sp>
        <p:nvSpPr>
          <p:cNvPr id="14" name="Text 12"/>
          <p:cNvSpPr txBox="1"/>
          <p:nvPr/>
        </p:nvSpPr>
        <p:spPr>
          <a:xfrm>
            <a:off x="658368" y="2551176"/>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Holding Alt/Option while clicking the new layer button opens the New Layer dialog box first — so you can name the layer before it is created. Type Paint and click OK.</a:t>
            </a:r>
            <a:endParaRPr lang="en-US" sz="1150" dirty="0"/>
          </a:p>
        </p:txBody>
      </p:sp>
      <p:sp>
        <p:nvSpPr>
          <p:cNvPr id="15" name="Shape 13"/>
          <p:cNvSpPr/>
          <p:nvPr/>
        </p:nvSpPr>
        <p:spPr>
          <a:xfrm>
            <a:off x="182880" y="3026664"/>
            <a:ext cx="365760" cy="365760"/>
          </a:xfrm>
          <a:prstGeom prst="ellipse">
            <a:avLst/>
          </a:prstGeom>
          <a:solidFill>
            <a:srgbClr val="FF6B1A"/>
          </a:solidFill>
          <a:ln/>
        </p:spPr>
        <p:txBody>
          <a:bodyPr/>
          <a:lstStyle/>
          <a:p>
            <a:endParaRPr lang="en-US"/>
          </a:p>
        </p:txBody>
      </p:sp>
      <p:sp>
        <p:nvSpPr>
          <p:cNvPr id="16" name="Text 14"/>
          <p:cNvSpPr txBox="1"/>
          <p:nvPr/>
        </p:nvSpPr>
        <p:spPr>
          <a:xfrm>
            <a:off x="182880" y="30266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999232"/>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Select the Brush tool — press B or click the Brush icon in the Tools panel</a:t>
            </a:r>
            <a:endParaRPr lang="en-US" sz="1300" dirty="0"/>
          </a:p>
        </p:txBody>
      </p:sp>
      <p:sp>
        <p:nvSpPr>
          <p:cNvPr id="18" name="Shape 16"/>
          <p:cNvSpPr/>
          <p:nvPr/>
        </p:nvSpPr>
        <p:spPr>
          <a:xfrm>
            <a:off x="182880" y="3512335"/>
            <a:ext cx="365760" cy="365760"/>
          </a:xfrm>
          <a:prstGeom prst="ellipse">
            <a:avLst/>
          </a:prstGeom>
          <a:solidFill>
            <a:srgbClr val="FF6B1A"/>
          </a:solidFill>
          <a:ln/>
        </p:spPr>
        <p:txBody>
          <a:bodyPr/>
          <a:lstStyle/>
          <a:p>
            <a:endParaRPr lang="en-US"/>
          </a:p>
        </p:txBody>
      </p:sp>
      <p:sp>
        <p:nvSpPr>
          <p:cNvPr id="19" name="Text 17"/>
          <p:cNvSpPr txBox="1"/>
          <p:nvPr/>
        </p:nvSpPr>
        <p:spPr>
          <a:xfrm>
            <a:off x="182880" y="351233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58368" y="3402607"/>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Open the Brushes panel — Window &gt; Brushes</a:t>
            </a:r>
            <a:endParaRPr lang="en-US" sz="1300" dirty="0"/>
          </a:p>
        </p:txBody>
      </p:sp>
      <p:sp>
        <p:nvSpPr>
          <p:cNvPr id="21" name="Text 19"/>
          <p:cNvSpPr txBox="1"/>
          <p:nvPr/>
        </p:nvSpPr>
        <p:spPr>
          <a:xfrm>
            <a:off x="658368" y="3596531"/>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Brushes panel shows all available brush presets organized into groups.</a:t>
            </a:r>
            <a:endParaRPr lang="en-US" sz="1150" dirty="0"/>
          </a:p>
        </p:txBody>
      </p:sp>
      <p:sp>
        <p:nvSpPr>
          <p:cNvPr id="22" name="Shape 20"/>
          <p:cNvSpPr/>
          <p:nvPr/>
        </p:nvSpPr>
        <p:spPr>
          <a:xfrm>
            <a:off x="182880" y="4103442"/>
            <a:ext cx="365760" cy="365760"/>
          </a:xfrm>
          <a:prstGeom prst="ellipse">
            <a:avLst/>
          </a:prstGeom>
          <a:solidFill>
            <a:srgbClr val="FF6B1A"/>
          </a:solidFill>
          <a:ln/>
        </p:spPr>
        <p:txBody>
          <a:bodyPr/>
          <a:lstStyle/>
          <a:p>
            <a:endParaRPr lang="en-US"/>
          </a:p>
        </p:txBody>
      </p:sp>
      <p:sp>
        <p:nvSpPr>
          <p:cNvPr id="23" name="Text 21"/>
          <p:cNvSpPr txBox="1"/>
          <p:nvPr/>
        </p:nvSpPr>
        <p:spPr>
          <a:xfrm>
            <a:off x="182880" y="410344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58368" y="4103442"/>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Expand the Special Effects Brushes group — select Kyle's Spatter Brushes - Spatter Bot Tilt</a:t>
            </a:r>
            <a:endParaRPr lang="en-US" sz="1300" dirty="0"/>
          </a:p>
        </p:txBody>
      </p:sp>
      <p:sp>
        <p:nvSpPr>
          <p:cNvPr id="25" name="Text 23"/>
          <p:cNvSpPr txBox="1"/>
          <p:nvPr/>
        </p:nvSpPr>
        <p:spPr>
          <a:xfrm>
            <a:off x="658368" y="4555489"/>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the arrow next to Special Effects Brushes to expand the group. Click the first brush in the group — Kyle's Spatter Brushes - Spatter Bot Tilt — to select it. It creates a textured, paint-splatter-style stroke.</a:t>
            </a:r>
            <a:endParaRPr lang="en-US" sz="1150" dirty="0"/>
          </a:p>
        </p:txBody>
      </p:sp>
      <p:pic>
        <p:nvPicPr>
          <p:cNvPr id="26" name="Image 0" descr="preencoded.png"/>
          <p:cNvPicPr>
            <a:picLocks noChangeAspect="1"/>
          </p:cNvPicPr>
          <p:nvPr/>
        </p:nvPicPr>
        <p:blipFill>
          <a:blip r:embed="rId3"/>
          <a:stretch>
            <a:fillRect/>
          </a:stretch>
        </p:blipFill>
        <p:spPr>
          <a:xfrm>
            <a:off x="6008038" y="1508760"/>
            <a:ext cx="2953082" cy="2880360"/>
          </a:xfrm>
          <a:prstGeom prst="rect">
            <a:avLst/>
          </a:prstGeom>
        </p:spPr>
      </p:pic>
      <p:sp>
        <p:nvSpPr>
          <p:cNvPr id="27" name="Text 24"/>
          <p:cNvSpPr txBox="1"/>
          <p:nvPr/>
        </p:nvSpPr>
        <p:spPr>
          <a:xfrm>
            <a:off x="6008036" y="4416552"/>
            <a:ext cx="2953083"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Layers panel showing Paint layer above Rectangles, Create New Layer button circled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10c</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Set Brush Size and Paint the Spatter Effect</a:t>
            </a:r>
            <a:endParaRPr lang="en-US" sz="2000" dirty="0"/>
          </a:p>
        </p:txBody>
      </p:sp>
      <p:sp>
        <p:nvSpPr>
          <p:cNvPr id="5" name="Shape 3"/>
          <p:cNvSpPr/>
          <p:nvPr/>
        </p:nvSpPr>
        <p:spPr>
          <a:xfrm>
            <a:off x="182880" y="888901"/>
            <a:ext cx="365760" cy="365760"/>
          </a:xfrm>
          <a:prstGeom prst="ellipse">
            <a:avLst/>
          </a:prstGeom>
          <a:solidFill>
            <a:srgbClr val="FF6B1A"/>
          </a:solidFill>
          <a:ln/>
        </p:spPr>
        <p:txBody>
          <a:bodyPr/>
          <a:lstStyle/>
          <a:p>
            <a:endParaRPr lang="en-US"/>
          </a:p>
        </p:txBody>
      </p:sp>
      <p:sp>
        <p:nvSpPr>
          <p:cNvPr id="6" name="Text 4"/>
          <p:cNvSpPr txBox="1"/>
          <p:nvPr/>
        </p:nvSpPr>
        <p:spPr>
          <a:xfrm>
            <a:off x="182880" y="88890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7" y="804672"/>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Set the brush size to 80px in the options bar</a:t>
            </a:r>
            <a:endParaRPr lang="en-US" sz="1300" dirty="0"/>
          </a:p>
        </p:txBody>
      </p:sp>
      <p:sp>
        <p:nvSpPr>
          <p:cNvPr id="8" name="Text 6"/>
          <p:cNvSpPr txBox="1"/>
          <p:nvPr/>
        </p:nvSpPr>
        <p:spPr>
          <a:xfrm>
            <a:off x="658367" y="1115568"/>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In the options bar at the top, click the arrow next to the Brush Presets picker. Set the Size value to 80 px. Click away from the picker to close it. 80px gives a medium spatter spread — big enough to be visible but controlled enough to look intentional.</a:t>
            </a:r>
            <a:endParaRPr lang="en-US" sz="1150" dirty="0"/>
          </a:p>
        </p:txBody>
      </p:sp>
      <p:sp>
        <p:nvSpPr>
          <p:cNvPr id="9" name="Shape 7"/>
          <p:cNvSpPr/>
          <p:nvPr/>
        </p:nvSpPr>
        <p:spPr>
          <a:xfrm>
            <a:off x="182880" y="1748437"/>
            <a:ext cx="365760" cy="365760"/>
          </a:xfrm>
          <a:prstGeom prst="ellipse">
            <a:avLst/>
          </a:prstGeom>
          <a:solidFill>
            <a:srgbClr val="FF6B1A"/>
          </a:solidFill>
          <a:ln/>
        </p:spPr>
        <p:txBody>
          <a:bodyPr/>
          <a:lstStyle/>
          <a:p>
            <a:endParaRPr lang="en-US"/>
          </a:p>
        </p:txBody>
      </p:sp>
      <p:sp>
        <p:nvSpPr>
          <p:cNvPr id="10" name="Text 8"/>
          <p:cNvSpPr txBox="1"/>
          <p:nvPr/>
        </p:nvSpPr>
        <p:spPr>
          <a:xfrm>
            <a:off x="182880" y="174843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1" name="Text 9"/>
          <p:cNvSpPr txBox="1"/>
          <p:nvPr/>
        </p:nvSpPr>
        <p:spPr>
          <a:xfrm>
            <a:off x="658367" y="1664208"/>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Position the brush over the word "Live" on the canvas</a:t>
            </a:r>
            <a:endParaRPr lang="en-US" sz="1300" dirty="0"/>
          </a:p>
        </p:txBody>
      </p:sp>
      <p:sp>
        <p:nvSpPr>
          <p:cNvPr id="12" name="Text 10"/>
          <p:cNvSpPr txBox="1"/>
          <p:nvPr/>
        </p:nvSpPr>
        <p:spPr>
          <a:xfrm>
            <a:off x="658367" y="1975104"/>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Make sure the Paint layer is still selected in the Layers panel. The paint will be applied to the Paint layer, not to the text or any other layer.</a:t>
            </a:r>
            <a:endParaRPr lang="en-US" sz="1150" dirty="0"/>
          </a:p>
        </p:txBody>
      </p:sp>
      <p:sp>
        <p:nvSpPr>
          <p:cNvPr id="13" name="Shape 11"/>
          <p:cNvSpPr/>
          <p:nvPr/>
        </p:nvSpPr>
        <p:spPr>
          <a:xfrm>
            <a:off x="182880" y="2527610"/>
            <a:ext cx="365760" cy="365760"/>
          </a:xfrm>
          <a:prstGeom prst="ellipse">
            <a:avLst/>
          </a:prstGeom>
          <a:solidFill>
            <a:srgbClr val="FF6B1A"/>
          </a:solidFill>
          <a:ln/>
        </p:spPr>
        <p:txBody>
          <a:bodyPr/>
          <a:lstStyle/>
          <a:p>
            <a:endParaRPr lang="en-US"/>
          </a:p>
        </p:txBody>
      </p:sp>
      <p:sp>
        <p:nvSpPr>
          <p:cNvPr id="14" name="Text 12"/>
          <p:cNvSpPr txBox="1"/>
          <p:nvPr/>
        </p:nvSpPr>
        <p:spPr>
          <a:xfrm>
            <a:off x="182880" y="252761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5" name="Text 13"/>
          <p:cNvSpPr txBox="1"/>
          <p:nvPr/>
        </p:nvSpPr>
        <p:spPr>
          <a:xfrm>
            <a:off x="658367" y="2450592"/>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Click and drag in circular strokes over "Live" to build up the spatter</a:t>
            </a:r>
            <a:endParaRPr lang="en-US" sz="1300" dirty="0"/>
          </a:p>
        </p:txBody>
      </p:sp>
      <p:sp>
        <p:nvSpPr>
          <p:cNvPr id="16" name="Text 14"/>
          <p:cNvSpPr txBox="1"/>
          <p:nvPr/>
        </p:nvSpPr>
        <p:spPr>
          <a:xfrm>
            <a:off x="658367" y="2948817"/>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Do not make a single click. Drag in a circular, overlapping pattern to build up a concentrated area of spatter paint. The goal is a textured blue spot that sits behind the word LIVE and adds visual emphasis. The Paint layer is behind the Live Stream text layer in the stack, so the text always reads on top of the paint effect.</a:t>
            </a:r>
            <a:endParaRPr lang="en-US" sz="1150" dirty="0"/>
          </a:p>
        </p:txBody>
      </p:sp>
      <p:sp>
        <p:nvSpPr>
          <p:cNvPr id="17" name="Shape 15"/>
          <p:cNvSpPr/>
          <p:nvPr/>
        </p:nvSpPr>
        <p:spPr>
          <a:xfrm>
            <a:off x="182880" y="3630168"/>
            <a:ext cx="365760" cy="365760"/>
          </a:xfrm>
          <a:prstGeom prst="ellipse">
            <a:avLst/>
          </a:prstGeom>
          <a:solidFill>
            <a:srgbClr val="FF6B1A"/>
          </a:solidFill>
          <a:ln/>
        </p:spPr>
        <p:txBody>
          <a:bodyPr/>
          <a:lstStyle/>
          <a:p>
            <a:endParaRPr lang="en-US"/>
          </a:p>
        </p:txBody>
      </p:sp>
      <p:sp>
        <p:nvSpPr>
          <p:cNvPr id="18" name="Text 16"/>
          <p:cNvSpPr txBox="1"/>
          <p:nvPr/>
        </p:nvSpPr>
        <p:spPr>
          <a:xfrm>
            <a:off x="182880" y="36301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19" name="Text 17"/>
          <p:cNvSpPr txBox="1"/>
          <p:nvPr/>
        </p:nvSpPr>
        <p:spPr>
          <a:xfrm>
            <a:off x="658367" y="3550158"/>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File &gt; Save — Ctrl+S / Cmd+S</a:t>
            </a:r>
            <a:endParaRPr lang="en-US" sz="1300" dirty="0"/>
          </a:p>
        </p:txBody>
      </p:sp>
      <p:sp>
        <p:nvSpPr>
          <p:cNvPr id="20" name="Text 18"/>
          <p:cNvSpPr txBox="1"/>
          <p:nvPr/>
        </p:nvSpPr>
        <p:spPr>
          <a:xfrm>
            <a:off x="647138" y="3726180"/>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Save your progress.</a:t>
            </a:r>
            <a:endParaRPr lang="en-US" sz="1150" dirty="0"/>
          </a:p>
        </p:txBody>
      </p:sp>
      <p:sp>
        <p:nvSpPr>
          <p:cNvPr id="21" name="Shape 19"/>
          <p:cNvSpPr/>
          <p:nvPr/>
        </p:nvSpPr>
        <p:spPr>
          <a:xfrm>
            <a:off x="182879" y="4315516"/>
            <a:ext cx="8778239" cy="574584"/>
          </a:xfrm>
          <a:prstGeom prst="roundRect">
            <a:avLst>
              <a:gd name="adj" fmla="val 8696"/>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320040" y="4273624"/>
            <a:ext cx="8553936" cy="658368"/>
          </a:xfrm>
          <a:prstGeom prst="rect">
            <a:avLst/>
          </a:prstGeom>
          <a:noFill/>
          <a:ln/>
        </p:spPr>
        <p:txBody>
          <a:bodyPr wrap="square" lIns="0" tIns="0" rIns="0" bIns="0" rtlCol="0" anchor="ctr"/>
          <a:lstStyle/>
          <a:p>
            <a:pPr marL="0" indent="0">
              <a:lnSpc>
                <a:spcPct val="135000"/>
              </a:lnSpc>
              <a:buNone/>
            </a:pPr>
            <a:r>
              <a:rPr lang="en-US" sz="1200" dirty="0">
                <a:solidFill>
                  <a:srgbClr val="FFCC00"/>
                </a:solidFill>
                <a:latin typeface="Calibri" pitchFamily="34" charset="0"/>
                <a:ea typeface="Calibri" pitchFamily="34" charset="-122"/>
                <a:cs typeface="Calibri" pitchFamily="34" charset="-120"/>
              </a:rPr>
              <a:t>🔄 Undo Tip: If your brush strokes don't look right, use Ctrl+Z (Win) / Cmd+Z (Mac) to undo one step at a time. Or use Edit &gt; Toggle Last State (Ctrl+Alt+Z / Cmd+Option+Z) to quickly compare before and after your last stroke.</a:t>
            </a:r>
            <a:endParaRPr lang="en-US" sz="1200" dirty="0"/>
          </a:p>
        </p:txBody>
      </p:sp>
      <p:pic>
        <p:nvPicPr>
          <p:cNvPr id="23" name="Image 0" descr="preencoded.png"/>
          <p:cNvPicPr>
            <a:picLocks noChangeAspect="1"/>
          </p:cNvPicPr>
          <p:nvPr/>
        </p:nvPicPr>
        <p:blipFill>
          <a:blip r:embed="rId3"/>
          <a:stretch>
            <a:fillRect/>
          </a:stretch>
        </p:blipFill>
        <p:spPr>
          <a:xfrm>
            <a:off x="5774834" y="749808"/>
            <a:ext cx="3186285" cy="2880360"/>
          </a:xfrm>
          <a:prstGeom prst="rect">
            <a:avLst/>
          </a:prstGeom>
        </p:spPr>
      </p:pic>
      <p:sp>
        <p:nvSpPr>
          <p:cNvPr id="24" name="Text 21"/>
          <p:cNvSpPr txBox="1"/>
          <p:nvPr/>
        </p:nvSpPr>
        <p:spPr>
          <a:xfrm>
            <a:off x="5774834" y="3657600"/>
            <a:ext cx="3186285"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Brushes panel — Special Effects Brushes expanded, Kyle's Spatter Brushes - Spatter Bot Tilt selected</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11a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Reposition the Arch Photo — Move Tool</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composition right now has the Arch building sitting slightly too far to the left. Moving it to center creates a more balanced design — but moving it will reveal a transparent gap on the left edge of the canvas. You will fix that with Generative Fill in the next step.</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Select the Move tool — press V</a:t>
            </a:r>
            <a:endParaRPr lang="en-US" sz="1300" dirty="0"/>
          </a:p>
        </p:txBody>
      </p:sp>
      <p:sp>
        <p:nvSpPr>
          <p:cNvPr id="10" name="Shape 8"/>
          <p:cNvSpPr/>
          <p:nvPr/>
        </p:nvSpPr>
        <p:spPr>
          <a:xfrm>
            <a:off x="186562" y="2032360"/>
            <a:ext cx="365760" cy="365760"/>
          </a:xfrm>
          <a:prstGeom prst="ellipse">
            <a:avLst/>
          </a:prstGeom>
          <a:solidFill>
            <a:srgbClr val="FF6B1A"/>
          </a:solidFill>
          <a:ln/>
        </p:spPr>
        <p:txBody>
          <a:bodyPr/>
          <a:lstStyle/>
          <a:p>
            <a:endParaRPr lang="en-US"/>
          </a:p>
        </p:txBody>
      </p:sp>
      <p:sp>
        <p:nvSpPr>
          <p:cNvPr id="11" name="Text 9"/>
          <p:cNvSpPr txBox="1"/>
          <p:nvPr/>
        </p:nvSpPr>
        <p:spPr>
          <a:xfrm>
            <a:off x="186562" y="2032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58368" y="196908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options bar, uncheck Auto-Select</a:t>
            </a:r>
            <a:endParaRPr lang="en-US" sz="1300" dirty="0"/>
          </a:p>
        </p:txBody>
      </p:sp>
      <p:sp>
        <p:nvSpPr>
          <p:cNvPr id="13" name="Text 11"/>
          <p:cNvSpPr txBox="1"/>
          <p:nvPr/>
        </p:nvSpPr>
        <p:spPr>
          <a:xfrm>
            <a:off x="635508" y="2490222"/>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Auto-Select makes the Move tool automatically select whichever layer you click on the canvas. You need to turn it OFF because the Arch layer is behind other layers — if Auto-Select is on, you will accidentally select the wrong layer when you click. With it off, you control which layer is moved by selecting it manually in the Layers panel.</a:t>
            </a:r>
            <a:endParaRPr lang="en-US" sz="1150" dirty="0"/>
          </a:p>
        </p:txBody>
      </p:sp>
      <p:sp>
        <p:nvSpPr>
          <p:cNvPr id="14" name="Shape 12"/>
          <p:cNvSpPr/>
          <p:nvPr/>
        </p:nvSpPr>
        <p:spPr>
          <a:xfrm>
            <a:off x="185596" y="3259716"/>
            <a:ext cx="365760" cy="365760"/>
          </a:xfrm>
          <a:prstGeom prst="ellipse">
            <a:avLst/>
          </a:prstGeom>
          <a:solidFill>
            <a:srgbClr val="FF6B1A"/>
          </a:solidFill>
          <a:ln/>
        </p:spPr>
        <p:txBody>
          <a:bodyPr/>
          <a:lstStyle/>
          <a:p>
            <a:endParaRPr lang="en-US"/>
          </a:p>
        </p:txBody>
      </p:sp>
      <p:sp>
        <p:nvSpPr>
          <p:cNvPr id="15" name="Text 13"/>
          <p:cNvSpPr txBox="1"/>
          <p:nvPr/>
        </p:nvSpPr>
        <p:spPr>
          <a:xfrm>
            <a:off x="185596" y="32597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35508" y="315847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In the Layers panel, click the Arch layer to select it</a:t>
            </a:r>
            <a:endParaRPr lang="en-US" sz="1300" dirty="0"/>
          </a:p>
        </p:txBody>
      </p:sp>
      <p:sp>
        <p:nvSpPr>
          <p:cNvPr id="17" name="Text 15"/>
          <p:cNvSpPr txBox="1"/>
          <p:nvPr/>
        </p:nvSpPr>
        <p:spPr>
          <a:xfrm>
            <a:off x="635508" y="344259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Even with Auto-Select off you can still manually click any layer in the Layers panel to activate it.</a:t>
            </a:r>
            <a:endParaRPr lang="en-US" sz="1150" dirty="0"/>
          </a:p>
        </p:txBody>
      </p:sp>
      <p:sp>
        <p:nvSpPr>
          <p:cNvPr id="18" name="Shape 16"/>
          <p:cNvSpPr/>
          <p:nvPr/>
        </p:nvSpPr>
        <p:spPr>
          <a:xfrm>
            <a:off x="182880" y="3948987"/>
            <a:ext cx="365760" cy="365760"/>
          </a:xfrm>
          <a:prstGeom prst="ellipse">
            <a:avLst/>
          </a:prstGeom>
          <a:solidFill>
            <a:srgbClr val="FF6B1A"/>
          </a:solidFill>
          <a:ln/>
        </p:spPr>
        <p:txBody>
          <a:bodyPr/>
          <a:lstStyle/>
          <a:p>
            <a:endParaRPr lang="en-US"/>
          </a:p>
        </p:txBody>
      </p:sp>
      <p:sp>
        <p:nvSpPr>
          <p:cNvPr id="19" name="Text 17"/>
          <p:cNvSpPr txBox="1"/>
          <p:nvPr/>
        </p:nvSpPr>
        <p:spPr>
          <a:xfrm>
            <a:off x="182880" y="394898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35508" y="3963804"/>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Drag the Arch layer on the canvas until the building is centered in the green area</a:t>
            </a:r>
            <a:endParaRPr lang="en-US" sz="1300" dirty="0"/>
          </a:p>
        </p:txBody>
      </p:sp>
      <p:sp>
        <p:nvSpPr>
          <p:cNvPr id="21" name="Text 19"/>
          <p:cNvSpPr txBox="1"/>
          <p:nvPr/>
        </p:nvSpPr>
        <p:spPr>
          <a:xfrm>
            <a:off x="635508" y="445831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Click and drag anywhere on the canvas. The building moves. Slide it until the archway sits approximately in the center of the canvas horizontally. Smart Guides may appear as magenta lines to help align it.</a:t>
            </a:r>
            <a:endParaRPr lang="en-US" sz="1150" dirty="0"/>
          </a:p>
        </p:txBody>
      </p:sp>
      <p:pic>
        <p:nvPicPr>
          <p:cNvPr id="22" name="Image 0" descr="preencoded.png"/>
          <p:cNvPicPr>
            <a:picLocks noChangeAspect="1"/>
          </p:cNvPicPr>
          <p:nvPr/>
        </p:nvPicPr>
        <p:blipFill>
          <a:blip r:embed="rId3"/>
          <a:stretch>
            <a:fillRect/>
          </a:stretch>
        </p:blipFill>
        <p:spPr>
          <a:xfrm>
            <a:off x="5357524" y="1527048"/>
            <a:ext cx="3603595" cy="3203196"/>
          </a:xfrm>
          <a:prstGeom prst="rect">
            <a:avLst/>
          </a:prstGeom>
        </p:spPr>
      </p:pic>
      <p:sp>
        <p:nvSpPr>
          <p:cNvPr id="23" name="Text 20"/>
          <p:cNvSpPr txBox="1"/>
          <p:nvPr/>
        </p:nvSpPr>
        <p:spPr>
          <a:xfrm>
            <a:off x="5357524" y="4821684"/>
            <a:ext cx="3603595" cy="205740"/>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Canvas after moving Arch layer — building centered, transparent gap visible on left edge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11b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Fill the Gap — Generative Fill (AI-Powered)</a:t>
            </a:r>
            <a:endParaRPr lang="en-US" sz="2000" dirty="0"/>
          </a:p>
        </p:txBody>
      </p:sp>
      <p:sp>
        <p:nvSpPr>
          <p:cNvPr id="5" name="Shape 3"/>
          <p:cNvSpPr/>
          <p:nvPr/>
        </p:nvSpPr>
        <p:spPr>
          <a:xfrm>
            <a:off x="182880" y="740664"/>
            <a:ext cx="8778240" cy="603504"/>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251460" y="841248"/>
            <a:ext cx="8641079"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Generative Fill is an AI-powered Photoshop feature that analyzes the existing image and generates new content to fill a selected area — matching the style, color, and detail of the surrounding pixels. It creates the content on its own Generative Fill layer, preserving your original Arch layer untouched.</a:t>
            </a:r>
            <a:endParaRPr lang="en-US" sz="1200" dirty="0"/>
          </a:p>
        </p:txBody>
      </p:sp>
      <p:sp>
        <p:nvSpPr>
          <p:cNvPr id="7" name="Shape 5"/>
          <p:cNvSpPr/>
          <p:nvPr/>
        </p:nvSpPr>
        <p:spPr>
          <a:xfrm>
            <a:off x="182880" y="1481328"/>
            <a:ext cx="365760" cy="365760"/>
          </a:xfrm>
          <a:prstGeom prst="ellipse">
            <a:avLst/>
          </a:prstGeom>
          <a:solidFill>
            <a:srgbClr val="FF6B1A"/>
          </a:solidFill>
          <a:ln/>
        </p:spPr>
        <p:txBody>
          <a:bodyPr/>
          <a:lstStyle/>
          <a:p>
            <a:endParaRPr lang="en-US"/>
          </a:p>
        </p:txBody>
      </p:sp>
      <p:sp>
        <p:nvSpPr>
          <p:cNvPr id="8" name="Text 6"/>
          <p:cNvSpPr txBox="1"/>
          <p:nvPr/>
        </p:nvSpPr>
        <p:spPr>
          <a:xfrm>
            <a:off x="182880" y="14813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7" y="1481328"/>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Hold Alt (Win) / Option (Mac) and click the eye icon on the Arch layer in the Layers panel</a:t>
            </a:r>
            <a:endParaRPr lang="en-US" sz="1200" dirty="0"/>
          </a:p>
        </p:txBody>
      </p:sp>
      <p:sp>
        <p:nvSpPr>
          <p:cNvPr id="10" name="Text 8"/>
          <p:cNvSpPr txBox="1"/>
          <p:nvPr/>
        </p:nvSpPr>
        <p:spPr>
          <a:xfrm>
            <a:off x="658367" y="1792224"/>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This hides all other layers at once, leaving only the Arch layer visible. You can now clearly see the transparent (checkerboard) area on the left side of the canvas that needs to be filled.</a:t>
            </a:r>
            <a:endParaRPr lang="en-US" sz="1000" dirty="0"/>
          </a:p>
        </p:txBody>
      </p:sp>
      <p:sp>
        <p:nvSpPr>
          <p:cNvPr id="11" name="Shape 9"/>
          <p:cNvSpPr/>
          <p:nvPr/>
        </p:nvSpPr>
        <p:spPr>
          <a:xfrm>
            <a:off x="182880" y="2212021"/>
            <a:ext cx="365760" cy="365760"/>
          </a:xfrm>
          <a:prstGeom prst="ellipse">
            <a:avLst/>
          </a:prstGeom>
          <a:solidFill>
            <a:srgbClr val="FF6B1A"/>
          </a:solidFill>
          <a:ln/>
        </p:spPr>
        <p:txBody>
          <a:bodyPr/>
          <a:lstStyle/>
          <a:p>
            <a:endParaRPr lang="en-US"/>
          </a:p>
        </p:txBody>
      </p:sp>
      <p:sp>
        <p:nvSpPr>
          <p:cNvPr id="12" name="Text 10"/>
          <p:cNvSpPr txBox="1"/>
          <p:nvPr/>
        </p:nvSpPr>
        <p:spPr>
          <a:xfrm>
            <a:off x="182880" y="221202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116009"/>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Select the Rectangular Marquee tool (M) and drag to select the transparent gap</a:t>
            </a:r>
            <a:endParaRPr lang="en-US" sz="1200" dirty="0"/>
          </a:p>
        </p:txBody>
      </p:sp>
      <p:sp>
        <p:nvSpPr>
          <p:cNvPr id="14" name="Text 12"/>
          <p:cNvSpPr txBox="1"/>
          <p:nvPr/>
        </p:nvSpPr>
        <p:spPr>
          <a:xfrm>
            <a:off x="658367" y="2426905"/>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Drag from the left edge of the canvas to slightly overlap the left edge of the Arch photo layer. Overlap the Arch slightly — a few pixels — to ensure there will be no gap or seam between the generated content and the existing photo.</a:t>
            </a:r>
            <a:endParaRPr lang="en-US" sz="1000" dirty="0"/>
          </a:p>
        </p:txBody>
      </p:sp>
      <p:sp>
        <p:nvSpPr>
          <p:cNvPr id="15" name="Shape 13"/>
          <p:cNvSpPr/>
          <p:nvPr/>
        </p:nvSpPr>
        <p:spPr>
          <a:xfrm>
            <a:off x="182880" y="2969383"/>
            <a:ext cx="365760" cy="365760"/>
          </a:xfrm>
          <a:prstGeom prst="ellipse">
            <a:avLst/>
          </a:prstGeom>
          <a:solidFill>
            <a:srgbClr val="FF6B1A"/>
          </a:solidFill>
          <a:ln/>
        </p:spPr>
        <p:txBody>
          <a:bodyPr/>
          <a:lstStyle/>
          <a:p>
            <a:endParaRPr lang="en-US"/>
          </a:p>
        </p:txBody>
      </p:sp>
      <p:sp>
        <p:nvSpPr>
          <p:cNvPr id="16" name="Text 14"/>
          <p:cNvSpPr txBox="1"/>
          <p:nvPr/>
        </p:nvSpPr>
        <p:spPr>
          <a:xfrm>
            <a:off x="182880" y="296938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7" y="2909664"/>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Make sure the Arch layer is selected in the Layers panel</a:t>
            </a:r>
            <a:endParaRPr lang="en-US" sz="1200" dirty="0"/>
          </a:p>
        </p:txBody>
      </p:sp>
      <p:sp>
        <p:nvSpPr>
          <p:cNvPr id="18" name="Text 16"/>
          <p:cNvSpPr txBox="1"/>
          <p:nvPr/>
        </p:nvSpPr>
        <p:spPr>
          <a:xfrm>
            <a:off x="658367" y="3138264"/>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Generative Fill will add its generated content directly above whichever layer is active. The Arch layer should already be selected.</a:t>
            </a:r>
            <a:endParaRPr lang="en-US" sz="1000" dirty="0"/>
          </a:p>
        </p:txBody>
      </p:sp>
      <p:sp>
        <p:nvSpPr>
          <p:cNvPr id="19" name="Shape 17"/>
          <p:cNvSpPr/>
          <p:nvPr/>
        </p:nvSpPr>
        <p:spPr>
          <a:xfrm>
            <a:off x="182880" y="3604609"/>
            <a:ext cx="365760" cy="365760"/>
          </a:xfrm>
          <a:prstGeom prst="ellipse">
            <a:avLst/>
          </a:prstGeom>
          <a:solidFill>
            <a:srgbClr val="FF6B1A"/>
          </a:solidFill>
          <a:ln/>
        </p:spPr>
        <p:txBody>
          <a:bodyPr/>
          <a:lstStyle/>
          <a:p>
            <a:endParaRPr lang="en-US"/>
          </a:p>
        </p:txBody>
      </p:sp>
      <p:sp>
        <p:nvSpPr>
          <p:cNvPr id="20" name="Text 18"/>
          <p:cNvSpPr txBox="1"/>
          <p:nvPr/>
        </p:nvSpPr>
        <p:spPr>
          <a:xfrm>
            <a:off x="182880" y="360460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7" y="3604609"/>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In the Contextual Task Bar, click Generative Fill, leave the prompt blank, click Generate</a:t>
            </a:r>
            <a:endParaRPr lang="en-US" sz="1200" dirty="0"/>
          </a:p>
        </p:txBody>
      </p:sp>
      <p:sp>
        <p:nvSpPr>
          <p:cNvPr id="22" name="Text 20"/>
          <p:cNvSpPr txBox="1"/>
          <p:nvPr/>
        </p:nvSpPr>
        <p:spPr>
          <a:xfrm>
            <a:off x="658367" y="3931419"/>
            <a:ext cx="5024416"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When the prompt appears, leave it empty. An empty prompt tells Photoshop to fill the selection with content that matches the existing image — in this case, more of the stone ruins and landscape. Photoshop generates three Variations. If a message appears about agreeing to User Guidelines, click Agree.</a:t>
            </a:r>
            <a:endParaRPr lang="en-US" sz="1000" dirty="0"/>
          </a:p>
        </p:txBody>
      </p:sp>
      <p:sp>
        <p:nvSpPr>
          <p:cNvPr id="23" name="Shape 21"/>
          <p:cNvSpPr/>
          <p:nvPr/>
        </p:nvSpPr>
        <p:spPr>
          <a:xfrm>
            <a:off x="182880" y="4550190"/>
            <a:ext cx="365760" cy="365760"/>
          </a:xfrm>
          <a:prstGeom prst="ellipse">
            <a:avLst/>
          </a:prstGeom>
          <a:solidFill>
            <a:srgbClr val="FF6B1A"/>
          </a:solidFill>
          <a:ln/>
        </p:spPr>
        <p:txBody>
          <a:bodyPr/>
          <a:lstStyle/>
          <a:p>
            <a:endParaRPr lang="en-US"/>
          </a:p>
        </p:txBody>
      </p:sp>
      <p:sp>
        <p:nvSpPr>
          <p:cNvPr id="24" name="Text 22"/>
          <p:cNvSpPr txBox="1"/>
          <p:nvPr/>
        </p:nvSpPr>
        <p:spPr>
          <a:xfrm>
            <a:off x="182880" y="455019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6" y="4440462"/>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In the Properties panel, click each variation and pick the best one</a:t>
            </a:r>
            <a:endParaRPr lang="en-US" sz="1200" dirty="0"/>
          </a:p>
        </p:txBody>
      </p:sp>
      <p:sp>
        <p:nvSpPr>
          <p:cNvPr id="26" name="Text 24"/>
          <p:cNvSpPr txBox="1"/>
          <p:nvPr/>
        </p:nvSpPr>
        <p:spPr>
          <a:xfrm>
            <a:off x="658368" y="4660566"/>
            <a:ext cx="5024414"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Three thumbnail options appear in the Variations section of the Properties panel. Click each one to preview it on the canvas. Choose the one that looks most natural and seamless.</a:t>
            </a:r>
            <a:endParaRPr lang="en-US" sz="1000" dirty="0"/>
          </a:p>
        </p:txBody>
      </p:sp>
      <p:pic>
        <p:nvPicPr>
          <p:cNvPr id="27" name="Image 0" descr="preencoded.png"/>
          <p:cNvPicPr>
            <a:picLocks noChangeAspect="1"/>
          </p:cNvPicPr>
          <p:nvPr/>
        </p:nvPicPr>
        <p:blipFill>
          <a:blip r:embed="rId3"/>
          <a:stretch>
            <a:fillRect/>
          </a:stretch>
        </p:blipFill>
        <p:spPr>
          <a:xfrm>
            <a:off x="5830066" y="1385640"/>
            <a:ext cx="3131053" cy="3362983"/>
          </a:xfrm>
          <a:prstGeom prst="rect">
            <a:avLst/>
          </a:prstGeom>
        </p:spPr>
      </p:pic>
      <p:sp>
        <p:nvSpPr>
          <p:cNvPr id="28" name="Text 25"/>
          <p:cNvSpPr txBox="1"/>
          <p:nvPr/>
        </p:nvSpPr>
        <p:spPr>
          <a:xfrm>
            <a:off x="5830066" y="4817234"/>
            <a:ext cx="3131053" cy="193678"/>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Generative Fill result — Layers panel showing Generative Fill layer, Properties panel with Variations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11c</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Reveal All Layers — Check the Final Composition</a:t>
            </a:r>
            <a:endParaRPr lang="en-US" sz="2000" dirty="0"/>
          </a:p>
        </p:txBody>
      </p:sp>
      <p:sp>
        <p:nvSpPr>
          <p:cNvPr id="5" name="Shape 3"/>
          <p:cNvSpPr/>
          <p:nvPr/>
        </p:nvSpPr>
        <p:spPr>
          <a:xfrm>
            <a:off x="182880" y="832104"/>
            <a:ext cx="365760" cy="365760"/>
          </a:xfrm>
          <a:prstGeom prst="ellipse">
            <a:avLst/>
          </a:prstGeom>
          <a:solidFill>
            <a:srgbClr val="FF6B1A"/>
          </a:solidFill>
          <a:ln/>
        </p:spPr>
        <p:txBody>
          <a:bodyPr/>
          <a:lstStyle/>
          <a:p>
            <a:endParaRPr lang="en-US"/>
          </a:p>
        </p:txBody>
      </p:sp>
      <p:sp>
        <p:nvSpPr>
          <p:cNvPr id="6" name="Text 4"/>
          <p:cNvSpPr txBox="1"/>
          <p:nvPr/>
        </p:nvSpPr>
        <p:spPr>
          <a:xfrm>
            <a:off x="182880" y="832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8" y="804672"/>
            <a:ext cx="830275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Right-click (Win) / Control-click (Mac) the eye icon on the Generative Fill layer in the Layers panel — choose Show/Hide All Other Layers</a:t>
            </a:r>
            <a:endParaRPr lang="en-US" sz="1300" dirty="0"/>
          </a:p>
        </p:txBody>
      </p:sp>
      <p:sp>
        <p:nvSpPr>
          <p:cNvPr id="8" name="Text 6"/>
          <p:cNvSpPr txBox="1"/>
          <p:nvPr/>
        </p:nvSpPr>
        <p:spPr>
          <a:xfrm>
            <a:off x="658368" y="1175219"/>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turns all your other layers back on at once. You can now see the full composition: the centered Arch photo, the extended content on the left, the orange and blue color bars, the dark green overlay, both text layers, and the paint spatter effect behind LIVE STREAM.</a:t>
            </a:r>
            <a:endParaRPr lang="en-US" sz="1150" dirty="0"/>
          </a:p>
        </p:txBody>
      </p:sp>
      <p:sp>
        <p:nvSpPr>
          <p:cNvPr id="9" name="Shape 7"/>
          <p:cNvSpPr/>
          <p:nvPr/>
        </p:nvSpPr>
        <p:spPr>
          <a:xfrm>
            <a:off x="182880" y="1874520"/>
            <a:ext cx="8778240" cy="804672"/>
          </a:xfrm>
          <a:prstGeom prst="roundRect">
            <a:avLst>
              <a:gd name="adj" fmla="val 9091"/>
            </a:avLst>
          </a:prstGeom>
          <a:solidFill>
            <a:srgbClr val="2A2A2A"/>
          </a:solidFill>
          <a:ln w="12700">
            <a:solidFill>
              <a:srgbClr val="444444"/>
            </a:solidFill>
            <a:prstDash val="solid"/>
          </a:ln>
        </p:spPr>
        <p:txBody>
          <a:bodyPr/>
          <a:lstStyle/>
          <a:p>
            <a:endParaRPr lang="en-US"/>
          </a:p>
        </p:txBody>
      </p:sp>
      <p:sp>
        <p:nvSpPr>
          <p:cNvPr id="10" name="Text 8"/>
          <p:cNvSpPr txBox="1"/>
          <p:nvPr/>
        </p:nvSpPr>
        <p:spPr>
          <a:xfrm>
            <a:off x="320040" y="1965960"/>
            <a:ext cx="8503920" cy="621792"/>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Your final Layers panel order (top to bottom) should now be:</a:t>
            </a:r>
            <a:endParaRPr lang="en-US" sz="1200" dirty="0"/>
          </a:p>
          <a:p>
            <a:pPr marL="0" indent="0">
              <a:buNone/>
            </a:pPr>
            <a:r>
              <a:rPr lang="en-US" sz="1200" dirty="0">
                <a:solidFill>
                  <a:srgbClr val="A0D8D8"/>
                </a:solidFill>
                <a:latin typeface="Calibri" pitchFamily="34" charset="0"/>
                <a:ea typeface="Calibri" pitchFamily="34" charset="-122"/>
                <a:cs typeface="Calibri" pitchFamily="34" charset="-120"/>
              </a:rPr>
              <a:t>Live Stream  |  History 301  |  Paint  |  Rectangles  |  Color Fill 1  |  Generative Fill  |  Arch  |  Background</a:t>
            </a:r>
            <a:endParaRPr lang="en-US" sz="1200" dirty="0"/>
          </a:p>
        </p:txBody>
      </p:sp>
      <p:sp>
        <p:nvSpPr>
          <p:cNvPr id="11" name="Shape 9"/>
          <p:cNvSpPr/>
          <p:nvPr/>
        </p:nvSpPr>
        <p:spPr>
          <a:xfrm>
            <a:off x="182880" y="2912364"/>
            <a:ext cx="365760" cy="365760"/>
          </a:xfrm>
          <a:prstGeom prst="ellipse">
            <a:avLst/>
          </a:prstGeom>
          <a:solidFill>
            <a:srgbClr val="FF6B1A"/>
          </a:solidFill>
          <a:ln/>
        </p:spPr>
        <p:txBody>
          <a:bodyPr/>
          <a:lstStyle/>
          <a:p>
            <a:endParaRPr lang="en-US"/>
          </a:p>
        </p:txBody>
      </p:sp>
      <p:sp>
        <p:nvSpPr>
          <p:cNvPr id="12" name="Text 10"/>
          <p:cNvSpPr txBox="1"/>
          <p:nvPr/>
        </p:nvSpPr>
        <p:spPr>
          <a:xfrm>
            <a:off x="182880" y="29123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3" name="Text 11"/>
          <p:cNvSpPr txBox="1"/>
          <p:nvPr/>
        </p:nvSpPr>
        <p:spPr>
          <a:xfrm>
            <a:off x="658368" y="2852928"/>
            <a:ext cx="447209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Review your composition — does anything need adjusting?</a:t>
            </a:r>
            <a:endParaRPr lang="en-US" sz="1300" dirty="0"/>
          </a:p>
        </p:txBody>
      </p:sp>
      <p:sp>
        <p:nvSpPr>
          <p:cNvPr id="14" name="Text 12"/>
          <p:cNvSpPr txBox="1"/>
          <p:nvPr/>
        </p:nvSpPr>
        <p:spPr>
          <a:xfrm>
            <a:off x="658368" y="3220164"/>
            <a:ext cx="456460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Look at the canvas carefully. Check that the text is readable, the color bars frame the design, and the Generative Fill content blends naturally. If anything looks off, now is the time to fix it before you export.</a:t>
            </a:r>
            <a:endParaRPr lang="en-US" sz="1150" dirty="0"/>
          </a:p>
        </p:txBody>
      </p:sp>
      <p:sp>
        <p:nvSpPr>
          <p:cNvPr id="15" name="Shape 13"/>
          <p:cNvSpPr/>
          <p:nvPr/>
        </p:nvSpPr>
        <p:spPr>
          <a:xfrm>
            <a:off x="182880" y="3815564"/>
            <a:ext cx="365760" cy="365760"/>
          </a:xfrm>
          <a:prstGeom prst="ellipse">
            <a:avLst/>
          </a:prstGeom>
          <a:solidFill>
            <a:srgbClr val="FF6B1A"/>
          </a:solidFill>
          <a:ln/>
        </p:spPr>
        <p:txBody>
          <a:bodyPr/>
          <a:lstStyle/>
          <a:p>
            <a:endParaRPr lang="en-US"/>
          </a:p>
        </p:txBody>
      </p:sp>
      <p:sp>
        <p:nvSpPr>
          <p:cNvPr id="16" name="Text 14"/>
          <p:cNvSpPr txBox="1"/>
          <p:nvPr/>
        </p:nvSpPr>
        <p:spPr>
          <a:xfrm>
            <a:off x="182880" y="38155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7" name="Text 15"/>
          <p:cNvSpPr txBox="1"/>
          <p:nvPr/>
        </p:nvSpPr>
        <p:spPr>
          <a:xfrm>
            <a:off x="658368" y="3749040"/>
            <a:ext cx="447209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File &gt; Save — Ctrl+S / Cmd+S</a:t>
            </a:r>
            <a:endParaRPr lang="en-US" sz="1300" dirty="0"/>
          </a:p>
        </p:txBody>
      </p:sp>
      <p:sp>
        <p:nvSpPr>
          <p:cNvPr id="18" name="Text 16"/>
          <p:cNvSpPr txBox="1"/>
          <p:nvPr/>
        </p:nvSpPr>
        <p:spPr>
          <a:xfrm>
            <a:off x="658368" y="4059936"/>
            <a:ext cx="456460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Save your .psd file. This is your master working file. Keep it safe — it contains all your editable layers.</a:t>
            </a:r>
            <a:endParaRPr lang="en-US" sz="1150" dirty="0"/>
          </a:p>
        </p:txBody>
      </p:sp>
      <p:pic>
        <p:nvPicPr>
          <p:cNvPr id="22" name="Picture 21">
            <a:extLst>
              <a:ext uri="{FF2B5EF4-FFF2-40B4-BE49-F238E27FC236}">
                <a16:creationId xmlns:a16="http://schemas.microsoft.com/office/drawing/2014/main" id="{D9641D52-83D8-2E3C-BC8D-3E5FF9147A6A}"/>
              </a:ext>
            </a:extLst>
          </p:cNvPr>
          <p:cNvPicPr>
            <a:picLocks noChangeAspect="1"/>
          </p:cNvPicPr>
          <p:nvPr/>
        </p:nvPicPr>
        <p:blipFill>
          <a:blip r:embed="rId3"/>
          <a:stretch>
            <a:fillRect/>
          </a:stretch>
        </p:blipFill>
        <p:spPr>
          <a:xfrm>
            <a:off x="5332704" y="2886075"/>
            <a:ext cx="3588512" cy="20185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STEP 12</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Export a Copy for Delivery — File &gt; Export As</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Your .psd file is your master file — you never deliver that to a client or upload it to a streaming service. You need to export a flattened copy in a web-ready format. For this lesson, the target is a streaming service that requires: at least 1280 × 720 pixels, JPEG or PNG format, and under 2MB file size.</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7" y="1572768"/>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Choose File &gt; Export &gt; Export As</a:t>
            </a:r>
            <a:endParaRPr lang="en-US" sz="1200" dirty="0"/>
          </a:p>
        </p:txBody>
      </p:sp>
      <p:sp>
        <p:nvSpPr>
          <p:cNvPr id="10" name="Text 8"/>
          <p:cNvSpPr txBox="1"/>
          <p:nvPr/>
        </p:nvSpPr>
        <p:spPr>
          <a:xfrm>
            <a:off x="652968" y="1814195"/>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The Export As dialog opens. It has three panes: left (filename, scale, format list), center (preview of the exported image), and right (all the export settings).</a:t>
            </a:r>
            <a:endParaRPr lang="en-US" sz="1000" dirty="0"/>
          </a:p>
        </p:txBody>
      </p:sp>
      <p:sp>
        <p:nvSpPr>
          <p:cNvPr id="11" name="Shape 9"/>
          <p:cNvSpPr/>
          <p:nvPr/>
        </p:nvSpPr>
        <p:spPr>
          <a:xfrm>
            <a:off x="182880" y="2316639"/>
            <a:ext cx="365760" cy="365760"/>
          </a:xfrm>
          <a:prstGeom prst="ellipse">
            <a:avLst/>
          </a:prstGeom>
          <a:solidFill>
            <a:srgbClr val="FF6B1A"/>
          </a:solidFill>
          <a:ln/>
        </p:spPr>
        <p:txBody>
          <a:bodyPr/>
          <a:lstStyle/>
          <a:p>
            <a:endParaRPr lang="en-US"/>
          </a:p>
        </p:txBody>
      </p:sp>
      <p:sp>
        <p:nvSpPr>
          <p:cNvPr id="12" name="Text 10"/>
          <p:cNvSpPr txBox="1"/>
          <p:nvPr/>
        </p:nvSpPr>
        <p:spPr>
          <a:xfrm>
            <a:off x="182880" y="23166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2967" y="2233866"/>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Right pane — File Settings: set Format to JPG, Quality to 6</a:t>
            </a:r>
            <a:endParaRPr lang="en-US" sz="1200" dirty="0"/>
          </a:p>
        </p:txBody>
      </p:sp>
      <p:sp>
        <p:nvSpPr>
          <p:cNvPr id="14" name="Text 12"/>
          <p:cNvSpPr txBox="1"/>
          <p:nvPr/>
        </p:nvSpPr>
        <p:spPr>
          <a:xfrm>
            <a:off x="652967" y="2499519"/>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JPEG (JPG) is the standard format for photographic images delivered to the web, video, and streaming platforms. Quality 6 out of 12 gives a good balance of image quality and small file size.</a:t>
            </a:r>
            <a:endParaRPr lang="en-US" sz="1000" dirty="0"/>
          </a:p>
        </p:txBody>
      </p:sp>
      <p:sp>
        <p:nvSpPr>
          <p:cNvPr id="15" name="Shape 13"/>
          <p:cNvSpPr/>
          <p:nvPr/>
        </p:nvSpPr>
        <p:spPr>
          <a:xfrm>
            <a:off x="182880" y="3035808"/>
            <a:ext cx="365760" cy="365760"/>
          </a:xfrm>
          <a:prstGeom prst="ellipse">
            <a:avLst/>
          </a:prstGeom>
          <a:solidFill>
            <a:srgbClr val="FF6B1A"/>
          </a:solidFill>
          <a:ln/>
        </p:spPr>
        <p:txBody>
          <a:bodyPr/>
          <a:lstStyle/>
          <a:p>
            <a:endParaRPr lang="en-US"/>
          </a:p>
        </p:txBody>
      </p:sp>
      <p:sp>
        <p:nvSpPr>
          <p:cNvPr id="16" name="Text 14"/>
          <p:cNvSpPr txBox="1"/>
          <p:nvPr/>
        </p:nvSpPr>
        <p:spPr>
          <a:xfrm>
            <a:off x="182880" y="30358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2967" y="2926080"/>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Right pane — Image Size: set Width to 1280 and press Tab</a:t>
            </a:r>
            <a:endParaRPr lang="en-US" sz="1200" dirty="0"/>
          </a:p>
        </p:txBody>
      </p:sp>
      <p:sp>
        <p:nvSpPr>
          <p:cNvPr id="18" name="Text 16"/>
          <p:cNvSpPr txBox="1"/>
          <p:nvPr/>
        </p:nvSpPr>
        <p:spPr>
          <a:xfrm>
            <a:off x="652966" y="3218688"/>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Pressing Tab applies the value and automatically calculates the Height. Because the image is 1920 × 1080, scaling to 1280 width proportionally gives exactly 720 pixels tall. This is the 720p HD video standard.</a:t>
            </a:r>
            <a:endParaRPr lang="en-US" sz="1000" dirty="0"/>
          </a:p>
        </p:txBody>
      </p:sp>
      <p:sp>
        <p:nvSpPr>
          <p:cNvPr id="19" name="Shape 17"/>
          <p:cNvSpPr/>
          <p:nvPr/>
        </p:nvSpPr>
        <p:spPr>
          <a:xfrm>
            <a:off x="177477" y="3733482"/>
            <a:ext cx="365760" cy="365760"/>
          </a:xfrm>
          <a:prstGeom prst="ellipse">
            <a:avLst/>
          </a:prstGeom>
          <a:solidFill>
            <a:srgbClr val="FF6B1A"/>
          </a:solidFill>
          <a:ln/>
        </p:spPr>
        <p:txBody>
          <a:bodyPr/>
          <a:lstStyle/>
          <a:p>
            <a:endParaRPr lang="en-US"/>
          </a:p>
        </p:txBody>
      </p:sp>
      <p:sp>
        <p:nvSpPr>
          <p:cNvPr id="20" name="Text 18"/>
          <p:cNvSpPr txBox="1"/>
          <p:nvPr/>
        </p:nvSpPr>
        <p:spPr>
          <a:xfrm>
            <a:off x="177477" y="373348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2966" y="3733482"/>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Right pane — Color Space: confirm Convert to sRGB and Embed Color Profile are both checked</a:t>
            </a:r>
            <a:endParaRPr lang="en-US" sz="1200" dirty="0"/>
          </a:p>
        </p:txBody>
      </p:sp>
      <p:sp>
        <p:nvSpPr>
          <p:cNvPr id="22" name="Text 20"/>
          <p:cNvSpPr txBox="1"/>
          <p:nvPr/>
        </p:nvSpPr>
        <p:spPr>
          <a:xfrm>
            <a:off x="652966" y="4066350"/>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sRGB is the standard color space for screens, web, and video. Embedding the color profile ensures colors look consistent across different monitors and devices even if they are calibrated differently.</a:t>
            </a:r>
            <a:endParaRPr lang="en-US" sz="1000" dirty="0"/>
          </a:p>
        </p:txBody>
      </p:sp>
      <p:sp>
        <p:nvSpPr>
          <p:cNvPr id="23" name="Shape 21"/>
          <p:cNvSpPr/>
          <p:nvPr/>
        </p:nvSpPr>
        <p:spPr>
          <a:xfrm>
            <a:off x="177477" y="4510722"/>
            <a:ext cx="365760" cy="365760"/>
          </a:xfrm>
          <a:prstGeom prst="ellipse">
            <a:avLst/>
          </a:prstGeom>
          <a:solidFill>
            <a:srgbClr val="FF6B1A"/>
          </a:solidFill>
          <a:ln/>
        </p:spPr>
        <p:txBody>
          <a:bodyPr/>
          <a:lstStyle/>
          <a:p>
            <a:endParaRPr lang="en-US"/>
          </a:p>
        </p:txBody>
      </p:sp>
      <p:sp>
        <p:nvSpPr>
          <p:cNvPr id="24" name="Text 22"/>
          <p:cNvSpPr txBox="1"/>
          <p:nvPr/>
        </p:nvSpPr>
        <p:spPr>
          <a:xfrm>
            <a:off x="177477" y="45107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2966" y="4407408"/>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Click Export — navigate to your Lesson01 folder — click Save</a:t>
            </a:r>
            <a:endParaRPr lang="en-US" sz="1200" dirty="0"/>
          </a:p>
        </p:txBody>
      </p:sp>
      <p:sp>
        <p:nvSpPr>
          <p:cNvPr id="26" name="Text 24"/>
          <p:cNvSpPr txBox="1"/>
          <p:nvPr/>
        </p:nvSpPr>
        <p:spPr>
          <a:xfrm>
            <a:off x="652966" y="4657673"/>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The exported file is named 01Working.jpg automatically. Check the left pane before clicking Export — it should confirm 1280 × 720, JPG, and a file size well under 2MB (typically around 300-400KB).</a:t>
            </a:r>
            <a:endParaRPr lang="en-US" sz="1000" dirty="0"/>
          </a:p>
        </p:txBody>
      </p:sp>
      <p:pic>
        <p:nvPicPr>
          <p:cNvPr id="27" name="Image 0" descr="preencoded.png"/>
          <p:cNvPicPr>
            <a:picLocks noChangeAspect="1"/>
          </p:cNvPicPr>
          <p:nvPr/>
        </p:nvPicPr>
        <p:blipFill>
          <a:blip r:embed="rId3"/>
          <a:stretch>
            <a:fillRect/>
          </a:stretch>
        </p:blipFill>
        <p:spPr>
          <a:xfrm>
            <a:off x="6014174" y="1572768"/>
            <a:ext cx="2946946" cy="3165238"/>
          </a:xfrm>
          <a:prstGeom prst="rect">
            <a:avLst/>
          </a:prstGeom>
        </p:spPr>
      </p:pic>
      <p:sp>
        <p:nvSpPr>
          <p:cNvPr id="28" name="Text 25"/>
          <p:cNvSpPr txBox="1"/>
          <p:nvPr/>
        </p:nvSpPr>
        <p:spPr>
          <a:xfrm>
            <a:off x="6014174" y="4826990"/>
            <a:ext cx="2946946" cy="194480"/>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Export As dialog — JPG format, Width 1280, Height 720, Convert to sRGB checked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Quick Reference — Undo, Shortcuts, Final Layer Order</a:t>
            </a:r>
            <a:endParaRPr lang="en-US" sz="2000" dirty="0"/>
          </a:p>
        </p:txBody>
      </p:sp>
      <p:sp>
        <p:nvSpPr>
          <p:cNvPr id="4" name="Text 2"/>
          <p:cNvSpPr txBox="1"/>
          <p:nvPr/>
        </p:nvSpPr>
        <p:spPr>
          <a:xfrm>
            <a:off x="182880" y="804672"/>
            <a:ext cx="429768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Undo Commands</a:t>
            </a:r>
            <a:endParaRPr lang="en-US" sz="1300" dirty="0"/>
          </a:p>
        </p:txBody>
      </p:sp>
      <p:sp>
        <p:nvSpPr>
          <p:cNvPr id="5" name="Shape 3"/>
          <p:cNvSpPr/>
          <p:nvPr/>
        </p:nvSpPr>
        <p:spPr>
          <a:xfrm>
            <a:off x="182880" y="1133856"/>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1170432"/>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Ctrl + Z  /  Cmd + Z</a:t>
            </a:r>
            <a:endParaRPr lang="en-US" sz="1150" dirty="0"/>
          </a:p>
        </p:txBody>
      </p:sp>
      <p:sp>
        <p:nvSpPr>
          <p:cNvPr id="7" name="Text 5"/>
          <p:cNvSpPr txBox="1"/>
          <p:nvPr/>
        </p:nvSpPr>
        <p:spPr>
          <a:xfrm>
            <a:off x="320040" y="1380744"/>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Undo one step at a time</a:t>
            </a:r>
            <a:endParaRPr lang="en-US" sz="1100" dirty="0"/>
          </a:p>
        </p:txBody>
      </p:sp>
      <p:sp>
        <p:nvSpPr>
          <p:cNvPr id="8" name="Shape 6"/>
          <p:cNvSpPr/>
          <p:nvPr/>
        </p:nvSpPr>
        <p:spPr>
          <a:xfrm>
            <a:off x="182880" y="1700784"/>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9" name="Text 7"/>
          <p:cNvSpPr txBox="1"/>
          <p:nvPr/>
        </p:nvSpPr>
        <p:spPr>
          <a:xfrm>
            <a:off x="320040" y="1737360"/>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Ctrl + Shift + Z  /  Cmd + Shift + Z</a:t>
            </a:r>
            <a:endParaRPr lang="en-US" sz="1150" dirty="0"/>
          </a:p>
        </p:txBody>
      </p:sp>
      <p:sp>
        <p:nvSpPr>
          <p:cNvPr id="10" name="Text 8"/>
          <p:cNvSpPr txBox="1"/>
          <p:nvPr/>
        </p:nvSpPr>
        <p:spPr>
          <a:xfrm>
            <a:off x="320040" y="1947672"/>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Redo — restore an undone step</a:t>
            </a:r>
            <a:endParaRPr lang="en-US" sz="1100" dirty="0"/>
          </a:p>
        </p:txBody>
      </p:sp>
      <p:sp>
        <p:nvSpPr>
          <p:cNvPr id="11" name="Shape 9"/>
          <p:cNvSpPr/>
          <p:nvPr/>
        </p:nvSpPr>
        <p:spPr>
          <a:xfrm>
            <a:off x="182880" y="2267712"/>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2" name="Text 10"/>
          <p:cNvSpPr txBox="1"/>
          <p:nvPr/>
        </p:nvSpPr>
        <p:spPr>
          <a:xfrm>
            <a:off x="320040" y="2304288"/>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Ctrl + Alt + Z  /  Cmd + Option + Z</a:t>
            </a:r>
            <a:endParaRPr lang="en-US" sz="1150" dirty="0"/>
          </a:p>
        </p:txBody>
      </p:sp>
      <p:sp>
        <p:nvSpPr>
          <p:cNvPr id="13" name="Text 11"/>
          <p:cNvSpPr txBox="1"/>
          <p:nvPr/>
        </p:nvSpPr>
        <p:spPr>
          <a:xfrm>
            <a:off x="320040" y="2514600"/>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Toggle Last State — quickly compare before and after</a:t>
            </a:r>
            <a:endParaRPr lang="en-US" sz="1100" dirty="0"/>
          </a:p>
        </p:txBody>
      </p:sp>
      <p:sp>
        <p:nvSpPr>
          <p:cNvPr id="14" name="Shape 12"/>
          <p:cNvSpPr/>
          <p:nvPr/>
        </p:nvSpPr>
        <p:spPr>
          <a:xfrm>
            <a:off x="182880" y="2834640"/>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5" name="Text 13"/>
          <p:cNvSpPr txBox="1"/>
          <p:nvPr/>
        </p:nvSpPr>
        <p:spPr>
          <a:xfrm>
            <a:off x="320040" y="2871216"/>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Window &gt; History</a:t>
            </a:r>
            <a:endParaRPr lang="en-US" sz="1150" dirty="0"/>
          </a:p>
        </p:txBody>
      </p:sp>
      <p:sp>
        <p:nvSpPr>
          <p:cNvPr id="16" name="Text 14"/>
          <p:cNvSpPr txBox="1"/>
          <p:nvPr/>
        </p:nvSpPr>
        <p:spPr>
          <a:xfrm>
            <a:off x="320040" y="3081528"/>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Open History panel — see and jump to any previous state</a:t>
            </a:r>
            <a:endParaRPr lang="en-US" sz="1100" dirty="0"/>
          </a:p>
        </p:txBody>
      </p:sp>
      <p:sp>
        <p:nvSpPr>
          <p:cNvPr id="17" name="Text 15"/>
          <p:cNvSpPr txBox="1"/>
          <p:nvPr/>
        </p:nvSpPr>
        <p:spPr>
          <a:xfrm>
            <a:off x="4663440" y="804672"/>
            <a:ext cx="429768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Key Tool Shortcuts</a:t>
            </a:r>
            <a:endParaRPr lang="en-US" sz="1300" dirty="0"/>
          </a:p>
        </p:txBody>
      </p:sp>
      <p:sp>
        <p:nvSpPr>
          <p:cNvPr id="18" name="Shape 16"/>
          <p:cNvSpPr/>
          <p:nvPr/>
        </p:nvSpPr>
        <p:spPr>
          <a:xfrm>
            <a:off x="4663440" y="1133856"/>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9" name="Text 17"/>
          <p:cNvSpPr txBox="1"/>
          <p:nvPr/>
        </p:nvSpPr>
        <p:spPr>
          <a:xfrm>
            <a:off x="4773168" y="1170432"/>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V</a:t>
            </a:r>
            <a:endParaRPr lang="en-US" sz="1200" dirty="0"/>
          </a:p>
        </p:txBody>
      </p:sp>
      <p:sp>
        <p:nvSpPr>
          <p:cNvPr id="20" name="Text 18"/>
          <p:cNvSpPr txBox="1"/>
          <p:nvPr/>
        </p:nvSpPr>
        <p:spPr>
          <a:xfrm>
            <a:off x="4773168" y="1380744"/>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Move tool</a:t>
            </a:r>
            <a:endParaRPr lang="en-US" sz="1100" dirty="0"/>
          </a:p>
        </p:txBody>
      </p:sp>
      <p:sp>
        <p:nvSpPr>
          <p:cNvPr id="21" name="Shape 19"/>
          <p:cNvSpPr/>
          <p:nvPr/>
        </p:nvSpPr>
        <p:spPr>
          <a:xfrm>
            <a:off x="6858000" y="1133856"/>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6967728" y="1170432"/>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M</a:t>
            </a:r>
            <a:endParaRPr lang="en-US" sz="1200" dirty="0"/>
          </a:p>
        </p:txBody>
      </p:sp>
      <p:sp>
        <p:nvSpPr>
          <p:cNvPr id="23" name="Text 21"/>
          <p:cNvSpPr txBox="1"/>
          <p:nvPr/>
        </p:nvSpPr>
        <p:spPr>
          <a:xfrm>
            <a:off x="6967728" y="1380744"/>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Rectangular Marquee</a:t>
            </a:r>
            <a:endParaRPr lang="en-US" sz="1100" dirty="0"/>
          </a:p>
        </p:txBody>
      </p:sp>
      <p:sp>
        <p:nvSpPr>
          <p:cNvPr id="24" name="Shape 22"/>
          <p:cNvSpPr/>
          <p:nvPr/>
        </p:nvSpPr>
        <p:spPr>
          <a:xfrm>
            <a:off x="4663440" y="1700784"/>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5" name="Text 23"/>
          <p:cNvSpPr txBox="1"/>
          <p:nvPr/>
        </p:nvSpPr>
        <p:spPr>
          <a:xfrm>
            <a:off x="4773168" y="1737360"/>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T</a:t>
            </a:r>
            <a:endParaRPr lang="en-US" sz="1200" dirty="0"/>
          </a:p>
        </p:txBody>
      </p:sp>
      <p:sp>
        <p:nvSpPr>
          <p:cNvPr id="26" name="Text 24"/>
          <p:cNvSpPr txBox="1"/>
          <p:nvPr/>
        </p:nvSpPr>
        <p:spPr>
          <a:xfrm>
            <a:off x="4773168" y="1947672"/>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Horizontal Type</a:t>
            </a:r>
            <a:endParaRPr lang="en-US" sz="1100" dirty="0"/>
          </a:p>
        </p:txBody>
      </p:sp>
      <p:sp>
        <p:nvSpPr>
          <p:cNvPr id="27" name="Shape 25"/>
          <p:cNvSpPr/>
          <p:nvPr/>
        </p:nvSpPr>
        <p:spPr>
          <a:xfrm>
            <a:off x="6858000" y="1700784"/>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8" name="Text 26"/>
          <p:cNvSpPr txBox="1"/>
          <p:nvPr/>
        </p:nvSpPr>
        <p:spPr>
          <a:xfrm>
            <a:off x="6967728" y="1737360"/>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B</a:t>
            </a:r>
            <a:endParaRPr lang="en-US" sz="1200" dirty="0"/>
          </a:p>
        </p:txBody>
      </p:sp>
      <p:sp>
        <p:nvSpPr>
          <p:cNvPr id="29" name="Text 27"/>
          <p:cNvSpPr txBox="1"/>
          <p:nvPr/>
        </p:nvSpPr>
        <p:spPr>
          <a:xfrm>
            <a:off x="6967728" y="1947672"/>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Brush tool</a:t>
            </a:r>
            <a:endParaRPr lang="en-US" sz="1100" dirty="0"/>
          </a:p>
        </p:txBody>
      </p:sp>
      <p:sp>
        <p:nvSpPr>
          <p:cNvPr id="30" name="Shape 28"/>
          <p:cNvSpPr/>
          <p:nvPr/>
        </p:nvSpPr>
        <p:spPr>
          <a:xfrm>
            <a:off x="4663440" y="2267712"/>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1" name="Text 29"/>
          <p:cNvSpPr txBox="1"/>
          <p:nvPr/>
        </p:nvSpPr>
        <p:spPr>
          <a:xfrm>
            <a:off x="4773168" y="2304288"/>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I</a:t>
            </a:r>
            <a:endParaRPr lang="en-US" sz="1200" dirty="0"/>
          </a:p>
        </p:txBody>
      </p:sp>
      <p:sp>
        <p:nvSpPr>
          <p:cNvPr id="32" name="Text 30"/>
          <p:cNvSpPr txBox="1"/>
          <p:nvPr/>
        </p:nvSpPr>
        <p:spPr>
          <a:xfrm>
            <a:off x="4773168" y="2514600"/>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Eyedropper</a:t>
            </a:r>
            <a:endParaRPr lang="en-US" sz="1100" dirty="0"/>
          </a:p>
        </p:txBody>
      </p:sp>
      <p:sp>
        <p:nvSpPr>
          <p:cNvPr id="33" name="Shape 31"/>
          <p:cNvSpPr/>
          <p:nvPr/>
        </p:nvSpPr>
        <p:spPr>
          <a:xfrm>
            <a:off x="6858000" y="2267712"/>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4" name="Text 32"/>
          <p:cNvSpPr txBox="1"/>
          <p:nvPr/>
        </p:nvSpPr>
        <p:spPr>
          <a:xfrm>
            <a:off x="6967728" y="2304288"/>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Z</a:t>
            </a:r>
            <a:endParaRPr lang="en-US" sz="1200" dirty="0"/>
          </a:p>
        </p:txBody>
      </p:sp>
      <p:sp>
        <p:nvSpPr>
          <p:cNvPr id="35" name="Text 33"/>
          <p:cNvSpPr txBox="1"/>
          <p:nvPr/>
        </p:nvSpPr>
        <p:spPr>
          <a:xfrm>
            <a:off x="6967728" y="2514600"/>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Zoom tool</a:t>
            </a:r>
            <a:endParaRPr lang="en-US" sz="1100" dirty="0"/>
          </a:p>
        </p:txBody>
      </p:sp>
      <p:sp>
        <p:nvSpPr>
          <p:cNvPr id="36" name="Shape 34"/>
          <p:cNvSpPr/>
          <p:nvPr/>
        </p:nvSpPr>
        <p:spPr>
          <a:xfrm>
            <a:off x="4663440" y="2834640"/>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7" name="Text 35"/>
          <p:cNvSpPr txBox="1"/>
          <p:nvPr/>
        </p:nvSpPr>
        <p:spPr>
          <a:xfrm>
            <a:off x="4773168" y="2871216"/>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Ctrl/Cmd + S</a:t>
            </a:r>
            <a:endParaRPr lang="en-US" sz="1200" dirty="0"/>
          </a:p>
        </p:txBody>
      </p:sp>
      <p:sp>
        <p:nvSpPr>
          <p:cNvPr id="38" name="Text 36"/>
          <p:cNvSpPr txBox="1"/>
          <p:nvPr/>
        </p:nvSpPr>
        <p:spPr>
          <a:xfrm>
            <a:off x="4773168" y="3081528"/>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Save</a:t>
            </a:r>
            <a:endParaRPr lang="en-US" sz="1100" dirty="0"/>
          </a:p>
        </p:txBody>
      </p:sp>
      <p:sp>
        <p:nvSpPr>
          <p:cNvPr id="39" name="Shape 37"/>
          <p:cNvSpPr/>
          <p:nvPr/>
        </p:nvSpPr>
        <p:spPr>
          <a:xfrm>
            <a:off x="6858000" y="2834640"/>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40" name="Text 38"/>
          <p:cNvSpPr txBox="1"/>
          <p:nvPr/>
        </p:nvSpPr>
        <p:spPr>
          <a:xfrm>
            <a:off x="6967728" y="2871216"/>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Ctrl/Cmd + D</a:t>
            </a:r>
            <a:endParaRPr lang="en-US" sz="1200" dirty="0"/>
          </a:p>
        </p:txBody>
      </p:sp>
      <p:sp>
        <p:nvSpPr>
          <p:cNvPr id="41" name="Text 39"/>
          <p:cNvSpPr txBox="1"/>
          <p:nvPr/>
        </p:nvSpPr>
        <p:spPr>
          <a:xfrm>
            <a:off x="6967728" y="3081528"/>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Deselect</a:t>
            </a:r>
            <a:endParaRPr lang="en-US" sz="1100" dirty="0"/>
          </a:p>
        </p:txBody>
      </p:sp>
      <p:sp>
        <p:nvSpPr>
          <p:cNvPr id="42" name="Text 40"/>
          <p:cNvSpPr txBox="1"/>
          <p:nvPr/>
        </p:nvSpPr>
        <p:spPr>
          <a:xfrm>
            <a:off x="182880" y="3456432"/>
            <a:ext cx="877824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Final Layer Order (top to bottom)</a:t>
            </a:r>
            <a:endParaRPr lang="en-US" sz="1300" dirty="0"/>
          </a:p>
        </p:txBody>
      </p:sp>
      <p:sp>
        <p:nvSpPr>
          <p:cNvPr id="43" name="Shape 41"/>
          <p:cNvSpPr/>
          <p:nvPr/>
        </p:nvSpPr>
        <p:spPr>
          <a:xfrm>
            <a:off x="137160" y="3794760"/>
            <a:ext cx="8823960" cy="146304"/>
          </a:xfrm>
          <a:prstGeom prst="rect">
            <a:avLst/>
          </a:prstGeom>
          <a:solidFill>
            <a:srgbClr val="1E1E1E"/>
          </a:solidFill>
          <a:ln/>
        </p:spPr>
        <p:txBody>
          <a:bodyPr/>
          <a:lstStyle/>
          <a:p>
            <a:endParaRPr lang="en-US"/>
          </a:p>
        </p:txBody>
      </p:sp>
      <p:sp>
        <p:nvSpPr>
          <p:cNvPr id="44" name="Text 42"/>
          <p:cNvSpPr txBox="1"/>
          <p:nvPr/>
        </p:nvSpPr>
        <p:spPr>
          <a:xfrm>
            <a:off x="256032" y="3803904"/>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Live Stream</a:t>
            </a:r>
            <a:endParaRPr lang="en-US" sz="900" dirty="0"/>
          </a:p>
        </p:txBody>
      </p:sp>
      <p:sp>
        <p:nvSpPr>
          <p:cNvPr id="45" name="Text 43"/>
          <p:cNvSpPr txBox="1"/>
          <p:nvPr/>
        </p:nvSpPr>
        <p:spPr>
          <a:xfrm>
            <a:off x="2039112" y="3803904"/>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Type layer</a:t>
            </a:r>
            <a:endParaRPr lang="en-US" sz="900" dirty="0"/>
          </a:p>
        </p:txBody>
      </p:sp>
      <p:sp>
        <p:nvSpPr>
          <p:cNvPr id="46" name="Text 44"/>
          <p:cNvSpPr txBox="1"/>
          <p:nvPr/>
        </p:nvSpPr>
        <p:spPr>
          <a:xfrm>
            <a:off x="4690872" y="3803904"/>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Right-aligned, 165pt, Condensed font, All Caps</a:t>
            </a:r>
            <a:endParaRPr lang="en-US" sz="900" dirty="0"/>
          </a:p>
        </p:txBody>
      </p:sp>
      <p:sp>
        <p:nvSpPr>
          <p:cNvPr id="47" name="Shape 45"/>
          <p:cNvSpPr/>
          <p:nvPr/>
        </p:nvSpPr>
        <p:spPr>
          <a:xfrm>
            <a:off x="137160" y="3950208"/>
            <a:ext cx="8823960" cy="146304"/>
          </a:xfrm>
          <a:prstGeom prst="rect">
            <a:avLst/>
          </a:prstGeom>
          <a:solidFill>
            <a:srgbClr val="161616"/>
          </a:solidFill>
          <a:ln/>
        </p:spPr>
        <p:txBody>
          <a:bodyPr/>
          <a:lstStyle/>
          <a:p>
            <a:endParaRPr lang="en-US"/>
          </a:p>
        </p:txBody>
      </p:sp>
      <p:sp>
        <p:nvSpPr>
          <p:cNvPr id="48" name="Text 46"/>
          <p:cNvSpPr txBox="1"/>
          <p:nvPr/>
        </p:nvSpPr>
        <p:spPr>
          <a:xfrm>
            <a:off x="256032" y="3959352"/>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History 301</a:t>
            </a:r>
            <a:endParaRPr lang="en-US" sz="900" dirty="0"/>
          </a:p>
        </p:txBody>
      </p:sp>
      <p:sp>
        <p:nvSpPr>
          <p:cNvPr id="49" name="Text 47"/>
          <p:cNvSpPr txBox="1"/>
          <p:nvPr/>
        </p:nvSpPr>
        <p:spPr>
          <a:xfrm>
            <a:off x="2039112" y="3959352"/>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Type layer</a:t>
            </a:r>
            <a:endParaRPr lang="en-US" sz="900" dirty="0"/>
          </a:p>
        </p:txBody>
      </p:sp>
      <p:sp>
        <p:nvSpPr>
          <p:cNvPr id="50" name="Text 48"/>
          <p:cNvSpPr txBox="1"/>
          <p:nvPr/>
        </p:nvSpPr>
        <p:spPr>
          <a:xfrm>
            <a:off x="4690872" y="3959352"/>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Center-aligned, 210pt, All Caps</a:t>
            </a:r>
            <a:endParaRPr lang="en-US" sz="900" dirty="0"/>
          </a:p>
        </p:txBody>
      </p:sp>
      <p:sp>
        <p:nvSpPr>
          <p:cNvPr id="51" name="Shape 49"/>
          <p:cNvSpPr/>
          <p:nvPr/>
        </p:nvSpPr>
        <p:spPr>
          <a:xfrm>
            <a:off x="137160" y="4105656"/>
            <a:ext cx="8823960" cy="146304"/>
          </a:xfrm>
          <a:prstGeom prst="rect">
            <a:avLst/>
          </a:prstGeom>
          <a:solidFill>
            <a:srgbClr val="1E1E1E"/>
          </a:solidFill>
          <a:ln/>
        </p:spPr>
        <p:txBody>
          <a:bodyPr/>
          <a:lstStyle/>
          <a:p>
            <a:endParaRPr lang="en-US"/>
          </a:p>
        </p:txBody>
      </p:sp>
      <p:sp>
        <p:nvSpPr>
          <p:cNvPr id="52" name="Text 50"/>
          <p:cNvSpPr txBox="1"/>
          <p:nvPr/>
        </p:nvSpPr>
        <p:spPr>
          <a:xfrm>
            <a:off x="256032" y="4114800"/>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Paint</a:t>
            </a:r>
            <a:endParaRPr lang="en-US" sz="900" dirty="0"/>
          </a:p>
        </p:txBody>
      </p:sp>
      <p:sp>
        <p:nvSpPr>
          <p:cNvPr id="53" name="Text 51"/>
          <p:cNvSpPr txBox="1"/>
          <p:nvPr/>
        </p:nvSpPr>
        <p:spPr>
          <a:xfrm>
            <a:off x="2039112" y="4114800"/>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Pixel layer</a:t>
            </a:r>
            <a:endParaRPr lang="en-US" sz="900" dirty="0"/>
          </a:p>
        </p:txBody>
      </p:sp>
      <p:sp>
        <p:nvSpPr>
          <p:cNvPr id="54" name="Text 52"/>
          <p:cNvSpPr txBox="1"/>
          <p:nvPr/>
        </p:nvSpPr>
        <p:spPr>
          <a:xfrm>
            <a:off x="4690872" y="4114800"/>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Spatter brush effect, foreground color 4099ff blue</a:t>
            </a:r>
            <a:endParaRPr lang="en-US" sz="900" dirty="0"/>
          </a:p>
        </p:txBody>
      </p:sp>
      <p:sp>
        <p:nvSpPr>
          <p:cNvPr id="55" name="Shape 53"/>
          <p:cNvSpPr/>
          <p:nvPr/>
        </p:nvSpPr>
        <p:spPr>
          <a:xfrm>
            <a:off x="137160" y="4261104"/>
            <a:ext cx="8823960" cy="146304"/>
          </a:xfrm>
          <a:prstGeom prst="rect">
            <a:avLst/>
          </a:prstGeom>
          <a:solidFill>
            <a:srgbClr val="161616"/>
          </a:solidFill>
          <a:ln/>
        </p:spPr>
        <p:txBody>
          <a:bodyPr/>
          <a:lstStyle/>
          <a:p>
            <a:endParaRPr lang="en-US"/>
          </a:p>
        </p:txBody>
      </p:sp>
      <p:sp>
        <p:nvSpPr>
          <p:cNvPr id="56" name="Text 54"/>
          <p:cNvSpPr txBox="1"/>
          <p:nvPr/>
        </p:nvSpPr>
        <p:spPr>
          <a:xfrm>
            <a:off x="256032" y="4270248"/>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Rectangles</a:t>
            </a:r>
            <a:endParaRPr lang="en-US" sz="900" dirty="0"/>
          </a:p>
        </p:txBody>
      </p:sp>
      <p:sp>
        <p:nvSpPr>
          <p:cNvPr id="57" name="Text 55"/>
          <p:cNvSpPr txBox="1"/>
          <p:nvPr/>
        </p:nvSpPr>
        <p:spPr>
          <a:xfrm>
            <a:off x="2039112" y="4270248"/>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Pixel layer — Color blend mode</a:t>
            </a:r>
            <a:endParaRPr lang="en-US" sz="900" dirty="0"/>
          </a:p>
        </p:txBody>
      </p:sp>
      <p:sp>
        <p:nvSpPr>
          <p:cNvPr id="58" name="Text 56"/>
          <p:cNvSpPr txBox="1"/>
          <p:nvPr/>
        </p:nvSpPr>
        <p:spPr>
          <a:xfrm>
            <a:off x="4690872" y="4270248"/>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Orange 96px left bar + Blue 660px right bar</a:t>
            </a:r>
            <a:endParaRPr lang="en-US" sz="900" dirty="0"/>
          </a:p>
        </p:txBody>
      </p:sp>
      <p:sp>
        <p:nvSpPr>
          <p:cNvPr id="59" name="Shape 57"/>
          <p:cNvSpPr/>
          <p:nvPr/>
        </p:nvSpPr>
        <p:spPr>
          <a:xfrm>
            <a:off x="137160" y="4416552"/>
            <a:ext cx="8823960" cy="146304"/>
          </a:xfrm>
          <a:prstGeom prst="rect">
            <a:avLst/>
          </a:prstGeom>
          <a:solidFill>
            <a:srgbClr val="1E1E1E"/>
          </a:solidFill>
          <a:ln/>
        </p:spPr>
        <p:txBody>
          <a:bodyPr/>
          <a:lstStyle/>
          <a:p>
            <a:endParaRPr lang="en-US"/>
          </a:p>
        </p:txBody>
      </p:sp>
      <p:sp>
        <p:nvSpPr>
          <p:cNvPr id="60" name="Text 58"/>
          <p:cNvSpPr txBox="1"/>
          <p:nvPr/>
        </p:nvSpPr>
        <p:spPr>
          <a:xfrm>
            <a:off x="256032" y="4425696"/>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Color Fill 1</a:t>
            </a:r>
            <a:endParaRPr lang="en-US" sz="900" dirty="0"/>
          </a:p>
        </p:txBody>
      </p:sp>
      <p:sp>
        <p:nvSpPr>
          <p:cNvPr id="61" name="Text 59"/>
          <p:cNvSpPr txBox="1"/>
          <p:nvPr/>
        </p:nvSpPr>
        <p:spPr>
          <a:xfrm>
            <a:off x="2039112" y="4425696"/>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Solid Color Fill layer — Hard Light blend, 90% opacity</a:t>
            </a:r>
            <a:endParaRPr lang="en-US" sz="900" dirty="0"/>
          </a:p>
        </p:txBody>
      </p:sp>
      <p:sp>
        <p:nvSpPr>
          <p:cNvPr id="62" name="Text 60"/>
          <p:cNvSpPr txBox="1"/>
          <p:nvPr/>
        </p:nvSpPr>
        <p:spPr>
          <a:xfrm>
            <a:off x="4690872" y="4425696"/>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Dark green hex 0c3303</a:t>
            </a:r>
            <a:endParaRPr lang="en-US" sz="900" dirty="0"/>
          </a:p>
        </p:txBody>
      </p:sp>
      <p:sp>
        <p:nvSpPr>
          <p:cNvPr id="63" name="Shape 61"/>
          <p:cNvSpPr/>
          <p:nvPr/>
        </p:nvSpPr>
        <p:spPr>
          <a:xfrm>
            <a:off x="137160" y="4572000"/>
            <a:ext cx="8823960" cy="146304"/>
          </a:xfrm>
          <a:prstGeom prst="rect">
            <a:avLst/>
          </a:prstGeom>
          <a:solidFill>
            <a:srgbClr val="161616"/>
          </a:solidFill>
          <a:ln/>
        </p:spPr>
        <p:txBody>
          <a:bodyPr/>
          <a:lstStyle/>
          <a:p>
            <a:endParaRPr lang="en-US"/>
          </a:p>
        </p:txBody>
      </p:sp>
      <p:sp>
        <p:nvSpPr>
          <p:cNvPr id="64" name="Text 62"/>
          <p:cNvSpPr txBox="1"/>
          <p:nvPr/>
        </p:nvSpPr>
        <p:spPr>
          <a:xfrm>
            <a:off x="256032" y="4581144"/>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Generative Fill</a:t>
            </a:r>
            <a:endParaRPr lang="en-US" sz="900" dirty="0"/>
          </a:p>
        </p:txBody>
      </p:sp>
      <p:sp>
        <p:nvSpPr>
          <p:cNvPr id="65" name="Text 63"/>
          <p:cNvSpPr txBox="1"/>
          <p:nvPr/>
        </p:nvSpPr>
        <p:spPr>
          <a:xfrm>
            <a:off x="2039112" y="4581144"/>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AI-generated pixel layer</a:t>
            </a:r>
            <a:endParaRPr lang="en-US" sz="900" dirty="0"/>
          </a:p>
        </p:txBody>
      </p:sp>
      <p:sp>
        <p:nvSpPr>
          <p:cNvPr id="66" name="Text 64"/>
          <p:cNvSpPr txBox="1"/>
          <p:nvPr/>
        </p:nvSpPr>
        <p:spPr>
          <a:xfrm>
            <a:off x="4690872" y="4581144"/>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Fills the gap left of the Arch photo</a:t>
            </a:r>
            <a:endParaRPr lang="en-US" sz="900" dirty="0"/>
          </a:p>
        </p:txBody>
      </p:sp>
      <p:sp>
        <p:nvSpPr>
          <p:cNvPr id="67" name="Shape 65"/>
          <p:cNvSpPr/>
          <p:nvPr/>
        </p:nvSpPr>
        <p:spPr>
          <a:xfrm>
            <a:off x="137160" y="4727448"/>
            <a:ext cx="8823960" cy="146304"/>
          </a:xfrm>
          <a:prstGeom prst="rect">
            <a:avLst/>
          </a:prstGeom>
          <a:solidFill>
            <a:srgbClr val="1E1E1E"/>
          </a:solidFill>
          <a:ln/>
        </p:spPr>
        <p:txBody>
          <a:bodyPr/>
          <a:lstStyle/>
          <a:p>
            <a:endParaRPr lang="en-US"/>
          </a:p>
        </p:txBody>
      </p:sp>
      <p:sp>
        <p:nvSpPr>
          <p:cNvPr id="68" name="Text 66"/>
          <p:cNvSpPr txBox="1"/>
          <p:nvPr/>
        </p:nvSpPr>
        <p:spPr>
          <a:xfrm>
            <a:off x="256032" y="4736592"/>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Arch</a:t>
            </a:r>
            <a:endParaRPr lang="en-US" sz="900" dirty="0"/>
          </a:p>
        </p:txBody>
      </p:sp>
      <p:sp>
        <p:nvSpPr>
          <p:cNvPr id="69" name="Text 67"/>
          <p:cNvSpPr txBox="1"/>
          <p:nvPr/>
        </p:nvSpPr>
        <p:spPr>
          <a:xfrm>
            <a:off x="2039112" y="4736592"/>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Smart Object (Place Embedded)</a:t>
            </a:r>
            <a:endParaRPr lang="en-US" sz="900" dirty="0"/>
          </a:p>
        </p:txBody>
      </p:sp>
      <p:sp>
        <p:nvSpPr>
          <p:cNvPr id="70" name="Text 68"/>
          <p:cNvSpPr txBox="1"/>
          <p:nvPr/>
        </p:nvSpPr>
        <p:spPr>
          <a:xfrm>
            <a:off x="4690872" y="4736592"/>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The original Arch.jpg photo</a:t>
            </a:r>
            <a:endParaRPr lang="en-US" sz="900" dirty="0"/>
          </a:p>
        </p:txBody>
      </p:sp>
      <p:sp>
        <p:nvSpPr>
          <p:cNvPr id="71" name="Shape 69"/>
          <p:cNvSpPr/>
          <p:nvPr/>
        </p:nvSpPr>
        <p:spPr>
          <a:xfrm>
            <a:off x="137160" y="4882896"/>
            <a:ext cx="8823960" cy="146304"/>
          </a:xfrm>
          <a:prstGeom prst="rect">
            <a:avLst/>
          </a:prstGeom>
          <a:solidFill>
            <a:srgbClr val="161616"/>
          </a:solidFill>
          <a:ln/>
        </p:spPr>
        <p:txBody>
          <a:bodyPr/>
          <a:lstStyle/>
          <a:p>
            <a:endParaRPr lang="en-US"/>
          </a:p>
        </p:txBody>
      </p:sp>
      <p:sp>
        <p:nvSpPr>
          <p:cNvPr id="72" name="Text 70"/>
          <p:cNvSpPr txBox="1"/>
          <p:nvPr/>
        </p:nvSpPr>
        <p:spPr>
          <a:xfrm>
            <a:off x="256032" y="4892040"/>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Background</a:t>
            </a:r>
            <a:endParaRPr lang="en-US" sz="900" dirty="0"/>
          </a:p>
        </p:txBody>
      </p:sp>
      <p:sp>
        <p:nvSpPr>
          <p:cNvPr id="73" name="Text 71"/>
          <p:cNvSpPr txBox="1"/>
          <p:nvPr/>
        </p:nvSpPr>
        <p:spPr>
          <a:xfrm>
            <a:off x="2039112" y="4892040"/>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Background layer (locked)</a:t>
            </a:r>
            <a:endParaRPr lang="en-US" sz="900" dirty="0"/>
          </a:p>
        </p:txBody>
      </p:sp>
      <p:sp>
        <p:nvSpPr>
          <p:cNvPr id="74" name="Text 72"/>
          <p:cNvSpPr txBox="1"/>
          <p:nvPr/>
        </p:nvSpPr>
        <p:spPr>
          <a:xfrm>
            <a:off x="4690872" y="4892040"/>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White, created automatically with the document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5665</Words>
  <Application>Microsoft Macintosh PowerPoint</Application>
  <PresentationFormat>On-screen Show (16:9)</PresentationFormat>
  <Paragraphs>423</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9</cp:revision>
  <dcterms:created xsi:type="dcterms:W3CDTF">2026-09-10T17:05:01Z</dcterms:created>
  <dcterms:modified xsi:type="dcterms:W3CDTF">2026-09-10T18:00:46Z</dcterms:modified>
</cp:coreProperties>
</file>